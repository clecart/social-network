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charts/chart2.xml" ContentType="application/vnd.openxmlformats-officedocument.drawingml.chart+xml"/>
  <Override PartName="/ppt/charts/colors2.xml" ContentType="application/vnd.ms-office.chartcolorstyl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40.xml" ContentType="application/vnd.openxmlformats-officedocument.presentationml.slide+xml"/>
  <Override PartName="/ppt/slides/slide62.xml" ContentType="application/vnd.openxmlformats-officedocument.presentationml.slide+xml"/>
  <Override PartName="/ppt/slides/slide48.xml" ContentType="application/vnd.openxmlformats-officedocument.presentationml.slide+xml"/>
  <Override PartName="/ppt/slides/slide31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61.xml" ContentType="application/vnd.openxmlformats-officedocument.presentationml.slide+xml"/>
  <Override PartName="/ppt/slides/slide2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60.xml" ContentType="application/vnd.openxmlformats-officedocument.presentationml.slide+xml"/>
  <Override PartName="/ppt/slides/slide49.xml" ContentType="application/vnd.openxmlformats-officedocument.presentationml.slide+xml"/>
  <Override PartName="/ppt/slides/slide57.xml" ContentType="application/vnd.openxmlformats-officedocument.presentationml.slide+xml"/>
  <Override PartName="/ppt/slides/slide29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1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58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44.xml" ContentType="application/vnd.openxmlformats-officedocument.presentationml.slide+xml"/>
  <Override PartName="/ppt/slides/slide56.xml" ContentType="application/vnd.openxmlformats-officedocument.presentationml.slide+xml"/>
  <Override PartName="/ppt/slides/slide24.xml" ContentType="application/vnd.openxmlformats-officedocument.presentationml.slide+xml"/>
  <Override PartName="/ppt/slides/slide50.xml" ContentType="application/vnd.openxmlformats-officedocument.presentationml.slide+xml"/>
  <Override PartName="/ppt/slides/slide53.xml" ContentType="application/vnd.openxmlformats-officedocument.presentationml.slide+xml"/>
  <Override PartName="/ppt/notesSlides/notesSlide35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Features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EC4899"/>
              </a:solidFill>
              <a:ln w="0">
                <a:noFill/>
              </a:ln>
            </c:spPr>
          </c:dPt>
          <c:dPt>
            <c:idx val="1"/>
            <c:spPr>
              <a:solidFill>
                <a:srgbClr val="06B6D4"/>
              </a:solidFill>
              <a:ln w="0">
                <a:noFill/>
              </a:ln>
            </c:spPr>
          </c:dPt>
          <c:dPt>
            <c:idx val="2"/>
            <c:spPr>
              <a:solidFill>
                <a:srgbClr val="8B5CF6"/>
              </a:solidFill>
              <a:ln w="0">
                <a:noFill/>
              </a:ln>
            </c:spPr>
          </c:dPt>
          <c:dPt>
            <c:idx val="3"/>
            <c:spPr>
              <a:solidFill>
                <a:srgbClr val="F59E0B"/>
              </a:solidFill>
              <a:ln w="0">
                <a:noFill/>
              </a:ln>
            </c:spPr>
          </c:dPt>
          <c:dPt>
            <c:idx val="4"/>
            <c:spPr>
              <a:solidFill>
                <a:srgbClr val="10B981"/>
              </a:solidFill>
              <a:ln w="0">
                <a:noFill/>
              </a:ln>
            </c:spPr>
          </c:dPt>
          <c:dLbls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4"/>
              <c:numFmt formatCode="0%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numFmt formatCode="0%" sourceLinked="0"/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5"/>
                <c:pt idx="0">
                  <c:v>Posts &amp; Réactions</c:v>
                </c:pt>
                <c:pt idx="1">
                  <c:v>Messagerie (SSE)</c:v>
                </c:pt>
                <c:pt idx="2">
                  <c:v>Groupes &amp; Events</c:v>
                </c:pt>
                <c:pt idx="3">
                  <c:v>Auth &amp; Profil</c:v>
                </c:pt>
                <c:pt idx="4">
                  <c:v>Recherche &amp; Notif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solidFill>
          <a:srgbClr val="272730"/>
        </a:solidFill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FFFFFF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272730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Jours</c:v>
                </c:pt>
              </c:strCache>
            </c:strRef>
          </c:tx>
          <c:spPr>
            <a:solidFill>
              <a:srgbClr val="EC4899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FFFFFF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Conception</c:v>
                </c:pt>
                <c:pt idx="1">
                  <c:v>Développement</c:v>
                </c:pt>
                <c:pt idx="2">
                  <c:v>Tests</c:v>
                </c:pt>
                <c:pt idx="3">
                  <c:v>Déploiement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25</c:v>
                </c:pt>
                <c:pt idx="1">
                  <c:v>14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gapWidth val="150"/>
        <c:overlap val="0"/>
        <c:axId val="49514080"/>
        <c:axId val="25529481"/>
      </c:barChart>
      <c:catAx>
        <c:axId val="495140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A1A1AA"/>
                </a:solidFill>
                <a:uFillTx/>
                <a:latin typeface="Calibri"/>
              </a:defRPr>
            </a:pPr>
          </a:p>
        </c:txPr>
        <c:crossAx val="25529481"/>
        <c:crosses val="autoZero"/>
        <c:auto val="1"/>
        <c:lblAlgn val="ctr"/>
        <c:lblOffset val="100"/>
        <c:noMultiLvlLbl val="0"/>
      </c:catAx>
      <c:valAx>
        <c:axId val="25529481"/>
        <c:scaling>
          <c:orientation val="minMax"/>
        </c:scaling>
        <c:delete val="0"/>
        <c:axPos val="l"/>
        <c:majorGridlines>
          <c:spPr>
            <a:ln w="6480">
              <a:solidFill>
                <a:srgbClr val="3F3F46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A1A1AA"/>
                </a:solidFill>
                <a:uFillTx/>
                <a:latin typeface="Calibri"/>
              </a:defRPr>
            </a:pPr>
          </a:p>
        </c:txPr>
        <c:crossAx val="49514080"/>
        <c:crosses val="autoZero"/>
        <c:crossBetween val="between"/>
      </c:valAx>
      <c:spPr>
        <a:solidFill>
          <a:srgbClr val="272730"/>
        </a:solidFill>
        <a:ln w="0">
          <a:noFill/>
        </a:ln>
      </c:spPr>
    </c:plotArea>
    <c:plotVisOnly val="1"/>
    <c:dispBlanksAs val="span"/>
  </c:chart>
  <c:spPr>
    <a:solidFill>
      <a:srgbClr val="272730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650B6F9-85D7-42D8-BDEE-85A9DF36062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CBB569-381E-4467-8AE3-F8F70A9C4E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82B462-84E5-411D-BAF6-CF9497F94B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1A1A2A-0253-458C-988D-1BA856A4AB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296644-165D-449E-903B-0741CB8D90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AD3953-D8E0-4CE3-BC7A-E3860B740E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FD65D4-7A4E-477A-86EA-C7CF444E6F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3C8817-AAE8-4B73-B895-D13EC97970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5B6E7F-4D8F-4408-9575-1344B5D78E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5B59D6-267B-4881-A4F6-944EC03AA7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1171D3-9E1E-40CB-AC24-A1AB65EFC9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3124C9-7C13-45BD-8ABE-600113A9EA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85C670-4928-45D7-838B-3D98A8FBC2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DFE6C5-3F5C-4159-9AAF-6274CDA871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AD1D50-F6F8-4A6D-BCAC-C523F63EB4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219B93-90E4-46AD-AEBD-A94B45151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E20BF5-6DD6-42D1-8BDA-0225344DA0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B932993-4B23-4EB9-8DFB-5B8B6256E5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2742817-006C-41F4-B14D-F2351EA5FF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F42ABFE-6708-4701-8DF0-48F8B54262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A5FD59-93F0-47E5-B34E-93E7FC1944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B72DDC-11C5-4A75-BB52-6C31B9715D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0AF025-D6FD-4A8A-A6D1-E81EC289AC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B36C5A-5445-4411-899A-877F41E39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A352D5-17C4-4CDC-AF2B-AEBEC1DEA5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214B37-83CF-4CDA-B831-2CF9E5798C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45DD4E4-B898-4323-AD71-306C274554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9C14AB8-C5B1-4CB3-9156-A92A648668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E8BB12-A434-4F8C-8808-756A9114F5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20C2D41-A5A8-47FA-8E6A-54DB1E841B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CD09917-B6CF-44FD-8250-8E570F943E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CB7029-506C-480D-B413-7026CAD19F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F0BE3BF-A304-48CC-A04F-D792D1D73D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8D540F-94CE-4110-B46F-F24618F217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270669-14A6-4ACC-9E48-1ACD9069A3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B2A82E0-DCAD-4FBE-882D-451C715C65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C7891E-9DFD-49BB-A087-B8BB62DDF8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7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E7B4F4-128B-4718-93E9-72917F453B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8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8E2AC70-AB34-4A7E-9C33-459ACC32FB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8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A0CAB7-BC13-4B5B-ABF3-0A7ADA177F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8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2E4CCF5-492A-4AB1-AFBE-ACF7A77963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8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6F0E77-9384-4B86-813B-9B4E5A85D9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8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BD0CCC-C49D-40C3-8936-CBCB5880F8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8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F4BA43-9E2A-4862-892B-8C9FEB7C03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8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4E9D3D-EDD8-4328-9238-184E7872E3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8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9F8A37-BE99-4D88-B1EB-5C61EAD2B3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8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C3846D9-BD21-4A4B-BC5F-7781E2991C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28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3EC1FF6-CDA0-4D48-8F22-3FB1FB921B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743200" y="-2743200"/>
            <a:ext cx="7309440" cy="7309440"/>
          </a:xfrm>
          <a:prstGeom prst="ellipse">
            <a:avLst/>
          </a:prstGeom>
          <a:solidFill>
            <a:srgbClr val="EC4899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418320" y="4114800"/>
            <a:ext cx="6395040" cy="6395040"/>
          </a:xfrm>
          <a:prstGeom prst="ellipse">
            <a:avLst/>
          </a:prstGeom>
          <a:solidFill>
            <a:srgbClr val="8B5CF6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315200" y="914400"/>
            <a:ext cx="2737440" cy="2737440"/>
          </a:xfrm>
          <a:prstGeom prst="ellipse">
            <a:avLst/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914400" y="2468880"/>
            <a:ext cx="2371680" cy="405720"/>
          </a:xfrm>
          <a:prstGeom prst="roundRect">
            <a:avLst>
              <a:gd name="adj" fmla="val 48889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4"/>
          <p:cNvSpPr/>
          <p:nvPr/>
        </p:nvSpPr>
        <p:spPr>
          <a:xfrm>
            <a:off x="914400" y="2468880"/>
            <a:ext cx="237168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RNCP 37873  ·  CDA  ·  Niveau 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914400" y="3108960"/>
            <a:ext cx="1005264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Support de soutenance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914400" y="3611880"/>
            <a:ext cx="1005264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Réseau social </a:t>
            </a: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Konekt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914400" y="4526280"/>
            <a:ext cx="1005264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Une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plat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efor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me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soci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ale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full-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stac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k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tem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ps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réel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—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Nex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t.js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15,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Pris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ma,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Post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greS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QL,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SSE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914400" y="5212080"/>
            <a:ext cx="1091520" cy="3096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Text 9"/>
          <p:cNvSpPr/>
          <p:nvPr/>
        </p:nvSpPr>
        <p:spPr>
          <a:xfrm>
            <a:off x="914400" y="5349240"/>
            <a:ext cx="7309440" cy="81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Chr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isto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phe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Lec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Conc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epteu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 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Dével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oppe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ur 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d'Ap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plicat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ions  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Prom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otion 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2024-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8046720" y="621792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Zon</a:t>
            </a: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e01 </a:t>
            </a: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Rou</a:t>
            </a: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en </a:t>
            </a: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Nor</a:t>
            </a: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man</a:t>
            </a: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die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8046720" y="649224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Soute</a:t>
            </a:r>
            <a:r>
              <a:rPr lang="en-US" sz="12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nanc</a:t>
            </a:r>
            <a:r>
              <a:rPr lang="en-US" sz="12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2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"/>
          <p:cNvPicPr/>
          <p:nvPr/>
        </p:nvPicPr>
        <p:blipFill>
          <a:blip r:embed="rId1"/>
          <a:stretch/>
        </p:blipFill>
        <p:spPr>
          <a:xfrm>
            <a:off x="-457200" y="-685800"/>
            <a:ext cx="5490000" cy="411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9875520" y="-1371600"/>
            <a:ext cx="3651840" cy="3651840"/>
          </a:xfrm>
          <a:prstGeom prst="ellipse">
            <a:avLst/>
          </a:prstGeom>
          <a:solidFill>
            <a:srgbClr val="EC4899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Shape 1"/>
          <p:cNvSpPr/>
          <p:nvPr/>
        </p:nvSpPr>
        <p:spPr>
          <a:xfrm>
            <a:off x="11247120" y="-457200"/>
            <a:ext cx="1640160" cy="1640160"/>
          </a:xfrm>
          <a:prstGeom prst="ellipse">
            <a:avLst/>
          </a:prstGeom>
          <a:solidFill>
            <a:srgbClr val="8B5CF6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2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PLAN DE LA PRÉSENTATION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Sommaire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Shape 5"/>
          <p:cNvSpPr/>
          <p:nvPr/>
        </p:nvSpPr>
        <p:spPr>
          <a:xfrm>
            <a:off x="548640" y="1691640"/>
            <a:ext cx="11058480" cy="63432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Text 6"/>
          <p:cNvSpPr/>
          <p:nvPr/>
        </p:nvSpPr>
        <p:spPr>
          <a:xfrm>
            <a:off x="685800" y="1691640"/>
            <a:ext cx="81720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1554480" y="1828800"/>
            <a:ext cx="12600" cy="36000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80" tIns="45000" rIns="6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Text 8"/>
          <p:cNvSpPr/>
          <p:nvPr/>
        </p:nvSpPr>
        <p:spPr>
          <a:xfrm>
            <a:off x="1737360" y="1691640"/>
            <a:ext cx="54806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cand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idat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&amp; le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exte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6400800" y="1691640"/>
            <a:ext cx="511488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Parcours, reconversion, formation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0"/>
          <p:cNvSpPr/>
          <p:nvPr/>
        </p:nvSpPr>
        <p:spPr>
          <a:xfrm>
            <a:off x="548640" y="2404800"/>
            <a:ext cx="11058480" cy="63432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685800" y="2404800"/>
            <a:ext cx="81720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1554480" y="2541960"/>
            <a:ext cx="12600" cy="36000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80" tIns="45000" rIns="6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1737360" y="2404800"/>
            <a:ext cx="54806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 projet Konekt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6400800" y="2404800"/>
            <a:ext cx="511488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Problématique, périmètre, équipe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548640" y="3117960"/>
            <a:ext cx="11058480" cy="63432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685800" y="3117960"/>
            <a:ext cx="81720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7"/>
          <p:cNvSpPr/>
          <p:nvPr/>
        </p:nvSpPr>
        <p:spPr>
          <a:xfrm>
            <a:off x="1554480" y="3255120"/>
            <a:ext cx="12600" cy="36000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80" tIns="45000" rIns="6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1737360" y="3117960"/>
            <a:ext cx="54806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Conception &amp; modélisation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9"/>
          <p:cNvSpPr/>
          <p:nvPr/>
        </p:nvSpPr>
        <p:spPr>
          <a:xfrm>
            <a:off x="6400800" y="3117960"/>
            <a:ext cx="511488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User stories, MCD, design system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0"/>
          <p:cNvSpPr/>
          <p:nvPr/>
        </p:nvSpPr>
        <p:spPr>
          <a:xfrm>
            <a:off x="548640" y="3831480"/>
            <a:ext cx="11058480" cy="63432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685800" y="3831480"/>
            <a:ext cx="81720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2"/>
          <p:cNvSpPr/>
          <p:nvPr/>
        </p:nvSpPr>
        <p:spPr>
          <a:xfrm>
            <a:off x="1554480" y="3968640"/>
            <a:ext cx="12600" cy="36000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80" tIns="45000" rIns="6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Text 23"/>
          <p:cNvSpPr/>
          <p:nvPr/>
        </p:nvSpPr>
        <p:spPr>
          <a:xfrm>
            <a:off x="1737360" y="3831480"/>
            <a:ext cx="54806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Architecture &amp; développement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4"/>
          <p:cNvSpPr/>
          <p:nvPr/>
        </p:nvSpPr>
        <p:spPr>
          <a:xfrm>
            <a:off x="6400800" y="3831480"/>
            <a:ext cx="511488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Stack, API, temps réel, sécurité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5"/>
          <p:cNvSpPr/>
          <p:nvPr/>
        </p:nvSpPr>
        <p:spPr>
          <a:xfrm>
            <a:off x="548640" y="4544640"/>
            <a:ext cx="11058480" cy="63432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685800" y="4544640"/>
            <a:ext cx="81720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1554480" y="4681800"/>
            <a:ext cx="12600" cy="36000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80" tIns="45000" rIns="6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28"/>
          <p:cNvSpPr/>
          <p:nvPr/>
        </p:nvSpPr>
        <p:spPr>
          <a:xfrm>
            <a:off x="1737360" y="4544640"/>
            <a:ext cx="54806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Tests &amp; déploiement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6400800" y="4544640"/>
            <a:ext cx="511488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Qualité, automatisation, production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0"/>
          <p:cNvSpPr/>
          <p:nvPr/>
        </p:nvSpPr>
        <p:spPr>
          <a:xfrm>
            <a:off x="548640" y="5257800"/>
            <a:ext cx="11058480" cy="63432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Text 31"/>
          <p:cNvSpPr/>
          <p:nvPr/>
        </p:nvSpPr>
        <p:spPr>
          <a:xfrm>
            <a:off x="685800" y="5257800"/>
            <a:ext cx="81720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2"/>
          <p:cNvSpPr/>
          <p:nvPr/>
        </p:nvSpPr>
        <p:spPr>
          <a:xfrm>
            <a:off x="1554480" y="5394960"/>
            <a:ext cx="12600" cy="36000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80" tIns="45000" rIns="6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Text 33"/>
          <p:cNvSpPr/>
          <p:nvPr/>
        </p:nvSpPr>
        <p:spPr>
          <a:xfrm>
            <a:off x="1737360" y="5257800"/>
            <a:ext cx="54806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Bilan &amp; compétences RNCP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4"/>
          <p:cNvSpPr/>
          <p:nvPr/>
        </p:nvSpPr>
        <p:spPr>
          <a:xfrm>
            <a:off x="6400800" y="5257800"/>
            <a:ext cx="511488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Apprentissages, mapping des blocs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3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01 · LE CANDIDAT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hr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ist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731520" y="1691640"/>
            <a:ext cx="2920320" cy="2920320"/>
          </a:xfrm>
          <a:prstGeom prst="ellipse">
            <a:avLst/>
          </a:prstGeom>
          <a:solidFill>
            <a:srgbClr val="EC4899">
              <a:alpha val="30000"/>
            </a:srgbClr>
          </a:solidFill>
          <a:ln w="381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Shape 5"/>
          <p:cNvSpPr/>
          <p:nvPr/>
        </p:nvSpPr>
        <p:spPr>
          <a:xfrm>
            <a:off x="731520" y="4846320"/>
            <a:ext cx="2920320" cy="360000"/>
          </a:xfrm>
          <a:prstGeom prst="roundRect">
            <a:avLst>
              <a:gd name="adj" fmla="val 375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 6"/>
          <p:cNvSpPr/>
          <p:nvPr/>
        </p:nvSpPr>
        <p:spPr>
          <a:xfrm>
            <a:off x="731520" y="4846320"/>
            <a:ext cx="29203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RECON</a:t>
            </a: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VERSIO</a:t>
            </a: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N DEV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4114800" y="1691640"/>
            <a:ext cx="776664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Du terrain industriel au 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code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4114800" y="2240280"/>
            <a:ext cx="7766640" cy="12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Technicien industriel pendant 20 ans </a:t>
            </a:r>
            <a:r>
              <a:rPr lang="en-US" sz="13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(KONE Ascenseurs, SOCOTEC </a:t>
            </a:r>
            <a:r>
              <a:rPr lang="en-US" sz="13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Équipements), j'ai entamé en 2024 une </a:t>
            </a:r>
            <a:r>
              <a:rPr lang="en-US" sz="13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transition complète vers le </a:t>
            </a:r>
            <a:r>
              <a:rPr lang="en-US" sz="13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développement full-stack via la </a:t>
            </a:r>
            <a:r>
              <a:rPr lang="en-US" sz="13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formation Zone01 Rouen Normandie.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9"/>
          <p:cNvSpPr/>
          <p:nvPr/>
        </p:nvSpPr>
        <p:spPr>
          <a:xfrm>
            <a:off x="4114800" y="3611880"/>
            <a:ext cx="1823040" cy="127440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4114800" y="3703320"/>
            <a:ext cx="182304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20 </a:t>
            </a:r>
            <a:r>
              <a:rPr lang="en-US" sz="2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ans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1"/>
          <p:cNvSpPr/>
          <p:nvPr/>
        </p:nvSpPr>
        <p:spPr>
          <a:xfrm>
            <a:off x="4114800" y="4297680"/>
            <a:ext cx="18230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Expéri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indust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rielle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2"/>
          <p:cNvSpPr/>
          <p:nvPr/>
        </p:nvSpPr>
        <p:spPr>
          <a:xfrm>
            <a:off x="6080760" y="3611880"/>
            <a:ext cx="1823040" cy="127440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6080760" y="3703320"/>
            <a:ext cx="182304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2024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4"/>
          <p:cNvSpPr/>
          <p:nvPr/>
        </p:nvSpPr>
        <p:spPr>
          <a:xfrm>
            <a:off x="6080760" y="4297680"/>
            <a:ext cx="18230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Entrée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Zone01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5"/>
          <p:cNvSpPr/>
          <p:nvPr/>
        </p:nvSpPr>
        <p:spPr>
          <a:xfrm>
            <a:off x="8046720" y="3611880"/>
            <a:ext cx="1823040" cy="127440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8046720" y="3703320"/>
            <a:ext cx="182304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Niveau 6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8046720" y="4297680"/>
            <a:ext cx="18230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Certification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visée (RNCP)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8"/>
          <p:cNvSpPr/>
          <p:nvPr/>
        </p:nvSpPr>
        <p:spPr>
          <a:xfrm>
            <a:off x="10012680" y="3611880"/>
            <a:ext cx="1823040" cy="127440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10012680" y="3703320"/>
            <a:ext cx="182304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Full-stack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0"/>
          <p:cNvSpPr/>
          <p:nvPr/>
        </p:nvSpPr>
        <p:spPr>
          <a:xfrm>
            <a:off x="10012680" y="4297680"/>
            <a:ext cx="18230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Appétence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backend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1"/>
          <p:cNvSpPr/>
          <p:nvPr/>
        </p:nvSpPr>
        <p:spPr>
          <a:xfrm>
            <a:off x="4114800" y="5110920"/>
            <a:ext cx="7675200" cy="1182960"/>
          </a:xfrm>
          <a:prstGeom prst="roundRect">
            <a:avLst>
              <a:gd name="adj" fmla="val 6154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 22"/>
          <p:cNvSpPr/>
          <p:nvPr/>
        </p:nvSpPr>
        <p:spPr>
          <a:xfrm>
            <a:off x="4297680" y="512064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Forces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3"/>
          <p:cNvSpPr/>
          <p:nvPr/>
        </p:nvSpPr>
        <p:spPr>
          <a:xfrm>
            <a:off x="4297680" y="5413320"/>
            <a:ext cx="497160" cy="49716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 24"/>
          <p:cNvSpPr/>
          <p:nvPr/>
        </p:nvSpPr>
        <p:spPr>
          <a:xfrm>
            <a:off x="4296960" y="5322240"/>
            <a:ext cx="49716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▲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5"/>
          <p:cNvSpPr/>
          <p:nvPr/>
        </p:nvSpPr>
        <p:spPr>
          <a:xfrm>
            <a:off x="4846320" y="5413320"/>
            <a:ext cx="132012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Rigueur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6"/>
          <p:cNvSpPr/>
          <p:nvPr/>
        </p:nvSpPr>
        <p:spPr>
          <a:xfrm>
            <a:off x="6172200" y="5413320"/>
            <a:ext cx="497160" cy="49716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27"/>
          <p:cNvSpPr/>
          <p:nvPr/>
        </p:nvSpPr>
        <p:spPr>
          <a:xfrm>
            <a:off x="6172200" y="5341320"/>
            <a:ext cx="49716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8"/>
          <p:cNvSpPr/>
          <p:nvPr/>
        </p:nvSpPr>
        <p:spPr>
          <a:xfrm>
            <a:off x="6720840" y="5413320"/>
            <a:ext cx="132012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Pragmatisme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9"/>
          <p:cNvSpPr/>
          <p:nvPr/>
        </p:nvSpPr>
        <p:spPr>
          <a:xfrm>
            <a:off x="8046720" y="5413320"/>
            <a:ext cx="497160" cy="49716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 30"/>
          <p:cNvSpPr/>
          <p:nvPr/>
        </p:nvSpPr>
        <p:spPr>
          <a:xfrm>
            <a:off x="8046720" y="5377320"/>
            <a:ext cx="497160" cy="5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1"/>
          <p:cNvSpPr/>
          <p:nvPr/>
        </p:nvSpPr>
        <p:spPr>
          <a:xfrm>
            <a:off x="8595360" y="5413320"/>
            <a:ext cx="132012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Autodidacte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2"/>
          <p:cNvSpPr/>
          <p:nvPr/>
        </p:nvSpPr>
        <p:spPr>
          <a:xfrm>
            <a:off x="9921240" y="5413320"/>
            <a:ext cx="497160" cy="49716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 33"/>
          <p:cNvSpPr/>
          <p:nvPr/>
        </p:nvSpPr>
        <p:spPr>
          <a:xfrm>
            <a:off x="9921240" y="5377320"/>
            <a:ext cx="497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★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4"/>
          <p:cNvSpPr/>
          <p:nvPr/>
        </p:nvSpPr>
        <p:spPr>
          <a:xfrm>
            <a:off x="10469880" y="5413320"/>
            <a:ext cx="132012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Métier ↔ Tech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3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"/>
          <p:cNvPicPr/>
          <p:nvPr/>
        </p:nvPicPr>
        <p:blipFill>
          <a:blip r:embed="rId2"/>
          <a:stretch/>
        </p:blipFill>
        <p:spPr>
          <a:xfrm>
            <a:off x="1284840" y="2266560"/>
            <a:ext cx="1823400" cy="182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01 · PARCOURS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 ans de terrain, puis le code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1828800" y="1645920"/>
            <a:ext cx="48960" cy="456624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Shape 4"/>
          <p:cNvSpPr/>
          <p:nvPr/>
        </p:nvSpPr>
        <p:spPr>
          <a:xfrm>
            <a:off x="1691640" y="1801440"/>
            <a:ext cx="323280" cy="323280"/>
          </a:xfrm>
          <a:prstGeom prst="ellipse">
            <a:avLst/>
          </a:prstGeom>
          <a:solidFill>
            <a:srgbClr val="71717A"/>
          </a:solidFill>
          <a:ln w="38100">
            <a:solidFill>
              <a:srgbClr val="1A1B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548640" y="1691640"/>
            <a:ext cx="109152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2000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2286000" y="1645920"/>
            <a:ext cx="8223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 PRO MSMA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2286000" y="1965960"/>
            <a:ext cx="9138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Maintenance Systèmes Mécaniques Automatisés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8"/>
          <p:cNvSpPr/>
          <p:nvPr/>
        </p:nvSpPr>
        <p:spPr>
          <a:xfrm>
            <a:off x="1691640" y="2578680"/>
            <a:ext cx="323280" cy="323280"/>
          </a:xfrm>
          <a:prstGeom prst="ellipse">
            <a:avLst/>
          </a:prstGeom>
          <a:solidFill>
            <a:srgbClr val="71717A"/>
          </a:solidFill>
          <a:ln w="38100">
            <a:solidFill>
              <a:srgbClr val="1A1B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548640" y="2468880"/>
            <a:ext cx="109152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2003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2286000" y="2423160"/>
            <a:ext cx="8223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BTS MAI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2286000" y="2743200"/>
            <a:ext cx="9138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Mécanique et Automatismes Industriels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1691640" y="3355920"/>
            <a:ext cx="323280" cy="323280"/>
          </a:xfrm>
          <a:prstGeom prst="ellipse">
            <a:avLst/>
          </a:prstGeom>
          <a:solidFill>
            <a:srgbClr val="06B6D4"/>
          </a:solidFill>
          <a:ln w="38100">
            <a:solidFill>
              <a:srgbClr val="1A1B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 13"/>
          <p:cNvSpPr/>
          <p:nvPr/>
        </p:nvSpPr>
        <p:spPr>
          <a:xfrm>
            <a:off x="548640" y="3246120"/>
            <a:ext cx="109152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2004-2010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2286000" y="3200400"/>
            <a:ext cx="8223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KONE Ascenseurs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5"/>
          <p:cNvSpPr/>
          <p:nvPr/>
        </p:nvSpPr>
        <p:spPr>
          <a:xfrm>
            <a:off x="2286000" y="3520440"/>
            <a:ext cx="9138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Technicien régleur et mise en service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6"/>
          <p:cNvSpPr/>
          <p:nvPr/>
        </p:nvSpPr>
        <p:spPr>
          <a:xfrm>
            <a:off x="1691640" y="4133160"/>
            <a:ext cx="323280" cy="323280"/>
          </a:xfrm>
          <a:prstGeom prst="ellipse">
            <a:avLst/>
          </a:prstGeom>
          <a:solidFill>
            <a:srgbClr val="8B5CF6"/>
          </a:solidFill>
          <a:ln w="38100">
            <a:solidFill>
              <a:srgbClr val="1A1B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 17"/>
          <p:cNvSpPr/>
          <p:nvPr/>
        </p:nvSpPr>
        <p:spPr>
          <a:xfrm>
            <a:off x="548640" y="4023360"/>
            <a:ext cx="109152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2010-2024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2286000" y="3977640"/>
            <a:ext cx="8223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SOCOTEC Équipements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9"/>
          <p:cNvSpPr/>
          <p:nvPr/>
        </p:nvSpPr>
        <p:spPr>
          <a:xfrm>
            <a:off x="2286000" y="4297680"/>
            <a:ext cx="9138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Expert vérifications générales périodiques (14 ans)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0"/>
          <p:cNvSpPr/>
          <p:nvPr/>
        </p:nvSpPr>
        <p:spPr>
          <a:xfrm>
            <a:off x="1691640" y="4910400"/>
            <a:ext cx="323280" cy="323280"/>
          </a:xfrm>
          <a:prstGeom prst="ellipse">
            <a:avLst/>
          </a:prstGeom>
          <a:solidFill>
            <a:srgbClr val="EC4899"/>
          </a:solidFill>
          <a:ln w="38100">
            <a:solidFill>
              <a:srgbClr val="1A1B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 21"/>
          <p:cNvSpPr/>
          <p:nvPr/>
        </p:nvSpPr>
        <p:spPr>
          <a:xfrm>
            <a:off x="548640" y="4800600"/>
            <a:ext cx="109152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2024 →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2"/>
          <p:cNvSpPr/>
          <p:nvPr/>
        </p:nvSpPr>
        <p:spPr>
          <a:xfrm>
            <a:off x="2286000" y="4754880"/>
            <a:ext cx="8223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Zone01 Rouen Normandie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3"/>
          <p:cNvSpPr/>
          <p:nvPr/>
        </p:nvSpPr>
        <p:spPr>
          <a:xfrm>
            <a:off x="2286000" y="5074920"/>
            <a:ext cx="9138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Formation CDA — peer learning, projets, stack moderne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4"/>
          <p:cNvSpPr/>
          <p:nvPr/>
        </p:nvSpPr>
        <p:spPr>
          <a:xfrm>
            <a:off x="1691640" y="5687640"/>
            <a:ext cx="323280" cy="32328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1A1B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 25"/>
          <p:cNvSpPr/>
          <p:nvPr/>
        </p:nvSpPr>
        <p:spPr>
          <a:xfrm>
            <a:off x="548640" y="5577840"/>
            <a:ext cx="109152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2026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6"/>
          <p:cNvSpPr/>
          <p:nvPr/>
        </p:nvSpPr>
        <p:spPr>
          <a:xfrm>
            <a:off x="2286000" y="5532120"/>
            <a:ext cx="8223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Soutenance RNCP 37873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7"/>
          <p:cNvSpPr/>
          <p:nvPr/>
        </p:nvSpPr>
        <p:spPr>
          <a:xfrm>
            <a:off x="2286000" y="5852160"/>
            <a:ext cx="9138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Konekt + Dossier professionnel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28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9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4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01 · MÉTHODE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Travail en mode agile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548640" y="1691640"/>
            <a:ext cx="109670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Cycle de développement adopté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4"/>
          <p:cNvSpPr/>
          <p:nvPr/>
        </p:nvSpPr>
        <p:spPr>
          <a:xfrm>
            <a:off x="557280" y="2103120"/>
            <a:ext cx="2188800" cy="168588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1380240" y="2240280"/>
            <a:ext cx="542880" cy="542880"/>
          </a:xfrm>
          <a:prstGeom prst="ellipse">
            <a:avLst/>
          </a:prstGeom>
          <a:solidFill>
            <a:srgbClr val="A1A1AA">
              <a:alpha val="30000"/>
            </a:srgbClr>
          </a:solidFill>
          <a:ln w="19050">
            <a:solidFill>
              <a:srgbClr val="A1A1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1380240" y="2168280"/>
            <a:ext cx="542880" cy="62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▤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648720" y="2834640"/>
            <a:ext cx="20059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Backlog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648720" y="3154680"/>
            <a:ext cx="200592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User stories priorisées HIGH/MED/LOW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9"/>
          <p:cNvSpPr/>
          <p:nvPr/>
        </p:nvSpPr>
        <p:spPr>
          <a:xfrm>
            <a:off x="2787480" y="2926080"/>
            <a:ext cx="36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8360" tIns="-44640" rIns="1836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Shape 10"/>
          <p:cNvSpPr/>
          <p:nvPr/>
        </p:nvSpPr>
        <p:spPr>
          <a:xfrm>
            <a:off x="2824200" y="2103120"/>
            <a:ext cx="2188800" cy="168588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Shape 11"/>
          <p:cNvSpPr/>
          <p:nvPr/>
        </p:nvSpPr>
        <p:spPr>
          <a:xfrm>
            <a:off x="3647160" y="2240280"/>
            <a:ext cx="542880" cy="54288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3647160" y="2096280"/>
            <a:ext cx="54288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▣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2915640" y="2834640"/>
            <a:ext cx="20059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Planification de phase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4"/>
          <p:cNvSpPr/>
          <p:nvPr/>
        </p:nvSpPr>
        <p:spPr>
          <a:xfrm>
            <a:off x="2915640" y="3154680"/>
            <a:ext cx="200592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Issues GitHub assignées, points estimés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5"/>
          <p:cNvSpPr/>
          <p:nvPr/>
        </p:nvSpPr>
        <p:spPr>
          <a:xfrm>
            <a:off x="5054760" y="2926080"/>
            <a:ext cx="36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8360" tIns="-44640" rIns="1836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Shape 16"/>
          <p:cNvSpPr/>
          <p:nvPr/>
        </p:nvSpPr>
        <p:spPr>
          <a:xfrm>
            <a:off x="5091480" y="2103120"/>
            <a:ext cx="2188800" cy="168588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Shape 17"/>
          <p:cNvSpPr/>
          <p:nvPr/>
        </p:nvSpPr>
        <p:spPr>
          <a:xfrm>
            <a:off x="5914440" y="2240280"/>
            <a:ext cx="542880" cy="54288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 18"/>
          <p:cNvSpPr/>
          <p:nvPr/>
        </p:nvSpPr>
        <p:spPr>
          <a:xfrm>
            <a:off x="5914440" y="2132280"/>
            <a:ext cx="542880" cy="7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9"/>
          <p:cNvSpPr/>
          <p:nvPr/>
        </p:nvSpPr>
        <p:spPr>
          <a:xfrm>
            <a:off x="5182920" y="2834640"/>
            <a:ext cx="20059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Daily standup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0"/>
          <p:cNvSpPr/>
          <p:nvPr/>
        </p:nvSpPr>
        <p:spPr>
          <a:xfrm>
            <a:off x="5182920" y="3154680"/>
            <a:ext cx="200592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15 min — avancement, blocages, plan du jour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1"/>
          <p:cNvSpPr/>
          <p:nvPr/>
        </p:nvSpPr>
        <p:spPr>
          <a:xfrm>
            <a:off x="7322040" y="2926080"/>
            <a:ext cx="3636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8000" tIns="-44640" rIns="18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Shape 22"/>
          <p:cNvSpPr/>
          <p:nvPr/>
        </p:nvSpPr>
        <p:spPr>
          <a:xfrm>
            <a:off x="7358760" y="2103120"/>
            <a:ext cx="2188800" cy="168588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Shape 23"/>
          <p:cNvSpPr/>
          <p:nvPr/>
        </p:nvSpPr>
        <p:spPr>
          <a:xfrm>
            <a:off x="8181720" y="2240280"/>
            <a:ext cx="542880" cy="54288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 24"/>
          <p:cNvSpPr/>
          <p:nvPr/>
        </p:nvSpPr>
        <p:spPr>
          <a:xfrm>
            <a:off x="8217720" y="2132280"/>
            <a:ext cx="542880" cy="7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▷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5"/>
          <p:cNvSpPr/>
          <p:nvPr/>
        </p:nvSpPr>
        <p:spPr>
          <a:xfrm>
            <a:off x="7450200" y="2834640"/>
            <a:ext cx="20059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Review &amp; demo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6"/>
          <p:cNvSpPr/>
          <p:nvPr/>
        </p:nvSpPr>
        <p:spPr>
          <a:xfrm>
            <a:off x="7450200" y="3154680"/>
            <a:ext cx="200592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Démo de fin de phase en équipe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7"/>
          <p:cNvSpPr/>
          <p:nvPr/>
        </p:nvSpPr>
        <p:spPr>
          <a:xfrm>
            <a:off x="9588960" y="2926080"/>
            <a:ext cx="36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8360" tIns="-44640" rIns="1836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Shape 28"/>
          <p:cNvSpPr/>
          <p:nvPr/>
        </p:nvSpPr>
        <p:spPr>
          <a:xfrm>
            <a:off x="9625680" y="2103120"/>
            <a:ext cx="2188800" cy="168588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Shape 29"/>
          <p:cNvSpPr/>
          <p:nvPr/>
        </p:nvSpPr>
        <p:spPr>
          <a:xfrm>
            <a:off x="10448640" y="2240280"/>
            <a:ext cx="542880" cy="54288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 30"/>
          <p:cNvSpPr/>
          <p:nvPr/>
        </p:nvSpPr>
        <p:spPr>
          <a:xfrm>
            <a:off x="10448640" y="2240280"/>
            <a:ext cx="5428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↻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1"/>
          <p:cNvSpPr/>
          <p:nvPr/>
        </p:nvSpPr>
        <p:spPr>
          <a:xfrm>
            <a:off x="9717120" y="2834640"/>
            <a:ext cx="20059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Rétrospective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2"/>
          <p:cNvSpPr/>
          <p:nvPr/>
        </p:nvSpPr>
        <p:spPr>
          <a:xfrm>
            <a:off x="9717120" y="3154680"/>
            <a:ext cx="200592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Ce qui a marché / ce qu'on change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3"/>
          <p:cNvSpPr/>
          <p:nvPr/>
        </p:nvSpPr>
        <p:spPr>
          <a:xfrm>
            <a:off x="548640" y="4023360"/>
            <a:ext cx="5526360" cy="223452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 34"/>
          <p:cNvSpPr/>
          <p:nvPr/>
        </p:nvSpPr>
        <p:spPr>
          <a:xfrm>
            <a:off x="731520" y="4114800"/>
            <a:ext cx="50234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Outils &amp; rituels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5"/>
          <p:cNvSpPr/>
          <p:nvPr/>
        </p:nvSpPr>
        <p:spPr>
          <a:xfrm>
            <a:off x="777240" y="463608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 36"/>
          <p:cNvSpPr/>
          <p:nvPr/>
        </p:nvSpPr>
        <p:spPr>
          <a:xfrm>
            <a:off x="1005840" y="4526280"/>
            <a:ext cx="21888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GitHub Issues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7"/>
          <p:cNvSpPr/>
          <p:nvPr/>
        </p:nvSpPr>
        <p:spPr>
          <a:xfrm>
            <a:off x="3246120" y="4526280"/>
            <a:ext cx="2737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Backlog vivant, labels, milestones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38"/>
          <p:cNvSpPr/>
          <p:nvPr/>
        </p:nvSpPr>
        <p:spPr>
          <a:xfrm>
            <a:off x="777240" y="504756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 39"/>
          <p:cNvSpPr/>
          <p:nvPr/>
        </p:nvSpPr>
        <p:spPr>
          <a:xfrm>
            <a:off x="1005840" y="4937760"/>
            <a:ext cx="21888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GitHub Projects (Kanban)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0"/>
          <p:cNvSpPr/>
          <p:nvPr/>
        </p:nvSpPr>
        <p:spPr>
          <a:xfrm>
            <a:off x="3246120" y="4937760"/>
            <a:ext cx="2737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Colonnes Todo / Doing / Review / Done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41"/>
          <p:cNvSpPr/>
          <p:nvPr/>
        </p:nvSpPr>
        <p:spPr>
          <a:xfrm>
            <a:off x="777240" y="545904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 42"/>
          <p:cNvSpPr/>
          <p:nvPr/>
        </p:nvSpPr>
        <p:spPr>
          <a:xfrm>
            <a:off x="1005840" y="5349240"/>
            <a:ext cx="21888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Pull Requests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3"/>
          <p:cNvSpPr/>
          <p:nvPr/>
        </p:nvSpPr>
        <p:spPr>
          <a:xfrm>
            <a:off x="3246120" y="5349240"/>
            <a:ext cx="2737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Code review obligatoire avant merge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44"/>
          <p:cNvSpPr/>
          <p:nvPr/>
        </p:nvSpPr>
        <p:spPr>
          <a:xfrm>
            <a:off x="777240" y="587052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 45"/>
          <p:cNvSpPr/>
          <p:nvPr/>
        </p:nvSpPr>
        <p:spPr>
          <a:xfrm>
            <a:off x="1005840" y="5760720"/>
            <a:ext cx="21888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Vercel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6"/>
          <p:cNvSpPr/>
          <p:nvPr/>
        </p:nvSpPr>
        <p:spPr>
          <a:xfrm>
            <a:off x="3246120" y="5760720"/>
            <a:ext cx="2737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Preview PR · déploiement prod automatique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7"/>
          <p:cNvSpPr/>
          <p:nvPr/>
        </p:nvSpPr>
        <p:spPr>
          <a:xfrm>
            <a:off x="6263640" y="4023360"/>
            <a:ext cx="5526360" cy="223452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 48"/>
          <p:cNvSpPr/>
          <p:nvPr/>
        </p:nvSpPr>
        <p:spPr>
          <a:xfrm>
            <a:off x="6446520" y="4114800"/>
            <a:ext cx="50234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Découpe du projet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49"/>
          <p:cNvSpPr/>
          <p:nvPr/>
        </p:nvSpPr>
        <p:spPr>
          <a:xfrm>
            <a:off x="6446520" y="4526280"/>
            <a:ext cx="6343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50"/>
          <p:cNvSpPr/>
          <p:nvPr/>
        </p:nvSpPr>
        <p:spPr>
          <a:xfrm>
            <a:off x="7178040" y="4526280"/>
            <a:ext cx="44748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phases (MVP / Features / Polish)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51"/>
          <p:cNvSpPr/>
          <p:nvPr/>
        </p:nvSpPr>
        <p:spPr>
          <a:xfrm>
            <a:off x="6446520" y="4937760"/>
            <a:ext cx="6343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2"/>
          <p:cNvSpPr/>
          <p:nvPr/>
        </p:nvSpPr>
        <p:spPr>
          <a:xfrm>
            <a:off x="7178040" y="4937760"/>
            <a:ext cx="44748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phases de développement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53"/>
          <p:cNvSpPr/>
          <p:nvPr/>
        </p:nvSpPr>
        <p:spPr>
          <a:xfrm>
            <a:off x="6446520" y="5349240"/>
            <a:ext cx="6343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54"/>
          <p:cNvSpPr/>
          <p:nvPr/>
        </p:nvSpPr>
        <p:spPr>
          <a:xfrm>
            <a:off x="7178040" y="5349240"/>
            <a:ext cx="44748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stories priorisées par phase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55"/>
          <p:cNvSpPr/>
          <p:nvPr/>
        </p:nvSpPr>
        <p:spPr>
          <a:xfrm>
            <a:off x="6446520" y="5760720"/>
            <a:ext cx="6343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6"/>
          <p:cNvSpPr/>
          <p:nvPr/>
        </p:nvSpPr>
        <p:spPr>
          <a:xfrm>
            <a:off x="7178040" y="5760720"/>
            <a:ext cx="44748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review par phase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7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 57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58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840" tIns="45000" rIns="338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548640" y="447480"/>
            <a:ext cx="7309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01 · MÉTHODE GIT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548640" y="757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Workflow Git en équipe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38"/>
          <p:cNvSpPr/>
          <p:nvPr/>
        </p:nvSpPr>
        <p:spPr>
          <a:xfrm>
            <a:off x="731520" y="5669280"/>
            <a:ext cx="68522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● commit  ↑ Pull Request validée  →  merge  ←  vers branche parente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53"/>
          <p:cNvSpPr/>
          <p:nvPr/>
        </p:nvSpPr>
        <p:spPr>
          <a:xfrm>
            <a:off x="548640" y="6080760"/>
            <a:ext cx="109670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5 contributeurs · 12+ issues majeures · PR #118 stabilisation Docker/Neon/Prisma/Redis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54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55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6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7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Rectangle 2"/>
          <p:cNvSpPr/>
          <p:nvPr/>
        </p:nvSpPr>
        <p:spPr>
          <a:xfrm>
            <a:off x="549000" y="1692000"/>
            <a:ext cx="7218720" cy="429264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1"/>
          <p:cNvSpPr/>
          <p:nvPr/>
        </p:nvSpPr>
        <p:spPr>
          <a:xfrm>
            <a:off x="731880" y="1984680"/>
            <a:ext cx="1183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main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3"/>
          <p:cNvSpPr/>
          <p:nvPr/>
        </p:nvSpPr>
        <p:spPr>
          <a:xfrm>
            <a:off x="1966320" y="2103480"/>
            <a:ext cx="5572800" cy="316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Oval 1"/>
          <p:cNvSpPr/>
          <p:nvPr/>
        </p:nvSpPr>
        <p:spPr>
          <a:xfrm>
            <a:off x="2350440" y="2048760"/>
            <a:ext cx="141120" cy="1411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Oval 8"/>
          <p:cNvSpPr/>
          <p:nvPr/>
        </p:nvSpPr>
        <p:spPr>
          <a:xfrm>
            <a:off x="4682160" y="2048760"/>
            <a:ext cx="141120" cy="1411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Oval 9"/>
          <p:cNvSpPr/>
          <p:nvPr/>
        </p:nvSpPr>
        <p:spPr>
          <a:xfrm>
            <a:off x="7013880" y="2048760"/>
            <a:ext cx="141120" cy="1411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4"/>
          <p:cNvSpPr/>
          <p:nvPr/>
        </p:nvSpPr>
        <p:spPr>
          <a:xfrm>
            <a:off x="731880" y="3127680"/>
            <a:ext cx="1183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develop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30"/>
          <p:cNvSpPr/>
          <p:nvPr/>
        </p:nvSpPr>
        <p:spPr>
          <a:xfrm>
            <a:off x="1966320" y="3246480"/>
            <a:ext cx="5572800" cy="31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Oval 12"/>
          <p:cNvSpPr/>
          <p:nvPr/>
        </p:nvSpPr>
        <p:spPr>
          <a:xfrm>
            <a:off x="2350440" y="3191760"/>
            <a:ext cx="141120" cy="141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Oval 13"/>
          <p:cNvSpPr/>
          <p:nvPr/>
        </p:nvSpPr>
        <p:spPr>
          <a:xfrm>
            <a:off x="3516120" y="3191760"/>
            <a:ext cx="141120" cy="141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Oval 2"/>
          <p:cNvSpPr/>
          <p:nvPr/>
        </p:nvSpPr>
        <p:spPr>
          <a:xfrm>
            <a:off x="4682160" y="3191760"/>
            <a:ext cx="141120" cy="141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Oval 15"/>
          <p:cNvSpPr/>
          <p:nvPr/>
        </p:nvSpPr>
        <p:spPr>
          <a:xfrm>
            <a:off x="5847840" y="3191760"/>
            <a:ext cx="141120" cy="141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Oval 16"/>
          <p:cNvSpPr/>
          <p:nvPr/>
        </p:nvSpPr>
        <p:spPr>
          <a:xfrm>
            <a:off x="7013880" y="3191760"/>
            <a:ext cx="141120" cy="141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57"/>
          <p:cNvSpPr/>
          <p:nvPr/>
        </p:nvSpPr>
        <p:spPr>
          <a:xfrm>
            <a:off x="731880" y="4270680"/>
            <a:ext cx="1183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feature/auth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31"/>
          <p:cNvSpPr/>
          <p:nvPr/>
        </p:nvSpPr>
        <p:spPr>
          <a:xfrm>
            <a:off x="1966320" y="4389480"/>
            <a:ext cx="5572800" cy="3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Oval 19"/>
          <p:cNvSpPr/>
          <p:nvPr/>
        </p:nvSpPr>
        <p:spPr>
          <a:xfrm>
            <a:off x="2350440" y="4334760"/>
            <a:ext cx="141120" cy="1411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Oval 3"/>
          <p:cNvSpPr/>
          <p:nvPr/>
        </p:nvSpPr>
        <p:spPr>
          <a:xfrm>
            <a:off x="3904920" y="4334760"/>
            <a:ext cx="141120" cy="1411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Oval 21"/>
          <p:cNvSpPr/>
          <p:nvPr/>
        </p:nvSpPr>
        <p:spPr>
          <a:xfrm>
            <a:off x="5459400" y="4334760"/>
            <a:ext cx="141120" cy="1411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Oval 22"/>
          <p:cNvSpPr/>
          <p:nvPr/>
        </p:nvSpPr>
        <p:spPr>
          <a:xfrm>
            <a:off x="7013880" y="4334760"/>
            <a:ext cx="141120" cy="1411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65"/>
          <p:cNvSpPr/>
          <p:nvPr/>
        </p:nvSpPr>
        <p:spPr>
          <a:xfrm>
            <a:off x="731880" y="5322240"/>
            <a:ext cx="1183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feature/likes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55"/>
          <p:cNvSpPr/>
          <p:nvPr/>
        </p:nvSpPr>
        <p:spPr>
          <a:xfrm>
            <a:off x="1966320" y="5441040"/>
            <a:ext cx="5572800" cy="3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Oval 25"/>
          <p:cNvSpPr/>
          <p:nvPr/>
        </p:nvSpPr>
        <p:spPr>
          <a:xfrm>
            <a:off x="2350440" y="5386320"/>
            <a:ext cx="141120" cy="1411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Oval 26"/>
          <p:cNvSpPr/>
          <p:nvPr/>
        </p:nvSpPr>
        <p:spPr>
          <a:xfrm>
            <a:off x="3904920" y="5386320"/>
            <a:ext cx="141120" cy="1411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Oval 27"/>
          <p:cNvSpPr/>
          <p:nvPr/>
        </p:nvSpPr>
        <p:spPr>
          <a:xfrm>
            <a:off x="5459400" y="5386320"/>
            <a:ext cx="141120" cy="1411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Oval 4"/>
          <p:cNvSpPr/>
          <p:nvPr/>
        </p:nvSpPr>
        <p:spPr>
          <a:xfrm>
            <a:off x="7013880" y="5386320"/>
            <a:ext cx="141120" cy="1411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66"/>
          <p:cNvSpPr/>
          <p:nvPr/>
        </p:nvSpPr>
        <p:spPr>
          <a:xfrm>
            <a:off x="5029560" y="3840840"/>
            <a:ext cx="7264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PR ←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56"/>
          <p:cNvSpPr/>
          <p:nvPr/>
        </p:nvSpPr>
        <p:spPr>
          <a:xfrm>
            <a:off x="5303880" y="3337920"/>
            <a:ext cx="31680" cy="1046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840" tIns="45000" rIns="158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Oval 31"/>
          <p:cNvSpPr/>
          <p:nvPr/>
        </p:nvSpPr>
        <p:spPr>
          <a:xfrm>
            <a:off x="5249160" y="3246480"/>
            <a:ext cx="141120" cy="1411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67"/>
          <p:cNvSpPr/>
          <p:nvPr/>
        </p:nvSpPr>
        <p:spPr>
          <a:xfrm>
            <a:off x="6309720" y="3840840"/>
            <a:ext cx="7264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PR ←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80"/>
          <p:cNvSpPr/>
          <p:nvPr/>
        </p:nvSpPr>
        <p:spPr>
          <a:xfrm>
            <a:off x="6584040" y="3337920"/>
            <a:ext cx="31680" cy="2098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840" tIns="45000" rIns="158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Oval 34"/>
          <p:cNvSpPr/>
          <p:nvPr/>
        </p:nvSpPr>
        <p:spPr>
          <a:xfrm>
            <a:off x="6529320" y="3246480"/>
            <a:ext cx="141120" cy="1411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68"/>
          <p:cNvSpPr/>
          <p:nvPr/>
        </p:nvSpPr>
        <p:spPr>
          <a:xfrm>
            <a:off x="3968640" y="2590200"/>
            <a:ext cx="9093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release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81"/>
          <p:cNvSpPr/>
          <p:nvPr/>
        </p:nvSpPr>
        <p:spPr>
          <a:xfrm>
            <a:off x="3932280" y="2194920"/>
            <a:ext cx="31680" cy="10465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840" tIns="45000" rIns="158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Oval 37"/>
          <p:cNvSpPr/>
          <p:nvPr/>
        </p:nvSpPr>
        <p:spPr>
          <a:xfrm>
            <a:off x="3877560" y="2103480"/>
            <a:ext cx="141120" cy="1411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0560" tIns="45000" rIns="70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69"/>
          <p:cNvSpPr/>
          <p:nvPr/>
        </p:nvSpPr>
        <p:spPr>
          <a:xfrm>
            <a:off x="731880" y="5669640"/>
            <a:ext cx="685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● commit  ↑ Pull Request validée  →  merge  ←  vers branche parente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105"/>
          <p:cNvSpPr/>
          <p:nvPr/>
        </p:nvSpPr>
        <p:spPr>
          <a:xfrm>
            <a:off x="8092440" y="1692000"/>
            <a:ext cx="3515400" cy="429264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70"/>
          <p:cNvSpPr/>
          <p:nvPr/>
        </p:nvSpPr>
        <p:spPr>
          <a:xfrm>
            <a:off x="8275320" y="1783440"/>
            <a:ext cx="3149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Règles d'équipe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Oval 10"/>
          <p:cNvSpPr/>
          <p:nvPr/>
        </p:nvSpPr>
        <p:spPr>
          <a:xfrm>
            <a:off x="8275320" y="2194920"/>
            <a:ext cx="406440" cy="406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71"/>
          <p:cNvSpPr/>
          <p:nvPr/>
        </p:nvSpPr>
        <p:spPr>
          <a:xfrm>
            <a:off x="8275320" y="2194920"/>
            <a:ext cx="4064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72"/>
          <p:cNvSpPr/>
          <p:nvPr/>
        </p:nvSpPr>
        <p:spPr>
          <a:xfrm>
            <a:off x="8778240" y="2293200"/>
            <a:ext cx="2646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 feature = 1 branche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Oval 44"/>
          <p:cNvSpPr/>
          <p:nvPr/>
        </p:nvSpPr>
        <p:spPr>
          <a:xfrm>
            <a:off x="8275320" y="2972160"/>
            <a:ext cx="406440" cy="406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73"/>
          <p:cNvSpPr/>
          <p:nvPr/>
        </p:nvSpPr>
        <p:spPr>
          <a:xfrm>
            <a:off x="8275320" y="2972160"/>
            <a:ext cx="4064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◐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74"/>
          <p:cNvSpPr/>
          <p:nvPr/>
        </p:nvSpPr>
        <p:spPr>
          <a:xfrm>
            <a:off x="8778240" y="3070440"/>
            <a:ext cx="2646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 obligatoire vers develop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Oval 47"/>
          <p:cNvSpPr/>
          <p:nvPr/>
        </p:nvSpPr>
        <p:spPr>
          <a:xfrm>
            <a:off x="8275320" y="3749400"/>
            <a:ext cx="406440" cy="406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75"/>
          <p:cNvSpPr/>
          <p:nvPr/>
        </p:nvSpPr>
        <p:spPr>
          <a:xfrm>
            <a:off x="8275320" y="3749400"/>
            <a:ext cx="4064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76"/>
          <p:cNvSpPr/>
          <p:nvPr/>
        </p:nvSpPr>
        <p:spPr>
          <a:xfrm>
            <a:off x="8778240" y="3847680"/>
            <a:ext cx="2646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 verte avant merge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Oval 50"/>
          <p:cNvSpPr/>
          <p:nvPr/>
        </p:nvSpPr>
        <p:spPr>
          <a:xfrm>
            <a:off x="8275320" y="4526640"/>
            <a:ext cx="406440" cy="406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77"/>
          <p:cNvSpPr/>
          <p:nvPr/>
        </p:nvSpPr>
        <p:spPr>
          <a:xfrm>
            <a:off x="8275320" y="4526640"/>
            <a:ext cx="4064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▣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78"/>
          <p:cNvSpPr/>
          <p:nvPr/>
        </p:nvSpPr>
        <p:spPr>
          <a:xfrm>
            <a:off x="8778240" y="4624920"/>
            <a:ext cx="2646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develop → main = release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1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840" tIns="45000" rIns="338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2"/>
          <p:cNvSpPr/>
          <p:nvPr/>
        </p:nvSpPr>
        <p:spPr>
          <a:xfrm>
            <a:off x="548640" y="447480"/>
            <a:ext cx="7309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01 · MÉTHODE GIT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3"/>
          <p:cNvSpPr/>
          <p:nvPr/>
        </p:nvSpPr>
        <p:spPr>
          <a:xfrm>
            <a:off x="548640" y="757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Anatomie d'une Pull Request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4"/>
          <p:cNvSpPr/>
          <p:nvPr/>
        </p:nvSpPr>
        <p:spPr>
          <a:xfrm>
            <a:off x="548640" y="1691640"/>
            <a:ext cx="7309440" cy="456624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Rectangle 5"/>
          <p:cNvSpPr/>
          <p:nvPr/>
        </p:nvSpPr>
        <p:spPr>
          <a:xfrm>
            <a:off x="548640" y="1691640"/>
            <a:ext cx="7309440" cy="40572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Rectangle 6"/>
          <p:cNvSpPr/>
          <p:nvPr/>
        </p:nvSpPr>
        <p:spPr>
          <a:xfrm>
            <a:off x="731520" y="1783080"/>
            <a:ext cx="680040" cy="222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7"/>
          <p:cNvSpPr/>
          <p:nvPr/>
        </p:nvSpPr>
        <p:spPr>
          <a:xfrm>
            <a:off x="731520" y="1783080"/>
            <a:ext cx="6800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OPEN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8"/>
          <p:cNvSpPr/>
          <p:nvPr/>
        </p:nvSpPr>
        <p:spPr>
          <a:xfrm>
            <a:off x="1554480" y="1783080"/>
            <a:ext cx="62121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#73  Profil utilisateur — données publiques par ID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9"/>
          <p:cNvSpPr/>
          <p:nvPr/>
        </p:nvSpPr>
        <p:spPr>
          <a:xfrm>
            <a:off x="731520" y="2194560"/>
            <a:ext cx="69436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CLecart  wants to merge  10 commits  into  main  ← from  10-get-profileid-public-profile-data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10"/>
          <p:cNvSpPr/>
          <p:nvPr/>
        </p:nvSpPr>
        <p:spPr>
          <a:xfrm>
            <a:off x="731520" y="2560320"/>
            <a:ext cx="69436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Commits (Conventional Commits)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Oval 11"/>
          <p:cNvSpPr/>
          <p:nvPr/>
        </p:nvSpPr>
        <p:spPr>
          <a:xfrm>
            <a:off x="777240" y="2926080"/>
            <a:ext cx="104040" cy="104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200" tIns="32760" rIns="522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12"/>
          <p:cNvSpPr/>
          <p:nvPr/>
        </p:nvSpPr>
        <p:spPr>
          <a:xfrm>
            <a:off x="960120" y="2880360"/>
            <a:ext cx="16401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feat(post):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13"/>
          <p:cNvSpPr/>
          <p:nvPr/>
        </p:nvSpPr>
        <p:spPr>
          <a:xfrm>
            <a:off x="2651760" y="2880360"/>
            <a:ext cx="51148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create post avec upload image, validation serveur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Oval 14"/>
          <p:cNvSpPr/>
          <p:nvPr/>
        </p:nvSpPr>
        <p:spPr>
          <a:xfrm>
            <a:off x="777240" y="3200400"/>
            <a:ext cx="104040" cy="104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200" tIns="32760" rIns="522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15"/>
          <p:cNvSpPr/>
          <p:nvPr/>
        </p:nvSpPr>
        <p:spPr>
          <a:xfrm>
            <a:off x="960120" y="3154680"/>
            <a:ext cx="16401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fix(api):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16"/>
          <p:cNvSpPr/>
          <p:nvPr/>
        </p:nvSpPr>
        <p:spPr>
          <a:xfrm>
            <a:off x="2651760" y="3154680"/>
            <a:ext cx="51148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auth cookie JWT + vérification userId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Oval 17"/>
          <p:cNvSpPr/>
          <p:nvPr/>
        </p:nvSpPr>
        <p:spPr>
          <a:xfrm>
            <a:off x="777240" y="3474720"/>
            <a:ext cx="104040" cy="104040"/>
          </a:xfrm>
          <a:prstGeom prst="ellipse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200" tIns="32760" rIns="522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18"/>
          <p:cNvSpPr/>
          <p:nvPr/>
        </p:nvSpPr>
        <p:spPr>
          <a:xfrm>
            <a:off x="960120" y="3429000"/>
            <a:ext cx="16401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feat(profile):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9"/>
          <p:cNvSpPr/>
          <p:nvPr/>
        </p:nvSpPr>
        <p:spPr>
          <a:xfrm>
            <a:off x="2651760" y="3429000"/>
            <a:ext cx="51148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route GET /api/user/[id] — données publiques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Oval 20"/>
          <p:cNvSpPr/>
          <p:nvPr/>
        </p:nvSpPr>
        <p:spPr>
          <a:xfrm>
            <a:off x="777240" y="3749040"/>
            <a:ext cx="104040" cy="104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200" tIns="32760" rIns="522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21"/>
          <p:cNvSpPr/>
          <p:nvPr/>
        </p:nvSpPr>
        <p:spPr>
          <a:xfrm>
            <a:off x="960120" y="3703320"/>
            <a:ext cx="16401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8B5CF6"/>
                </a:solidFill>
                <a:effectLst/>
                <a:uFillTx/>
                <a:latin typeface="Consolas"/>
              </a:rPr>
              <a:t>chore: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22"/>
          <p:cNvSpPr/>
          <p:nvPr/>
        </p:nvSpPr>
        <p:spPr>
          <a:xfrm>
            <a:off x="2651760" y="3703320"/>
            <a:ext cx="51148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suppression imports inutilisés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23"/>
          <p:cNvSpPr/>
          <p:nvPr/>
        </p:nvSpPr>
        <p:spPr>
          <a:xfrm>
            <a:off x="731520" y="4251960"/>
            <a:ext cx="69436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Checks · Vercel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Oval 24"/>
          <p:cNvSpPr/>
          <p:nvPr/>
        </p:nvSpPr>
        <p:spPr>
          <a:xfrm>
            <a:off x="777240" y="4572000"/>
            <a:ext cx="177120" cy="1771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8560" tIns="45000" rIns="88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25"/>
          <p:cNvSpPr/>
          <p:nvPr/>
        </p:nvSpPr>
        <p:spPr>
          <a:xfrm>
            <a:off x="777240" y="4536000"/>
            <a:ext cx="17712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26"/>
          <p:cNvSpPr/>
          <p:nvPr/>
        </p:nvSpPr>
        <p:spPr>
          <a:xfrm>
            <a:off x="1051560" y="4553640"/>
            <a:ext cx="16401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lint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27"/>
          <p:cNvSpPr/>
          <p:nvPr/>
        </p:nvSpPr>
        <p:spPr>
          <a:xfrm>
            <a:off x="2743200" y="4553640"/>
            <a:ext cx="50234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passed in 22s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Oval 28"/>
          <p:cNvSpPr/>
          <p:nvPr/>
        </p:nvSpPr>
        <p:spPr>
          <a:xfrm>
            <a:off x="777240" y="4846320"/>
            <a:ext cx="177120" cy="1771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8560" tIns="45000" rIns="88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29"/>
          <p:cNvSpPr/>
          <p:nvPr/>
        </p:nvSpPr>
        <p:spPr>
          <a:xfrm>
            <a:off x="777240" y="4810320"/>
            <a:ext cx="177120" cy="1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30"/>
          <p:cNvSpPr/>
          <p:nvPr/>
        </p:nvSpPr>
        <p:spPr>
          <a:xfrm>
            <a:off x="1051560" y="4827960"/>
            <a:ext cx="16401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test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31"/>
          <p:cNvSpPr/>
          <p:nvPr/>
        </p:nvSpPr>
        <p:spPr>
          <a:xfrm>
            <a:off x="2743200" y="4827960"/>
            <a:ext cx="50234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passed in 1m 14s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Oval 32"/>
          <p:cNvSpPr/>
          <p:nvPr/>
        </p:nvSpPr>
        <p:spPr>
          <a:xfrm>
            <a:off x="777240" y="5120640"/>
            <a:ext cx="177120" cy="1771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8560" tIns="45000" rIns="88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33"/>
          <p:cNvSpPr/>
          <p:nvPr/>
        </p:nvSpPr>
        <p:spPr>
          <a:xfrm>
            <a:off x="777240" y="5084640"/>
            <a:ext cx="17712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34"/>
          <p:cNvSpPr/>
          <p:nvPr/>
        </p:nvSpPr>
        <p:spPr>
          <a:xfrm>
            <a:off x="1051560" y="5102280"/>
            <a:ext cx="16401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build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35"/>
          <p:cNvSpPr/>
          <p:nvPr/>
        </p:nvSpPr>
        <p:spPr>
          <a:xfrm>
            <a:off x="2743200" y="5102280"/>
            <a:ext cx="50234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passed in 2m 03s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Oval 36"/>
          <p:cNvSpPr/>
          <p:nvPr/>
        </p:nvSpPr>
        <p:spPr>
          <a:xfrm>
            <a:off x="777240" y="5394960"/>
            <a:ext cx="177120" cy="177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8560" tIns="45000" rIns="88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37"/>
          <p:cNvSpPr/>
          <p:nvPr/>
        </p:nvSpPr>
        <p:spPr>
          <a:xfrm>
            <a:off x="777240" y="5358960"/>
            <a:ext cx="177120" cy="1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38"/>
          <p:cNvSpPr/>
          <p:nvPr/>
        </p:nvSpPr>
        <p:spPr>
          <a:xfrm>
            <a:off x="1051560" y="5376600"/>
            <a:ext cx="16401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vercel preview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39"/>
          <p:cNvSpPr/>
          <p:nvPr/>
        </p:nvSpPr>
        <p:spPr>
          <a:xfrm>
            <a:off x="2743200" y="5376600"/>
            <a:ext cx="50234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deployed · pr-118.konekt.vercel.app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40"/>
          <p:cNvSpPr/>
          <p:nvPr/>
        </p:nvSpPr>
        <p:spPr>
          <a:xfrm>
            <a:off x="731520" y="5760720"/>
            <a:ext cx="164016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41"/>
          <p:cNvSpPr/>
          <p:nvPr/>
        </p:nvSpPr>
        <p:spPr>
          <a:xfrm>
            <a:off x="731520" y="5832720"/>
            <a:ext cx="164016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Merge pull request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42"/>
          <p:cNvSpPr/>
          <p:nvPr/>
        </p:nvSpPr>
        <p:spPr>
          <a:xfrm>
            <a:off x="2560320" y="5842440"/>
            <a:ext cx="5023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2 reviewers ✓ approved · all checks passed · no conflicts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Rectangle 43"/>
          <p:cNvSpPr/>
          <p:nvPr/>
        </p:nvSpPr>
        <p:spPr>
          <a:xfrm>
            <a:off x="8092440" y="1691640"/>
            <a:ext cx="3514680" cy="456624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44"/>
          <p:cNvSpPr/>
          <p:nvPr/>
        </p:nvSpPr>
        <p:spPr>
          <a:xfrm>
            <a:off x="8275320" y="1783080"/>
            <a:ext cx="31489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Pratiques équipe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Oval 45"/>
          <p:cNvSpPr/>
          <p:nvPr/>
        </p:nvSpPr>
        <p:spPr>
          <a:xfrm>
            <a:off x="8275320" y="2194560"/>
            <a:ext cx="405720" cy="4057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46"/>
          <p:cNvSpPr/>
          <p:nvPr/>
        </p:nvSpPr>
        <p:spPr>
          <a:xfrm>
            <a:off x="8275320" y="219456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▤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47"/>
          <p:cNvSpPr/>
          <p:nvPr/>
        </p:nvSpPr>
        <p:spPr>
          <a:xfrm>
            <a:off x="8778240" y="2256840"/>
            <a:ext cx="264600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Conventional Commits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Oval 48"/>
          <p:cNvSpPr/>
          <p:nvPr/>
        </p:nvSpPr>
        <p:spPr>
          <a:xfrm>
            <a:off x="8275320" y="2971800"/>
            <a:ext cx="405720" cy="40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49"/>
          <p:cNvSpPr/>
          <p:nvPr/>
        </p:nvSpPr>
        <p:spPr>
          <a:xfrm>
            <a:off x="8275320" y="297180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◐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50"/>
          <p:cNvSpPr/>
          <p:nvPr/>
        </p:nvSpPr>
        <p:spPr>
          <a:xfrm>
            <a:off x="8778240" y="3034080"/>
            <a:ext cx="264600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 PR = 1 feature ou fix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Oval 51"/>
          <p:cNvSpPr/>
          <p:nvPr/>
        </p:nvSpPr>
        <p:spPr>
          <a:xfrm>
            <a:off x="8275320" y="3749040"/>
            <a:ext cx="405720" cy="40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52"/>
          <p:cNvSpPr/>
          <p:nvPr/>
        </p:nvSpPr>
        <p:spPr>
          <a:xfrm>
            <a:off x="8275320" y="374904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53"/>
          <p:cNvSpPr/>
          <p:nvPr/>
        </p:nvSpPr>
        <p:spPr>
          <a:xfrm>
            <a:off x="8778240" y="3847320"/>
            <a:ext cx="264600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Review approuvée = pré-requis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Oval 54"/>
          <p:cNvSpPr/>
          <p:nvPr/>
        </p:nvSpPr>
        <p:spPr>
          <a:xfrm>
            <a:off x="8275320" y="4526280"/>
            <a:ext cx="405720" cy="4057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55"/>
          <p:cNvSpPr/>
          <p:nvPr/>
        </p:nvSpPr>
        <p:spPr>
          <a:xfrm>
            <a:off x="8275320" y="452628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56"/>
          <p:cNvSpPr/>
          <p:nvPr/>
        </p:nvSpPr>
        <p:spPr>
          <a:xfrm>
            <a:off x="8778240" y="4624560"/>
            <a:ext cx="264600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Review par ≥ 1 pair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Oval 57"/>
          <p:cNvSpPr/>
          <p:nvPr/>
        </p:nvSpPr>
        <p:spPr>
          <a:xfrm>
            <a:off x="8275320" y="5303520"/>
            <a:ext cx="405720" cy="4057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58"/>
          <p:cNvSpPr/>
          <p:nvPr/>
        </p:nvSpPr>
        <p:spPr>
          <a:xfrm>
            <a:off x="8275320" y="530352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</a:rPr>
              <a:t>▲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59"/>
          <p:cNvSpPr/>
          <p:nvPr/>
        </p:nvSpPr>
        <p:spPr>
          <a:xfrm>
            <a:off x="8778240" y="5401800"/>
            <a:ext cx="264600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Squash &amp; merge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60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61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7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8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02 · LE PROJET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Konekt — contexte &amp; vision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2" name="Shape 3"/>
          <p:cNvSpPr/>
          <p:nvPr/>
        </p:nvSpPr>
        <p:spPr>
          <a:xfrm>
            <a:off x="548640" y="1691640"/>
            <a:ext cx="5526360" cy="218880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 4"/>
          <p:cNvSpPr/>
          <p:nvPr/>
        </p:nvSpPr>
        <p:spPr>
          <a:xfrm>
            <a:off x="777240" y="1828800"/>
            <a:ext cx="5023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Problématique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5"/>
          <p:cNvSpPr/>
          <p:nvPr/>
        </p:nvSpPr>
        <p:spPr>
          <a:xfrm>
            <a:off x="777240" y="2194560"/>
            <a:ext cx="5069160" cy="15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Concevoir une application sociale moderne, sécurisée et temps réel, comme support de démonstration pour la certification CDA. Le projet doit illustrer l'ensemble du cycle : conception, développement, tests, déploiement.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6"/>
          <p:cNvSpPr/>
          <p:nvPr/>
        </p:nvSpPr>
        <p:spPr>
          <a:xfrm>
            <a:off x="6263640" y="1691640"/>
            <a:ext cx="5526360" cy="218880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 7"/>
          <p:cNvSpPr/>
          <p:nvPr/>
        </p:nvSpPr>
        <p:spPr>
          <a:xfrm>
            <a:off x="6492240" y="1828800"/>
            <a:ext cx="5023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Solution proposée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8"/>
          <p:cNvSpPr/>
          <p:nvPr/>
        </p:nvSpPr>
        <p:spPr>
          <a:xfrm>
            <a:off x="6492240" y="2194560"/>
            <a:ext cx="5069160" cy="15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Konekt : posts, stories, reactions, messagerie privée et de groupe, événements, follow &amp; friends, notifications temps réel — déployé en serverless avec une base relationnelle riche et un push SSE.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9"/>
          <p:cNvSpPr/>
          <p:nvPr/>
        </p:nvSpPr>
        <p:spPr>
          <a:xfrm>
            <a:off x="548640" y="4206240"/>
            <a:ext cx="2152080" cy="182304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9" name="Shape 10"/>
          <p:cNvSpPr/>
          <p:nvPr/>
        </p:nvSpPr>
        <p:spPr>
          <a:xfrm>
            <a:off x="1325880" y="4389120"/>
            <a:ext cx="634320" cy="63432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 11"/>
          <p:cNvSpPr/>
          <p:nvPr/>
        </p:nvSpPr>
        <p:spPr>
          <a:xfrm>
            <a:off x="1325880" y="4392000"/>
            <a:ext cx="63432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✦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2"/>
          <p:cNvSpPr/>
          <p:nvPr/>
        </p:nvSpPr>
        <p:spPr>
          <a:xfrm>
            <a:off x="640080" y="5166360"/>
            <a:ext cx="19692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Réseautage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3"/>
          <p:cNvSpPr/>
          <p:nvPr/>
        </p:nvSpPr>
        <p:spPr>
          <a:xfrm>
            <a:off x="640080" y="5486400"/>
            <a:ext cx="19692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Posts, Stories, Reels, Reactions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4"/>
          <p:cNvSpPr/>
          <p:nvPr/>
        </p:nvSpPr>
        <p:spPr>
          <a:xfrm>
            <a:off x="2797920" y="4206240"/>
            <a:ext cx="2152080" cy="182304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4" name="Shape 15"/>
          <p:cNvSpPr/>
          <p:nvPr/>
        </p:nvSpPr>
        <p:spPr>
          <a:xfrm>
            <a:off x="3575160" y="4389120"/>
            <a:ext cx="634320" cy="63432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 16"/>
          <p:cNvSpPr/>
          <p:nvPr/>
        </p:nvSpPr>
        <p:spPr>
          <a:xfrm>
            <a:off x="3575160" y="4353120"/>
            <a:ext cx="63432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◐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7"/>
          <p:cNvSpPr/>
          <p:nvPr/>
        </p:nvSpPr>
        <p:spPr>
          <a:xfrm>
            <a:off x="2889360" y="5166360"/>
            <a:ext cx="19692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Messagerie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8"/>
          <p:cNvSpPr/>
          <p:nvPr/>
        </p:nvSpPr>
        <p:spPr>
          <a:xfrm>
            <a:off x="2889360" y="5486400"/>
            <a:ext cx="19692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DM, Group Chat, SSE temps réel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9"/>
          <p:cNvSpPr/>
          <p:nvPr/>
        </p:nvSpPr>
        <p:spPr>
          <a:xfrm>
            <a:off x="5047560" y="4206240"/>
            <a:ext cx="2152080" cy="182304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9" name="Shape 20"/>
          <p:cNvSpPr/>
          <p:nvPr/>
        </p:nvSpPr>
        <p:spPr>
          <a:xfrm>
            <a:off x="5824800" y="4389120"/>
            <a:ext cx="634320" cy="63432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 21"/>
          <p:cNvSpPr/>
          <p:nvPr/>
        </p:nvSpPr>
        <p:spPr>
          <a:xfrm>
            <a:off x="5824800" y="4245120"/>
            <a:ext cx="63432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❖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2"/>
          <p:cNvSpPr/>
          <p:nvPr/>
        </p:nvSpPr>
        <p:spPr>
          <a:xfrm>
            <a:off x="5139000" y="5166360"/>
            <a:ext cx="19692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Communautés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3"/>
          <p:cNvSpPr/>
          <p:nvPr/>
        </p:nvSpPr>
        <p:spPr>
          <a:xfrm>
            <a:off x="5139000" y="5486400"/>
            <a:ext cx="19692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Groupes, Événements, RSVP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4"/>
          <p:cNvSpPr/>
          <p:nvPr/>
        </p:nvSpPr>
        <p:spPr>
          <a:xfrm>
            <a:off x="7296840" y="4206240"/>
            <a:ext cx="2152080" cy="182304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4" name="Shape 25"/>
          <p:cNvSpPr/>
          <p:nvPr/>
        </p:nvSpPr>
        <p:spPr>
          <a:xfrm>
            <a:off x="8074080" y="4389120"/>
            <a:ext cx="634320" cy="63432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 26"/>
          <p:cNvSpPr/>
          <p:nvPr/>
        </p:nvSpPr>
        <p:spPr>
          <a:xfrm>
            <a:off x="8002080" y="4281120"/>
            <a:ext cx="836640" cy="77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⌕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7"/>
          <p:cNvSpPr/>
          <p:nvPr/>
        </p:nvSpPr>
        <p:spPr>
          <a:xfrm>
            <a:off x="7388280" y="5166360"/>
            <a:ext cx="19692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Découverte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8"/>
          <p:cNvSpPr/>
          <p:nvPr/>
        </p:nvSpPr>
        <p:spPr>
          <a:xfrm>
            <a:off x="7388280" y="5486400"/>
            <a:ext cx="19692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Search, Trending, Recommandations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9"/>
          <p:cNvSpPr/>
          <p:nvPr/>
        </p:nvSpPr>
        <p:spPr>
          <a:xfrm>
            <a:off x="9546480" y="4206240"/>
            <a:ext cx="2152080" cy="182304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9" name="Shape 30"/>
          <p:cNvSpPr/>
          <p:nvPr/>
        </p:nvSpPr>
        <p:spPr>
          <a:xfrm>
            <a:off x="10323720" y="4389120"/>
            <a:ext cx="634320" cy="63432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 31"/>
          <p:cNvSpPr/>
          <p:nvPr/>
        </p:nvSpPr>
        <p:spPr>
          <a:xfrm>
            <a:off x="10323720" y="4389120"/>
            <a:ext cx="63432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⚙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2"/>
          <p:cNvSpPr/>
          <p:nvPr/>
        </p:nvSpPr>
        <p:spPr>
          <a:xfrm>
            <a:off x="9637920" y="5166360"/>
            <a:ext cx="19692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Personnalisation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3"/>
          <p:cNvSpPr/>
          <p:nvPr/>
        </p:nvSpPr>
        <p:spPr>
          <a:xfrm>
            <a:off x="9637920" y="5486400"/>
            <a:ext cx="19692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Thème, langue, confidentialité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 34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5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8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02 · CAHIER DES CHARGES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stories &amp; périmètre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9" name="Shape 3"/>
          <p:cNvSpPr/>
          <p:nvPr/>
        </p:nvSpPr>
        <p:spPr>
          <a:xfrm>
            <a:off x="512640" y="1691640"/>
            <a:ext cx="2152080" cy="136584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 4"/>
          <p:cNvSpPr/>
          <p:nvPr/>
        </p:nvSpPr>
        <p:spPr>
          <a:xfrm>
            <a:off x="512640" y="1783080"/>
            <a:ext cx="215208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5"/>
          <p:cNvSpPr/>
          <p:nvPr/>
        </p:nvSpPr>
        <p:spPr>
          <a:xfrm>
            <a:off x="512640" y="2560320"/>
            <a:ext cx="21520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User stories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6"/>
          <p:cNvSpPr/>
          <p:nvPr/>
        </p:nvSpPr>
        <p:spPr>
          <a:xfrm>
            <a:off x="2761920" y="1691640"/>
            <a:ext cx="2152080" cy="136584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 7"/>
          <p:cNvSpPr/>
          <p:nvPr/>
        </p:nvSpPr>
        <p:spPr>
          <a:xfrm>
            <a:off x="2761920" y="1783080"/>
            <a:ext cx="215208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16+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8"/>
          <p:cNvSpPr/>
          <p:nvPr/>
        </p:nvSpPr>
        <p:spPr>
          <a:xfrm>
            <a:off x="2761920" y="2560320"/>
            <a:ext cx="21520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Pages principales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9"/>
          <p:cNvSpPr/>
          <p:nvPr/>
        </p:nvSpPr>
        <p:spPr>
          <a:xfrm>
            <a:off x="5011560" y="1691640"/>
            <a:ext cx="2152080" cy="136584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6" name="Text 10"/>
          <p:cNvSpPr/>
          <p:nvPr/>
        </p:nvSpPr>
        <p:spPr>
          <a:xfrm>
            <a:off x="5011560" y="1783080"/>
            <a:ext cx="215208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1"/>
          <p:cNvSpPr/>
          <p:nvPr/>
        </p:nvSpPr>
        <p:spPr>
          <a:xfrm>
            <a:off x="5011560" y="2560320"/>
            <a:ext cx="21520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Modèles Prisma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2"/>
          <p:cNvSpPr/>
          <p:nvPr/>
        </p:nvSpPr>
        <p:spPr>
          <a:xfrm>
            <a:off x="7260840" y="1691640"/>
            <a:ext cx="2152080" cy="136584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 13"/>
          <p:cNvSpPr/>
          <p:nvPr/>
        </p:nvSpPr>
        <p:spPr>
          <a:xfrm>
            <a:off x="7260840" y="1783080"/>
            <a:ext cx="215208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60+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4"/>
          <p:cNvSpPr/>
          <p:nvPr/>
        </p:nvSpPr>
        <p:spPr>
          <a:xfrm>
            <a:off x="7260840" y="2560320"/>
            <a:ext cx="21520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Endpoints 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5"/>
          <p:cNvSpPr/>
          <p:nvPr/>
        </p:nvSpPr>
        <p:spPr>
          <a:xfrm>
            <a:off x="9510480" y="1691640"/>
            <a:ext cx="2152080" cy="136584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 16"/>
          <p:cNvSpPr/>
          <p:nvPr/>
        </p:nvSpPr>
        <p:spPr>
          <a:xfrm>
            <a:off x="9510480" y="1783080"/>
            <a:ext cx="215208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280+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7"/>
          <p:cNvSpPr/>
          <p:nvPr/>
        </p:nvSpPr>
        <p:spPr>
          <a:xfrm>
            <a:off x="9510480" y="2560320"/>
            <a:ext cx="21520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Variables CSS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8"/>
          <p:cNvSpPr/>
          <p:nvPr/>
        </p:nvSpPr>
        <p:spPr>
          <a:xfrm>
            <a:off x="548640" y="333756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Top stories prioritaires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5" name="Table 0"/>
          <p:cNvGraphicFramePr/>
          <p:nvPr/>
        </p:nvGraphicFramePr>
        <p:xfrm>
          <a:off x="548640" y="3657600"/>
          <a:ext cx="11063880" cy="246888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1463040"/>
                <a:gridCol w="5212080"/>
              </a:tblGrid>
              <a:tr h="4114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C489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Acteur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2028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C489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2028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C489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Priorité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2028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C489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Critère d'acceptation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2028"/>
                    </a:solidFill>
                  </a:tcPr>
                </a:tc>
              </a:tr>
              <a:tr h="4114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Visiteur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S'inscrire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C489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★★★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A1A1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Email validé, compte créé, JWT émis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</a:tr>
              <a:tr h="4114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Utilisateur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Créer un post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C489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★★★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A1A1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Post visible immédiatement dans le feed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</a:tr>
              <a:tr h="4114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Utilisateur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Envoyer un message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C489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★★★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A1A1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Message persisté + push SSE au destinataire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</a:tr>
              <a:tr h="4114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Utilisateur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Réagir / commenter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★★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A1A1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Compteur incrémenté, doublon impossible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</a:tr>
              <a:tr h="4114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Modérateur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Supprimer un contenu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★★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A1A1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Contenu retiré, log d'action conservé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</a:tr>
            </a:tbl>
          </a:graphicData>
        </a:graphic>
      </p:graphicFrame>
      <p:pic>
        <p:nvPicPr>
          <p:cNvPr id="366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Text 19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0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9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Architecture multicouche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2" name="Shape 3"/>
          <p:cNvSpPr/>
          <p:nvPr/>
        </p:nvSpPr>
        <p:spPr>
          <a:xfrm>
            <a:off x="548640" y="1691640"/>
            <a:ext cx="11058480" cy="109152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3" name="Shape 4"/>
          <p:cNvSpPr/>
          <p:nvPr/>
        </p:nvSpPr>
        <p:spPr>
          <a:xfrm>
            <a:off x="548640" y="1691640"/>
            <a:ext cx="104040" cy="10915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2200" tIns="45000" rIns="52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4" name="Text 5"/>
          <p:cNvSpPr/>
          <p:nvPr/>
        </p:nvSpPr>
        <p:spPr>
          <a:xfrm>
            <a:off x="777240" y="1783080"/>
            <a:ext cx="2737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PRÉSENTATION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6"/>
          <p:cNvSpPr/>
          <p:nvPr/>
        </p:nvSpPr>
        <p:spPr>
          <a:xfrm>
            <a:off x="777240" y="2148840"/>
            <a:ext cx="273744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UI / UX — ce que l'utilisateur voit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7"/>
          <p:cNvSpPr/>
          <p:nvPr/>
        </p:nvSpPr>
        <p:spPr>
          <a:xfrm>
            <a:off x="3657600" y="1828800"/>
            <a:ext cx="77666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Pages Next.js (React Server Components)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8"/>
          <p:cNvSpPr/>
          <p:nvPr/>
        </p:nvSpPr>
        <p:spPr>
          <a:xfrm>
            <a:off x="3657600" y="2121480"/>
            <a:ext cx="77666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Composants UI (shadcn/ui, Tailwind)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9"/>
          <p:cNvSpPr/>
          <p:nvPr/>
        </p:nvSpPr>
        <p:spPr>
          <a:xfrm>
            <a:off x="3657600" y="2414160"/>
            <a:ext cx="77666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Hooks de données (use-api, use-real-time-chat)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0"/>
          <p:cNvSpPr/>
          <p:nvPr/>
        </p:nvSpPr>
        <p:spPr>
          <a:xfrm>
            <a:off x="6044760" y="2788920"/>
            <a:ext cx="360" cy="7308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28080" rIns="0" bIns="280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0" name="Shape 11"/>
          <p:cNvSpPr/>
          <p:nvPr/>
        </p:nvSpPr>
        <p:spPr>
          <a:xfrm>
            <a:off x="548640" y="2862000"/>
            <a:ext cx="11058480" cy="109152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1" name="Shape 12"/>
          <p:cNvSpPr/>
          <p:nvPr/>
        </p:nvSpPr>
        <p:spPr>
          <a:xfrm>
            <a:off x="548640" y="2862000"/>
            <a:ext cx="104040" cy="10915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2200" tIns="45000" rIns="52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 13"/>
          <p:cNvSpPr/>
          <p:nvPr/>
        </p:nvSpPr>
        <p:spPr>
          <a:xfrm>
            <a:off x="777240" y="2953440"/>
            <a:ext cx="2737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APPLICATION / MÉTIER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4"/>
          <p:cNvSpPr/>
          <p:nvPr/>
        </p:nvSpPr>
        <p:spPr>
          <a:xfrm>
            <a:off x="777240" y="3319200"/>
            <a:ext cx="273744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Logique applicative et règles métier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5"/>
          <p:cNvSpPr/>
          <p:nvPr/>
        </p:nvSpPr>
        <p:spPr>
          <a:xfrm>
            <a:off x="3657600" y="2999160"/>
            <a:ext cx="77666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Route Handlers /api/private/* /api/public/*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6"/>
          <p:cNvSpPr/>
          <p:nvPr/>
        </p:nvSpPr>
        <p:spPr>
          <a:xfrm>
            <a:off x="3657600" y="3291840"/>
            <a:ext cx="77666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Server Actions (mutations) · Middleware JWT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7"/>
          <p:cNvSpPr/>
          <p:nvPr/>
        </p:nvSpPr>
        <p:spPr>
          <a:xfrm>
            <a:off x="3657600" y="3584520"/>
            <a:ext cx="77666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Validation Zod, schémas partagés client/serveur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8"/>
          <p:cNvSpPr/>
          <p:nvPr/>
        </p:nvSpPr>
        <p:spPr>
          <a:xfrm>
            <a:off x="6044760" y="3959280"/>
            <a:ext cx="360" cy="7308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28080" rIns="0" bIns="280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8" name="Shape 19"/>
          <p:cNvSpPr/>
          <p:nvPr/>
        </p:nvSpPr>
        <p:spPr>
          <a:xfrm>
            <a:off x="548640" y="4032360"/>
            <a:ext cx="11058480" cy="109152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9" name="Shape 20"/>
          <p:cNvSpPr/>
          <p:nvPr/>
        </p:nvSpPr>
        <p:spPr>
          <a:xfrm>
            <a:off x="548640" y="4032360"/>
            <a:ext cx="104040" cy="10915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2200" tIns="45000" rIns="52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 21"/>
          <p:cNvSpPr/>
          <p:nvPr/>
        </p:nvSpPr>
        <p:spPr>
          <a:xfrm>
            <a:off x="777240" y="4123800"/>
            <a:ext cx="2737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PERSISTANCE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2"/>
          <p:cNvSpPr/>
          <p:nvPr/>
        </p:nvSpPr>
        <p:spPr>
          <a:xfrm>
            <a:off x="777240" y="4489560"/>
            <a:ext cx="273744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Accès aux données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3"/>
          <p:cNvSpPr/>
          <p:nvPr/>
        </p:nvSpPr>
        <p:spPr>
          <a:xfrm>
            <a:off x="3657600" y="4169520"/>
            <a:ext cx="77666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Prisma ORM (18 modèles, requêtes type-safe)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4"/>
          <p:cNvSpPr/>
          <p:nvPr/>
        </p:nvSpPr>
        <p:spPr>
          <a:xfrm>
            <a:off x="3657600" y="4462200"/>
            <a:ext cx="77666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Migrations versionnées prisma/migrations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5"/>
          <p:cNvSpPr/>
          <p:nvPr/>
        </p:nvSpPr>
        <p:spPr>
          <a:xfrm>
            <a:off x="3657600" y="4754880"/>
            <a:ext cx="77666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Helpers src/lib/server/&lt;domaine&gt;/&lt;entité&gt;.ts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26"/>
          <p:cNvSpPr/>
          <p:nvPr/>
        </p:nvSpPr>
        <p:spPr>
          <a:xfrm>
            <a:off x="6044760" y="5129640"/>
            <a:ext cx="360" cy="7308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28080" rIns="0" bIns="280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6" name="Shape 27"/>
          <p:cNvSpPr/>
          <p:nvPr/>
        </p:nvSpPr>
        <p:spPr>
          <a:xfrm>
            <a:off x="548640" y="5203080"/>
            <a:ext cx="11058480" cy="109152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7" name="Shape 28"/>
          <p:cNvSpPr/>
          <p:nvPr/>
        </p:nvSpPr>
        <p:spPr>
          <a:xfrm>
            <a:off x="548640" y="5203080"/>
            <a:ext cx="104040" cy="10915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2200" tIns="45000" rIns="52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8" name="Text 29"/>
          <p:cNvSpPr/>
          <p:nvPr/>
        </p:nvSpPr>
        <p:spPr>
          <a:xfrm>
            <a:off x="777240" y="5294520"/>
            <a:ext cx="2737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INFRASTRUCTURE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30"/>
          <p:cNvSpPr/>
          <p:nvPr/>
        </p:nvSpPr>
        <p:spPr>
          <a:xfrm>
            <a:off x="777240" y="5660280"/>
            <a:ext cx="273744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Stockage et services externes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31"/>
          <p:cNvSpPr/>
          <p:nvPr/>
        </p:nvSpPr>
        <p:spPr>
          <a:xfrm>
            <a:off x="3657600" y="5340240"/>
            <a:ext cx="77666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PostgreSQL Neon (DB relationnelle)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32"/>
          <p:cNvSpPr/>
          <p:nvPr/>
        </p:nvSpPr>
        <p:spPr>
          <a:xfrm>
            <a:off x="3657600" y="5632560"/>
            <a:ext cx="77666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Upstash Redis (cache + buffer SSE)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33"/>
          <p:cNvSpPr/>
          <p:nvPr/>
        </p:nvSpPr>
        <p:spPr>
          <a:xfrm>
            <a:off x="3657600" y="5925240"/>
            <a:ext cx="77666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Cloudinary (médias) · Vercel (runtime)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Text 34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35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10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Stack technique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9" name="Shape 3"/>
          <p:cNvSpPr/>
          <p:nvPr/>
        </p:nvSpPr>
        <p:spPr>
          <a:xfrm>
            <a:off x="457200" y="1691640"/>
            <a:ext cx="3651840" cy="223452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0" name="Shape 4"/>
          <p:cNvSpPr/>
          <p:nvPr/>
        </p:nvSpPr>
        <p:spPr>
          <a:xfrm>
            <a:off x="457200" y="1691640"/>
            <a:ext cx="67320" cy="22345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 5"/>
          <p:cNvSpPr/>
          <p:nvPr/>
        </p:nvSpPr>
        <p:spPr>
          <a:xfrm>
            <a:off x="685800" y="180144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Frontend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6"/>
          <p:cNvSpPr/>
          <p:nvPr/>
        </p:nvSpPr>
        <p:spPr>
          <a:xfrm>
            <a:off x="685800" y="219456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Next.js 15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7"/>
          <p:cNvSpPr/>
          <p:nvPr/>
        </p:nvSpPr>
        <p:spPr>
          <a:xfrm>
            <a:off x="685800" y="242316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App Router · SSR/CSR hybride · Server Actions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8"/>
          <p:cNvSpPr/>
          <p:nvPr/>
        </p:nvSpPr>
        <p:spPr>
          <a:xfrm>
            <a:off x="685800" y="274320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 19 + TypeScript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9"/>
          <p:cNvSpPr/>
          <p:nvPr/>
        </p:nvSpPr>
        <p:spPr>
          <a:xfrm>
            <a:off x="685800" y="297180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Composants typés, hooks personnalisés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0"/>
          <p:cNvSpPr/>
          <p:nvPr/>
        </p:nvSpPr>
        <p:spPr>
          <a:xfrm>
            <a:off x="685800" y="329184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Tailwind CSS + shadcn/ui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1"/>
          <p:cNvSpPr/>
          <p:nvPr/>
        </p:nvSpPr>
        <p:spPr>
          <a:xfrm>
            <a:off x="685800" y="352044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Design system, dark theme natif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2"/>
          <p:cNvSpPr/>
          <p:nvPr/>
        </p:nvSpPr>
        <p:spPr>
          <a:xfrm>
            <a:off x="4251960" y="1691640"/>
            <a:ext cx="3651840" cy="223452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9" name="Shape 13"/>
          <p:cNvSpPr/>
          <p:nvPr/>
        </p:nvSpPr>
        <p:spPr>
          <a:xfrm>
            <a:off x="4251960" y="1691640"/>
            <a:ext cx="67320" cy="22345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0" name="Text 14"/>
          <p:cNvSpPr/>
          <p:nvPr/>
        </p:nvSpPr>
        <p:spPr>
          <a:xfrm>
            <a:off x="4480560" y="180144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Backend &amp;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5"/>
          <p:cNvSpPr/>
          <p:nvPr/>
        </p:nvSpPr>
        <p:spPr>
          <a:xfrm>
            <a:off x="4480560" y="219456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Next.js Route Handlers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6"/>
          <p:cNvSpPr/>
          <p:nvPr/>
        </p:nvSpPr>
        <p:spPr>
          <a:xfrm>
            <a:off x="4480560" y="242316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REST + Server-Sent Events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7"/>
          <p:cNvSpPr/>
          <p:nvPr/>
        </p:nvSpPr>
        <p:spPr>
          <a:xfrm>
            <a:off x="4480560" y="274320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Prisma 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8"/>
          <p:cNvSpPr/>
          <p:nvPr/>
        </p:nvSpPr>
        <p:spPr>
          <a:xfrm>
            <a:off x="4480560" y="297180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ORM type-safe, migrations, 18 modèles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9"/>
          <p:cNvSpPr/>
          <p:nvPr/>
        </p:nvSpPr>
        <p:spPr>
          <a:xfrm>
            <a:off x="4480560" y="329184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20"/>
          <p:cNvSpPr/>
          <p:nvPr/>
        </p:nvSpPr>
        <p:spPr>
          <a:xfrm>
            <a:off x="4480560" y="352044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Validation des payloads, schémas partagés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21"/>
          <p:cNvSpPr/>
          <p:nvPr/>
        </p:nvSpPr>
        <p:spPr>
          <a:xfrm>
            <a:off x="8046720" y="1691640"/>
            <a:ext cx="3651840" cy="223452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8" name="Shape 22"/>
          <p:cNvSpPr/>
          <p:nvPr/>
        </p:nvSpPr>
        <p:spPr>
          <a:xfrm>
            <a:off x="8046720" y="1691640"/>
            <a:ext cx="67320" cy="22345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 23"/>
          <p:cNvSpPr/>
          <p:nvPr/>
        </p:nvSpPr>
        <p:spPr>
          <a:xfrm>
            <a:off x="8275320" y="180144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Données &amp; Temps réel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4"/>
          <p:cNvSpPr/>
          <p:nvPr/>
        </p:nvSpPr>
        <p:spPr>
          <a:xfrm>
            <a:off x="8275320" y="219456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PostgreSQL (Neon)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5"/>
          <p:cNvSpPr/>
          <p:nvPr/>
        </p:nvSpPr>
        <p:spPr>
          <a:xfrm>
            <a:off x="8275320" y="242316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Base relationnelle managée, branches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26"/>
          <p:cNvSpPr/>
          <p:nvPr/>
        </p:nvSpPr>
        <p:spPr>
          <a:xfrm>
            <a:off x="8275320" y="274320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Upstash Redis (REST)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7"/>
          <p:cNvSpPr/>
          <p:nvPr/>
        </p:nvSpPr>
        <p:spPr>
          <a:xfrm>
            <a:off x="8275320" y="297180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Cache + buffer SSE compatible serverless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28"/>
          <p:cNvSpPr/>
          <p:nvPr/>
        </p:nvSpPr>
        <p:spPr>
          <a:xfrm>
            <a:off x="8275320" y="329184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Cloudinary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9"/>
          <p:cNvSpPr/>
          <p:nvPr/>
        </p:nvSpPr>
        <p:spPr>
          <a:xfrm>
            <a:off x="8275320" y="352044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Stockage images / vidéos, transformations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30"/>
          <p:cNvSpPr/>
          <p:nvPr/>
        </p:nvSpPr>
        <p:spPr>
          <a:xfrm>
            <a:off x="457200" y="4069080"/>
            <a:ext cx="3651840" cy="223452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7" name="Shape 31"/>
          <p:cNvSpPr/>
          <p:nvPr/>
        </p:nvSpPr>
        <p:spPr>
          <a:xfrm>
            <a:off x="457200" y="4069080"/>
            <a:ext cx="67320" cy="223452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8" name="Text 32"/>
          <p:cNvSpPr/>
          <p:nvPr/>
        </p:nvSpPr>
        <p:spPr>
          <a:xfrm>
            <a:off x="685800" y="417888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Auth &amp; Sécurité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33"/>
          <p:cNvSpPr/>
          <p:nvPr/>
        </p:nvSpPr>
        <p:spPr>
          <a:xfrm>
            <a:off x="685800" y="457200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JWT custom (jose)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34"/>
          <p:cNvSpPr/>
          <p:nvPr/>
        </p:nvSpPr>
        <p:spPr>
          <a:xfrm>
            <a:off x="685800" y="480060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Cookie HttpOnly · SameSite · Secret applicatif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35"/>
          <p:cNvSpPr/>
          <p:nvPr/>
        </p:nvSpPr>
        <p:spPr>
          <a:xfrm>
            <a:off x="685800" y="512064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bcrypt cost 12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36"/>
          <p:cNvSpPr/>
          <p:nvPr/>
        </p:nvSpPr>
        <p:spPr>
          <a:xfrm>
            <a:off x="685800" y="534924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Hash mots de passe, comparison constante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37"/>
          <p:cNvSpPr/>
          <p:nvPr/>
        </p:nvSpPr>
        <p:spPr>
          <a:xfrm>
            <a:off x="685800" y="566928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OAuth Google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38"/>
          <p:cNvSpPr/>
          <p:nvPr/>
        </p:nvSpPr>
        <p:spPr>
          <a:xfrm>
            <a:off x="685800" y="589788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googleapis + state cookie anti-CSRF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39"/>
          <p:cNvSpPr/>
          <p:nvPr/>
        </p:nvSpPr>
        <p:spPr>
          <a:xfrm>
            <a:off x="4251960" y="4069080"/>
            <a:ext cx="3651840" cy="223452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6" name="Shape 40"/>
          <p:cNvSpPr/>
          <p:nvPr/>
        </p:nvSpPr>
        <p:spPr>
          <a:xfrm>
            <a:off x="4251960" y="4069080"/>
            <a:ext cx="67320" cy="22345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7" name="Text 41"/>
          <p:cNvSpPr/>
          <p:nvPr/>
        </p:nvSpPr>
        <p:spPr>
          <a:xfrm>
            <a:off x="4480560" y="417888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DevOps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42"/>
          <p:cNvSpPr/>
          <p:nvPr/>
        </p:nvSpPr>
        <p:spPr>
          <a:xfrm>
            <a:off x="4480560" y="457200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 multi-stage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43"/>
          <p:cNvSpPr/>
          <p:nvPr/>
        </p:nvSpPr>
        <p:spPr>
          <a:xfrm>
            <a:off x="4480560" y="480060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Image légère oven/bun:1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44"/>
          <p:cNvSpPr/>
          <p:nvPr/>
        </p:nvSpPr>
        <p:spPr>
          <a:xfrm>
            <a:off x="4480560" y="512064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Vercel intégration Git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45"/>
          <p:cNvSpPr/>
          <p:nvPr/>
        </p:nvSpPr>
        <p:spPr>
          <a:xfrm>
            <a:off x="4480560" y="534924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Preview PR · déploiement prod auto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46"/>
          <p:cNvSpPr/>
          <p:nvPr/>
        </p:nvSpPr>
        <p:spPr>
          <a:xfrm>
            <a:off x="4480560" y="566928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Vercel + Neon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47"/>
          <p:cNvSpPr/>
          <p:nvPr/>
        </p:nvSpPr>
        <p:spPr>
          <a:xfrm>
            <a:off x="4480560" y="589788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Déploiement préview par PR + prod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48"/>
          <p:cNvSpPr/>
          <p:nvPr/>
        </p:nvSpPr>
        <p:spPr>
          <a:xfrm>
            <a:off x="8046720" y="4069080"/>
            <a:ext cx="3651840" cy="223452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5" name="Shape 49"/>
          <p:cNvSpPr/>
          <p:nvPr/>
        </p:nvSpPr>
        <p:spPr>
          <a:xfrm>
            <a:off x="8046720" y="4069080"/>
            <a:ext cx="67320" cy="22345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6" name="Text 50"/>
          <p:cNvSpPr/>
          <p:nvPr/>
        </p:nvSpPr>
        <p:spPr>
          <a:xfrm>
            <a:off x="8275320" y="417888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Qualité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51"/>
          <p:cNvSpPr/>
          <p:nvPr/>
        </p:nvSpPr>
        <p:spPr>
          <a:xfrm>
            <a:off x="8275320" y="457200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Jest + ts-jest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52"/>
          <p:cNvSpPr/>
          <p:nvPr/>
        </p:nvSpPr>
        <p:spPr>
          <a:xfrm>
            <a:off x="8275320" y="480060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Tests d'intégration 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53"/>
          <p:cNvSpPr/>
          <p:nvPr/>
        </p:nvSpPr>
        <p:spPr>
          <a:xfrm>
            <a:off x="8275320" y="512064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ESLint + TypeScript strict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54"/>
          <p:cNvSpPr/>
          <p:nvPr/>
        </p:nvSpPr>
        <p:spPr>
          <a:xfrm>
            <a:off x="8275320" y="534924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Code style + typage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55"/>
          <p:cNvSpPr/>
          <p:nvPr/>
        </p:nvSpPr>
        <p:spPr>
          <a:xfrm>
            <a:off x="8275320" y="5669280"/>
            <a:ext cx="3286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Roadmap Playwright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56"/>
          <p:cNvSpPr/>
          <p:nvPr/>
        </p:nvSpPr>
        <p:spPr>
          <a:xfrm>
            <a:off x="8275320" y="589788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E2E parcours critiques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4" name="Text 57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58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11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Architecture système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9" name="Shape 3"/>
          <p:cNvSpPr/>
          <p:nvPr/>
        </p:nvSpPr>
        <p:spPr>
          <a:xfrm>
            <a:off x="548640" y="2194560"/>
            <a:ext cx="2188800" cy="273744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0" name="Shape 4"/>
          <p:cNvSpPr/>
          <p:nvPr/>
        </p:nvSpPr>
        <p:spPr>
          <a:xfrm>
            <a:off x="548640" y="2194560"/>
            <a:ext cx="2188800" cy="360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 5"/>
          <p:cNvSpPr/>
          <p:nvPr/>
        </p:nvSpPr>
        <p:spPr>
          <a:xfrm>
            <a:off x="548640" y="2194560"/>
            <a:ext cx="21888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6"/>
          <p:cNvSpPr/>
          <p:nvPr/>
        </p:nvSpPr>
        <p:spPr>
          <a:xfrm>
            <a:off x="685800" y="2743200"/>
            <a:ext cx="1960200" cy="20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Navigateur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Next.js App Router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EventSource (SSE)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fetch / forms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Cookies authToken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7"/>
          <p:cNvSpPr/>
          <p:nvPr/>
        </p:nvSpPr>
        <p:spPr>
          <a:xfrm>
            <a:off x="3017520" y="2194560"/>
            <a:ext cx="1640160" cy="2737440"/>
          </a:xfrm>
          <a:prstGeom prst="roundRect">
            <a:avLst>
              <a:gd name="adj" fmla="val 4444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4" name="Shape 8"/>
          <p:cNvSpPr/>
          <p:nvPr/>
        </p:nvSpPr>
        <p:spPr>
          <a:xfrm>
            <a:off x="3017520" y="2194560"/>
            <a:ext cx="1640160" cy="3600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5" name="Text 9"/>
          <p:cNvSpPr/>
          <p:nvPr/>
        </p:nvSpPr>
        <p:spPr>
          <a:xfrm>
            <a:off x="3017520" y="2194560"/>
            <a:ext cx="164016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EDGE / CDN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0"/>
          <p:cNvSpPr/>
          <p:nvPr/>
        </p:nvSpPr>
        <p:spPr>
          <a:xfrm>
            <a:off x="3108960" y="2743200"/>
            <a:ext cx="1457280" cy="20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Vercel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Routing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Cache HTML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SSL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1"/>
          <p:cNvSpPr/>
          <p:nvPr/>
        </p:nvSpPr>
        <p:spPr>
          <a:xfrm>
            <a:off x="4937760" y="2194560"/>
            <a:ext cx="2371680" cy="2737440"/>
          </a:xfrm>
          <a:prstGeom prst="roundRect">
            <a:avLst>
              <a:gd name="adj" fmla="val 307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8" name="Shape 12"/>
          <p:cNvSpPr/>
          <p:nvPr/>
        </p:nvSpPr>
        <p:spPr>
          <a:xfrm>
            <a:off x="4937760" y="2194560"/>
            <a:ext cx="2371680" cy="36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9" name="Text 13"/>
          <p:cNvSpPr/>
          <p:nvPr/>
        </p:nvSpPr>
        <p:spPr>
          <a:xfrm>
            <a:off x="4937760" y="2194560"/>
            <a:ext cx="23716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4"/>
          <p:cNvSpPr/>
          <p:nvPr/>
        </p:nvSpPr>
        <p:spPr>
          <a:xfrm>
            <a:off x="5074920" y="2743200"/>
            <a:ext cx="2097360" cy="20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Next.js Route Handlers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Middleware JWT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Server Actions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/api/private/...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/api/public/...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Prisma Client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15"/>
          <p:cNvSpPr/>
          <p:nvPr/>
        </p:nvSpPr>
        <p:spPr>
          <a:xfrm>
            <a:off x="7680960" y="1783080"/>
            <a:ext cx="3926160" cy="1000080"/>
          </a:xfrm>
          <a:prstGeom prst="roundRect">
            <a:avLst>
              <a:gd name="adj" fmla="val 7273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2" name="Shape 16"/>
          <p:cNvSpPr/>
          <p:nvPr/>
        </p:nvSpPr>
        <p:spPr>
          <a:xfrm>
            <a:off x="7680960" y="1783080"/>
            <a:ext cx="85680" cy="100008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3" name="Text 17"/>
          <p:cNvSpPr/>
          <p:nvPr/>
        </p:nvSpPr>
        <p:spPr>
          <a:xfrm>
            <a:off x="7863840" y="1874520"/>
            <a:ext cx="36518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PostgreSQL · Neon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8"/>
          <p:cNvSpPr/>
          <p:nvPr/>
        </p:nvSpPr>
        <p:spPr>
          <a:xfrm>
            <a:off x="7863840" y="2194560"/>
            <a:ext cx="36518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Base relationnelle, 18 modèles Prisma, migrations versionnées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19"/>
          <p:cNvSpPr/>
          <p:nvPr/>
        </p:nvSpPr>
        <p:spPr>
          <a:xfrm>
            <a:off x="7680960" y="2926080"/>
            <a:ext cx="3926160" cy="1000080"/>
          </a:xfrm>
          <a:prstGeom prst="roundRect">
            <a:avLst>
              <a:gd name="adj" fmla="val 7273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6" name="Shape 20"/>
          <p:cNvSpPr/>
          <p:nvPr/>
        </p:nvSpPr>
        <p:spPr>
          <a:xfrm>
            <a:off x="7680960" y="2926080"/>
            <a:ext cx="85680" cy="10000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 21"/>
          <p:cNvSpPr/>
          <p:nvPr/>
        </p:nvSpPr>
        <p:spPr>
          <a:xfrm>
            <a:off x="7863840" y="3017520"/>
            <a:ext cx="36518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Upstash Redis (REST)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22"/>
          <p:cNvSpPr/>
          <p:nvPr/>
        </p:nvSpPr>
        <p:spPr>
          <a:xfrm>
            <a:off x="7863840" y="3337560"/>
            <a:ext cx="36518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Cache + buffer SSE — clés latest:chat:* polling REST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23"/>
          <p:cNvSpPr/>
          <p:nvPr/>
        </p:nvSpPr>
        <p:spPr>
          <a:xfrm>
            <a:off x="7680960" y="4069080"/>
            <a:ext cx="3926160" cy="1000080"/>
          </a:xfrm>
          <a:prstGeom prst="roundRect">
            <a:avLst>
              <a:gd name="adj" fmla="val 7273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0" name="Shape 24"/>
          <p:cNvSpPr/>
          <p:nvPr/>
        </p:nvSpPr>
        <p:spPr>
          <a:xfrm>
            <a:off x="7680960" y="4069080"/>
            <a:ext cx="85680" cy="100008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1" name="Text 25"/>
          <p:cNvSpPr/>
          <p:nvPr/>
        </p:nvSpPr>
        <p:spPr>
          <a:xfrm>
            <a:off x="7863840" y="4160520"/>
            <a:ext cx="36518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Cloudinary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26"/>
          <p:cNvSpPr/>
          <p:nvPr/>
        </p:nvSpPr>
        <p:spPr>
          <a:xfrm>
            <a:off x="7863840" y="4480560"/>
            <a:ext cx="36518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Stockage médias, transformations à la volée, CDN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27"/>
          <p:cNvSpPr/>
          <p:nvPr/>
        </p:nvSpPr>
        <p:spPr>
          <a:xfrm>
            <a:off x="2743200" y="3657600"/>
            <a:ext cx="274320" cy="360"/>
          </a:xfrm>
          <a:prstGeom prst="line">
            <a:avLst/>
          </a:prstGeom>
          <a:ln w="2540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4" name="Shape 28"/>
          <p:cNvSpPr/>
          <p:nvPr/>
        </p:nvSpPr>
        <p:spPr>
          <a:xfrm>
            <a:off x="4663440" y="3657600"/>
            <a:ext cx="274320" cy="360"/>
          </a:xfrm>
          <a:prstGeom prst="line">
            <a:avLst/>
          </a:prstGeom>
          <a:ln w="2540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5" name="Shape 29"/>
          <p:cNvSpPr/>
          <p:nvPr/>
        </p:nvSpPr>
        <p:spPr>
          <a:xfrm>
            <a:off x="7315200" y="2286000"/>
            <a:ext cx="365760" cy="360"/>
          </a:xfrm>
          <a:prstGeom prst="line">
            <a:avLst/>
          </a:prstGeom>
          <a:ln w="25400">
            <a:solidFill>
              <a:srgbClr val="06B6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6" name="Shape 30"/>
          <p:cNvSpPr/>
          <p:nvPr/>
        </p:nvSpPr>
        <p:spPr>
          <a:xfrm>
            <a:off x="7315200" y="3429000"/>
            <a:ext cx="365760" cy="360"/>
          </a:xfrm>
          <a:prstGeom prst="line">
            <a:avLst/>
          </a:prstGeom>
          <a:ln w="25400">
            <a:solidFill>
              <a:srgbClr val="F59E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7" name="Shape 31"/>
          <p:cNvSpPr/>
          <p:nvPr/>
        </p:nvSpPr>
        <p:spPr>
          <a:xfrm>
            <a:off x="7315200" y="4572000"/>
            <a:ext cx="365760" cy="360"/>
          </a:xfrm>
          <a:prstGeom prst="line">
            <a:avLst/>
          </a:prstGeom>
          <a:ln w="25400">
            <a:solidFill>
              <a:srgbClr val="10B98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8" name="Text 32"/>
          <p:cNvSpPr/>
          <p:nvPr/>
        </p:nvSpPr>
        <p:spPr>
          <a:xfrm>
            <a:off x="548640" y="5486400"/>
            <a:ext cx="110584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Tout est serverless-ready : la stack tourne nativement sur Vercel et reste reproductible en local via docker-compose.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33"/>
          <p:cNvSpPr/>
          <p:nvPr/>
        </p:nvSpPr>
        <p:spPr>
          <a:xfrm>
            <a:off x="685800" y="5120640"/>
            <a:ext cx="1914480" cy="31428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0" name="Text 34"/>
          <p:cNvSpPr/>
          <p:nvPr/>
        </p:nvSpPr>
        <p:spPr>
          <a:xfrm>
            <a:off x="685800" y="5120640"/>
            <a:ext cx="191448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SSE bidirectionnel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1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Text 3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3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12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Concepts de modélisation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7" name="Text 3"/>
          <p:cNvSpPr/>
          <p:nvPr/>
        </p:nvSpPr>
        <p:spPr>
          <a:xfrm>
            <a:off x="548640" y="1691640"/>
            <a:ext cx="109670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Rappel des termes que l'on rencontrera dans MCD / MLD / MPD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4"/>
          <p:cNvSpPr/>
          <p:nvPr/>
        </p:nvSpPr>
        <p:spPr>
          <a:xfrm>
            <a:off x="548640" y="2103120"/>
            <a:ext cx="3651840" cy="196020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9" name="Shape 5"/>
          <p:cNvSpPr/>
          <p:nvPr/>
        </p:nvSpPr>
        <p:spPr>
          <a:xfrm>
            <a:off x="731520" y="2286000"/>
            <a:ext cx="497160" cy="49716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0" name="Text 6"/>
          <p:cNvSpPr/>
          <p:nvPr/>
        </p:nvSpPr>
        <p:spPr>
          <a:xfrm>
            <a:off x="731520" y="2178000"/>
            <a:ext cx="49716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▤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7"/>
          <p:cNvSpPr/>
          <p:nvPr/>
        </p:nvSpPr>
        <p:spPr>
          <a:xfrm>
            <a:off x="1325880" y="228600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Entité / Table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8"/>
          <p:cNvSpPr/>
          <p:nvPr/>
        </p:nvSpPr>
        <p:spPr>
          <a:xfrm>
            <a:off x="731520" y="2880360"/>
            <a:ext cx="328608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Objet métier matérialisé en table SQL. Une ligne = une instance.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9"/>
          <p:cNvSpPr/>
          <p:nvPr/>
        </p:nvSpPr>
        <p:spPr>
          <a:xfrm>
            <a:off x="731520" y="3474720"/>
            <a:ext cx="32860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Exemple Konekt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0"/>
          <p:cNvSpPr/>
          <p:nvPr/>
        </p:nvSpPr>
        <p:spPr>
          <a:xfrm>
            <a:off x="731520" y="365760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User, Post, Comment, Reaction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1"/>
          <p:cNvSpPr/>
          <p:nvPr/>
        </p:nvSpPr>
        <p:spPr>
          <a:xfrm>
            <a:off x="4389120" y="2103120"/>
            <a:ext cx="3651840" cy="196020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6" name="Shape 12"/>
          <p:cNvSpPr/>
          <p:nvPr/>
        </p:nvSpPr>
        <p:spPr>
          <a:xfrm>
            <a:off x="4572000" y="2286000"/>
            <a:ext cx="497160" cy="49716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 13"/>
          <p:cNvSpPr/>
          <p:nvPr/>
        </p:nvSpPr>
        <p:spPr>
          <a:xfrm>
            <a:off x="4572000" y="2178000"/>
            <a:ext cx="49716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4"/>
          <p:cNvSpPr/>
          <p:nvPr/>
        </p:nvSpPr>
        <p:spPr>
          <a:xfrm>
            <a:off x="5166360" y="228600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Attribut / Colonne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5"/>
          <p:cNvSpPr/>
          <p:nvPr/>
        </p:nvSpPr>
        <p:spPr>
          <a:xfrm>
            <a:off x="4572000" y="2880360"/>
            <a:ext cx="328608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Caractéristique d'une entité, typée. Devient une colonne en base.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6"/>
          <p:cNvSpPr/>
          <p:nvPr/>
        </p:nvSpPr>
        <p:spPr>
          <a:xfrm>
            <a:off x="4572000" y="3474720"/>
            <a:ext cx="32860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Exemple Konekt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7"/>
          <p:cNvSpPr/>
          <p:nvPr/>
        </p:nvSpPr>
        <p:spPr>
          <a:xfrm>
            <a:off x="4572000" y="365760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User.email (varchar) · Post.message (text)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18"/>
          <p:cNvSpPr/>
          <p:nvPr/>
        </p:nvSpPr>
        <p:spPr>
          <a:xfrm>
            <a:off x="8229600" y="2103120"/>
            <a:ext cx="3651840" cy="196020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3" name="Shape 19"/>
          <p:cNvSpPr/>
          <p:nvPr/>
        </p:nvSpPr>
        <p:spPr>
          <a:xfrm>
            <a:off x="8412480" y="2286000"/>
            <a:ext cx="497160" cy="49716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4" name="Text 20"/>
          <p:cNvSpPr/>
          <p:nvPr/>
        </p:nvSpPr>
        <p:spPr>
          <a:xfrm>
            <a:off x="8412480" y="2106000"/>
            <a:ext cx="56916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◉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21"/>
          <p:cNvSpPr/>
          <p:nvPr/>
        </p:nvSpPr>
        <p:spPr>
          <a:xfrm>
            <a:off x="9006840" y="228600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Clé primaire (PK)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2"/>
          <p:cNvSpPr/>
          <p:nvPr/>
        </p:nvSpPr>
        <p:spPr>
          <a:xfrm>
            <a:off x="8412480" y="2880360"/>
            <a:ext cx="328608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Identifiant unique non-null d'une ligne. Une seule par table.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23"/>
          <p:cNvSpPr/>
          <p:nvPr/>
        </p:nvSpPr>
        <p:spPr>
          <a:xfrm>
            <a:off x="8412480" y="3474720"/>
            <a:ext cx="32860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Exemple Konekt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24"/>
          <p:cNvSpPr/>
          <p:nvPr/>
        </p:nvSpPr>
        <p:spPr>
          <a:xfrm>
            <a:off x="8412480" y="365760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User.id (uuid) · Post.id (cuid)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5"/>
          <p:cNvSpPr/>
          <p:nvPr/>
        </p:nvSpPr>
        <p:spPr>
          <a:xfrm>
            <a:off x="548640" y="4251960"/>
            <a:ext cx="3651840" cy="196020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0" name="Shape 26"/>
          <p:cNvSpPr/>
          <p:nvPr/>
        </p:nvSpPr>
        <p:spPr>
          <a:xfrm>
            <a:off x="731520" y="4434840"/>
            <a:ext cx="497160" cy="49716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1" name="Text 27"/>
          <p:cNvSpPr/>
          <p:nvPr/>
        </p:nvSpPr>
        <p:spPr>
          <a:xfrm>
            <a:off x="731520" y="4362840"/>
            <a:ext cx="497160" cy="62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⌬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28"/>
          <p:cNvSpPr/>
          <p:nvPr/>
        </p:nvSpPr>
        <p:spPr>
          <a:xfrm>
            <a:off x="1325880" y="443484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Clé étrangère (FK)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29"/>
          <p:cNvSpPr/>
          <p:nvPr/>
        </p:nvSpPr>
        <p:spPr>
          <a:xfrm>
            <a:off x="731520" y="5029200"/>
            <a:ext cx="328608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Référence la PK d'une autre table. Maintient l'intégrité référentielle.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30"/>
          <p:cNvSpPr/>
          <p:nvPr/>
        </p:nvSpPr>
        <p:spPr>
          <a:xfrm>
            <a:off x="731520" y="5623560"/>
            <a:ext cx="32860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Exemple Konekt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31"/>
          <p:cNvSpPr/>
          <p:nvPr/>
        </p:nvSpPr>
        <p:spPr>
          <a:xfrm>
            <a:off x="731520" y="580644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Post.userId → User.id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32"/>
          <p:cNvSpPr/>
          <p:nvPr/>
        </p:nvSpPr>
        <p:spPr>
          <a:xfrm>
            <a:off x="4389120" y="4251960"/>
            <a:ext cx="3651840" cy="196020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7" name="Shape 33"/>
          <p:cNvSpPr/>
          <p:nvPr/>
        </p:nvSpPr>
        <p:spPr>
          <a:xfrm>
            <a:off x="4572000" y="4434840"/>
            <a:ext cx="497160" cy="49716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8" name="Text 34"/>
          <p:cNvSpPr/>
          <p:nvPr/>
        </p:nvSpPr>
        <p:spPr>
          <a:xfrm>
            <a:off x="4572000" y="4362840"/>
            <a:ext cx="497160" cy="62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↔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35"/>
          <p:cNvSpPr/>
          <p:nvPr/>
        </p:nvSpPr>
        <p:spPr>
          <a:xfrm>
            <a:off x="5166360" y="443484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Cardinalité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36"/>
          <p:cNvSpPr/>
          <p:nvPr/>
        </p:nvSpPr>
        <p:spPr>
          <a:xfrm>
            <a:off x="4572000" y="5029200"/>
            <a:ext cx="328608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Nombre d'instances liées : 1-1, 1-N, N-N. Détermine la structure relationnelle.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37"/>
          <p:cNvSpPr/>
          <p:nvPr/>
        </p:nvSpPr>
        <p:spPr>
          <a:xfrm>
            <a:off x="4572000" y="5623560"/>
            <a:ext cx="32860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Exemple Konekt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38"/>
          <p:cNvSpPr/>
          <p:nvPr/>
        </p:nvSpPr>
        <p:spPr>
          <a:xfrm>
            <a:off x="4572000" y="580644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User 1—N Post  ·  User N—N User via Friendship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39"/>
          <p:cNvSpPr/>
          <p:nvPr/>
        </p:nvSpPr>
        <p:spPr>
          <a:xfrm>
            <a:off x="8229600" y="4251960"/>
            <a:ext cx="3651840" cy="196020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4" name="Shape 40"/>
          <p:cNvSpPr/>
          <p:nvPr/>
        </p:nvSpPr>
        <p:spPr>
          <a:xfrm>
            <a:off x="8412480" y="4434840"/>
            <a:ext cx="497160" cy="497160"/>
          </a:xfrm>
          <a:prstGeom prst="ellipse">
            <a:avLst/>
          </a:prstGeom>
          <a:solidFill>
            <a:srgbClr val="EF4444">
              <a:alpha val="30000"/>
            </a:srgbClr>
          </a:solidFill>
          <a:ln w="1905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5" name="Text 41"/>
          <p:cNvSpPr/>
          <p:nvPr/>
        </p:nvSpPr>
        <p:spPr>
          <a:xfrm>
            <a:off x="8412480" y="4326840"/>
            <a:ext cx="49716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▩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42"/>
          <p:cNvSpPr/>
          <p:nvPr/>
        </p:nvSpPr>
        <p:spPr>
          <a:xfrm>
            <a:off x="9006840" y="443484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Index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43"/>
          <p:cNvSpPr/>
          <p:nvPr/>
        </p:nvSpPr>
        <p:spPr>
          <a:xfrm>
            <a:off x="8412480" y="5029200"/>
            <a:ext cx="328608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Structure d'accès accélérant les lectures sur certaines colonnes.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44"/>
          <p:cNvSpPr/>
          <p:nvPr/>
        </p:nvSpPr>
        <p:spPr>
          <a:xfrm>
            <a:off x="8412480" y="5623560"/>
            <a:ext cx="32860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Exemple Konekt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45"/>
          <p:cNvSpPr/>
          <p:nvPr/>
        </p:nvSpPr>
        <p:spPr>
          <a:xfrm>
            <a:off x="8412480" y="580644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@@index([userId, createdAt]) sur Post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0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Text 46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47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13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MERISE · MCD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Modèle Conceptuel de Données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6" name="Shape 3"/>
          <p:cNvSpPr/>
          <p:nvPr/>
        </p:nvSpPr>
        <p:spPr>
          <a:xfrm>
            <a:off x="548640" y="1691640"/>
            <a:ext cx="11058480" cy="81720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7" name="Text 4"/>
          <p:cNvSpPr/>
          <p:nvPr/>
        </p:nvSpPr>
        <p:spPr>
          <a:xfrm>
            <a:off x="777240" y="1737360"/>
            <a:ext cx="2737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Définition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5"/>
          <p:cNvSpPr/>
          <p:nvPr/>
        </p:nvSpPr>
        <p:spPr>
          <a:xfrm>
            <a:off x="777240" y="2011680"/>
            <a:ext cx="1060128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Représentation abstraite des entités métier et de leurs relations, indépendante de toute technologie. On y identifie les entités, leurs attributs et les cardinalités entre elles. C'est la vue "business" du domaine.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6"/>
          <p:cNvSpPr/>
          <p:nvPr/>
        </p:nvSpPr>
        <p:spPr>
          <a:xfrm>
            <a:off x="914400" y="3017520"/>
            <a:ext cx="2371680" cy="1457280"/>
          </a:xfrm>
          <a:prstGeom prst="roundRect">
            <a:avLst>
              <a:gd name="adj" fmla="val 5000"/>
            </a:avLst>
          </a:prstGeom>
          <a:solidFill>
            <a:srgbClr val="EC4899">
              <a:alpha val="25000"/>
            </a:srgbClr>
          </a:solidFill>
          <a:ln w="254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0" name="Text 7"/>
          <p:cNvSpPr/>
          <p:nvPr/>
        </p:nvSpPr>
        <p:spPr>
          <a:xfrm>
            <a:off x="914400" y="3108960"/>
            <a:ext cx="237168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USER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8"/>
          <p:cNvSpPr/>
          <p:nvPr/>
        </p:nvSpPr>
        <p:spPr>
          <a:xfrm>
            <a:off x="914400" y="3456360"/>
            <a:ext cx="2371680" cy="126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2" name="Text 9"/>
          <p:cNvSpPr/>
          <p:nvPr/>
        </p:nvSpPr>
        <p:spPr>
          <a:xfrm>
            <a:off x="1005840" y="3520440"/>
            <a:ext cx="218880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email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username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birthDate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10"/>
          <p:cNvSpPr/>
          <p:nvPr/>
        </p:nvSpPr>
        <p:spPr>
          <a:xfrm>
            <a:off x="5029200" y="3017520"/>
            <a:ext cx="2371680" cy="1457280"/>
          </a:xfrm>
          <a:prstGeom prst="roundRect">
            <a:avLst>
              <a:gd name="adj" fmla="val 5000"/>
            </a:avLst>
          </a:prstGeom>
          <a:solidFill>
            <a:srgbClr val="06B6D4">
              <a:alpha val="25000"/>
            </a:srgbClr>
          </a:solidFill>
          <a:ln w="254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4" name="Text 11"/>
          <p:cNvSpPr/>
          <p:nvPr/>
        </p:nvSpPr>
        <p:spPr>
          <a:xfrm>
            <a:off x="5029200" y="3108960"/>
            <a:ext cx="237168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12"/>
          <p:cNvSpPr/>
          <p:nvPr/>
        </p:nvSpPr>
        <p:spPr>
          <a:xfrm>
            <a:off x="5029200" y="3456360"/>
            <a:ext cx="2371680" cy="126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6" name="Text 13"/>
          <p:cNvSpPr/>
          <p:nvPr/>
        </p:nvSpPr>
        <p:spPr>
          <a:xfrm>
            <a:off x="5120640" y="3520440"/>
            <a:ext cx="218880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message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visibility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14"/>
          <p:cNvSpPr/>
          <p:nvPr/>
        </p:nvSpPr>
        <p:spPr>
          <a:xfrm>
            <a:off x="9144000" y="3017520"/>
            <a:ext cx="2371680" cy="1457280"/>
          </a:xfrm>
          <a:prstGeom prst="roundRect">
            <a:avLst>
              <a:gd name="adj" fmla="val 5000"/>
            </a:avLst>
          </a:prstGeom>
          <a:solidFill>
            <a:srgbClr val="8B5CF6">
              <a:alpha val="25000"/>
            </a:srgbClr>
          </a:solidFill>
          <a:ln w="254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8" name="Text 15"/>
          <p:cNvSpPr/>
          <p:nvPr/>
        </p:nvSpPr>
        <p:spPr>
          <a:xfrm>
            <a:off x="9144000" y="3108960"/>
            <a:ext cx="237168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COMMENT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16"/>
          <p:cNvSpPr/>
          <p:nvPr/>
        </p:nvSpPr>
        <p:spPr>
          <a:xfrm>
            <a:off x="9144000" y="3456360"/>
            <a:ext cx="2371680" cy="126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0" name="Text 17"/>
          <p:cNvSpPr/>
          <p:nvPr/>
        </p:nvSpPr>
        <p:spPr>
          <a:xfrm>
            <a:off x="9235440" y="3520440"/>
            <a:ext cx="218880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message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createdAt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18"/>
          <p:cNvSpPr/>
          <p:nvPr/>
        </p:nvSpPr>
        <p:spPr>
          <a:xfrm>
            <a:off x="3291840" y="3749040"/>
            <a:ext cx="1737360" cy="360"/>
          </a:xfrm>
          <a:prstGeom prst="line">
            <a:avLst/>
          </a:prstGeom>
          <a:ln w="2540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2" name="Text 19"/>
          <p:cNvSpPr/>
          <p:nvPr/>
        </p:nvSpPr>
        <p:spPr>
          <a:xfrm>
            <a:off x="3291840" y="3429000"/>
            <a:ext cx="17316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publie 1,N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20"/>
          <p:cNvSpPr/>
          <p:nvPr/>
        </p:nvSpPr>
        <p:spPr>
          <a:xfrm>
            <a:off x="7406640" y="3749040"/>
            <a:ext cx="1737360" cy="360"/>
          </a:xfrm>
          <a:prstGeom prst="line">
            <a:avLst/>
          </a:prstGeom>
          <a:ln w="25400">
            <a:solidFill>
              <a:srgbClr val="06B6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4" name="Text 21"/>
          <p:cNvSpPr/>
          <p:nvPr/>
        </p:nvSpPr>
        <p:spPr>
          <a:xfrm>
            <a:off x="7406640" y="3429000"/>
            <a:ext cx="17316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contient 1,N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22"/>
          <p:cNvSpPr/>
          <p:nvPr/>
        </p:nvSpPr>
        <p:spPr>
          <a:xfrm>
            <a:off x="548640" y="4846320"/>
            <a:ext cx="11058480" cy="1411560"/>
          </a:xfrm>
          <a:prstGeom prst="roundRect">
            <a:avLst>
              <a:gd name="adj" fmla="val 5161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6" name="Text 23"/>
          <p:cNvSpPr/>
          <p:nvPr/>
        </p:nvSpPr>
        <p:spPr>
          <a:xfrm>
            <a:off x="777240" y="4865760"/>
            <a:ext cx="109670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Lecture du MCD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24"/>
          <p:cNvSpPr/>
          <p:nvPr/>
        </p:nvSpPr>
        <p:spPr>
          <a:xfrm>
            <a:off x="777240" y="5149800"/>
            <a:ext cx="10692720" cy="10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Un </a:t>
            </a: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User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publie 0..N </a:t>
            </a: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— un Post a exactement 1 auteur (cardinalité 1,1 côté Post)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Un </a:t>
            </a: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contient 0..N </a:t>
            </a: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Comment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, chaque Comment référence exactement 1 Post (parent)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Le MCD n'expose </a:t>
            </a:r>
            <a:r>
              <a:rPr lang="en-US" sz="1200" b="0" i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ni clés étrangères, ni types techniques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— uniquement le sens métier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8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9" name="Text 2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2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14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MERISE · MLD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Modèle Logique de Données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4" name="Shape 3"/>
          <p:cNvSpPr/>
          <p:nvPr/>
        </p:nvSpPr>
        <p:spPr>
          <a:xfrm>
            <a:off x="548640" y="1691640"/>
            <a:ext cx="11058480" cy="81720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5" name="Text 4"/>
          <p:cNvSpPr/>
          <p:nvPr/>
        </p:nvSpPr>
        <p:spPr>
          <a:xfrm>
            <a:off x="777240" y="1737360"/>
            <a:ext cx="2737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Définition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5"/>
          <p:cNvSpPr/>
          <p:nvPr/>
        </p:nvSpPr>
        <p:spPr>
          <a:xfrm>
            <a:off x="777240" y="2011680"/>
            <a:ext cx="1060128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Traduction du MCD en schéma relationnel : on matérialise les relations par des clés étrangères, on choisit les types logiques (string, int, datetime) et on précise les contraintes (NOT NULL, UNIQUE).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6"/>
          <p:cNvSpPr/>
          <p:nvPr/>
        </p:nvSpPr>
        <p:spPr>
          <a:xfrm>
            <a:off x="548640" y="2697480"/>
            <a:ext cx="11058480" cy="2737440"/>
          </a:xfrm>
          <a:prstGeom prst="roundRect">
            <a:avLst>
              <a:gd name="adj" fmla="val 3333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8" name="Shape 7"/>
          <p:cNvSpPr/>
          <p:nvPr/>
        </p:nvSpPr>
        <p:spPr>
          <a:xfrm>
            <a:off x="777240" y="2880360"/>
            <a:ext cx="131400" cy="13140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9" name="Shape 8"/>
          <p:cNvSpPr/>
          <p:nvPr/>
        </p:nvSpPr>
        <p:spPr>
          <a:xfrm>
            <a:off x="960120" y="2880360"/>
            <a:ext cx="131400" cy="13140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0" name="Shape 9"/>
          <p:cNvSpPr/>
          <p:nvPr/>
        </p:nvSpPr>
        <p:spPr>
          <a:xfrm>
            <a:off x="1143000" y="2880360"/>
            <a:ext cx="131400" cy="13140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1" name="Text 10"/>
          <p:cNvSpPr/>
          <p:nvPr/>
        </p:nvSpPr>
        <p:spPr>
          <a:xfrm>
            <a:off x="1371600" y="278892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MLD — extrait (notation Prisma)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1"/>
          <p:cNvSpPr/>
          <p:nvPr/>
        </p:nvSpPr>
        <p:spPr>
          <a:xfrm>
            <a:off x="777240" y="3154680"/>
            <a:ext cx="1060128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USER  (id PK, email UNIQUE, username UNIQUE, password, birthDate, createdAt)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12"/>
          <p:cNvSpPr/>
          <p:nvPr/>
        </p:nvSpPr>
        <p:spPr>
          <a:xfrm>
            <a:off x="777240" y="3429000"/>
            <a:ext cx="1060128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POST  (id PK, userId FK → USER.id, message, image?, visibility, createdAt)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13"/>
          <p:cNvSpPr/>
          <p:nvPr/>
        </p:nvSpPr>
        <p:spPr>
          <a:xfrm>
            <a:off x="777240" y="3703320"/>
            <a:ext cx="1060128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5CF6"/>
                </a:solidFill>
                <a:effectLst/>
                <a:uFillTx/>
                <a:latin typeface="Consolas"/>
                <a:ea typeface="Consolas"/>
              </a:rPr>
              <a:t>COMMENT (id PK, postId FK → POST.id, userId FK → USER.id, message, createdAt)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4"/>
          <p:cNvSpPr/>
          <p:nvPr/>
        </p:nvSpPr>
        <p:spPr>
          <a:xfrm>
            <a:off x="777240" y="3977640"/>
            <a:ext cx="1060128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REACTION (id PK, userId FK → USER.id, postId FK? → POST.id, type, createdAt)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15"/>
          <p:cNvSpPr/>
          <p:nvPr/>
        </p:nvSpPr>
        <p:spPr>
          <a:xfrm>
            <a:off x="777240" y="4251960"/>
            <a:ext cx="1060128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     UNIQUE (userId, postId, type)   ← un user ne peut pas dupliquer une réaction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16"/>
          <p:cNvSpPr/>
          <p:nvPr/>
        </p:nvSpPr>
        <p:spPr>
          <a:xfrm>
            <a:off x="777240" y="4526280"/>
            <a:ext cx="1060128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STORY (id PK, userId FK → USER.id, image, expiresAt, createdAt)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17"/>
          <p:cNvSpPr/>
          <p:nvPr/>
        </p:nvSpPr>
        <p:spPr>
          <a:xfrm>
            <a:off x="777240" y="4800600"/>
            <a:ext cx="1060128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FRIENDSHIP (id PK, requesterId FK → USER.id, addresseeId FK → USER.id, status)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18"/>
          <p:cNvSpPr/>
          <p:nvPr/>
        </p:nvSpPr>
        <p:spPr>
          <a:xfrm>
            <a:off x="777240" y="5074920"/>
            <a:ext cx="1060128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         UNIQUE (requesterId, addresseeId)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19"/>
          <p:cNvSpPr/>
          <p:nvPr/>
        </p:nvSpPr>
        <p:spPr>
          <a:xfrm>
            <a:off x="548640" y="5577840"/>
            <a:ext cx="11058480" cy="707400"/>
          </a:xfrm>
          <a:prstGeom prst="roundRect">
            <a:avLst>
              <a:gd name="adj" fmla="val 10256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1" name="Text 20"/>
          <p:cNvSpPr/>
          <p:nvPr/>
        </p:nvSpPr>
        <p:spPr>
          <a:xfrm>
            <a:off x="777240" y="5623560"/>
            <a:ext cx="1069272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À retenir :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chaque relation N-1 du MCD devient une </a:t>
            </a: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FK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côté "plusieurs". Les relations N-N (ex. Friendship) deviennent une table d'association avec ses propres attributs.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2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3" name="Text 21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22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15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MERISE · MPD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Modèle Physique de Données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8" name="Shape 3"/>
          <p:cNvSpPr/>
          <p:nvPr/>
        </p:nvSpPr>
        <p:spPr>
          <a:xfrm>
            <a:off x="548640" y="1691640"/>
            <a:ext cx="11058480" cy="81720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9" name="Text 4"/>
          <p:cNvSpPr/>
          <p:nvPr/>
        </p:nvSpPr>
        <p:spPr>
          <a:xfrm>
            <a:off x="777240" y="1737360"/>
            <a:ext cx="2737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Définition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5"/>
          <p:cNvSpPr/>
          <p:nvPr/>
        </p:nvSpPr>
        <p:spPr>
          <a:xfrm>
            <a:off x="777240" y="2011680"/>
            <a:ext cx="1060128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Implémentation SQL concrète du MLD pour un SGBD donné — ici PostgreSQL. On y choisit les types techniques (varchar(n), uuid, timestamptz), les contraintes (CHECK, ON DELETE), les index physiques.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6"/>
          <p:cNvSpPr/>
          <p:nvPr/>
        </p:nvSpPr>
        <p:spPr>
          <a:xfrm>
            <a:off x="548640" y="2697480"/>
            <a:ext cx="11107800" cy="3472560"/>
          </a:xfrm>
          <a:prstGeom prst="roundRect">
            <a:avLst>
              <a:gd name="adj" fmla="val 2817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2" name="Shape 7"/>
          <p:cNvSpPr/>
          <p:nvPr/>
        </p:nvSpPr>
        <p:spPr>
          <a:xfrm>
            <a:off x="777240" y="2880360"/>
            <a:ext cx="131400" cy="13140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3" name="Shape 8"/>
          <p:cNvSpPr/>
          <p:nvPr/>
        </p:nvSpPr>
        <p:spPr>
          <a:xfrm>
            <a:off x="960120" y="2880360"/>
            <a:ext cx="131400" cy="13140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4" name="Shape 9"/>
          <p:cNvSpPr/>
          <p:nvPr/>
        </p:nvSpPr>
        <p:spPr>
          <a:xfrm>
            <a:off x="1143000" y="2880360"/>
            <a:ext cx="131400" cy="13140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5" name="Text 10"/>
          <p:cNvSpPr/>
          <p:nvPr/>
        </p:nvSpPr>
        <p:spPr>
          <a:xfrm>
            <a:off x="1371600" y="278892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MPD — extrait DDL PostgreSQL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1"/>
          <p:cNvSpPr/>
          <p:nvPr/>
        </p:nvSpPr>
        <p:spPr>
          <a:xfrm>
            <a:off x="777240" y="315468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CREATE TABLE "User" (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12"/>
          <p:cNvSpPr/>
          <p:nvPr/>
        </p:nvSpPr>
        <p:spPr>
          <a:xfrm>
            <a:off x="777240" y="331920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  id            TEXT        PRIMARY KEY DEFAULT cuid(),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13"/>
          <p:cNvSpPr/>
          <p:nvPr/>
        </p:nvSpPr>
        <p:spPr>
          <a:xfrm>
            <a:off x="777240" y="348372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email         VARCHAR(255) NOT NULL UNIQUE,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14"/>
          <p:cNvSpPr/>
          <p:nvPr/>
        </p:nvSpPr>
        <p:spPr>
          <a:xfrm>
            <a:off x="777240" y="364860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username      VARCHAR(50)  NOT NULL UNIQUE,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15"/>
          <p:cNvSpPr/>
          <p:nvPr/>
        </p:nvSpPr>
        <p:spPr>
          <a:xfrm>
            <a:off x="777240" y="381312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password      VARCHAR(255) NOT NULL,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16"/>
          <p:cNvSpPr/>
          <p:nvPr/>
        </p:nvSpPr>
        <p:spPr>
          <a:xfrm>
            <a:off x="777240" y="397764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visibility    "ProfileVisibility" NOT NULL DEFAULT 'PUBLIC',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17"/>
          <p:cNvSpPr/>
          <p:nvPr/>
        </p:nvSpPr>
        <p:spPr>
          <a:xfrm>
            <a:off x="777240" y="414216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createdAt     TIMESTAMPTZ  NOT NULL DEFAULT NOW()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18"/>
          <p:cNvSpPr/>
          <p:nvPr/>
        </p:nvSpPr>
        <p:spPr>
          <a:xfrm>
            <a:off x="777240" y="430668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19"/>
          <p:cNvSpPr/>
          <p:nvPr/>
        </p:nvSpPr>
        <p:spPr>
          <a:xfrm>
            <a:off x="777240" y="447156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20"/>
          <p:cNvSpPr/>
          <p:nvPr/>
        </p:nvSpPr>
        <p:spPr>
          <a:xfrm>
            <a:off x="777240" y="463608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CREATE TABLE "Post" (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21"/>
          <p:cNvSpPr/>
          <p:nvPr/>
        </p:nvSpPr>
        <p:spPr>
          <a:xfrm>
            <a:off x="777240" y="480060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  id          TEXT PRIMARY KEY DEFAULT cuid(),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22"/>
          <p:cNvSpPr/>
          <p:nvPr/>
        </p:nvSpPr>
        <p:spPr>
          <a:xfrm>
            <a:off x="777240" y="496512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userId      TEXT NOT NULL REFERENCES "User"(id) ON DELETE CASCADE,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23"/>
          <p:cNvSpPr/>
          <p:nvPr/>
        </p:nvSpPr>
        <p:spPr>
          <a:xfrm>
            <a:off x="777240" y="512964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message     TEXT NOT NULL CHECK (length(message) &lt;= 5000),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24"/>
          <p:cNvSpPr/>
          <p:nvPr/>
        </p:nvSpPr>
        <p:spPr>
          <a:xfrm>
            <a:off x="777240" y="529452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visibility  "Visibility" NOT NULL DEFAULT 'PUBLIC',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25"/>
          <p:cNvSpPr/>
          <p:nvPr/>
        </p:nvSpPr>
        <p:spPr>
          <a:xfrm>
            <a:off x="777240" y="545904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createdAt   TIMESTAMPTZ NOT NULL DEFAULT NOW()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26"/>
          <p:cNvSpPr/>
          <p:nvPr/>
        </p:nvSpPr>
        <p:spPr>
          <a:xfrm>
            <a:off x="777240" y="562356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27"/>
          <p:cNvSpPr/>
          <p:nvPr/>
        </p:nvSpPr>
        <p:spPr>
          <a:xfrm>
            <a:off x="777240" y="5860080"/>
            <a:ext cx="10601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CREATE INDEX idx_post_user_created ON "Post"(userId, createdAt DESC);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4" name="Text 28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29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16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MCD — 10 entités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9" name="Shape 3"/>
          <p:cNvSpPr/>
          <p:nvPr/>
        </p:nvSpPr>
        <p:spPr>
          <a:xfrm>
            <a:off x="8595360" y="1691640"/>
            <a:ext cx="3011760" cy="4566240"/>
          </a:xfrm>
          <a:prstGeom prst="roundRect">
            <a:avLst>
              <a:gd name="adj" fmla="val 242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0" name="Text 4"/>
          <p:cNvSpPr/>
          <p:nvPr/>
        </p:nvSpPr>
        <p:spPr>
          <a:xfrm>
            <a:off x="8732520" y="1783080"/>
            <a:ext cx="2737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Faits saillants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5"/>
          <p:cNvSpPr/>
          <p:nvPr/>
        </p:nvSpPr>
        <p:spPr>
          <a:xfrm>
            <a:off x="8732520" y="2148840"/>
            <a:ext cx="9086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6"/>
          <p:cNvSpPr/>
          <p:nvPr/>
        </p:nvSpPr>
        <p:spPr>
          <a:xfrm>
            <a:off x="9646920" y="2148840"/>
            <a:ext cx="191448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Modèles Prisma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7"/>
          <p:cNvSpPr/>
          <p:nvPr/>
        </p:nvSpPr>
        <p:spPr>
          <a:xfrm>
            <a:off x="8732520" y="2651760"/>
            <a:ext cx="9086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40+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8"/>
          <p:cNvSpPr/>
          <p:nvPr/>
        </p:nvSpPr>
        <p:spPr>
          <a:xfrm>
            <a:off x="9646920" y="2651760"/>
            <a:ext cx="191448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Relations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9"/>
          <p:cNvSpPr/>
          <p:nvPr/>
        </p:nvSpPr>
        <p:spPr>
          <a:xfrm>
            <a:off x="8732520" y="3154680"/>
            <a:ext cx="9086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10"/>
          <p:cNvSpPr/>
          <p:nvPr/>
        </p:nvSpPr>
        <p:spPr>
          <a:xfrm>
            <a:off x="9646920" y="3154680"/>
            <a:ext cx="191448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Enums métier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11"/>
          <p:cNvSpPr/>
          <p:nvPr/>
        </p:nvSpPr>
        <p:spPr>
          <a:xfrm>
            <a:off x="8732520" y="3657600"/>
            <a:ext cx="9086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35+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12"/>
          <p:cNvSpPr/>
          <p:nvPr/>
        </p:nvSpPr>
        <p:spPr>
          <a:xfrm>
            <a:off x="9646920" y="3657600"/>
            <a:ext cx="191448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Attributs User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13"/>
          <p:cNvSpPr/>
          <p:nvPr/>
        </p:nvSpPr>
        <p:spPr>
          <a:xfrm>
            <a:off x="8732520" y="4297680"/>
            <a:ext cx="2737440" cy="1260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0" name="Text 14"/>
          <p:cNvSpPr/>
          <p:nvPr/>
        </p:nvSpPr>
        <p:spPr>
          <a:xfrm>
            <a:off x="8732520" y="4389120"/>
            <a:ext cx="2737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Entités centrales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15"/>
          <p:cNvSpPr/>
          <p:nvPr/>
        </p:nvSpPr>
        <p:spPr>
          <a:xfrm>
            <a:off x="8732520" y="4663440"/>
            <a:ext cx="27374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User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16"/>
          <p:cNvSpPr/>
          <p:nvPr/>
        </p:nvSpPr>
        <p:spPr>
          <a:xfrm>
            <a:off x="8732520" y="4919400"/>
            <a:ext cx="27374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Post / Comment / Reaction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17"/>
          <p:cNvSpPr/>
          <p:nvPr/>
        </p:nvSpPr>
        <p:spPr>
          <a:xfrm>
            <a:off x="8732520" y="5175360"/>
            <a:ext cx="27374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Story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18"/>
          <p:cNvSpPr/>
          <p:nvPr/>
        </p:nvSpPr>
        <p:spPr>
          <a:xfrm>
            <a:off x="8732520" y="5431680"/>
            <a:ext cx="27374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Conversation / Message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19"/>
          <p:cNvSpPr/>
          <p:nvPr/>
        </p:nvSpPr>
        <p:spPr>
          <a:xfrm>
            <a:off x="8732520" y="5687640"/>
            <a:ext cx="27374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Group / Event / Rsvp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20"/>
          <p:cNvSpPr/>
          <p:nvPr/>
        </p:nvSpPr>
        <p:spPr>
          <a:xfrm>
            <a:off x="8732520" y="5943600"/>
            <a:ext cx="27374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Notification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7" name="Image 1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8" name="Text 21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22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17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0" name=""/>
          <p:cNvPicPr/>
          <p:nvPr/>
        </p:nvPicPr>
        <p:blipFill>
          <a:blip r:embed="rId2"/>
          <a:stretch/>
        </p:blipFill>
        <p:spPr>
          <a:xfrm>
            <a:off x="457200" y="1691640"/>
            <a:ext cx="8043120" cy="4566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au cœur du domaine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4" name="Shape 3"/>
          <p:cNvSpPr/>
          <p:nvPr/>
        </p:nvSpPr>
        <p:spPr>
          <a:xfrm>
            <a:off x="6538680" y="2926800"/>
            <a:ext cx="1731600" cy="1731600"/>
          </a:xfrm>
          <a:prstGeom prst="ellipse">
            <a:avLst/>
          </a:prstGeom>
          <a:solidFill>
            <a:srgbClr val="EC4899">
              <a:alpha val="50000"/>
            </a:srgbClr>
          </a:solidFill>
          <a:ln w="381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5" name="Text 4"/>
          <p:cNvSpPr/>
          <p:nvPr/>
        </p:nvSpPr>
        <p:spPr>
          <a:xfrm>
            <a:off x="6538680" y="2926800"/>
            <a:ext cx="1731600" cy="14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5"/>
          <p:cNvSpPr/>
          <p:nvPr/>
        </p:nvSpPr>
        <p:spPr>
          <a:xfrm>
            <a:off x="6538680" y="3978360"/>
            <a:ext cx="173160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18 entités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40+ relations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6"/>
          <p:cNvSpPr/>
          <p:nvPr/>
        </p:nvSpPr>
        <p:spPr>
          <a:xfrm flipV="1">
            <a:off x="7407360" y="2167560"/>
            <a:ext cx="720" cy="740880"/>
          </a:xfrm>
          <a:prstGeom prst="line">
            <a:avLst/>
          </a:prstGeom>
          <a:ln w="19050">
            <a:solidFill>
              <a:srgbClr val="06B6D4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45000" rIns="3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8" name="Shape 7"/>
          <p:cNvSpPr/>
          <p:nvPr/>
        </p:nvSpPr>
        <p:spPr>
          <a:xfrm>
            <a:off x="6904440" y="1143720"/>
            <a:ext cx="1000080" cy="1000080"/>
          </a:xfrm>
          <a:prstGeom prst="ellipse">
            <a:avLst/>
          </a:prstGeom>
          <a:solidFill>
            <a:srgbClr val="06B6D4">
              <a:alpha val="30000"/>
            </a:srgbClr>
          </a:solidFill>
          <a:ln w="254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9" name="Text 8"/>
          <p:cNvSpPr/>
          <p:nvPr/>
        </p:nvSpPr>
        <p:spPr>
          <a:xfrm>
            <a:off x="6904440" y="1143720"/>
            <a:ext cx="10000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▤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9"/>
          <p:cNvSpPr/>
          <p:nvPr/>
        </p:nvSpPr>
        <p:spPr>
          <a:xfrm>
            <a:off x="6904440" y="1574640"/>
            <a:ext cx="1000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10"/>
          <p:cNvSpPr/>
          <p:nvPr/>
        </p:nvSpPr>
        <p:spPr>
          <a:xfrm>
            <a:off x="6904440" y="1884960"/>
            <a:ext cx="10000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publie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11"/>
          <p:cNvSpPr/>
          <p:nvPr/>
        </p:nvSpPr>
        <p:spPr>
          <a:xfrm flipV="1">
            <a:off x="8034480" y="2644560"/>
            <a:ext cx="523440" cy="523440"/>
          </a:xfrm>
          <a:prstGeom prst="line">
            <a:avLst/>
          </a:prstGeom>
          <a:ln w="19050">
            <a:solidFill>
              <a:srgbClr val="8B5CF6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3" name="Shape 12"/>
          <p:cNvSpPr/>
          <p:nvPr/>
        </p:nvSpPr>
        <p:spPr>
          <a:xfrm>
            <a:off x="8424000" y="1773000"/>
            <a:ext cx="1000080" cy="1000080"/>
          </a:xfrm>
          <a:prstGeom prst="ellipse">
            <a:avLst/>
          </a:prstGeom>
          <a:solidFill>
            <a:srgbClr val="8B5CF6">
              <a:alpha val="30000"/>
            </a:srgbClr>
          </a:solidFill>
          <a:ln w="254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4" name="Text 13"/>
          <p:cNvSpPr/>
          <p:nvPr/>
        </p:nvSpPr>
        <p:spPr>
          <a:xfrm>
            <a:off x="8424000" y="1773000"/>
            <a:ext cx="10000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◐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14"/>
          <p:cNvSpPr/>
          <p:nvPr/>
        </p:nvSpPr>
        <p:spPr>
          <a:xfrm>
            <a:off x="8424000" y="2203920"/>
            <a:ext cx="1000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15"/>
          <p:cNvSpPr/>
          <p:nvPr/>
        </p:nvSpPr>
        <p:spPr>
          <a:xfrm>
            <a:off x="8424000" y="2514240"/>
            <a:ext cx="10000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écrit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16"/>
          <p:cNvSpPr/>
          <p:nvPr/>
        </p:nvSpPr>
        <p:spPr>
          <a:xfrm>
            <a:off x="8294040" y="3795480"/>
            <a:ext cx="740880" cy="720"/>
          </a:xfrm>
          <a:prstGeom prst="line">
            <a:avLst/>
          </a:prstGeom>
          <a:ln w="19050">
            <a:solidFill>
              <a:srgbClr val="F59E0B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8" name="Shape 17"/>
          <p:cNvSpPr/>
          <p:nvPr/>
        </p:nvSpPr>
        <p:spPr>
          <a:xfrm>
            <a:off x="9053280" y="3292560"/>
            <a:ext cx="1000080" cy="1000080"/>
          </a:xfrm>
          <a:prstGeom prst="ellipse">
            <a:avLst/>
          </a:prstGeom>
          <a:solidFill>
            <a:srgbClr val="F59E0B">
              <a:alpha val="30000"/>
            </a:srgbClr>
          </a:solidFill>
          <a:ln w="25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9" name="Text 18"/>
          <p:cNvSpPr/>
          <p:nvPr/>
        </p:nvSpPr>
        <p:spPr>
          <a:xfrm>
            <a:off x="9053280" y="3292560"/>
            <a:ext cx="10000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♥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19"/>
          <p:cNvSpPr/>
          <p:nvPr/>
        </p:nvSpPr>
        <p:spPr>
          <a:xfrm>
            <a:off x="9053280" y="3723480"/>
            <a:ext cx="1000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20"/>
          <p:cNvSpPr/>
          <p:nvPr/>
        </p:nvSpPr>
        <p:spPr>
          <a:xfrm>
            <a:off x="9053280" y="4033800"/>
            <a:ext cx="10000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réagit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21"/>
          <p:cNvSpPr/>
          <p:nvPr/>
        </p:nvSpPr>
        <p:spPr>
          <a:xfrm>
            <a:off x="8034480" y="4422600"/>
            <a:ext cx="523440" cy="523440"/>
          </a:xfrm>
          <a:prstGeom prst="line">
            <a:avLst/>
          </a:prstGeom>
          <a:ln w="19050">
            <a:solidFill>
              <a:srgbClr val="10B981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3" name="Shape 22"/>
          <p:cNvSpPr/>
          <p:nvPr/>
        </p:nvSpPr>
        <p:spPr>
          <a:xfrm>
            <a:off x="8424000" y="4812120"/>
            <a:ext cx="1000080" cy="1000080"/>
          </a:xfrm>
          <a:prstGeom prst="ellipse">
            <a:avLst/>
          </a:prstGeom>
          <a:solidFill>
            <a:srgbClr val="10B981">
              <a:alpha val="30000"/>
            </a:srgbClr>
          </a:solidFill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4" name="Text 23"/>
          <p:cNvSpPr/>
          <p:nvPr/>
        </p:nvSpPr>
        <p:spPr>
          <a:xfrm>
            <a:off x="8424000" y="4812120"/>
            <a:ext cx="10000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✉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24"/>
          <p:cNvSpPr/>
          <p:nvPr/>
        </p:nvSpPr>
        <p:spPr>
          <a:xfrm>
            <a:off x="8424000" y="5243040"/>
            <a:ext cx="1000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Message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25"/>
          <p:cNvSpPr/>
          <p:nvPr/>
        </p:nvSpPr>
        <p:spPr>
          <a:xfrm>
            <a:off x="8424000" y="5553360"/>
            <a:ext cx="10000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envoie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26"/>
          <p:cNvSpPr/>
          <p:nvPr/>
        </p:nvSpPr>
        <p:spPr>
          <a:xfrm>
            <a:off x="7407360" y="4682160"/>
            <a:ext cx="720" cy="740880"/>
          </a:xfrm>
          <a:prstGeom prst="line">
            <a:avLst/>
          </a:prstGeom>
          <a:ln w="19050">
            <a:solidFill>
              <a:srgbClr val="F472B6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45000" rIns="3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8" name="Shape 27"/>
          <p:cNvSpPr/>
          <p:nvPr/>
        </p:nvSpPr>
        <p:spPr>
          <a:xfrm>
            <a:off x="6904440" y="5441400"/>
            <a:ext cx="1000080" cy="1000080"/>
          </a:xfrm>
          <a:prstGeom prst="ellipse">
            <a:avLst/>
          </a:prstGeom>
          <a:solidFill>
            <a:srgbClr val="F472B6">
              <a:alpha val="30000"/>
            </a:srgbClr>
          </a:solidFill>
          <a:ln w="25400">
            <a:solidFill>
              <a:srgbClr val="F47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9" name="Text 28"/>
          <p:cNvSpPr/>
          <p:nvPr/>
        </p:nvSpPr>
        <p:spPr>
          <a:xfrm>
            <a:off x="6904440" y="5441400"/>
            <a:ext cx="10000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❖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29"/>
          <p:cNvSpPr/>
          <p:nvPr/>
        </p:nvSpPr>
        <p:spPr>
          <a:xfrm>
            <a:off x="6904440" y="5872320"/>
            <a:ext cx="1000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30"/>
          <p:cNvSpPr/>
          <p:nvPr/>
        </p:nvSpPr>
        <p:spPr>
          <a:xfrm>
            <a:off x="6904440" y="6182640"/>
            <a:ext cx="10000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rejoint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31"/>
          <p:cNvSpPr/>
          <p:nvPr/>
        </p:nvSpPr>
        <p:spPr>
          <a:xfrm flipH="1">
            <a:off x="6256440" y="4422600"/>
            <a:ext cx="523440" cy="523440"/>
          </a:xfrm>
          <a:prstGeom prst="line">
            <a:avLst/>
          </a:prstGeom>
          <a:ln w="19050">
            <a:solidFill>
              <a:srgbClr val="EF4444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3" name="Shape 32"/>
          <p:cNvSpPr/>
          <p:nvPr/>
        </p:nvSpPr>
        <p:spPr>
          <a:xfrm>
            <a:off x="5384880" y="4812120"/>
            <a:ext cx="1000080" cy="1000080"/>
          </a:xfrm>
          <a:prstGeom prst="ellipse">
            <a:avLst/>
          </a:prstGeom>
          <a:solidFill>
            <a:srgbClr val="EF4444">
              <a:alpha val="30000"/>
            </a:srgbClr>
          </a:solidFill>
          <a:ln w="254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4" name="Text 33"/>
          <p:cNvSpPr/>
          <p:nvPr/>
        </p:nvSpPr>
        <p:spPr>
          <a:xfrm>
            <a:off x="5384880" y="4812120"/>
            <a:ext cx="10000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◷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34"/>
          <p:cNvSpPr/>
          <p:nvPr/>
        </p:nvSpPr>
        <p:spPr>
          <a:xfrm>
            <a:off x="5384880" y="5243040"/>
            <a:ext cx="1000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35"/>
          <p:cNvSpPr/>
          <p:nvPr/>
        </p:nvSpPr>
        <p:spPr>
          <a:xfrm>
            <a:off x="5384880" y="5553360"/>
            <a:ext cx="10000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organise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36"/>
          <p:cNvSpPr/>
          <p:nvPr/>
        </p:nvSpPr>
        <p:spPr>
          <a:xfrm flipH="1">
            <a:off x="5779440" y="3795480"/>
            <a:ext cx="740880" cy="720"/>
          </a:xfrm>
          <a:prstGeom prst="line">
            <a:avLst/>
          </a:prstGeom>
          <a:ln w="19050">
            <a:solidFill>
              <a:srgbClr val="06B6D4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8" name="Shape 37"/>
          <p:cNvSpPr/>
          <p:nvPr/>
        </p:nvSpPr>
        <p:spPr>
          <a:xfrm>
            <a:off x="4755600" y="3292560"/>
            <a:ext cx="1000080" cy="1000080"/>
          </a:xfrm>
          <a:prstGeom prst="ellipse">
            <a:avLst/>
          </a:prstGeom>
          <a:solidFill>
            <a:srgbClr val="06B6D4">
              <a:alpha val="30000"/>
            </a:srgbClr>
          </a:solidFill>
          <a:ln w="254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9" name="Text 38"/>
          <p:cNvSpPr/>
          <p:nvPr/>
        </p:nvSpPr>
        <p:spPr>
          <a:xfrm>
            <a:off x="4755600" y="3292560"/>
            <a:ext cx="10000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◉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39"/>
          <p:cNvSpPr/>
          <p:nvPr/>
        </p:nvSpPr>
        <p:spPr>
          <a:xfrm>
            <a:off x="4755600" y="3723480"/>
            <a:ext cx="1000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40"/>
          <p:cNvSpPr/>
          <p:nvPr/>
        </p:nvSpPr>
        <p:spPr>
          <a:xfrm>
            <a:off x="4755600" y="4033800"/>
            <a:ext cx="10000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publie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41"/>
          <p:cNvSpPr/>
          <p:nvPr/>
        </p:nvSpPr>
        <p:spPr>
          <a:xfrm flipH="1" flipV="1">
            <a:off x="6256440" y="2644560"/>
            <a:ext cx="523440" cy="523440"/>
          </a:xfrm>
          <a:prstGeom prst="line">
            <a:avLst/>
          </a:prstGeom>
          <a:ln w="19050">
            <a:solidFill>
              <a:srgbClr val="8B5CF6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3" name="Shape 42"/>
          <p:cNvSpPr/>
          <p:nvPr/>
        </p:nvSpPr>
        <p:spPr>
          <a:xfrm>
            <a:off x="5384880" y="1773000"/>
            <a:ext cx="1000080" cy="1000080"/>
          </a:xfrm>
          <a:prstGeom prst="ellipse">
            <a:avLst/>
          </a:prstGeom>
          <a:solidFill>
            <a:srgbClr val="8B5CF6">
              <a:alpha val="30000"/>
            </a:srgbClr>
          </a:solidFill>
          <a:ln w="254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4" name="Text 43"/>
          <p:cNvSpPr/>
          <p:nvPr/>
        </p:nvSpPr>
        <p:spPr>
          <a:xfrm>
            <a:off x="5384880" y="1773000"/>
            <a:ext cx="10000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44"/>
          <p:cNvSpPr/>
          <p:nvPr/>
        </p:nvSpPr>
        <p:spPr>
          <a:xfrm>
            <a:off x="5384880" y="2203920"/>
            <a:ext cx="1000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Notification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45"/>
          <p:cNvSpPr/>
          <p:nvPr/>
        </p:nvSpPr>
        <p:spPr>
          <a:xfrm>
            <a:off x="5384880" y="2514240"/>
            <a:ext cx="10000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reçoit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46"/>
          <p:cNvSpPr/>
          <p:nvPr/>
        </p:nvSpPr>
        <p:spPr>
          <a:xfrm>
            <a:off x="-914400" y="2549520"/>
            <a:ext cx="662436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Diagramme conceptuel simplifié</a:t>
            </a:r>
            <a:br>
              <a:rPr sz="1300"/>
            </a:br>
            <a:r>
              <a:rPr lang="en-US" sz="1300" b="1" i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toutes les entités du domaine gravitent autour de l'utilisateur,</a:t>
            </a:r>
            <a:br>
              <a:rPr sz="1300"/>
            </a:br>
            <a:r>
              <a:rPr lang="en-US" sz="1300" b="1" i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avec des cardinalités explicites côté Prisma.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8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9" name="Text 47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48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18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Design system Konekt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4" name="Text 3"/>
          <p:cNvSpPr/>
          <p:nvPr/>
        </p:nvSpPr>
        <p:spPr>
          <a:xfrm>
            <a:off x="548640" y="1691640"/>
            <a:ext cx="36518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Palette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4"/>
          <p:cNvSpPr/>
          <p:nvPr/>
        </p:nvSpPr>
        <p:spPr>
          <a:xfrm>
            <a:off x="548640" y="2011680"/>
            <a:ext cx="1640160" cy="1000080"/>
          </a:xfrm>
          <a:prstGeom prst="roundRect">
            <a:avLst>
              <a:gd name="adj" fmla="val 7273"/>
            </a:avLst>
          </a:prstGeom>
          <a:solidFill>
            <a:srgbClr val="EC4899"/>
          </a:solidFill>
          <a:ln w="6350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6" name="Text 5"/>
          <p:cNvSpPr/>
          <p:nvPr/>
        </p:nvSpPr>
        <p:spPr>
          <a:xfrm>
            <a:off x="640080" y="2468880"/>
            <a:ext cx="14572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Primary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6"/>
          <p:cNvSpPr/>
          <p:nvPr/>
        </p:nvSpPr>
        <p:spPr>
          <a:xfrm>
            <a:off x="640080" y="2697480"/>
            <a:ext cx="14572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ln>
                  <a:solidFill>
                    <a:srgbClr val="A1A1AA"/>
                  </a:solidFill>
                </a:ln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#EC4899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7"/>
          <p:cNvSpPr/>
          <p:nvPr/>
        </p:nvSpPr>
        <p:spPr>
          <a:xfrm>
            <a:off x="2377440" y="2011680"/>
            <a:ext cx="1640160" cy="1000080"/>
          </a:xfrm>
          <a:prstGeom prst="roundRect">
            <a:avLst>
              <a:gd name="adj" fmla="val 7273"/>
            </a:avLst>
          </a:prstGeom>
          <a:solidFill>
            <a:srgbClr val="1A1B23"/>
          </a:solidFill>
          <a:ln w="6350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9" name="Text 8"/>
          <p:cNvSpPr/>
          <p:nvPr/>
        </p:nvSpPr>
        <p:spPr>
          <a:xfrm>
            <a:off x="2468880" y="2468880"/>
            <a:ext cx="14572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Background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9"/>
          <p:cNvSpPr/>
          <p:nvPr/>
        </p:nvSpPr>
        <p:spPr>
          <a:xfrm>
            <a:off x="2468880" y="2697480"/>
            <a:ext cx="14572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#1A1B23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10"/>
          <p:cNvSpPr/>
          <p:nvPr/>
        </p:nvSpPr>
        <p:spPr>
          <a:xfrm>
            <a:off x="4206240" y="2011680"/>
            <a:ext cx="1640160" cy="1000080"/>
          </a:xfrm>
          <a:prstGeom prst="roundRect">
            <a:avLst>
              <a:gd name="adj" fmla="val 7273"/>
            </a:avLst>
          </a:prstGeom>
          <a:solidFill>
            <a:srgbClr val="272730"/>
          </a:solidFill>
          <a:ln w="6350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2" name="Text 11"/>
          <p:cNvSpPr/>
          <p:nvPr/>
        </p:nvSpPr>
        <p:spPr>
          <a:xfrm>
            <a:off x="4297680" y="2468880"/>
            <a:ext cx="14572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Surface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12"/>
          <p:cNvSpPr/>
          <p:nvPr/>
        </p:nvSpPr>
        <p:spPr>
          <a:xfrm>
            <a:off x="4297680" y="2697480"/>
            <a:ext cx="14572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#272730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13"/>
          <p:cNvSpPr/>
          <p:nvPr/>
        </p:nvSpPr>
        <p:spPr>
          <a:xfrm>
            <a:off x="548640" y="3291840"/>
            <a:ext cx="1640160" cy="10000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5" name="Text 14"/>
          <p:cNvSpPr/>
          <p:nvPr/>
        </p:nvSpPr>
        <p:spPr>
          <a:xfrm>
            <a:off x="640080" y="3749040"/>
            <a:ext cx="14572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B23"/>
                </a:solidFill>
                <a:effectLst/>
                <a:uFillTx/>
                <a:latin typeface="Calibri"/>
                <a:ea typeface="Calibri"/>
              </a:rPr>
              <a:t>Text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15"/>
          <p:cNvSpPr/>
          <p:nvPr/>
        </p:nvSpPr>
        <p:spPr>
          <a:xfrm>
            <a:off x="640080" y="3977640"/>
            <a:ext cx="14572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A1B23"/>
                </a:solidFill>
                <a:effectLst/>
                <a:uFillTx/>
                <a:latin typeface="Consolas"/>
                <a:ea typeface="Consolas"/>
              </a:rPr>
              <a:t>#FFFFFF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16"/>
          <p:cNvSpPr/>
          <p:nvPr/>
        </p:nvSpPr>
        <p:spPr>
          <a:xfrm>
            <a:off x="2377440" y="3291840"/>
            <a:ext cx="1640160" cy="1000080"/>
          </a:xfrm>
          <a:prstGeom prst="roundRect">
            <a:avLst>
              <a:gd name="adj" fmla="val 7273"/>
            </a:avLst>
          </a:prstGeom>
          <a:solidFill>
            <a:srgbClr val="10B981"/>
          </a:solidFill>
          <a:ln w="6350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8" name="Text 17"/>
          <p:cNvSpPr/>
          <p:nvPr/>
        </p:nvSpPr>
        <p:spPr>
          <a:xfrm>
            <a:off x="2468880" y="3749040"/>
            <a:ext cx="14572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Success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18"/>
          <p:cNvSpPr/>
          <p:nvPr/>
        </p:nvSpPr>
        <p:spPr>
          <a:xfrm>
            <a:off x="2468880" y="3977640"/>
            <a:ext cx="14572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ln>
                  <a:solidFill>
                    <a:srgbClr val="A1A1AA"/>
                  </a:solidFill>
                </a:ln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#10B981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19"/>
          <p:cNvSpPr/>
          <p:nvPr/>
        </p:nvSpPr>
        <p:spPr>
          <a:xfrm>
            <a:off x="4206240" y="3291840"/>
            <a:ext cx="1640160" cy="1000080"/>
          </a:xfrm>
          <a:prstGeom prst="roundRect">
            <a:avLst>
              <a:gd name="adj" fmla="val 7273"/>
            </a:avLst>
          </a:prstGeom>
          <a:solidFill>
            <a:srgbClr val="8B5CF6"/>
          </a:solidFill>
          <a:ln w="6350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1" name="Text 20"/>
          <p:cNvSpPr/>
          <p:nvPr/>
        </p:nvSpPr>
        <p:spPr>
          <a:xfrm>
            <a:off x="4297680" y="3749040"/>
            <a:ext cx="14572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21"/>
          <p:cNvSpPr/>
          <p:nvPr/>
        </p:nvSpPr>
        <p:spPr>
          <a:xfrm>
            <a:off x="4297680" y="3977640"/>
            <a:ext cx="14572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ln>
                  <a:solidFill>
                    <a:srgbClr val="A1A1AA"/>
                  </a:solidFill>
                </a:ln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#8B5CF6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22"/>
          <p:cNvSpPr/>
          <p:nvPr/>
        </p:nvSpPr>
        <p:spPr>
          <a:xfrm>
            <a:off x="6217920" y="1691640"/>
            <a:ext cx="54806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Typographie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23"/>
          <p:cNvSpPr/>
          <p:nvPr/>
        </p:nvSpPr>
        <p:spPr>
          <a:xfrm>
            <a:off x="6217920" y="2011680"/>
            <a:ext cx="5572080" cy="2646000"/>
          </a:xfrm>
          <a:prstGeom prst="roundRect">
            <a:avLst>
              <a:gd name="adj" fmla="val 2759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5" name="Text 24"/>
          <p:cNvSpPr/>
          <p:nvPr/>
        </p:nvSpPr>
        <p:spPr>
          <a:xfrm>
            <a:off x="6355080" y="2103120"/>
            <a:ext cx="145728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Aa</a:t>
            </a:r>
            <a:endParaRPr lang="en-U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25"/>
          <p:cNvSpPr/>
          <p:nvPr/>
        </p:nvSpPr>
        <p:spPr>
          <a:xfrm>
            <a:off x="7772400" y="2194560"/>
            <a:ext cx="36518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Geist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26"/>
          <p:cNvSpPr/>
          <p:nvPr/>
        </p:nvSpPr>
        <p:spPr>
          <a:xfrm>
            <a:off x="7772400" y="2606040"/>
            <a:ext cx="3651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Font family — Next.js next/font · variable, optimisée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27"/>
          <p:cNvSpPr/>
          <p:nvPr/>
        </p:nvSpPr>
        <p:spPr>
          <a:xfrm>
            <a:off x="6355080" y="3246120"/>
            <a:ext cx="18230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H1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28"/>
          <p:cNvSpPr/>
          <p:nvPr/>
        </p:nvSpPr>
        <p:spPr>
          <a:xfrm>
            <a:off x="8229600" y="324612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32 px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29"/>
          <p:cNvSpPr/>
          <p:nvPr/>
        </p:nvSpPr>
        <p:spPr>
          <a:xfrm>
            <a:off x="6355080" y="3566160"/>
            <a:ext cx="18230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H2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30"/>
          <p:cNvSpPr/>
          <p:nvPr/>
        </p:nvSpPr>
        <p:spPr>
          <a:xfrm>
            <a:off x="8229600" y="356616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24 px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31"/>
          <p:cNvSpPr/>
          <p:nvPr/>
        </p:nvSpPr>
        <p:spPr>
          <a:xfrm>
            <a:off x="6355080" y="3886200"/>
            <a:ext cx="18230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Body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32"/>
          <p:cNvSpPr/>
          <p:nvPr/>
        </p:nvSpPr>
        <p:spPr>
          <a:xfrm>
            <a:off x="8229600" y="388620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16 px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33"/>
          <p:cNvSpPr/>
          <p:nvPr/>
        </p:nvSpPr>
        <p:spPr>
          <a:xfrm>
            <a:off x="6355080" y="4206240"/>
            <a:ext cx="18230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Small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34"/>
          <p:cNvSpPr/>
          <p:nvPr/>
        </p:nvSpPr>
        <p:spPr>
          <a:xfrm>
            <a:off x="8229600" y="420624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12 px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35"/>
          <p:cNvSpPr/>
          <p:nvPr/>
        </p:nvSpPr>
        <p:spPr>
          <a:xfrm>
            <a:off x="548640" y="4800600"/>
            <a:ext cx="54806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Composants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36"/>
          <p:cNvSpPr/>
          <p:nvPr/>
        </p:nvSpPr>
        <p:spPr>
          <a:xfrm>
            <a:off x="548640" y="5166360"/>
            <a:ext cx="862920" cy="28692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8" name="Text 37"/>
          <p:cNvSpPr/>
          <p:nvPr/>
        </p:nvSpPr>
        <p:spPr>
          <a:xfrm>
            <a:off x="548640" y="5166360"/>
            <a:ext cx="86292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Button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38"/>
          <p:cNvSpPr/>
          <p:nvPr/>
        </p:nvSpPr>
        <p:spPr>
          <a:xfrm>
            <a:off x="1508760" y="5166360"/>
            <a:ext cx="862920" cy="28692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0" name="Text 39"/>
          <p:cNvSpPr/>
          <p:nvPr/>
        </p:nvSpPr>
        <p:spPr>
          <a:xfrm>
            <a:off x="1508760" y="5166360"/>
            <a:ext cx="86292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Avatar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40"/>
          <p:cNvSpPr/>
          <p:nvPr/>
        </p:nvSpPr>
        <p:spPr>
          <a:xfrm>
            <a:off x="2468880" y="5166360"/>
            <a:ext cx="862920" cy="28692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2" name="Text 41"/>
          <p:cNvSpPr/>
          <p:nvPr/>
        </p:nvSpPr>
        <p:spPr>
          <a:xfrm>
            <a:off x="2468880" y="5166360"/>
            <a:ext cx="86292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Card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42"/>
          <p:cNvSpPr/>
          <p:nvPr/>
        </p:nvSpPr>
        <p:spPr>
          <a:xfrm>
            <a:off x="3429000" y="5166360"/>
            <a:ext cx="862920" cy="28692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4" name="Text 43"/>
          <p:cNvSpPr/>
          <p:nvPr/>
        </p:nvSpPr>
        <p:spPr>
          <a:xfrm>
            <a:off x="3429000" y="5166360"/>
            <a:ext cx="86292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Badge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44"/>
          <p:cNvSpPr/>
          <p:nvPr/>
        </p:nvSpPr>
        <p:spPr>
          <a:xfrm>
            <a:off x="4389120" y="5166360"/>
            <a:ext cx="862920" cy="28692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6" name="Text 45"/>
          <p:cNvSpPr/>
          <p:nvPr/>
        </p:nvSpPr>
        <p:spPr>
          <a:xfrm>
            <a:off x="4389120" y="5166360"/>
            <a:ext cx="86292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Dialog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46"/>
          <p:cNvSpPr/>
          <p:nvPr/>
        </p:nvSpPr>
        <p:spPr>
          <a:xfrm>
            <a:off x="548640" y="5550480"/>
            <a:ext cx="862920" cy="28692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8" name="Text 47"/>
          <p:cNvSpPr/>
          <p:nvPr/>
        </p:nvSpPr>
        <p:spPr>
          <a:xfrm>
            <a:off x="548640" y="5550480"/>
            <a:ext cx="86292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Input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48"/>
          <p:cNvSpPr/>
          <p:nvPr/>
        </p:nvSpPr>
        <p:spPr>
          <a:xfrm>
            <a:off x="1508760" y="5550480"/>
            <a:ext cx="862920" cy="28692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0" name="Text 49"/>
          <p:cNvSpPr/>
          <p:nvPr/>
        </p:nvSpPr>
        <p:spPr>
          <a:xfrm>
            <a:off x="1508760" y="5550480"/>
            <a:ext cx="86292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Tabs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50"/>
          <p:cNvSpPr/>
          <p:nvPr/>
        </p:nvSpPr>
        <p:spPr>
          <a:xfrm>
            <a:off x="2468880" y="5550480"/>
            <a:ext cx="862920" cy="28692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2" name="Text 51"/>
          <p:cNvSpPr/>
          <p:nvPr/>
        </p:nvSpPr>
        <p:spPr>
          <a:xfrm>
            <a:off x="2468880" y="5550480"/>
            <a:ext cx="86292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Switch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52"/>
          <p:cNvSpPr/>
          <p:nvPr/>
        </p:nvSpPr>
        <p:spPr>
          <a:xfrm>
            <a:off x="3429000" y="5550480"/>
            <a:ext cx="862920" cy="28692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4" name="Text 53"/>
          <p:cNvSpPr/>
          <p:nvPr/>
        </p:nvSpPr>
        <p:spPr>
          <a:xfrm>
            <a:off x="3429000" y="5550480"/>
            <a:ext cx="86292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Notification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54"/>
          <p:cNvSpPr/>
          <p:nvPr/>
        </p:nvSpPr>
        <p:spPr>
          <a:xfrm>
            <a:off x="6217920" y="4800600"/>
            <a:ext cx="54806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Breakpoints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55"/>
          <p:cNvSpPr/>
          <p:nvPr/>
        </p:nvSpPr>
        <p:spPr>
          <a:xfrm>
            <a:off x="6217920" y="5120640"/>
            <a:ext cx="5572080" cy="1000080"/>
          </a:xfrm>
          <a:prstGeom prst="roundRect">
            <a:avLst>
              <a:gd name="adj" fmla="val 727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7" name="Text 56"/>
          <p:cNvSpPr/>
          <p:nvPr/>
        </p:nvSpPr>
        <p:spPr>
          <a:xfrm>
            <a:off x="6355080" y="5257800"/>
            <a:ext cx="1731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▢ Mobile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57"/>
          <p:cNvSpPr/>
          <p:nvPr/>
        </p:nvSpPr>
        <p:spPr>
          <a:xfrm>
            <a:off x="6355080" y="5577840"/>
            <a:ext cx="17316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&lt; 640px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58"/>
          <p:cNvSpPr/>
          <p:nvPr/>
        </p:nvSpPr>
        <p:spPr>
          <a:xfrm>
            <a:off x="8183880" y="5257800"/>
            <a:ext cx="1731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▣ Tablet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59"/>
          <p:cNvSpPr/>
          <p:nvPr/>
        </p:nvSpPr>
        <p:spPr>
          <a:xfrm>
            <a:off x="8183880" y="5577840"/>
            <a:ext cx="17316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640 – 1024px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60"/>
          <p:cNvSpPr/>
          <p:nvPr/>
        </p:nvSpPr>
        <p:spPr>
          <a:xfrm>
            <a:off x="10012680" y="5257800"/>
            <a:ext cx="1731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▤ Desktop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61"/>
          <p:cNvSpPr/>
          <p:nvPr/>
        </p:nvSpPr>
        <p:spPr>
          <a:xfrm>
            <a:off x="10012680" y="5577840"/>
            <a:ext cx="17316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&gt; 1024px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4" name="Text 62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63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19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AUTHENTIFICATION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Wireframe — Login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9" name="Shape 3"/>
          <p:cNvSpPr/>
          <p:nvPr/>
        </p:nvSpPr>
        <p:spPr>
          <a:xfrm>
            <a:off x="548640" y="1691640"/>
            <a:ext cx="5023440" cy="456624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80" name="Image 0" descr="/sessions/sweet-funny-newton/mnt/outputs/build/assets/Mockups_Login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0560" cy="269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1" name="Text 4"/>
          <p:cNvSpPr/>
          <p:nvPr/>
        </p:nvSpPr>
        <p:spPr>
          <a:xfrm>
            <a:off x="5852160" y="1691640"/>
            <a:ext cx="57549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Login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5"/>
          <p:cNvSpPr/>
          <p:nvPr/>
        </p:nvSpPr>
        <p:spPr>
          <a:xfrm>
            <a:off x="5852160" y="2194560"/>
            <a:ext cx="2280240" cy="31428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3" name="Text 6"/>
          <p:cNvSpPr/>
          <p:nvPr/>
        </p:nvSpPr>
        <p:spPr>
          <a:xfrm>
            <a:off x="5852160" y="2194560"/>
            <a:ext cx="2280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AUTHENTIFICATION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7"/>
          <p:cNvSpPr/>
          <p:nvPr/>
        </p:nvSpPr>
        <p:spPr>
          <a:xfrm>
            <a:off x="5852160" y="2651760"/>
            <a:ext cx="575496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Page d'entrée Konekt — design soigné, validation côté client par Zod, lien vers OAuth Google. Pas de fuite d'information sur l'existence d'un compte côté serveur.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8"/>
          <p:cNvSpPr/>
          <p:nvPr/>
        </p:nvSpPr>
        <p:spPr>
          <a:xfrm>
            <a:off x="5852160" y="4114800"/>
            <a:ext cx="57549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9"/>
          <p:cNvSpPr/>
          <p:nvPr/>
        </p:nvSpPr>
        <p:spPr>
          <a:xfrm>
            <a:off x="585216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7" name="Shape 10"/>
          <p:cNvSpPr/>
          <p:nvPr/>
        </p:nvSpPr>
        <p:spPr>
          <a:xfrm>
            <a:off x="585216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8" name="Text 11"/>
          <p:cNvSpPr/>
          <p:nvPr/>
        </p:nvSpPr>
        <p:spPr>
          <a:xfrm>
            <a:off x="601668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JWT signé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12"/>
          <p:cNvSpPr/>
          <p:nvPr/>
        </p:nvSpPr>
        <p:spPr>
          <a:xfrm>
            <a:off x="601668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jose + secret applicatif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13"/>
          <p:cNvSpPr/>
          <p:nvPr/>
        </p:nvSpPr>
        <p:spPr>
          <a:xfrm>
            <a:off x="877824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1" name="Shape 14"/>
          <p:cNvSpPr/>
          <p:nvPr/>
        </p:nvSpPr>
        <p:spPr>
          <a:xfrm>
            <a:off x="877824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2" name="Text 15"/>
          <p:cNvSpPr/>
          <p:nvPr/>
        </p:nvSpPr>
        <p:spPr>
          <a:xfrm>
            <a:off x="894276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Cookie HttpOnly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 16"/>
          <p:cNvSpPr/>
          <p:nvPr/>
        </p:nvSpPr>
        <p:spPr>
          <a:xfrm>
            <a:off x="894276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SameSite=Lax · pas d'accès JS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17"/>
          <p:cNvSpPr/>
          <p:nvPr/>
        </p:nvSpPr>
        <p:spPr>
          <a:xfrm>
            <a:off x="585216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5" name="Shape 18"/>
          <p:cNvSpPr/>
          <p:nvPr/>
        </p:nvSpPr>
        <p:spPr>
          <a:xfrm>
            <a:off x="585216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6" name="Text 19"/>
          <p:cNvSpPr/>
          <p:nvPr/>
        </p:nvSpPr>
        <p:spPr>
          <a:xfrm>
            <a:off x="601668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OAuth Google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20"/>
          <p:cNvSpPr/>
          <p:nvPr/>
        </p:nvSpPr>
        <p:spPr>
          <a:xfrm>
            <a:off x="601668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state cookie anti-CSRF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21"/>
          <p:cNvSpPr/>
          <p:nvPr/>
        </p:nvSpPr>
        <p:spPr>
          <a:xfrm>
            <a:off x="877824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9" name="Shape 22"/>
          <p:cNvSpPr/>
          <p:nvPr/>
        </p:nvSpPr>
        <p:spPr>
          <a:xfrm>
            <a:off x="877824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0" name="Text 23"/>
          <p:cNvSpPr/>
          <p:nvPr/>
        </p:nvSpPr>
        <p:spPr>
          <a:xfrm>
            <a:off x="894276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Validation Zod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24"/>
          <p:cNvSpPr/>
          <p:nvPr/>
        </p:nvSpPr>
        <p:spPr>
          <a:xfrm>
            <a:off x="894276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schéma partagé client / serveur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2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3" name="Text 2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2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20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AUTHENTIFICATION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Maquette — Login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8" name="Shape 3"/>
          <p:cNvSpPr/>
          <p:nvPr/>
        </p:nvSpPr>
        <p:spPr>
          <a:xfrm>
            <a:off x="548640" y="1691640"/>
            <a:ext cx="5023440" cy="456624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09" name="Image 0" descr="/sessions/sweet-funny-newton/mnt/outputs/build/assets/Mockups_Login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0560" cy="230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0" name="Text 4"/>
          <p:cNvSpPr/>
          <p:nvPr/>
        </p:nvSpPr>
        <p:spPr>
          <a:xfrm>
            <a:off x="5852160" y="1691640"/>
            <a:ext cx="57549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Login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5"/>
          <p:cNvSpPr/>
          <p:nvPr/>
        </p:nvSpPr>
        <p:spPr>
          <a:xfrm>
            <a:off x="5852160" y="2194560"/>
            <a:ext cx="2280240" cy="31428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2" name="Text 6"/>
          <p:cNvSpPr/>
          <p:nvPr/>
        </p:nvSpPr>
        <p:spPr>
          <a:xfrm>
            <a:off x="5852160" y="2194560"/>
            <a:ext cx="2280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AUTHENTIFICATION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7"/>
          <p:cNvSpPr/>
          <p:nvPr/>
        </p:nvSpPr>
        <p:spPr>
          <a:xfrm>
            <a:off x="5852160" y="2651760"/>
            <a:ext cx="575496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Page d'entrée Konekt — design soigné, validation côté client par Zod, lien vers OAuth Google. Pas de fuite d'information sur l'existence d'un compte côté serveur.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8"/>
          <p:cNvSpPr/>
          <p:nvPr/>
        </p:nvSpPr>
        <p:spPr>
          <a:xfrm>
            <a:off x="5852160" y="4114800"/>
            <a:ext cx="57549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9"/>
          <p:cNvSpPr/>
          <p:nvPr/>
        </p:nvSpPr>
        <p:spPr>
          <a:xfrm>
            <a:off x="585216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6" name="Shape 10"/>
          <p:cNvSpPr/>
          <p:nvPr/>
        </p:nvSpPr>
        <p:spPr>
          <a:xfrm>
            <a:off x="585216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7" name="Text 11"/>
          <p:cNvSpPr/>
          <p:nvPr/>
        </p:nvSpPr>
        <p:spPr>
          <a:xfrm>
            <a:off x="601668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JWT signé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12"/>
          <p:cNvSpPr/>
          <p:nvPr/>
        </p:nvSpPr>
        <p:spPr>
          <a:xfrm>
            <a:off x="601668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jose + secret applicatif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13"/>
          <p:cNvSpPr/>
          <p:nvPr/>
        </p:nvSpPr>
        <p:spPr>
          <a:xfrm>
            <a:off x="877824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0" name="Shape 14"/>
          <p:cNvSpPr/>
          <p:nvPr/>
        </p:nvSpPr>
        <p:spPr>
          <a:xfrm>
            <a:off x="877824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1" name="Text 15"/>
          <p:cNvSpPr/>
          <p:nvPr/>
        </p:nvSpPr>
        <p:spPr>
          <a:xfrm>
            <a:off x="894276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Cookie HttpOnly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16"/>
          <p:cNvSpPr/>
          <p:nvPr/>
        </p:nvSpPr>
        <p:spPr>
          <a:xfrm>
            <a:off x="894276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SameSite=Lax · pas d'accès JS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17"/>
          <p:cNvSpPr/>
          <p:nvPr/>
        </p:nvSpPr>
        <p:spPr>
          <a:xfrm>
            <a:off x="585216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4" name="Shape 18"/>
          <p:cNvSpPr/>
          <p:nvPr/>
        </p:nvSpPr>
        <p:spPr>
          <a:xfrm>
            <a:off x="585216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5" name="Text 19"/>
          <p:cNvSpPr/>
          <p:nvPr/>
        </p:nvSpPr>
        <p:spPr>
          <a:xfrm>
            <a:off x="601668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OAuth Google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20"/>
          <p:cNvSpPr/>
          <p:nvPr/>
        </p:nvSpPr>
        <p:spPr>
          <a:xfrm>
            <a:off x="601668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state cookie anti-CSRF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Shape 21"/>
          <p:cNvSpPr/>
          <p:nvPr/>
        </p:nvSpPr>
        <p:spPr>
          <a:xfrm>
            <a:off x="877824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8" name="Shape 22"/>
          <p:cNvSpPr/>
          <p:nvPr/>
        </p:nvSpPr>
        <p:spPr>
          <a:xfrm>
            <a:off x="877824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9" name="Text 23"/>
          <p:cNvSpPr/>
          <p:nvPr/>
        </p:nvSpPr>
        <p:spPr>
          <a:xfrm>
            <a:off x="894276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Validation Zod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24"/>
          <p:cNvSpPr/>
          <p:nvPr/>
        </p:nvSpPr>
        <p:spPr>
          <a:xfrm>
            <a:off x="894276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schéma partagé client / serveur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1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2" name="Text 2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2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21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VUE PRINCIPALE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Wireframe — Home Feed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6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7" name="Shape 3"/>
          <p:cNvSpPr/>
          <p:nvPr/>
        </p:nvSpPr>
        <p:spPr>
          <a:xfrm>
            <a:off x="548640" y="1691640"/>
            <a:ext cx="5023440" cy="456624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8" name="Image 0" descr="/sessions/sweet-funny-newton/mnt/outputs/build/assets/Mockups_Home_Feed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0560" cy="269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9" name="Text 4"/>
          <p:cNvSpPr/>
          <p:nvPr/>
        </p:nvSpPr>
        <p:spPr>
          <a:xfrm>
            <a:off x="5852160" y="1691640"/>
            <a:ext cx="57549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Home Feed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5"/>
          <p:cNvSpPr/>
          <p:nvPr/>
        </p:nvSpPr>
        <p:spPr>
          <a:xfrm>
            <a:off x="5852160" y="2194560"/>
            <a:ext cx="2280240" cy="31428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1" name="Text 6"/>
          <p:cNvSpPr/>
          <p:nvPr/>
        </p:nvSpPr>
        <p:spPr>
          <a:xfrm>
            <a:off x="5852160" y="2194560"/>
            <a:ext cx="2280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VUE PRINCIPALE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7"/>
          <p:cNvSpPr/>
          <p:nvPr/>
        </p:nvSpPr>
        <p:spPr>
          <a:xfrm>
            <a:off x="5852160" y="2651760"/>
            <a:ext cx="575496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Le feed est le cœur de Konekt : posts amis, stories en haut, suggestions de profils, infinite scroll, image full-width. Tout est servi par /api/private/post avec pagination offset (skip/take).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8"/>
          <p:cNvSpPr/>
          <p:nvPr/>
        </p:nvSpPr>
        <p:spPr>
          <a:xfrm>
            <a:off x="5852160" y="4114800"/>
            <a:ext cx="57549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9"/>
          <p:cNvSpPr/>
          <p:nvPr/>
        </p:nvSpPr>
        <p:spPr>
          <a:xfrm>
            <a:off x="585216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5" name="Shape 10"/>
          <p:cNvSpPr/>
          <p:nvPr/>
        </p:nvSpPr>
        <p:spPr>
          <a:xfrm>
            <a:off x="585216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6" name="Text 11"/>
          <p:cNvSpPr/>
          <p:nvPr/>
        </p:nvSpPr>
        <p:spPr>
          <a:xfrm>
            <a:off x="601668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Infinite scroll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 12"/>
          <p:cNvSpPr/>
          <p:nvPr/>
        </p:nvSpPr>
        <p:spPr>
          <a:xfrm>
            <a:off x="601668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Pagination offset (skip/take)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Shape 13"/>
          <p:cNvSpPr/>
          <p:nvPr/>
        </p:nvSpPr>
        <p:spPr>
          <a:xfrm>
            <a:off x="877824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9" name="Shape 14"/>
          <p:cNvSpPr/>
          <p:nvPr/>
        </p:nvSpPr>
        <p:spPr>
          <a:xfrm>
            <a:off x="877824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0" name="Text 15"/>
          <p:cNvSpPr/>
          <p:nvPr/>
        </p:nvSpPr>
        <p:spPr>
          <a:xfrm>
            <a:off x="894276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Stories ephemeral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 16"/>
          <p:cNvSpPr/>
          <p:nvPr/>
        </p:nvSpPr>
        <p:spPr>
          <a:xfrm>
            <a:off x="894276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24h, polling SSE pour le statut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Shape 17"/>
          <p:cNvSpPr/>
          <p:nvPr/>
        </p:nvSpPr>
        <p:spPr>
          <a:xfrm>
            <a:off x="585216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3" name="Shape 18"/>
          <p:cNvSpPr/>
          <p:nvPr/>
        </p:nvSpPr>
        <p:spPr>
          <a:xfrm>
            <a:off x="585216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4" name="Text 19"/>
          <p:cNvSpPr/>
          <p:nvPr/>
        </p:nvSpPr>
        <p:spPr>
          <a:xfrm>
            <a:off x="601668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Reactions inline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20"/>
          <p:cNvSpPr/>
          <p:nvPr/>
        </p:nvSpPr>
        <p:spPr>
          <a:xfrm>
            <a:off x="601668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Optimistic UI · doublon impossible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21"/>
          <p:cNvSpPr/>
          <p:nvPr/>
        </p:nvSpPr>
        <p:spPr>
          <a:xfrm>
            <a:off x="877824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7" name="Shape 22"/>
          <p:cNvSpPr/>
          <p:nvPr/>
        </p:nvSpPr>
        <p:spPr>
          <a:xfrm>
            <a:off x="877824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8" name="Text 23"/>
          <p:cNvSpPr/>
          <p:nvPr/>
        </p:nvSpPr>
        <p:spPr>
          <a:xfrm>
            <a:off x="894276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Image optimisée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24"/>
          <p:cNvSpPr/>
          <p:nvPr/>
        </p:nvSpPr>
        <p:spPr>
          <a:xfrm>
            <a:off x="894276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Next/Image + Cloudinary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0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1" name="Text 2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2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22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VUE PRINCIPALE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Maquette — Home Feed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6" name="Shape 3"/>
          <p:cNvSpPr/>
          <p:nvPr/>
        </p:nvSpPr>
        <p:spPr>
          <a:xfrm>
            <a:off x="548640" y="1691640"/>
            <a:ext cx="5023440" cy="456624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67" name="Image 0" descr="/sessions/sweet-funny-newton/mnt/outputs/build/assets/Mockups_Home_Feed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0560" cy="230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8" name="Text 4"/>
          <p:cNvSpPr/>
          <p:nvPr/>
        </p:nvSpPr>
        <p:spPr>
          <a:xfrm>
            <a:off x="5852160" y="1691640"/>
            <a:ext cx="57549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Home Feed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Shape 5"/>
          <p:cNvSpPr/>
          <p:nvPr/>
        </p:nvSpPr>
        <p:spPr>
          <a:xfrm>
            <a:off x="5852160" y="2194560"/>
            <a:ext cx="2280240" cy="31428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0" name="Text 6"/>
          <p:cNvSpPr/>
          <p:nvPr/>
        </p:nvSpPr>
        <p:spPr>
          <a:xfrm>
            <a:off x="5852160" y="2194560"/>
            <a:ext cx="2280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VUE PRINCIPALE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 7"/>
          <p:cNvSpPr/>
          <p:nvPr/>
        </p:nvSpPr>
        <p:spPr>
          <a:xfrm>
            <a:off x="5852160" y="2651760"/>
            <a:ext cx="575496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Le feed est le cœur de Konekt : posts amis, stories en haut, suggestions de profils, infinite scroll, image full-width. Tout est servi par /api/private/post avec pagination offset (skip/take).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 8"/>
          <p:cNvSpPr/>
          <p:nvPr/>
        </p:nvSpPr>
        <p:spPr>
          <a:xfrm>
            <a:off x="5852160" y="4114800"/>
            <a:ext cx="57549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Shape 9"/>
          <p:cNvSpPr/>
          <p:nvPr/>
        </p:nvSpPr>
        <p:spPr>
          <a:xfrm>
            <a:off x="585216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4" name="Shape 10"/>
          <p:cNvSpPr/>
          <p:nvPr/>
        </p:nvSpPr>
        <p:spPr>
          <a:xfrm>
            <a:off x="585216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5" name="Text 11"/>
          <p:cNvSpPr/>
          <p:nvPr/>
        </p:nvSpPr>
        <p:spPr>
          <a:xfrm>
            <a:off x="601668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Infinite scroll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 12"/>
          <p:cNvSpPr/>
          <p:nvPr/>
        </p:nvSpPr>
        <p:spPr>
          <a:xfrm>
            <a:off x="601668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Pagination offset (skip/take)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7" name="Shape 13"/>
          <p:cNvSpPr/>
          <p:nvPr/>
        </p:nvSpPr>
        <p:spPr>
          <a:xfrm>
            <a:off x="877824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8" name="Shape 14"/>
          <p:cNvSpPr/>
          <p:nvPr/>
        </p:nvSpPr>
        <p:spPr>
          <a:xfrm>
            <a:off x="877824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9" name="Text 15"/>
          <p:cNvSpPr/>
          <p:nvPr/>
        </p:nvSpPr>
        <p:spPr>
          <a:xfrm>
            <a:off x="894276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Stories ephemeral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16"/>
          <p:cNvSpPr/>
          <p:nvPr/>
        </p:nvSpPr>
        <p:spPr>
          <a:xfrm>
            <a:off x="894276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24h, polling SSE pour le statut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1" name="Shape 17"/>
          <p:cNvSpPr/>
          <p:nvPr/>
        </p:nvSpPr>
        <p:spPr>
          <a:xfrm>
            <a:off x="585216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2" name="Shape 18"/>
          <p:cNvSpPr/>
          <p:nvPr/>
        </p:nvSpPr>
        <p:spPr>
          <a:xfrm>
            <a:off x="585216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3" name="Text 19"/>
          <p:cNvSpPr/>
          <p:nvPr/>
        </p:nvSpPr>
        <p:spPr>
          <a:xfrm>
            <a:off x="601668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Reactions inline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Text 20"/>
          <p:cNvSpPr/>
          <p:nvPr/>
        </p:nvSpPr>
        <p:spPr>
          <a:xfrm>
            <a:off x="601668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Optimistic UI · doublon impossible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21"/>
          <p:cNvSpPr/>
          <p:nvPr/>
        </p:nvSpPr>
        <p:spPr>
          <a:xfrm>
            <a:off x="877824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6" name="Shape 22"/>
          <p:cNvSpPr/>
          <p:nvPr/>
        </p:nvSpPr>
        <p:spPr>
          <a:xfrm>
            <a:off x="877824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7" name="Text 23"/>
          <p:cNvSpPr/>
          <p:nvPr/>
        </p:nvSpPr>
        <p:spPr>
          <a:xfrm>
            <a:off x="894276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Image optimisée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24"/>
          <p:cNvSpPr/>
          <p:nvPr/>
        </p:nvSpPr>
        <p:spPr>
          <a:xfrm>
            <a:off x="894276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Next/Image + Cloudinary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9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0" name="Text 2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2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23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IDENTITÉ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Wireframe — Profil utilisateur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4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5" name="Shape 3"/>
          <p:cNvSpPr/>
          <p:nvPr/>
        </p:nvSpPr>
        <p:spPr>
          <a:xfrm>
            <a:off x="548640" y="1691640"/>
            <a:ext cx="5023440" cy="456624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96" name="Image 0" descr="/sessions/sweet-funny-newton/mnt/outputs/build/assets/Mockups_User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0560" cy="269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7" name="Text 4"/>
          <p:cNvSpPr/>
          <p:nvPr/>
        </p:nvSpPr>
        <p:spPr>
          <a:xfrm>
            <a:off x="5852160" y="1691640"/>
            <a:ext cx="57549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Profil utilisateur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8" name="Shape 5"/>
          <p:cNvSpPr/>
          <p:nvPr/>
        </p:nvSpPr>
        <p:spPr>
          <a:xfrm>
            <a:off x="5852160" y="2194560"/>
            <a:ext cx="2280240" cy="31428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9" name="Text 6"/>
          <p:cNvSpPr/>
          <p:nvPr/>
        </p:nvSpPr>
        <p:spPr>
          <a:xfrm>
            <a:off x="5852160" y="2194560"/>
            <a:ext cx="2280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IDENTITÉ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7"/>
          <p:cNvSpPr/>
          <p:nvPr/>
        </p:nvSpPr>
        <p:spPr>
          <a:xfrm>
            <a:off x="5852160" y="2651760"/>
            <a:ext cx="575496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Profil public ou privé selon ProfileVisibility. Compteurs followers / following / posts, gradient personnalisable, tabs Posts / Photos / Vidéos, action Suivre / Modifier.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1" name="Text 8"/>
          <p:cNvSpPr/>
          <p:nvPr/>
        </p:nvSpPr>
        <p:spPr>
          <a:xfrm>
            <a:off x="5852160" y="4114800"/>
            <a:ext cx="57549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2" name="Shape 9"/>
          <p:cNvSpPr/>
          <p:nvPr/>
        </p:nvSpPr>
        <p:spPr>
          <a:xfrm>
            <a:off x="585216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3" name="Shape 10"/>
          <p:cNvSpPr/>
          <p:nvPr/>
        </p:nvSpPr>
        <p:spPr>
          <a:xfrm>
            <a:off x="585216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4" name="Text 11"/>
          <p:cNvSpPr/>
          <p:nvPr/>
        </p:nvSpPr>
        <p:spPr>
          <a:xfrm>
            <a:off x="601668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Visibilité PUBLIC/PRIVATE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 12"/>
          <p:cNvSpPr/>
          <p:nvPr/>
        </p:nvSpPr>
        <p:spPr>
          <a:xfrm>
            <a:off x="601668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Enum Prisma respecté côté 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6" name="Shape 13"/>
          <p:cNvSpPr/>
          <p:nvPr/>
        </p:nvSpPr>
        <p:spPr>
          <a:xfrm>
            <a:off x="877824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7" name="Shape 14"/>
          <p:cNvSpPr/>
          <p:nvPr/>
        </p:nvSpPr>
        <p:spPr>
          <a:xfrm>
            <a:off x="877824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8" name="Text 15"/>
          <p:cNvSpPr/>
          <p:nvPr/>
        </p:nvSpPr>
        <p:spPr>
          <a:xfrm>
            <a:off x="894276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Followers / Following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16"/>
          <p:cNvSpPr/>
          <p:nvPr/>
        </p:nvSpPr>
        <p:spPr>
          <a:xfrm>
            <a:off x="894276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Modèle Friendship 2-way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0" name="Shape 17"/>
          <p:cNvSpPr/>
          <p:nvPr/>
        </p:nvSpPr>
        <p:spPr>
          <a:xfrm>
            <a:off x="585216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1" name="Shape 18"/>
          <p:cNvSpPr/>
          <p:nvPr/>
        </p:nvSpPr>
        <p:spPr>
          <a:xfrm>
            <a:off x="585216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2" name="Text 19"/>
          <p:cNvSpPr/>
          <p:nvPr/>
        </p:nvSpPr>
        <p:spPr>
          <a:xfrm>
            <a:off x="601668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Tabs dynamiques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3" name="Text 20"/>
          <p:cNvSpPr/>
          <p:nvPr/>
        </p:nvSpPr>
        <p:spPr>
          <a:xfrm>
            <a:off x="601668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Posts / Photos / Vidéos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4" name="Shape 21"/>
          <p:cNvSpPr/>
          <p:nvPr/>
        </p:nvSpPr>
        <p:spPr>
          <a:xfrm>
            <a:off x="877824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5" name="Shape 22"/>
          <p:cNvSpPr/>
          <p:nvPr/>
        </p:nvSpPr>
        <p:spPr>
          <a:xfrm>
            <a:off x="877824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6" name="Text 23"/>
          <p:cNvSpPr/>
          <p:nvPr/>
        </p:nvSpPr>
        <p:spPr>
          <a:xfrm>
            <a:off x="894276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Edit profile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 24"/>
          <p:cNvSpPr/>
          <p:nvPr/>
        </p:nvSpPr>
        <p:spPr>
          <a:xfrm>
            <a:off x="894276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Server Action + Cloudinary upload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8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9" name="Text 2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2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24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IDENTITÉ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Maquette — Profil utilisateur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4" name="Shape 3"/>
          <p:cNvSpPr/>
          <p:nvPr/>
        </p:nvSpPr>
        <p:spPr>
          <a:xfrm>
            <a:off x="548640" y="1691640"/>
            <a:ext cx="5023440" cy="456624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5" name="Image 0" descr="/sessions/sweet-funny-newton/mnt/outputs/build/assets/Mockups_User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0560" cy="230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6" name="Text 4"/>
          <p:cNvSpPr/>
          <p:nvPr/>
        </p:nvSpPr>
        <p:spPr>
          <a:xfrm>
            <a:off x="5852160" y="1691640"/>
            <a:ext cx="57549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Profil utilisateur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5"/>
          <p:cNvSpPr/>
          <p:nvPr/>
        </p:nvSpPr>
        <p:spPr>
          <a:xfrm>
            <a:off x="5852160" y="2194560"/>
            <a:ext cx="2280240" cy="31428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8" name="Text 6"/>
          <p:cNvSpPr/>
          <p:nvPr/>
        </p:nvSpPr>
        <p:spPr>
          <a:xfrm>
            <a:off x="5852160" y="2194560"/>
            <a:ext cx="2280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IDENTITÉ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7"/>
          <p:cNvSpPr/>
          <p:nvPr/>
        </p:nvSpPr>
        <p:spPr>
          <a:xfrm>
            <a:off x="5852160" y="2651760"/>
            <a:ext cx="575496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Profil public ou privé selon ProfileVisibility. Compteurs followers / following / posts, gradient personnalisable, tabs Posts / Photos / Vidéos, action Suivre / Modifier.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 8"/>
          <p:cNvSpPr/>
          <p:nvPr/>
        </p:nvSpPr>
        <p:spPr>
          <a:xfrm>
            <a:off x="5852160" y="4114800"/>
            <a:ext cx="57549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1" name="Shape 9"/>
          <p:cNvSpPr/>
          <p:nvPr/>
        </p:nvSpPr>
        <p:spPr>
          <a:xfrm>
            <a:off x="585216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2" name="Shape 10"/>
          <p:cNvSpPr/>
          <p:nvPr/>
        </p:nvSpPr>
        <p:spPr>
          <a:xfrm>
            <a:off x="585216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3" name="Text 11"/>
          <p:cNvSpPr/>
          <p:nvPr/>
        </p:nvSpPr>
        <p:spPr>
          <a:xfrm>
            <a:off x="601668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Visibilité PUBLIC/PRIVATE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12"/>
          <p:cNvSpPr/>
          <p:nvPr/>
        </p:nvSpPr>
        <p:spPr>
          <a:xfrm>
            <a:off x="601668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Enum Prisma respecté côté 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5" name="Shape 13"/>
          <p:cNvSpPr/>
          <p:nvPr/>
        </p:nvSpPr>
        <p:spPr>
          <a:xfrm>
            <a:off x="877824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6" name="Shape 14"/>
          <p:cNvSpPr/>
          <p:nvPr/>
        </p:nvSpPr>
        <p:spPr>
          <a:xfrm>
            <a:off x="877824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7" name="Text 15"/>
          <p:cNvSpPr/>
          <p:nvPr/>
        </p:nvSpPr>
        <p:spPr>
          <a:xfrm>
            <a:off x="894276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Followers / Following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16"/>
          <p:cNvSpPr/>
          <p:nvPr/>
        </p:nvSpPr>
        <p:spPr>
          <a:xfrm>
            <a:off x="894276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Modèle Friendship 2-way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9" name="Shape 17"/>
          <p:cNvSpPr/>
          <p:nvPr/>
        </p:nvSpPr>
        <p:spPr>
          <a:xfrm>
            <a:off x="585216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0" name="Shape 18"/>
          <p:cNvSpPr/>
          <p:nvPr/>
        </p:nvSpPr>
        <p:spPr>
          <a:xfrm>
            <a:off x="585216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1" name="Text 19"/>
          <p:cNvSpPr/>
          <p:nvPr/>
        </p:nvSpPr>
        <p:spPr>
          <a:xfrm>
            <a:off x="601668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Tabs dynamiques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 20"/>
          <p:cNvSpPr/>
          <p:nvPr/>
        </p:nvSpPr>
        <p:spPr>
          <a:xfrm>
            <a:off x="601668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Posts / Photos / Vidéos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Shape 21"/>
          <p:cNvSpPr/>
          <p:nvPr/>
        </p:nvSpPr>
        <p:spPr>
          <a:xfrm>
            <a:off x="877824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4" name="Shape 22"/>
          <p:cNvSpPr/>
          <p:nvPr/>
        </p:nvSpPr>
        <p:spPr>
          <a:xfrm>
            <a:off x="877824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5" name="Text 23"/>
          <p:cNvSpPr/>
          <p:nvPr/>
        </p:nvSpPr>
        <p:spPr>
          <a:xfrm>
            <a:off x="894276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Edit profile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24"/>
          <p:cNvSpPr/>
          <p:nvPr/>
        </p:nvSpPr>
        <p:spPr>
          <a:xfrm>
            <a:off x="894276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Server Action + Cloudinary upload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7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8" name="Text 2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Text 2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25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PUBLICATION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Wireframe — Création de post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3" name="Shape 3"/>
          <p:cNvSpPr/>
          <p:nvPr/>
        </p:nvSpPr>
        <p:spPr>
          <a:xfrm>
            <a:off x="548640" y="1691640"/>
            <a:ext cx="5023440" cy="456624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54" name="Image 0" descr="/sessions/sweet-funny-newton/mnt/outputs/build/assets/Mockups_Create_Post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0560" cy="269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5" name="Text 4"/>
          <p:cNvSpPr/>
          <p:nvPr/>
        </p:nvSpPr>
        <p:spPr>
          <a:xfrm>
            <a:off x="5852160" y="1691640"/>
            <a:ext cx="57549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Création de post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5"/>
          <p:cNvSpPr/>
          <p:nvPr/>
        </p:nvSpPr>
        <p:spPr>
          <a:xfrm>
            <a:off x="5852160" y="2194560"/>
            <a:ext cx="2280240" cy="31428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7" name="Text 6"/>
          <p:cNvSpPr/>
          <p:nvPr/>
        </p:nvSpPr>
        <p:spPr>
          <a:xfrm>
            <a:off x="5852160" y="2194560"/>
            <a:ext cx="2280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PUBLICATION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7"/>
          <p:cNvSpPr/>
          <p:nvPr/>
        </p:nvSpPr>
        <p:spPr>
          <a:xfrm>
            <a:off x="5852160" y="2651760"/>
            <a:ext cx="575496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Composer riche avec preview, upload Cloudinary, choix de visibilité (PUBLIC / FRIENDS / PRIVATE), validation Zod côté serveur, persistance Prisma puis broadcast SSE.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9" name="Text 8"/>
          <p:cNvSpPr/>
          <p:nvPr/>
        </p:nvSpPr>
        <p:spPr>
          <a:xfrm>
            <a:off x="5852160" y="4114800"/>
            <a:ext cx="57549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9"/>
          <p:cNvSpPr/>
          <p:nvPr/>
        </p:nvSpPr>
        <p:spPr>
          <a:xfrm>
            <a:off x="585216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1" name="Shape 10"/>
          <p:cNvSpPr/>
          <p:nvPr/>
        </p:nvSpPr>
        <p:spPr>
          <a:xfrm>
            <a:off x="585216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2" name="Text 11"/>
          <p:cNvSpPr/>
          <p:nvPr/>
        </p:nvSpPr>
        <p:spPr>
          <a:xfrm>
            <a:off x="601668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Upload Cloudinary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3" name="Text 12"/>
          <p:cNvSpPr/>
          <p:nvPr/>
        </p:nvSpPr>
        <p:spPr>
          <a:xfrm>
            <a:off x="601668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Direct upload signé côté serveur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4" name="Shape 13"/>
          <p:cNvSpPr/>
          <p:nvPr/>
        </p:nvSpPr>
        <p:spPr>
          <a:xfrm>
            <a:off x="877824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5" name="Shape 14"/>
          <p:cNvSpPr/>
          <p:nvPr/>
        </p:nvSpPr>
        <p:spPr>
          <a:xfrm>
            <a:off x="877824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6" name="Text 15"/>
          <p:cNvSpPr/>
          <p:nvPr/>
        </p:nvSpPr>
        <p:spPr>
          <a:xfrm>
            <a:off x="894276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Visibilité granulaire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Text 16"/>
          <p:cNvSpPr/>
          <p:nvPr/>
        </p:nvSpPr>
        <p:spPr>
          <a:xfrm>
            <a:off x="894276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3 niveaux + check au fetch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8" name="Shape 17"/>
          <p:cNvSpPr/>
          <p:nvPr/>
        </p:nvSpPr>
        <p:spPr>
          <a:xfrm>
            <a:off x="585216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9" name="Shape 18"/>
          <p:cNvSpPr/>
          <p:nvPr/>
        </p:nvSpPr>
        <p:spPr>
          <a:xfrm>
            <a:off x="585216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0" name="Text 19"/>
          <p:cNvSpPr/>
          <p:nvPr/>
        </p:nvSpPr>
        <p:spPr>
          <a:xfrm>
            <a:off x="601668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Validation Zod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1" name="Text 20"/>
          <p:cNvSpPr/>
          <p:nvPr/>
        </p:nvSpPr>
        <p:spPr>
          <a:xfrm>
            <a:off x="601668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Limite taille, type MIME, longueur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2" name="Shape 21"/>
          <p:cNvSpPr/>
          <p:nvPr/>
        </p:nvSpPr>
        <p:spPr>
          <a:xfrm>
            <a:off x="877824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3" name="Shape 22"/>
          <p:cNvSpPr/>
          <p:nvPr/>
        </p:nvSpPr>
        <p:spPr>
          <a:xfrm>
            <a:off x="877824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4" name="Text 23"/>
          <p:cNvSpPr/>
          <p:nvPr/>
        </p:nvSpPr>
        <p:spPr>
          <a:xfrm>
            <a:off x="894276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Server Action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5" name="Text 24"/>
          <p:cNvSpPr/>
          <p:nvPr/>
        </p:nvSpPr>
        <p:spPr>
          <a:xfrm>
            <a:off x="894276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Mutation type-safe Next.js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6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7" name="Text 2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8" name="Text 2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26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PUBLICATION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Maquette — Création de post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2" name="Shape 3"/>
          <p:cNvSpPr/>
          <p:nvPr/>
        </p:nvSpPr>
        <p:spPr>
          <a:xfrm>
            <a:off x="548640" y="1691640"/>
            <a:ext cx="5023440" cy="456624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83" name="Image 0" descr="/sessions/sweet-funny-newton/mnt/outputs/build/assets/Mockups_Create_Post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0560" cy="230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4" name="Text 4"/>
          <p:cNvSpPr/>
          <p:nvPr/>
        </p:nvSpPr>
        <p:spPr>
          <a:xfrm>
            <a:off x="5852160" y="1691640"/>
            <a:ext cx="57549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Création de post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5" name="Shape 5"/>
          <p:cNvSpPr/>
          <p:nvPr/>
        </p:nvSpPr>
        <p:spPr>
          <a:xfrm>
            <a:off x="5852160" y="2194560"/>
            <a:ext cx="2280240" cy="31428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6" name="Text 6"/>
          <p:cNvSpPr/>
          <p:nvPr/>
        </p:nvSpPr>
        <p:spPr>
          <a:xfrm>
            <a:off x="5852160" y="2194560"/>
            <a:ext cx="2280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PUBLICATION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7" name="Text 7"/>
          <p:cNvSpPr/>
          <p:nvPr/>
        </p:nvSpPr>
        <p:spPr>
          <a:xfrm>
            <a:off x="5852160" y="2651760"/>
            <a:ext cx="575496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Composer riche avec preview, upload Cloudinary, choix de visibilité (PUBLIC / FRIENDS / PRIVATE), validation Zod côté serveur, persistance Prisma puis broadcast SSE.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8" name="Text 8"/>
          <p:cNvSpPr/>
          <p:nvPr/>
        </p:nvSpPr>
        <p:spPr>
          <a:xfrm>
            <a:off x="5852160" y="4114800"/>
            <a:ext cx="57549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9" name="Shape 9"/>
          <p:cNvSpPr/>
          <p:nvPr/>
        </p:nvSpPr>
        <p:spPr>
          <a:xfrm>
            <a:off x="585216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0" name="Shape 10"/>
          <p:cNvSpPr/>
          <p:nvPr/>
        </p:nvSpPr>
        <p:spPr>
          <a:xfrm>
            <a:off x="585216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1" name="Text 11"/>
          <p:cNvSpPr/>
          <p:nvPr/>
        </p:nvSpPr>
        <p:spPr>
          <a:xfrm>
            <a:off x="601668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Upload Cloudinary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Text 12"/>
          <p:cNvSpPr/>
          <p:nvPr/>
        </p:nvSpPr>
        <p:spPr>
          <a:xfrm>
            <a:off x="601668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Direct upload signé côté serveur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3" name="Shape 13"/>
          <p:cNvSpPr/>
          <p:nvPr/>
        </p:nvSpPr>
        <p:spPr>
          <a:xfrm>
            <a:off x="877824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4" name="Shape 14"/>
          <p:cNvSpPr/>
          <p:nvPr/>
        </p:nvSpPr>
        <p:spPr>
          <a:xfrm>
            <a:off x="877824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5" name="Text 15"/>
          <p:cNvSpPr/>
          <p:nvPr/>
        </p:nvSpPr>
        <p:spPr>
          <a:xfrm>
            <a:off x="894276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Visibilité granulaire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6" name="Text 16"/>
          <p:cNvSpPr/>
          <p:nvPr/>
        </p:nvSpPr>
        <p:spPr>
          <a:xfrm>
            <a:off x="894276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3 niveaux + check au fetch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7" name="Shape 17"/>
          <p:cNvSpPr/>
          <p:nvPr/>
        </p:nvSpPr>
        <p:spPr>
          <a:xfrm>
            <a:off x="585216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8" name="Shape 18"/>
          <p:cNvSpPr/>
          <p:nvPr/>
        </p:nvSpPr>
        <p:spPr>
          <a:xfrm>
            <a:off x="585216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9" name="Text 19"/>
          <p:cNvSpPr/>
          <p:nvPr/>
        </p:nvSpPr>
        <p:spPr>
          <a:xfrm>
            <a:off x="601668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Validation Zod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0" name="Text 20"/>
          <p:cNvSpPr/>
          <p:nvPr/>
        </p:nvSpPr>
        <p:spPr>
          <a:xfrm>
            <a:off x="601668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Limite taille, type MIME, longueur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21"/>
          <p:cNvSpPr/>
          <p:nvPr/>
        </p:nvSpPr>
        <p:spPr>
          <a:xfrm>
            <a:off x="877824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2" name="Shape 22"/>
          <p:cNvSpPr/>
          <p:nvPr/>
        </p:nvSpPr>
        <p:spPr>
          <a:xfrm>
            <a:off x="877824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3" name="Text 23"/>
          <p:cNvSpPr/>
          <p:nvPr/>
        </p:nvSpPr>
        <p:spPr>
          <a:xfrm>
            <a:off x="894276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Server Action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4" name="Text 24"/>
          <p:cNvSpPr/>
          <p:nvPr/>
        </p:nvSpPr>
        <p:spPr>
          <a:xfrm>
            <a:off x="894276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Mutation type-safe Next.js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5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6" name="Text 2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7" name="Text 2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27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CONTENU ÉPHÉMÈRE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Wireframe — Story Viewer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0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1" name="Shape 3"/>
          <p:cNvSpPr/>
          <p:nvPr/>
        </p:nvSpPr>
        <p:spPr>
          <a:xfrm>
            <a:off x="548640" y="1691640"/>
            <a:ext cx="5023440" cy="456624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12" name="Image 0" descr="/sessions/sweet-funny-newton/mnt/outputs/build/assets/Mockups_Story_Viewer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0560" cy="269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3" name="Text 4"/>
          <p:cNvSpPr/>
          <p:nvPr/>
        </p:nvSpPr>
        <p:spPr>
          <a:xfrm>
            <a:off x="5852160" y="1691640"/>
            <a:ext cx="57549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Story Viewer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5"/>
          <p:cNvSpPr/>
          <p:nvPr/>
        </p:nvSpPr>
        <p:spPr>
          <a:xfrm>
            <a:off x="5852160" y="2194560"/>
            <a:ext cx="2280240" cy="31428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5" name="Text 6"/>
          <p:cNvSpPr/>
          <p:nvPr/>
        </p:nvSpPr>
        <p:spPr>
          <a:xfrm>
            <a:off x="5852160" y="2194560"/>
            <a:ext cx="2280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CONTENU ÉPHÉMÈRE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7"/>
          <p:cNvSpPr/>
          <p:nvPr/>
        </p:nvSpPr>
        <p:spPr>
          <a:xfrm>
            <a:off x="5852160" y="2651760"/>
            <a:ext cx="575496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Lecteur plein écran des stories des amis, progression segmentée, swipe navigation, expiration automatique à 24h. Statistique de vues persistée pour l'auteur.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8"/>
          <p:cNvSpPr/>
          <p:nvPr/>
        </p:nvSpPr>
        <p:spPr>
          <a:xfrm>
            <a:off x="5852160" y="4114800"/>
            <a:ext cx="57549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8" name="Shape 9"/>
          <p:cNvSpPr/>
          <p:nvPr/>
        </p:nvSpPr>
        <p:spPr>
          <a:xfrm>
            <a:off x="585216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9" name="Shape 10"/>
          <p:cNvSpPr/>
          <p:nvPr/>
        </p:nvSpPr>
        <p:spPr>
          <a:xfrm>
            <a:off x="585216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0" name="Text 11"/>
          <p:cNvSpPr/>
          <p:nvPr/>
        </p:nvSpPr>
        <p:spPr>
          <a:xfrm>
            <a:off x="601668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Stories 24h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 12"/>
          <p:cNvSpPr/>
          <p:nvPr/>
        </p:nvSpPr>
        <p:spPr>
          <a:xfrm>
            <a:off x="601668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Job cron · cleanup expirés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2" name="Shape 13"/>
          <p:cNvSpPr/>
          <p:nvPr/>
        </p:nvSpPr>
        <p:spPr>
          <a:xfrm>
            <a:off x="877824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3" name="Shape 14"/>
          <p:cNvSpPr/>
          <p:nvPr/>
        </p:nvSpPr>
        <p:spPr>
          <a:xfrm>
            <a:off x="877824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4" name="Text 15"/>
          <p:cNvSpPr/>
          <p:nvPr/>
        </p:nvSpPr>
        <p:spPr>
          <a:xfrm>
            <a:off x="894276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Progress segmentée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 16"/>
          <p:cNvSpPr/>
          <p:nvPr/>
        </p:nvSpPr>
        <p:spPr>
          <a:xfrm>
            <a:off x="894276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Multi-stories par utilisateur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6" name="Shape 17"/>
          <p:cNvSpPr/>
          <p:nvPr/>
        </p:nvSpPr>
        <p:spPr>
          <a:xfrm>
            <a:off x="585216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7" name="Shape 18"/>
          <p:cNvSpPr/>
          <p:nvPr/>
        </p:nvSpPr>
        <p:spPr>
          <a:xfrm>
            <a:off x="585216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8" name="Text 19"/>
          <p:cNvSpPr/>
          <p:nvPr/>
        </p:nvSpPr>
        <p:spPr>
          <a:xfrm>
            <a:off x="601668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Vues uniques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 20"/>
          <p:cNvSpPr/>
          <p:nvPr/>
        </p:nvSpPr>
        <p:spPr>
          <a:xfrm>
            <a:off x="601668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Compteur stocké en relation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0" name="Shape 21"/>
          <p:cNvSpPr/>
          <p:nvPr/>
        </p:nvSpPr>
        <p:spPr>
          <a:xfrm>
            <a:off x="877824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1" name="Shape 22"/>
          <p:cNvSpPr/>
          <p:nvPr/>
        </p:nvSpPr>
        <p:spPr>
          <a:xfrm>
            <a:off x="877824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2" name="Text 23"/>
          <p:cNvSpPr/>
          <p:nvPr/>
        </p:nvSpPr>
        <p:spPr>
          <a:xfrm>
            <a:off x="894276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Reactions emoji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 24"/>
          <p:cNvSpPr/>
          <p:nvPr/>
        </p:nvSpPr>
        <p:spPr>
          <a:xfrm>
            <a:off x="894276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Quick reply au créateur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4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5" name="Text 2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6" name="Text 2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28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CONTENU ÉPHÉMÈRE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8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Maquette — Story Viewer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9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0" name="Shape 3"/>
          <p:cNvSpPr/>
          <p:nvPr/>
        </p:nvSpPr>
        <p:spPr>
          <a:xfrm>
            <a:off x="548640" y="1691640"/>
            <a:ext cx="5023440" cy="456624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41" name="Image 0" descr="/sessions/sweet-funny-newton/mnt/outputs/build/assets/Mockups_Story_Viewer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0560" cy="230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2" name="Text 4"/>
          <p:cNvSpPr/>
          <p:nvPr/>
        </p:nvSpPr>
        <p:spPr>
          <a:xfrm>
            <a:off x="5852160" y="1691640"/>
            <a:ext cx="57549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Story Viewer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Shape 5"/>
          <p:cNvSpPr/>
          <p:nvPr/>
        </p:nvSpPr>
        <p:spPr>
          <a:xfrm>
            <a:off x="5852160" y="2194560"/>
            <a:ext cx="2280240" cy="31428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4" name="Text 6"/>
          <p:cNvSpPr/>
          <p:nvPr/>
        </p:nvSpPr>
        <p:spPr>
          <a:xfrm>
            <a:off x="5852160" y="2194560"/>
            <a:ext cx="2280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CONTENU ÉPHÉMÈRE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7"/>
          <p:cNvSpPr/>
          <p:nvPr/>
        </p:nvSpPr>
        <p:spPr>
          <a:xfrm>
            <a:off x="5852160" y="2651760"/>
            <a:ext cx="575496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Lecteur plein écran des stories des amis, progression segmentée, swipe navigation, expiration automatique à 24h. Statistique de vues persistée pour l'auteur.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6" name="Text 8"/>
          <p:cNvSpPr/>
          <p:nvPr/>
        </p:nvSpPr>
        <p:spPr>
          <a:xfrm>
            <a:off x="5852160" y="4114800"/>
            <a:ext cx="57549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7" name="Shape 9"/>
          <p:cNvSpPr/>
          <p:nvPr/>
        </p:nvSpPr>
        <p:spPr>
          <a:xfrm>
            <a:off x="585216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8" name="Shape 10"/>
          <p:cNvSpPr/>
          <p:nvPr/>
        </p:nvSpPr>
        <p:spPr>
          <a:xfrm>
            <a:off x="585216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9" name="Text 11"/>
          <p:cNvSpPr/>
          <p:nvPr/>
        </p:nvSpPr>
        <p:spPr>
          <a:xfrm>
            <a:off x="601668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Stories 24h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0" name="Text 12"/>
          <p:cNvSpPr/>
          <p:nvPr/>
        </p:nvSpPr>
        <p:spPr>
          <a:xfrm>
            <a:off x="601668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Job cron · cleanup expirés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1" name="Shape 13"/>
          <p:cNvSpPr/>
          <p:nvPr/>
        </p:nvSpPr>
        <p:spPr>
          <a:xfrm>
            <a:off x="877824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2" name="Shape 14"/>
          <p:cNvSpPr/>
          <p:nvPr/>
        </p:nvSpPr>
        <p:spPr>
          <a:xfrm>
            <a:off x="877824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3" name="Text 15"/>
          <p:cNvSpPr/>
          <p:nvPr/>
        </p:nvSpPr>
        <p:spPr>
          <a:xfrm>
            <a:off x="894276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Progress segmentée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4" name="Text 16"/>
          <p:cNvSpPr/>
          <p:nvPr/>
        </p:nvSpPr>
        <p:spPr>
          <a:xfrm>
            <a:off x="894276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Multi-stories par utilisateur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5" name="Shape 17"/>
          <p:cNvSpPr/>
          <p:nvPr/>
        </p:nvSpPr>
        <p:spPr>
          <a:xfrm>
            <a:off x="585216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6" name="Shape 18"/>
          <p:cNvSpPr/>
          <p:nvPr/>
        </p:nvSpPr>
        <p:spPr>
          <a:xfrm>
            <a:off x="585216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7" name="Text 19"/>
          <p:cNvSpPr/>
          <p:nvPr/>
        </p:nvSpPr>
        <p:spPr>
          <a:xfrm>
            <a:off x="601668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Vues uniques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20"/>
          <p:cNvSpPr/>
          <p:nvPr/>
        </p:nvSpPr>
        <p:spPr>
          <a:xfrm>
            <a:off x="601668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Compteur stocké en relation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9" name="Shape 21"/>
          <p:cNvSpPr/>
          <p:nvPr/>
        </p:nvSpPr>
        <p:spPr>
          <a:xfrm>
            <a:off x="877824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0" name="Shape 22"/>
          <p:cNvSpPr/>
          <p:nvPr/>
        </p:nvSpPr>
        <p:spPr>
          <a:xfrm>
            <a:off x="877824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1" name="Text 23"/>
          <p:cNvSpPr/>
          <p:nvPr/>
        </p:nvSpPr>
        <p:spPr>
          <a:xfrm>
            <a:off x="894276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Reactions emoji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2" name="Text 24"/>
          <p:cNvSpPr/>
          <p:nvPr/>
        </p:nvSpPr>
        <p:spPr>
          <a:xfrm>
            <a:off x="894276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Quick reply au créateur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3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4" name="Text 2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 2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29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PERSONNALISATION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7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Wireframe — Paramètres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8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9" name="Shape 3"/>
          <p:cNvSpPr/>
          <p:nvPr/>
        </p:nvSpPr>
        <p:spPr>
          <a:xfrm>
            <a:off x="548640" y="1691640"/>
            <a:ext cx="5023440" cy="456624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70" name="Image 0" descr="/sessions/sweet-funny-newton/mnt/outputs/build/assets/Mockups_Settings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0560" cy="269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1" name="Text 4"/>
          <p:cNvSpPr/>
          <p:nvPr/>
        </p:nvSpPr>
        <p:spPr>
          <a:xfrm>
            <a:off x="5852160" y="1691640"/>
            <a:ext cx="57549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Paramètres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2" name="Shape 5"/>
          <p:cNvSpPr/>
          <p:nvPr/>
        </p:nvSpPr>
        <p:spPr>
          <a:xfrm>
            <a:off x="5852160" y="2194560"/>
            <a:ext cx="2280240" cy="31428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3" name="Text 6"/>
          <p:cNvSpPr/>
          <p:nvPr/>
        </p:nvSpPr>
        <p:spPr>
          <a:xfrm>
            <a:off x="5852160" y="2194560"/>
            <a:ext cx="2280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PERSONNALISATION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4" name="Text 7"/>
          <p:cNvSpPr/>
          <p:nvPr/>
        </p:nvSpPr>
        <p:spPr>
          <a:xfrm>
            <a:off x="5852160" y="2651760"/>
            <a:ext cx="575496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Page settings centralisée — profil, sécurité (mot de passe, sessions), notifications, langue (FR/EN), thème, confidentialité. Préférences stockées dans UserSettings (1-to-1 User).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5" name="Text 8"/>
          <p:cNvSpPr/>
          <p:nvPr/>
        </p:nvSpPr>
        <p:spPr>
          <a:xfrm>
            <a:off x="5852160" y="4114800"/>
            <a:ext cx="57549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6" name="Shape 9"/>
          <p:cNvSpPr/>
          <p:nvPr/>
        </p:nvSpPr>
        <p:spPr>
          <a:xfrm>
            <a:off x="585216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7" name="Shape 10"/>
          <p:cNvSpPr/>
          <p:nvPr/>
        </p:nvSpPr>
        <p:spPr>
          <a:xfrm>
            <a:off x="585216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8" name="Text 11"/>
          <p:cNvSpPr/>
          <p:nvPr/>
        </p:nvSpPr>
        <p:spPr>
          <a:xfrm>
            <a:off x="601668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UserSettings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9" name="Text 12"/>
          <p:cNvSpPr/>
          <p:nvPr/>
        </p:nvSpPr>
        <p:spPr>
          <a:xfrm>
            <a:off x="601668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Modèle Prisma 1-to-1 dédié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0" name="Shape 13"/>
          <p:cNvSpPr/>
          <p:nvPr/>
        </p:nvSpPr>
        <p:spPr>
          <a:xfrm>
            <a:off x="877824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1" name="Shape 14"/>
          <p:cNvSpPr/>
          <p:nvPr/>
        </p:nvSpPr>
        <p:spPr>
          <a:xfrm>
            <a:off x="877824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2" name="Text 15"/>
          <p:cNvSpPr/>
          <p:nvPr/>
        </p:nvSpPr>
        <p:spPr>
          <a:xfrm>
            <a:off x="894276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Theme toggle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3" name="Text 16"/>
          <p:cNvSpPr/>
          <p:nvPr/>
        </p:nvSpPr>
        <p:spPr>
          <a:xfrm>
            <a:off x="894276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Stocké côté serveur · cohérent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4" name="Shape 17"/>
          <p:cNvSpPr/>
          <p:nvPr/>
        </p:nvSpPr>
        <p:spPr>
          <a:xfrm>
            <a:off x="585216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5" name="Shape 18"/>
          <p:cNvSpPr/>
          <p:nvPr/>
        </p:nvSpPr>
        <p:spPr>
          <a:xfrm>
            <a:off x="585216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6" name="Text 19"/>
          <p:cNvSpPr/>
          <p:nvPr/>
        </p:nvSpPr>
        <p:spPr>
          <a:xfrm>
            <a:off x="601668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i18n EN / FR (roadmap)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7" name="Text 20"/>
          <p:cNvSpPr/>
          <p:nvPr/>
        </p:nvSpPr>
        <p:spPr>
          <a:xfrm>
            <a:off x="601668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non implémenté — prévu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8" name="Shape 21"/>
          <p:cNvSpPr/>
          <p:nvPr/>
        </p:nvSpPr>
        <p:spPr>
          <a:xfrm>
            <a:off x="877824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9" name="Shape 22"/>
          <p:cNvSpPr/>
          <p:nvPr/>
        </p:nvSpPr>
        <p:spPr>
          <a:xfrm>
            <a:off x="877824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0" name="Text 23"/>
          <p:cNvSpPr/>
          <p:nvPr/>
        </p:nvSpPr>
        <p:spPr>
          <a:xfrm>
            <a:off x="894276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Privacy controls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1" name="Text 24"/>
          <p:cNvSpPr/>
          <p:nvPr/>
        </p:nvSpPr>
        <p:spPr>
          <a:xfrm>
            <a:off x="894276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ProfileVisibility, notification opt-in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92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3" name="Text 2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4" name="Text 2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30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PERSONNALISATION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6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Maquette — Paramètres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7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8" name="Shape 3"/>
          <p:cNvSpPr/>
          <p:nvPr/>
        </p:nvSpPr>
        <p:spPr>
          <a:xfrm>
            <a:off x="548640" y="1691640"/>
            <a:ext cx="5023440" cy="456624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99" name="Image 0" descr="/sessions/sweet-funny-newton/mnt/outputs/build/assets/Mockups_Settings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0560" cy="230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0" name="Text 4"/>
          <p:cNvSpPr/>
          <p:nvPr/>
        </p:nvSpPr>
        <p:spPr>
          <a:xfrm>
            <a:off x="5852160" y="1691640"/>
            <a:ext cx="57549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Paramètres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1" name="Shape 5"/>
          <p:cNvSpPr/>
          <p:nvPr/>
        </p:nvSpPr>
        <p:spPr>
          <a:xfrm>
            <a:off x="5852160" y="2194560"/>
            <a:ext cx="2280240" cy="31428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2" name="Text 6"/>
          <p:cNvSpPr/>
          <p:nvPr/>
        </p:nvSpPr>
        <p:spPr>
          <a:xfrm>
            <a:off x="5852160" y="2194560"/>
            <a:ext cx="22802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PERSONNALISATION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3" name="Text 7"/>
          <p:cNvSpPr/>
          <p:nvPr/>
        </p:nvSpPr>
        <p:spPr>
          <a:xfrm>
            <a:off x="5852160" y="2651760"/>
            <a:ext cx="575496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Page settings centralisée — profil, sécurité (mot de passe, sessions), notifications, langue (FR/EN), thème, confidentialité. Préférences stockées dans UserSettings (1-to-1 User).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4" name="Text 8"/>
          <p:cNvSpPr/>
          <p:nvPr/>
        </p:nvSpPr>
        <p:spPr>
          <a:xfrm>
            <a:off x="5852160" y="4114800"/>
            <a:ext cx="57549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5" name="Shape 9"/>
          <p:cNvSpPr/>
          <p:nvPr/>
        </p:nvSpPr>
        <p:spPr>
          <a:xfrm>
            <a:off x="585216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6" name="Shape 10"/>
          <p:cNvSpPr/>
          <p:nvPr/>
        </p:nvSpPr>
        <p:spPr>
          <a:xfrm>
            <a:off x="585216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7" name="Text 11"/>
          <p:cNvSpPr/>
          <p:nvPr/>
        </p:nvSpPr>
        <p:spPr>
          <a:xfrm>
            <a:off x="601668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UserSettings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8" name="Text 12"/>
          <p:cNvSpPr/>
          <p:nvPr/>
        </p:nvSpPr>
        <p:spPr>
          <a:xfrm>
            <a:off x="601668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Modèle Prisma 1-to-1 dédié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9" name="Shape 13"/>
          <p:cNvSpPr/>
          <p:nvPr/>
        </p:nvSpPr>
        <p:spPr>
          <a:xfrm>
            <a:off x="8778240" y="443484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0" name="Shape 14"/>
          <p:cNvSpPr/>
          <p:nvPr/>
        </p:nvSpPr>
        <p:spPr>
          <a:xfrm>
            <a:off x="8778240" y="443484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1" name="Text 15"/>
          <p:cNvSpPr/>
          <p:nvPr/>
        </p:nvSpPr>
        <p:spPr>
          <a:xfrm>
            <a:off x="8942760" y="452628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Theme toggle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2" name="Text 16"/>
          <p:cNvSpPr/>
          <p:nvPr/>
        </p:nvSpPr>
        <p:spPr>
          <a:xfrm>
            <a:off x="8942760" y="481896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Stocké côté serveur · cohérent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3" name="Shape 17"/>
          <p:cNvSpPr/>
          <p:nvPr/>
        </p:nvSpPr>
        <p:spPr>
          <a:xfrm>
            <a:off x="585216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4" name="Shape 18"/>
          <p:cNvSpPr/>
          <p:nvPr/>
        </p:nvSpPr>
        <p:spPr>
          <a:xfrm>
            <a:off x="585216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5" name="Text 19"/>
          <p:cNvSpPr/>
          <p:nvPr/>
        </p:nvSpPr>
        <p:spPr>
          <a:xfrm>
            <a:off x="601668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i18n EN / FR (roadmap)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6" name="Text 20"/>
          <p:cNvSpPr/>
          <p:nvPr/>
        </p:nvSpPr>
        <p:spPr>
          <a:xfrm>
            <a:off x="601668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non implémenté — prévu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7" name="Shape 21"/>
          <p:cNvSpPr/>
          <p:nvPr/>
        </p:nvSpPr>
        <p:spPr>
          <a:xfrm>
            <a:off x="8778240" y="5394960"/>
            <a:ext cx="2737440" cy="86292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8" name="Shape 22"/>
          <p:cNvSpPr/>
          <p:nvPr/>
        </p:nvSpPr>
        <p:spPr>
          <a:xfrm>
            <a:off x="8778240" y="5394960"/>
            <a:ext cx="48960" cy="8629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480" tIns="45000" rIns="244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9" name="Text 23"/>
          <p:cNvSpPr/>
          <p:nvPr/>
        </p:nvSpPr>
        <p:spPr>
          <a:xfrm>
            <a:off x="8942760" y="5486400"/>
            <a:ext cx="2463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Privacy controls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0" name="Text 24"/>
          <p:cNvSpPr/>
          <p:nvPr/>
        </p:nvSpPr>
        <p:spPr>
          <a:xfrm>
            <a:off x="8942760" y="5779080"/>
            <a:ext cx="24631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ProfileVisibility, notification opt-in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21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2" name="Text 2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3" name="Text 2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31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5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Pages implémentées · 14 routes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6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7" name="Shape 3"/>
          <p:cNvSpPr/>
          <p:nvPr/>
        </p:nvSpPr>
        <p:spPr>
          <a:xfrm>
            <a:off x="548640" y="1691640"/>
            <a:ext cx="5480640" cy="32328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8" name="Shape 4"/>
          <p:cNvSpPr/>
          <p:nvPr/>
        </p:nvSpPr>
        <p:spPr>
          <a:xfrm>
            <a:off x="685800" y="178308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9" name="Text 5"/>
          <p:cNvSpPr/>
          <p:nvPr/>
        </p:nvSpPr>
        <p:spPr>
          <a:xfrm>
            <a:off x="914400" y="1691640"/>
            <a:ext cx="17316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0" name="Text 6"/>
          <p:cNvSpPr/>
          <p:nvPr/>
        </p:nvSpPr>
        <p:spPr>
          <a:xfrm>
            <a:off x="2651760" y="1691640"/>
            <a:ext cx="127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1" name="Text 7"/>
          <p:cNvSpPr/>
          <p:nvPr/>
        </p:nvSpPr>
        <p:spPr>
          <a:xfrm>
            <a:off x="3931920" y="1691640"/>
            <a:ext cx="20973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Affichage des posts du réseau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2" name="Shape 8"/>
          <p:cNvSpPr/>
          <p:nvPr/>
        </p:nvSpPr>
        <p:spPr>
          <a:xfrm>
            <a:off x="6217920" y="1691640"/>
            <a:ext cx="5480640" cy="32328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3" name="Shape 9"/>
          <p:cNvSpPr/>
          <p:nvPr/>
        </p:nvSpPr>
        <p:spPr>
          <a:xfrm>
            <a:off x="6355080" y="178308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4" name="Text 10"/>
          <p:cNvSpPr/>
          <p:nvPr/>
        </p:nvSpPr>
        <p:spPr>
          <a:xfrm>
            <a:off x="6583680" y="1691640"/>
            <a:ext cx="17316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/login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5" name="Text 11"/>
          <p:cNvSpPr/>
          <p:nvPr/>
        </p:nvSpPr>
        <p:spPr>
          <a:xfrm>
            <a:off x="8321040" y="1691640"/>
            <a:ext cx="127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Login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6" name="Text 12"/>
          <p:cNvSpPr/>
          <p:nvPr/>
        </p:nvSpPr>
        <p:spPr>
          <a:xfrm>
            <a:off x="9601200" y="1691640"/>
            <a:ext cx="20973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Authentification email + OAuth Google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7" name="Shape 13"/>
          <p:cNvSpPr/>
          <p:nvPr/>
        </p:nvSpPr>
        <p:spPr>
          <a:xfrm>
            <a:off x="548640" y="2057400"/>
            <a:ext cx="5480640" cy="323280"/>
          </a:xfrm>
          <a:prstGeom prst="rect">
            <a:avLst/>
          </a:prstGeom>
          <a:solidFill>
            <a:srgbClr val="1F20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8" name="Shape 14"/>
          <p:cNvSpPr/>
          <p:nvPr/>
        </p:nvSpPr>
        <p:spPr>
          <a:xfrm>
            <a:off x="685800" y="214884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9" name="Text 15"/>
          <p:cNvSpPr/>
          <p:nvPr/>
        </p:nvSpPr>
        <p:spPr>
          <a:xfrm>
            <a:off x="914400" y="2057400"/>
            <a:ext cx="17316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/register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0" name="Text 16"/>
          <p:cNvSpPr/>
          <p:nvPr/>
        </p:nvSpPr>
        <p:spPr>
          <a:xfrm>
            <a:off x="2651760" y="2057400"/>
            <a:ext cx="127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Register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1" name="Text 17"/>
          <p:cNvSpPr/>
          <p:nvPr/>
        </p:nvSpPr>
        <p:spPr>
          <a:xfrm>
            <a:off x="3931920" y="2057400"/>
            <a:ext cx="20973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Inscription avec vérification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2" name="Shape 18"/>
          <p:cNvSpPr/>
          <p:nvPr/>
        </p:nvSpPr>
        <p:spPr>
          <a:xfrm>
            <a:off x="6217920" y="2057400"/>
            <a:ext cx="5480640" cy="323280"/>
          </a:xfrm>
          <a:prstGeom prst="rect">
            <a:avLst/>
          </a:prstGeom>
          <a:solidFill>
            <a:srgbClr val="1F20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3" name="Shape 19"/>
          <p:cNvSpPr/>
          <p:nvPr/>
        </p:nvSpPr>
        <p:spPr>
          <a:xfrm>
            <a:off x="6355080" y="214884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4" name="Text 20"/>
          <p:cNvSpPr/>
          <p:nvPr/>
        </p:nvSpPr>
        <p:spPr>
          <a:xfrm>
            <a:off x="6583680" y="2057400"/>
            <a:ext cx="17316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/onboarding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5" name="Text 21"/>
          <p:cNvSpPr/>
          <p:nvPr/>
        </p:nvSpPr>
        <p:spPr>
          <a:xfrm>
            <a:off x="8321040" y="2057400"/>
            <a:ext cx="127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Onboarding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6" name="Text 22"/>
          <p:cNvSpPr/>
          <p:nvPr/>
        </p:nvSpPr>
        <p:spPr>
          <a:xfrm>
            <a:off x="9601200" y="2057400"/>
            <a:ext cx="20973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Complétion du profil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7" name="Shape 23"/>
          <p:cNvSpPr/>
          <p:nvPr/>
        </p:nvSpPr>
        <p:spPr>
          <a:xfrm>
            <a:off x="548640" y="2423160"/>
            <a:ext cx="5480640" cy="32328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8" name="Shape 24"/>
          <p:cNvSpPr/>
          <p:nvPr/>
        </p:nvSpPr>
        <p:spPr>
          <a:xfrm>
            <a:off x="685800" y="251460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9" name="Text 25"/>
          <p:cNvSpPr/>
          <p:nvPr/>
        </p:nvSpPr>
        <p:spPr>
          <a:xfrm>
            <a:off x="914400" y="2423160"/>
            <a:ext cx="17316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/profile/[id]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0" name="Text 26"/>
          <p:cNvSpPr/>
          <p:nvPr/>
        </p:nvSpPr>
        <p:spPr>
          <a:xfrm>
            <a:off x="2651760" y="2423160"/>
            <a:ext cx="127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1" name="Text 27"/>
          <p:cNvSpPr/>
          <p:nvPr/>
        </p:nvSpPr>
        <p:spPr>
          <a:xfrm>
            <a:off x="3931920" y="2423160"/>
            <a:ext cx="20973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Profil public/privé, posts, abonnés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2" name="Shape 28"/>
          <p:cNvSpPr/>
          <p:nvPr/>
        </p:nvSpPr>
        <p:spPr>
          <a:xfrm>
            <a:off x="6217920" y="2423160"/>
            <a:ext cx="5480640" cy="32328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3" name="Shape 29"/>
          <p:cNvSpPr/>
          <p:nvPr/>
        </p:nvSpPr>
        <p:spPr>
          <a:xfrm>
            <a:off x="6355080" y="251460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4" name="Text 30"/>
          <p:cNvSpPr/>
          <p:nvPr/>
        </p:nvSpPr>
        <p:spPr>
          <a:xfrm>
            <a:off x="6583680" y="2423160"/>
            <a:ext cx="17316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/chat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5" name="Text 31"/>
          <p:cNvSpPr/>
          <p:nvPr/>
        </p:nvSpPr>
        <p:spPr>
          <a:xfrm>
            <a:off x="8321040" y="2423160"/>
            <a:ext cx="127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Conversations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6" name="Text 32"/>
          <p:cNvSpPr/>
          <p:nvPr/>
        </p:nvSpPr>
        <p:spPr>
          <a:xfrm>
            <a:off x="9601200" y="2423160"/>
            <a:ext cx="20973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Liste des messages 1-to-1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7" name="Shape 33"/>
          <p:cNvSpPr/>
          <p:nvPr/>
        </p:nvSpPr>
        <p:spPr>
          <a:xfrm>
            <a:off x="548640" y="2788920"/>
            <a:ext cx="5480640" cy="323280"/>
          </a:xfrm>
          <a:prstGeom prst="rect">
            <a:avLst/>
          </a:prstGeom>
          <a:solidFill>
            <a:srgbClr val="1F20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8" name="Shape 34"/>
          <p:cNvSpPr/>
          <p:nvPr/>
        </p:nvSpPr>
        <p:spPr>
          <a:xfrm>
            <a:off x="685800" y="288036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9" name="Text 35"/>
          <p:cNvSpPr/>
          <p:nvPr/>
        </p:nvSpPr>
        <p:spPr>
          <a:xfrm>
            <a:off x="914400" y="2788920"/>
            <a:ext cx="17316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/chat/[id]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0" name="Text 36"/>
          <p:cNvSpPr/>
          <p:nvPr/>
        </p:nvSpPr>
        <p:spPr>
          <a:xfrm>
            <a:off x="2651760" y="2788920"/>
            <a:ext cx="127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Chat DM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1" name="Text 37"/>
          <p:cNvSpPr/>
          <p:nvPr/>
        </p:nvSpPr>
        <p:spPr>
          <a:xfrm>
            <a:off x="3931920" y="2788920"/>
            <a:ext cx="20973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Messagerie privée temps réel (SSE)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2" name="Shape 38"/>
          <p:cNvSpPr/>
          <p:nvPr/>
        </p:nvSpPr>
        <p:spPr>
          <a:xfrm>
            <a:off x="6217920" y="2788920"/>
            <a:ext cx="5480640" cy="323280"/>
          </a:xfrm>
          <a:prstGeom prst="rect">
            <a:avLst/>
          </a:prstGeom>
          <a:solidFill>
            <a:srgbClr val="1F20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3" name="Shape 39"/>
          <p:cNvSpPr/>
          <p:nvPr/>
        </p:nvSpPr>
        <p:spPr>
          <a:xfrm>
            <a:off x="6355080" y="288036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4" name="Text 40"/>
          <p:cNvSpPr/>
          <p:nvPr/>
        </p:nvSpPr>
        <p:spPr>
          <a:xfrm>
            <a:off x="6583680" y="2788920"/>
            <a:ext cx="17316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/reels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5" name="Text 41"/>
          <p:cNvSpPr/>
          <p:nvPr/>
        </p:nvSpPr>
        <p:spPr>
          <a:xfrm>
            <a:off x="8321040" y="2788920"/>
            <a:ext cx="127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Reels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6" name="Text 42"/>
          <p:cNvSpPr/>
          <p:nvPr/>
        </p:nvSpPr>
        <p:spPr>
          <a:xfrm>
            <a:off x="9601200" y="2788920"/>
            <a:ext cx="20973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Vidéos courtes verticales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7" name="Shape 43"/>
          <p:cNvSpPr/>
          <p:nvPr/>
        </p:nvSpPr>
        <p:spPr>
          <a:xfrm>
            <a:off x="548640" y="3154680"/>
            <a:ext cx="5480640" cy="32328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8" name="Shape 44"/>
          <p:cNvSpPr/>
          <p:nvPr/>
        </p:nvSpPr>
        <p:spPr>
          <a:xfrm>
            <a:off x="685800" y="324612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9" name="Text 45"/>
          <p:cNvSpPr/>
          <p:nvPr/>
        </p:nvSpPr>
        <p:spPr>
          <a:xfrm>
            <a:off x="914400" y="3154680"/>
            <a:ext cx="17316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/search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0" name="Text 46"/>
          <p:cNvSpPr/>
          <p:nvPr/>
        </p:nvSpPr>
        <p:spPr>
          <a:xfrm>
            <a:off x="2651760" y="3154680"/>
            <a:ext cx="127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Recherche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1" name="Text 47"/>
          <p:cNvSpPr/>
          <p:nvPr/>
        </p:nvSpPr>
        <p:spPr>
          <a:xfrm>
            <a:off x="3931920" y="3154680"/>
            <a:ext cx="20973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Users + posts avec historique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2" name="Shape 48"/>
          <p:cNvSpPr/>
          <p:nvPr/>
        </p:nvSpPr>
        <p:spPr>
          <a:xfrm>
            <a:off x="6217920" y="3154680"/>
            <a:ext cx="5480640" cy="32328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3" name="Shape 49"/>
          <p:cNvSpPr/>
          <p:nvPr/>
        </p:nvSpPr>
        <p:spPr>
          <a:xfrm>
            <a:off x="6355080" y="324612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4" name="Text 50"/>
          <p:cNvSpPr/>
          <p:nvPr/>
        </p:nvSpPr>
        <p:spPr>
          <a:xfrm>
            <a:off x="6583680" y="3154680"/>
            <a:ext cx="17316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/groups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5" name="Text 51"/>
          <p:cNvSpPr/>
          <p:nvPr/>
        </p:nvSpPr>
        <p:spPr>
          <a:xfrm>
            <a:off x="8321040" y="3154680"/>
            <a:ext cx="127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6" name="Text 52"/>
          <p:cNvSpPr/>
          <p:nvPr/>
        </p:nvSpPr>
        <p:spPr>
          <a:xfrm>
            <a:off x="9601200" y="3154680"/>
            <a:ext cx="20973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Liste, recherche, création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7" name="Shape 53"/>
          <p:cNvSpPr/>
          <p:nvPr/>
        </p:nvSpPr>
        <p:spPr>
          <a:xfrm>
            <a:off x="548640" y="3520440"/>
            <a:ext cx="5480640" cy="323280"/>
          </a:xfrm>
          <a:prstGeom prst="rect">
            <a:avLst/>
          </a:prstGeom>
          <a:solidFill>
            <a:srgbClr val="1F20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8" name="Shape 54"/>
          <p:cNvSpPr/>
          <p:nvPr/>
        </p:nvSpPr>
        <p:spPr>
          <a:xfrm>
            <a:off x="685800" y="361188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9" name="Text 55"/>
          <p:cNvSpPr/>
          <p:nvPr/>
        </p:nvSpPr>
        <p:spPr>
          <a:xfrm>
            <a:off x="914400" y="3520440"/>
            <a:ext cx="17316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/groups/[id]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0" name="Text 56"/>
          <p:cNvSpPr/>
          <p:nvPr/>
        </p:nvSpPr>
        <p:spPr>
          <a:xfrm>
            <a:off x="2651760" y="3520440"/>
            <a:ext cx="127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1" name="Text 57"/>
          <p:cNvSpPr/>
          <p:nvPr/>
        </p:nvSpPr>
        <p:spPr>
          <a:xfrm>
            <a:off x="3931920" y="3520440"/>
            <a:ext cx="20973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Feed + chat + membres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2" name="Shape 58"/>
          <p:cNvSpPr/>
          <p:nvPr/>
        </p:nvSpPr>
        <p:spPr>
          <a:xfrm>
            <a:off x="6217920" y="3520440"/>
            <a:ext cx="5480640" cy="323280"/>
          </a:xfrm>
          <a:prstGeom prst="rect">
            <a:avLst/>
          </a:prstGeom>
          <a:solidFill>
            <a:srgbClr val="1F20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3" name="Shape 59"/>
          <p:cNvSpPr/>
          <p:nvPr/>
        </p:nvSpPr>
        <p:spPr>
          <a:xfrm>
            <a:off x="6355080" y="361188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4" name="Text 60"/>
          <p:cNvSpPr/>
          <p:nvPr/>
        </p:nvSpPr>
        <p:spPr>
          <a:xfrm>
            <a:off x="6583680" y="3520440"/>
            <a:ext cx="17316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/events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5" name="Text 61"/>
          <p:cNvSpPr/>
          <p:nvPr/>
        </p:nvSpPr>
        <p:spPr>
          <a:xfrm>
            <a:off x="8321040" y="3520440"/>
            <a:ext cx="127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Événements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6" name="Text 62"/>
          <p:cNvSpPr/>
          <p:nvPr/>
        </p:nvSpPr>
        <p:spPr>
          <a:xfrm>
            <a:off x="9601200" y="3520440"/>
            <a:ext cx="20973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Calendrier + RSVP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7" name="Shape 63"/>
          <p:cNvSpPr/>
          <p:nvPr/>
        </p:nvSpPr>
        <p:spPr>
          <a:xfrm>
            <a:off x="548640" y="3886200"/>
            <a:ext cx="5480640" cy="32328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8" name="Shape 64"/>
          <p:cNvSpPr/>
          <p:nvPr/>
        </p:nvSpPr>
        <p:spPr>
          <a:xfrm>
            <a:off x="685800" y="397764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9" name="Text 65"/>
          <p:cNvSpPr/>
          <p:nvPr/>
        </p:nvSpPr>
        <p:spPr>
          <a:xfrm>
            <a:off x="914400" y="3886200"/>
            <a:ext cx="17316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/settings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0" name="Text 66"/>
          <p:cNvSpPr/>
          <p:nvPr/>
        </p:nvSpPr>
        <p:spPr>
          <a:xfrm>
            <a:off x="2651760" y="3886200"/>
            <a:ext cx="127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Paramètres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1" name="Text 67"/>
          <p:cNvSpPr/>
          <p:nvPr/>
        </p:nvSpPr>
        <p:spPr>
          <a:xfrm>
            <a:off x="3931920" y="3886200"/>
            <a:ext cx="20973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Profil, sécurité, langue, thème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2" name="Shape 68"/>
          <p:cNvSpPr/>
          <p:nvPr/>
        </p:nvSpPr>
        <p:spPr>
          <a:xfrm>
            <a:off x="6217920" y="3886200"/>
            <a:ext cx="5480640" cy="32328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3" name="Shape 69"/>
          <p:cNvSpPr/>
          <p:nvPr/>
        </p:nvSpPr>
        <p:spPr>
          <a:xfrm>
            <a:off x="6355080" y="397764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4" name="Text 70"/>
          <p:cNvSpPr/>
          <p:nvPr/>
        </p:nvSpPr>
        <p:spPr>
          <a:xfrm>
            <a:off x="6583680" y="3886200"/>
            <a:ext cx="17316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/invitations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5" name="Text 71"/>
          <p:cNvSpPr/>
          <p:nvPr/>
        </p:nvSpPr>
        <p:spPr>
          <a:xfrm>
            <a:off x="8321040" y="3886200"/>
            <a:ext cx="127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Invitations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6" name="Text 72"/>
          <p:cNvSpPr/>
          <p:nvPr/>
        </p:nvSpPr>
        <p:spPr>
          <a:xfrm>
            <a:off x="9601200" y="3886200"/>
            <a:ext cx="20973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Demandes d'amitié et de groupe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7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8" name="Text 73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9" name="Text 74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32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 · DIAGRAMME DE SÉQUENCE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1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Flux d'authentification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2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3" name="Shape 3"/>
          <p:cNvSpPr/>
          <p:nvPr/>
        </p:nvSpPr>
        <p:spPr>
          <a:xfrm>
            <a:off x="457200" y="1783080"/>
            <a:ext cx="1640160" cy="497160"/>
          </a:xfrm>
          <a:prstGeom prst="roundRect">
            <a:avLst>
              <a:gd name="adj" fmla="val 14545"/>
            </a:avLst>
          </a:prstGeom>
          <a:solidFill>
            <a:srgbClr val="EC4899">
              <a:alpha val="4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4" name="Text 4"/>
          <p:cNvSpPr/>
          <p:nvPr/>
        </p:nvSpPr>
        <p:spPr>
          <a:xfrm>
            <a:off x="457200" y="1783080"/>
            <a:ext cx="164016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Navigateur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5" name="Shape 5"/>
          <p:cNvSpPr/>
          <p:nvPr/>
        </p:nvSpPr>
        <p:spPr>
          <a:xfrm>
            <a:off x="1280160" y="2286000"/>
            <a:ext cx="360" cy="37490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6" name="Shape 6"/>
          <p:cNvSpPr/>
          <p:nvPr/>
        </p:nvSpPr>
        <p:spPr>
          <a:xfrm>
            <a:off x="4480560" y="1783080"/>
            <a:ext cx="1640160" cy="497160"/>
          </a:xfrm>
          <a:prstGeom prst="roundRect">
            <a:avLst>
              <a:gd name="adj" fmla="val 14545"/>
            </a:avLst>
          </a:prstGeom>
          <a:solidFill>
            <a:srgbClr val="06B6D4">
              <a:alpha val="4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7" name="Text 7"/>
          <p:cNvSpPr/>
          <p:nvPr/>
        </p:nvSpPr>
        <p:spPr>
          <a:xfrm>
            <a:off x="4480560" y="1783080"/>
            <a:ext cx="164016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Next.js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8" name="Shape 8"/>
          <p:cNvSpPr/>
          <p:nvPr/>
        </p:nvSpPr>
        <p:spPr>
          <a:xfrm>
            <a:off x="5303520" y="2286000"/>
            <a:ext cx="360" cy="37490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9" name="Shape 9"/>
          <p:cNvSpPr/>
          <p:nvPr/>
        </p:nvSpPr>
        <p:spPr>
          <a:xfrm>
            <a:off x="8503920" y="1783080"/>
            <a:ext cx="1640160" cy="497160"/>
          </a:xfrm>
          <a:prstGeom prst="roundRect">
            <a:avLst>
              <a:gd name="adj" fmla="val 14545"/>
            </a:avLst>
          </a:prstGeom>
          <a:solidFill>
            <a:srgbClr val="8B5CF6">
              <a:alpha val="4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0" name="Text 10"/>
          <p:cNvSpPr/>
          <p:nvPr/>
        </p:nvSpPr>
        <p:spPr>
          <a:xfrm>
            <a:off x="8503920" y="1783080"/>
            <a:ext cx="164016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PostgreSQL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(Prisma)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1" name="Shape 11"/>
          <p:cNvSpPr/>
          <p:nvPr/>
        </p:nvSpPr>
        <p:spPr>
          <a:xfrm>
            <a:off x="9326880" y="2286000"/>
            <a:ext cx="360" cy="37490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2" name="Shape 12"/>
          <p:cNvSpPr/>
          <p:nvPr/>
        </p:nvSpPr>
        <p:spPr>
          <a:xfrm>
            <a:off x="1280160" y="2743200"/>
            <a:ext cx="4023360" cy="360"/>
          </a:xfrm>
          <a:prstGeom prst="line">
            <a:avLst/>
          </a:prstGeom>
          <a:ln w="2540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3" name="Text 13"/>
          <p:cNvSpPr/>
          <p:nvPr/>
        </p:nvSpPr>
        <p:spPr>
          <a:xfrm>
            <a:off x="1280160" y="2450520"/>
            <a:ext cx="40176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POST /api/public/auth/login  { email, password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4" name="Shape 14"/>
          <p:cNvSpPr/>
          <p:nvPr/>
        </p:nvSpPr>
        <p:spPr>
          <a:xfrm>
            <a:off x="5303520" y="3246120"/>
            <a:ext cx="4023360" cy="360"/>
          </a:xfrm>
          <a:prstGeom prst="line">
            <a:avLst/>
          </a:prstGeom>
          <a:ln w="25400">
            <a:solidFill>
              <a:srgbClr val="06B6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5" name="Text 15"/>
          <p:cNvSpPr/>
          <p:nvPr/>
        </p:nvSpPr>
        <p:spPr>
          <a:xfrm>
            <a:off x="5303520" y="2953440"/>
            <a:ext cx="40176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SELECT user WHERE email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6" name="Shape 16"/>
          <p:cNvSpPr/>
          <p:nvPr/>
        </p:nvSpPr>
        <p:spPr>
          <a:xfrm flipH="1">
            <a:off x="5303520" y="3749040"/>
            <a:ext cx="4023360" cy="360"/>
          </a:xfrm>
          <a:prstGeom prst="line">
            <a:avLst/>
          </a:prstGeom>
          <a:ln w="25400">
            <a:solidFill>
              <a:srgbClr val="8B5CF6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7" name="Text 17"/>
          <p:cNvSpPr/>
          <p:nvPr/>
        </p:nvSpPr>
        <p:spPr>
          <a:xfrm>
            <a:off x="5303520" y="3456360"/>
            <a:ext cx="40176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B5CF6"/>
                </a:solidFill>
                <a:effectLst/>
                <a:uFillTx/>
                <a:latin typeface="Consolas"/>
                <a:ea typeface="Consolas"/>
              </a:rPr>
              <a:t>user row (hashed pwd)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8" name="Shape 18"/>
          <p:cNvSpPr/>
          <p:nvPr/>
        </p:nvSpPr>
        <p:spPr>
          <a:xfrm>
            <a:off x="5349240" y="4023360"/>
            <a:ext cx="3651840" cy="771480"/>
          </a:xfrm>
          <a:prstGeom prst="roundRect">
            <a:avLst>
              <a:gd name="adj" fmla="val 9412"/>
            </a:avLst>
          </a:prstGeom>
          <a:solidFill>
            <a:srgbClr val="272730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9" name="Text 19"/>
          <p:cNvSpPr/>
          <p:nvPr/>
        </p:nvSpPr>
        <p:spPr>
          <a:xfrm>
            <a:off x="5394960" y="4069080"/>
            <a:ext cx="356040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bcrypt.compare(password, user.password)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jose.SignJWT({ userId }) ➜ JWT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0" name="Shape 20"/>
          <p:cNvSpPr/>
          <p:nvPr/>
        </p:nvSpPr>
        <p:spPr>
          <a:xfrm flipH="1">
            <a:off x="1280160" y="5074920"/>
            <a:ext cx="4023360" cy="360"/>
          </a:xfrm>
          <a:prstGeom prst="line">
            <a:avLst/>
          </a:prstGeom>
          <a:ln w="25400">
            <a:solidFill>
              <a:srgbClr val="10B981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1" name="Text 21"/>
          <p:cNvSpPr/>
          <p:nvPr/>
        </p:nvSpPr>
        <p:spPr>
          <a:xfrm>
            <a:off x="1280160" y="4782240"/>
            <a:ext cx="40176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200 OK  ·  Set-Cookie: authToken HttpOnly SameSite=Lax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2" name="Shape 22"/>
          <p:cNvSpPr/>
          <p:nvPr/>
        </p:nvSpPr>
        <p:spPr>
          <a:xfrm>
            <a:off x="548640" y="5486400"/>
            <a:ext cx="11058480" cy="771480"/>
          </a:xfrm>
          <a:prstGeom prst="roundRect">
            <a:avLst>
              <a:gd name="adj" fmla="val 9412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3" name="Text 23"/>
          <p:cNvSpPr/>
          <p:nvPr/>
        </p:nvSpPr>
        <p:spPr>
          <a:xfrm>
            <a:off x="777240" y="5532120"/>
            <a:ext cx="1060128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Sécurité —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JWT signé avec </a:t>
            </a: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jose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+ secret applicatif · Cookie </a:t>
            </a: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HttpOnly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(pas accessible JS) · </a:t>
            </a: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bcrypt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cost 12 · </a:t>
            </a: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OAuth Google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via state cookie anti-CSRF · Middleware Next.js qui valide le JWT pour chaque route privée.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24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5" name="Text 24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6" name="Text 25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33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Rectangle 1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840" tIns="45000" rIns="338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8" name="TextBox 3"/>
          <p:cNvSpPr/>
          <p:nvPr/>
        </p:nvSpPr>
        <p:spPr>
          <a:xfrm>
            <a:off x="548640" y="757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Temps réel — envoi message en SSE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9" name="Rectangle 4"/>
          <p:cNvSpPr/>
          <p:nvPr/>
        </p:nvSpPr>
        <p:spPr>
          <a:xfrm>
            <a:off x="549720" y="1691640"/>
            <a:ext cx="1548720" cy="4971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0" name="TextBox 5"/>
          <p:cNvSpPr/>
          <p:nvPr/>
        </p:nvSpPr>
        <p:spPr>
          <a:xfrm>
            <a:off x="549720" y="1737360"/>
            <a:ext cx="154872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Client 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1" name="TextBox 6"/>
          <p:cNvSpPr/>
          <p:nvPr/>
        </p:nvSpPr>
        <p:spPr>
          <a:xfrm>
            <a:off x="549720" y="1947600"/>
            <a:ext cx="15487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Browser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2" name="Rectangle 7"/>
          <p:cNvSpPr/>
          <p:nvPr/>
        </p:nvSpPr>
        <p:spPr>
          <a:xfrm>
            <a:off x="1308600" y="21945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3" name="Rectangle 8"/>
          <p:cNvSpPr/>
          <p:nvPr/>
        </p:nvSpPr>
        <p:spPr>
          <a:xfrm>
            <a:off x="1308600" y="23590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4" name="Rectangle 9"/>
          <p:cNvSpPr/>
          <p:nvPr/>
        </p:nvSpPr>
        <p:spPr>
          <a:xfrm>
            <a:off x="1308600" y="25236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5" name="Rectangle 10"/>
          <p:cNvSpPr/>
          <p:nvPr/>
        </p:nvSpPr>
        <p:spPr>
          <a:xfrm>
            <a:off x="1308600" y="26884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6" name="Rectangle 11"/>
          <p:cNvSpPr/>
          <p:nvPr/>
        </p:nvSpPr>
        <p:spPr>
          <a:xfrm>
            <a:off x="1308600" y="28530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7" name="Rectangle 12"/>
          <p:cNvSpPr/>
          <p:nvPr/>
        </p:nvSpPr>
        <p:spPr>
          <a:xfrm>
            <a:off x="1308600" y="30175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8" name="Rectangle 13"/>
          <p:cNvSpPr/>
          <p:nvPr/>
        </p:nvSpPr>
        <p:spPr>
          <a:xfrm>
            <a:off x="1308600" y="318204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9" name="Rectangle 14"/>
          <p:cNvSpPr/>
          <p:nvPr/>
        </p:nvSpPr>
        <p:spPr>
          <a:xfrm>
            <a:off x="1308600" y="33465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0" name="Rectangle 15"/>
          <p:cNvSpPr/>
          <p:nvPr/>
        </p:nvSpPr>
        <p:spPr>
          <a:xfrm>
            <a:off x="1308600" y="351144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1" name="Rectangle 16"/>
          <p:cNvSpPr/>
          <p:nvPr/>
        </p:nvSpPr>
        <p:spPr>
          <a:xfrm>
            <a:off x="1308600" y="36759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2" name="Rectangle 17"/>
          <p:cNvSpPr/>
          <p:nvPr/>
        </p:nvSpPr>
        <p:spPr>
          <a:xfrm>
            <a:off x="1308600" y="38404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3" name="Rectangle 18"/>
          <p:cNvSpPr/>
          <p:nvPr/>
        </p:nvSpPr>
        <p:spPr>
          <a:xfrm>
            <a:off x="1308600" y="40050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4" name="Rectangle 19"/>
          <p:cNvSpPr/>
          <p:nvPr/>
        </p:nvSpPr>
        <p:spPr>
          <a:xfrm>
            <a:off x="1308600" y="41695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5" name="Rectangle 20"/>
          <p:cNvSpPr/>
          <p:nvPr/>
        </p:nvSpPr>
        <p:spPr>
          <a:xfrm>
            <a:off x="1308600" y="43344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6" name="Rectangle 21"/>
          <p:cNvSpPr/>
          <p:nvPr/>
        </p:nvSpPr>
        <p:spPr>
          <a:xfrm>
            <a:off x="1308600" y="44989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7" name="Rectangle 22"/>
          <p:cNvSpPr/>
          <p:nvPr/>
        </p:nvSpPr>
        <p:spPr>
          <a:xfrm>
            <a:off x="1308600" y="466344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8" name="Rectangle 23"/>
          <p:cNvSpPr/>
          <p:nvPr/>
        </p:nvSpPr>
        <p:spPr>
          <a:xfrm>
            <a:off x="1308600" y="48279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9" name="Rectangle 24"/>
          <p:cNvSpPr/>
          <p:nvPr/>
        </p:nvSpPr>
        <p:spPr>
          <a:xfrm>
            <a:off x="1308600" y="49924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0" name="Rectangle 25"/>
          <p:cNvSpPr/>
          <p:nvPr/>
        </p:nvSpPr>
        <p:spPr>
          <a:xfrm>
            <a:off x="1308600" y="51573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1" name="Rectangle 26"/>
          <p:cNvSpPr/>
          <p:nvPr/>
        </p:nvSpPr>
        <p:spPr>
          <a:xfrm>
            <a:off x="1308600" y="53218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2" name="Rectangle 27"/>
          <p:cNvSpPr/>
          <p:nvPr/>
        </p:nvSpPr>
        <p:spPr>
          <a:xfrm>
            <a:off x="1308600" y="54864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3" name="Rectangle 28"/>
          <p:cNvSpPr/>
          <p:nvPr/>
        </p:nvSpPr>
        <p:spPr>
          <a:xfrm>
            <a:off x="1308600" y="56509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4" name="Rectangle 29"/>
          <p:cNvSpPr/>
          <p:nvPr/>
        </p:nvSpPr>
        <p:spPr>
          <a:xfrm>
            <a:off x="2927160" y="1691640"/>
            <a:ext cx="1548720" cy="49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5" name="TextBox 30"/>
          <p:cNvSpPr/>
          <p:nvPr/>
        </p:nvSpPr>
        <p:spPr>
          <a:xfrm>
            <a:off x="2927160" y="1737360"/>
            <a:ext cx="154872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API send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6" name="TextBox 31"/>
          <p:cNvSpPr/>
          <p:nvPr/>
        </p:nvSpPr>
        <p:spPr>
          <a:xfrm>
            <a:off x="2927160" y="1947600"/>
            <a:ext cx="15487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/chat/send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7" name="Rectangle 32"/>
          <p:cNvSpPr/>
          <p:nvPr/>
        </p:nvSpPr>
        <p:spPr>
          <a:xfrm>
            <a:off x="3686040" y="21945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8" name="Rectangle 33"/>
          <p:cNvSpPr/>
          <p:nvPr/>
        </p:nvSpPr>
        <p:spPr>
          <a:xfrm>
            <a:off x="3686040" y="23590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9" name="Rectangle 34"/>
          <p:cNvSpPr/>
          <p:nvPr/>
        </p:nvSpPr>
        <p:spPr>
          <a:xfrm>
            <a:off x="3686040" y="25236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0" name="Rectangle 35"/>
          <p:cNvSpPr/>
          <p:nvPr/>
        </p:nvSpPr>
        <p:spPr>
          <a:xfrm>
            <a:off x="3686040" y="26884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1" name="Rectangle 36"/>
          <p:cNvSpPr/>
          <p:nvPr/>
        </p:nvSpPr>
        <p:spPr>
          <a:xfrm>
            <a:off x="3686040" y="28530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2" name="Rectangle 37"/>
          <p:cNvSpPr/>
          <p:nvPr/>
        </p:nvSpPr>
        <p:spPr>
          <a:xfrm>
            <a:off x="3686040" y="30175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3" name="Rectangle 38"/>
          <p:cNvSpPr/>
          <p:nvPr/>
        </p:nvSpPr>
        <p:spPr>
          <a:xfrm>
            <a:off x="3686040" y="318204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4" name="Rectangle 39"/>
          <p:cNvSpPr/>
          <p:nvPr/>
        </p:nvSpPr>
        <p:spPr>
          <a:xfrm>
            <a:off x="3686040" y="33465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5" name="Rectangle 40"/>
          <p:cNvSpPr/>
          <p:nvPr/>
        </p:nvSpPr>
        <p:spPr>
          <a:xfrm>
            <a:off x="3704400" y="3485520"/>
            <a:ext cx="8568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000" tIns="42840" rIns="1800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6" name="Rectangle 41"/>
          <p:cNvSpPr/>
          <p:nvPr/>
        </p:nvSpPr>
        <p:spPr>
          <a:xfrm>
            <a:off x="3686040" y="36759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7" name="Rectangle 42"/>
          <p:cNvSpPr/>
          <p:nvPr/>
        </p:nvSpPr>
        <p:spPr>
          <a:xfrm>
            <a:off x="3686040" y="38404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8" name="Rectangle 43"/>
          <p:cNvSpPr/>
          <p:nvPr/>
        </p:nvSpPr>
        <p:spPr>
          <a:xfrm>
            <a:off x="3686040" y="40050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9" name="Rectangle 44"/>
          <p:cNvSpPr/>
          <p:nvPr/>
        </p:nvSpPr>
        <p:spPr>
          <a:xfrm>
            <a:off x="3686040" y="41695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0" name="Rectangle 45"/>
          <p:cNvSpPr/>
          <p:nvPr/>
        </p:nvSpPr>
        <p:spPr>
          <a:xfrm>
            <a:off x="3686040" y="43344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1" name="Rectangle 46"/>
          <p:cNvSpPr/>
          <p:nvPr/>
        </p:nvSpPr>
        <p:spPr>
          <a:xfrm>
            <a:off x="3686040" y="44989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2" name="Rectangle 47"/>
          <p:cNvSpPr/>
          <p:nvPr/>
        </p:nvSpPr>
        <p:spPr>
          <a:xfrm>
            <a:off x="3686040" y="466344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3" name="Rectangle 48"/>
          <p:cNvSpPr/>
          <p:nvPr/>
        </p:nvSpPr>
        <p:spPr>
          <a:xfrm>
            <a:off x="3686040" y="48279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4" name="Rectangle 49"/>
          <p:cNvSpPr/>
          <p:nvPr/>
        </p:nvSpPr>
        <p:spPr>
          <a:xfrm>
            <a:off x="3686040" y="49924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5" name="Rectangle 50"/>
          <p:cNvSpPr/>
          <p:nvPr/>
        </p:nvSpPr>
        <p:spPr>
          <a:xfrm>
            <a:off x="3686040" y="51573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6" name="Rectangle 51"/>
          <p:cNvSpPr/>
          <p:nvPr/>
        </p:nvSpPr>
        <p:spPr>
          <a:xfrm>
            <a:off x="3686040" y="53218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7" name="Rectangle 52"/>
          <p:cNvSpPr/>
          <p:nvPr/>
        </p:nvSpPr>
        <p:spPr>
          <a:xfrm>
            <a:off x="3686040" y="54864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8" name="Rectangle 53"/>
          <p:cNvSpPr/>
          <p:nvPr/>
        </p:nvSpPr>
        <p:spPr>
          <a:xfrm>
            <a:off x="3686040" y="56509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9" name="Rectangle 54"/>
          <p:cNvSpPr/>
          <p:nvPr/>
        </p:nvSpPr>
        <p:spPr>
          <a:xfrm>
            <a:off x="5304600" y="1691640"/>
            <a:ext cx="1548720" cy="49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0" name="TextBox 55"/>
          <p:cNvSpPr/>
          <p:nvPr/>
        </p:nvSpPr>
        <p:spPr>
          <a:xfrm>
            <a:off x="5304600" y="1737360"/>
            <a:ext cx="154872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PostgreSQL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1" name="TextBox 56"/>
          <p:cNvSpPr/>
          <p:nvPr/>
        </p:nvSpPr>
        <p:spPr>
          <a:xfrm>
            <a:off x="5304600" y="1947600"/>
            <a:ext cx="15487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Prisma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2" name="Rectangle 57"/>
          <p:cNvSpPr/>
          <p:nvPr/>
        </p:nvSpPr>
        <p:spPr>
          <a:xfrm>
            <a:off x="6063480" y="21945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3" name="Rectangle 58"/>
          <p:cNvSpPr/>
          <p:nvPr/>
        </p:nvSpPr>
        <p:spPr>
          <a:xfrm>
            <a:off x="6063480" y="23590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4" name="Rectangle 59"/>
          <p:cNvSpPr/>
          <p:nvPr/>
        </p:nvSpPr>
        <p:spPr>
          <a:xfrm>
            <a:off x="6063480" y="25236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5" name="Rectangle 60"/>
          <p:cNvSpPr/>
          <p:nvPr/>
        </p:nvSpPr>
        <p:spPr>
          <a:xfrm>
            <a:off x="6063480" y="26884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6" name="Rectangle 61"/>
          <p:cNvSpPr/>
          <p:nvPr/>
        </p:nvSpPr>
        <p:spPr>
          <a:xfrm>
            <a:off x="6063480" y="28530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7" name="Rectangle 62"/>
          <p:cNvSpPr/>
          <p:nvPr/>
        </p:nvSpPr>
        <p:spPr>
          <a:xfrm>
            <a:off x="5990400" y="3028320"/>
            <a:ext cx="8568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000" tIns="42840" rIns="1800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8" name="Rectangle 63"/>
          <p:cNvSpPr/>
          <p:nvPr/>
        </p:nvSpPr>
        <p:spPr>
          <a:xfrm>
            <a:off x="6063480" y="318204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9" name="Rectangle 64"/>
          <p:cNvSpPr/>
          <p:nvPr/>
        </p:nvSpPr>
        <p:spPr>
          <a:xfrm>
            <a:off x="6063480" y="33465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0" name="Rectangle 65"/>
          <p:cNvSpPr/>
          <p:nvPr/>
        </p:nvSpPr>
        <p:spPr>
          <a:xfrm>
            <a:off x="6063480" y="351144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1" name="Rectangle 66"/>
          <p:cNvSpPr/>
          <p:nvPr/>
        </p:nvSpPr>
        <p:spPr>
          <a:xfrm>
            <a:off x="6063480" y="36759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2" name="Rectangle 67"/>
          <p:cNvSpPr/>
          <p:nvPr/>
        </p:nvSpPr>
        <p:spPr>
          <a:xfrm>
            <a:off x="6063480" y="38404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3" name="Rectangle 68"/>
          <p:cNvSpPr/>
          <p:nvPr/>
        </p:nvSpPr>
        <p:spPr>
          <a:xfrm>
            <a:off x="6063480" y="40050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4" name="Rectangle 69"/>
          <p:cNvSpPr/>
          <p:nvPr/>
        </p:nvSpPr>
        <p:spPr>
          <a:xfrm>
            <a:off x="6063480" y="41695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5" name="Rectangle 70"/>
          <p:cNvSpPr/>
          <p:nvPr/>
        </p:nvSpPr>
        <p:spPr>
          <a:xfrm>
            <a:off x="6063480" y="43344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6" name="Rectangle 71"/>
          <p:cNvSpPr/>
          <p:nvPr/>
        </p:nvSpPr>
        <p:spPr>
          <a:xfrm>
            <a:off x="6063480" y="44989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7" name="Rectangle 72"/>
          <p:cNvSpPr/>
          <p:nvPr/>
        </p:nvSpPr>
        <p:spPr>
          <a:xfrm>
            <a:off x="6063480" y="466344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8" name="Rectangle 73"/>
          <p:cNvSpPr/>
          <p:nvPr/>
        </p:nvSpPr>
        <p:spPr>
          <a:xfrm>
            <a:off x="6063480" y="48279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9" name="Rectangle 74"/>
          <p:cNvSpPr/>
          <p:nvPr/>
        </p:nvSpPr>
        <p:spPr>
          <a:xfrm>
            <a:off x="6063480" y="49924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0" name="Rectangle 75"/>
          <p:cNvSpPr/>
          <p:nvPr/>
        </p:nvSpPr>
        <p:spPr>
          <a:xfrm>
            <a:off x="6063480" y="51573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1" name="Rectangle 76"/>
          <p:cNvSpPr/>
          <p:nvPr/>
        </p:nvSpPr>
        <p:spPr>
          <a:xfrm>
            <a:off x="6063480" y="53218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2" name="Rectangle 77"/>
          <p:cNvSpPr/>
          <p:nvPr/>
        </p:nvSpPr>
        <p:spPr>
          <a:xfrm>
            <a:off x="6063480" y="54864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3" name="Rectangle 78"/>
          <p:cNvSpPr/>
          <p:nvPr/>
        </p:nvSpPr>
        <p:spPr>
          <a:xfrm>
            <a:off x="6063480" y="56509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4" name="Rectangle 79"/>
          <p:cNvSpPr/>
          <p:nvPr/>
        </p:nvSpPr>
        <p:spPr>
          <a:xfrm>
            <a:off x="7682040" y="1691640"/>
            <a:ext cx="1548720" cy="49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5" name="TextBox 80"/>
          <p:cNvSpPr/>
          <p:nvPr/>
        </p:nvSpPr>
        <p:spPr>
          <a:xfrm>
            <a:off x="7682040" y="1737360"/>
            <a:ext cx="154872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Upstash Redis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6" name="TextBox 81"/>
          <p:cNvSpPr/>
          <p:nvPr/>
        </p:nvSpPr>
        <p:spPr>
          <a:xfrm>
            <a:off x="7682040" y="1947600"/>
            <a:ext cx="15487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REST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7" name="Rectangle 82"/>
          <p:cNvSpPr/>
          <p:nvPr/>
        </p:nvSpPr>
        <p:spPr>
          <a:xfrm>
            <a:off x="8440920" y="21945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8" name="Rectangle 83"/>
          <p:cNvSpPr/>
          <p:nvPr/>
        </p:nvSpPr>
        <p:spPr>
          <a:xfrm>
            <a:off x="8440920" y="23590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9" name="Rectangle 84"/>
          <p:cNvSpPr/>
          <p:nvPr/>
        </p:nvSpPr>
        <p:spPr>
          <a:xfrm>
            <a:off x="8440920" y="25236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0" name="Rectangle 85"/>
          <p:cNvSpPr/>
          <p:nvPr/>
        </p:nvSpPr>
        <p:spPr>
          <a:xfrm>
            <a:off x="8440920" y="26884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1" name="Rectangle 86"/>
          <p:cNvSpPr/>
          <p:nvPr/>
        </p:nvSpPr>
        <p:spPr>
          <a:xfrm>
            <a:off x="8440920" y="28530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2" name="Rectangle 87"/>
          <p:cNvSpPr/>
          <p:nvPr/>
        </p:nvSpPr>
        <p:spPr>
          <a:xfrm>
            <a:off x="8440920" y="30175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3" name="Rectangle 88"/>
          <p:cNvSpPr/>
          <p:nvPr/>
        </p:nvSpPr>
        <p:spPr>
          <a:xfrm>
            <a:off x="8440920" y="318204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4" name="Rectangle 89"/>
          <p:cNvSpPr/>
          <p:nvPr/>
        </p:nvSpPr>
        <p:spPr>
          <a:xfrm>
            <a:off x="8440920" y="33465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5" name="Rectangle 90"/>
          <p:cNvSpPr/>
          <p:nvPr/>
        </p:nvSpPr>
        <p:spPr>
          <a:xfrm>
            <a:off x="8440920" y="351144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6" name="Rectangle 91"/>
          <p:cNvSpPr/>
          <p:nvPr/>
        </p:nvSpPr>
        <p:spPr>
          <a:xfrm>
            <a:off x="8440920" y="36759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7" name="Rectangle 92"/>
          <p:cNvSpPr/>
          <p:nvPr/>
        </p:nvSpPr>
        <p:spPr>
          <a:xfrm>
            <a:off x="8440920" y="38404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8" name="Rectangle 93"/>
          <p:cNvSpPr/>
          <p:nvPr/>
        </p:nvSpPr>
        <p:spPr>
          <a:xfrm>
            <a:off x="8440920" y="40050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9" name="Rectangle 94"/>
          <p:cNvSpPr/>
          <p:nvPr/>
        </p:nvSpPr>
        <p:spPr>
          <a:xfrm>
            <a:off x="8440920" y="41695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0" name="Rectangle 95"/>
          <p:cNvSpPr/>
          <p:nvPr/>
        </p:nvSpPr>
        <p:spPr>
          <a:xfrm>
            <a:off x="8440920" y="43344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1" name="Rectangle 96"/>
          <p:cNvSpPr/>
          <p:nvPr/>
        </p:nvSpPr>
        <p:spPr>
          <a:xfrm>
            <a:off x="8440920" y="44989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2" name="Rectangle 97"/>
          <p:cNvSpPr/>
          <p:nvPr/>
        </p:nvSpPr>
        <p:spPr>
          <a:xfrm>
            <a:off x="8440920" y="466344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3" name="Rectangle 98"/>
          <p:cNvSpPr/>
          <p:nvPr/>
        </p:nvSpPr>
        <p:spPr>
          <a:xfrm>
            <a:off x="8440920" y="48279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4" name="Rectangle 99"/>
          <p:cNvSpPr/>
          <p:nvPr/>
        </p:nvSpPr>
        <p:spPr>
          <a:xfrm>
            <a:off x="8440920" y="49924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5" name="Rectangle 100"/>
          <p:cNvSpPr/>
          <p:nvPr/>
        </p:nvSpPr>
        <p:spPr>
          <a:xfrm>
            <a:off x="8440920" y="51573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6" name="Rectangle 101"/>
          <p:cNvSpPr/>
          <p:nvPr/>
        </p:nvSpPr>
        <p:spPr>
          <a:xfrm>
            <a:off x="8440920" y="53218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7" name="Rectangle 102"/>
          <p:cNvSpPr/>
          <p:nvPr/>
        </p:nvSpPr>
        <p:spPr>
          <a:xfrm>
            <a:off x="8440920" y="54864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8" name="Rectangle 103"/>
          <p:cNvSpPr/>
          <p:nvPr/>
        </p:nvSpPr>
        <p:spPr>
          <a:xfrm>
            <a:off x="8440920" y="56509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9" name="Rectangle 104"/>
          <p:cNvSpPr/>
          <p:nvPr/>
        </p:nvSpPr>
        <p:spPr>
          <a:xfrm>
            <a:off x="10059480" y="1691640"/>
            <a:ext cx="1548720" cy="49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0" name="TextBox 105"/>
          <p:cNvSpPr/>
          <p:nvPr/>
        </p:nvSpPr>
        <p:spPr>
          <a:xfrm>
            <a:off x="10059480" y="1737360"/>
            <a:ext cx="154872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Client B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1" name="TextBox 106"/>
          <p:cNvSpPr/>
          <p:nvPr/>
        </p:nvSpPr>
        <p:spPr>
          <a:xfrm>
            <a:off x="10059480" y="1947600"/>
            <a:ext cx="15487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SSE listener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2" name="Rectangle 107"/>
          <p:cNvSpPr/>
          <p:nvPr/>
        </p:nvSpPr>
        <p:spPr>
          <a:xfrm>
            <a:off x="10818360" y="21945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3" name="Rectangle 108"/>
          <p:cNvSpPr/>
          <p:nvPr/>
        </p:nvSpPr>
        <p:spPr>
          <a:xfrm>
            <a:off x="10818360" y="23590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4" name="Rectangle 109"/>
          <p:cNvSpPr/>
          <p:nvPr/>
        </p:nvSpPr>
        <p:spPr>
          <a:xfrm>
            <a:off x="10818360" y="25236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5" name="Rectangle 110"/>
          <p:cNvSpPr/>
          <p:nvPr/>
        </p:nvSpPr>
        <p:spPr>
          <a:xfrm>
            <a:off x="10818360" y="26884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6" name="Rectangle 111"/>
          <p:cNvSpPr/>
          <p:nvPr/>
        </p:nvSpPr>
        <p:spPr>
          <a:xfrm>
            <a:off x="10818360" y="28530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7" name="Rectangle 112"/>
          <p:cNvSpPr/>
          <p:nvPr/>
        </p:nvSpPr>
        <p:spPr>
          <a:xfrm>
            <a:off x="10818360" y="30175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8" name="Rectangle 113"/>
          <p:cNvSpPr/>
          <p:nvPr/>
        </p:nvSpPr>
        <p:spPr>
          <a:xfrm>
            <a:off x="10818360" y="318204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9" name="Rectangle 114"/>
          <p:cNvSpPr/>
          <p:nvPr/>
        </p:nvSpPr>
        <p:spPr>
          <a:xfrm>
            <a:off x="10818360" y="33465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0" name="Rectangle 115"/>
          <p:cNvSpPr/>
          <p:nvPr/>
        </p:nvSpPr>
        <p:spPr>
          <a:xfrm>
            <a:off x="10818360" y="351144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1" name="Rectangle 116"/>
          <p:cNvSpPr/>
          <p:nvPr/>
        </p:nvSpPr>
        <p:spPr>
          <a:xfrm>
            <a:off x="10818360" y="36759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2" name="Rectangle 117"/>
          <p:cNvSpPr/>
          <p:nvPr/>
        </p:nvSpPr>
        <p:spPr>
          <a:xfrm>
            <a:off x="10818360" y="38404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3" name="Rectangle 118"/>
          <p:cNvSpPr/>
          <p:nvPr/>
        </p:nvSpPr>
        <p:spPr>
          <a:xfrm>
            <a:off x="10818360" y="40050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4" name="Rectangle 119"/>
          <p:cNvSpPr/>
          <p:nvPr/>
        </p:nvSpPr>
        <p:spPr>
          <a:xfrm>
            <a:off x="10818360" y="41695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5" name="Rectangle 120"/>
          <p:cNvSpPr/>
          <p:nvPr/>
        </p:nvSpPr>
        <p:spPr>
          <a:xfrm>
            <a:off x="10818360" y="43344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6" name="Rectangle 121"/>
          <p:cNvSpPr/>
          <p:nvPr/>
        </p:nvSpPr>
        <p:spPr>
          <a:xfrm>
            <a:off x="10818360" y="44989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7" name="Rectangle 122"/>
          <p:cNvSpPr/>
          <p:nvPr/>
        </p:nvSpPr>
        <p:spPr>
          <a:xfrm>
            <a:off x="10818360" y="466344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8" name="Rectangle 123"/>
          <p:cNvSpPr/>
          <p:nvPr/>
        </p:nvSpPr>
        <p:spPr>
          <a:xfrm>
            <a:off x="10818360" y="48279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9" name="Rectangle 124"/>
          <p:cNvSpPr/>
          <p:nvPr/>
        </p:nvSpPr>
        <p:spPr>
          <a:xfrm>
            <a:off x="10818360" y="49924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0" name="Rectangle 125"/>
          <p:cNvSpPr/>
          <p:nvPr/>
        </p:nvSpPr>
        <p:spPr>
          <a:xfrm>
            <a:off x="10818360" y="515736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1" name="Rectangle 126"/>
          <p:cNvSpPr/>
          <p:nvPr/>
        </p:nvSpPr>
        <p:spPr>
          <a:xfrm>
            <a:off x="10818360" y="532188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2" name="Rectangle 127"/>
          <p:cNvSpPr/>
          <p:nvPr/>
        </p:nvSpPr>
        <p:spPr>
          <a:xfrm>
            <a:off x="10818360" y="548640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3" name="Rectangle 128"/>
          <p:cNvSpPr/>
          <p:nvPr/>
        </p:nvSpPr>
        <p:spPr>
          <a:xfrm>
            <a:off x="10818360" y="5650920"/>
            <a:ext cx="30960" cy="856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2840" rIns="1548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4" name="Rectangle 129"/>
          <p:cNvSpPr/>
          <p:nvPr/>
        </p:nvSpPr>
        <p:spPr>
          <a:xfrm>
            <a:off x="1326960" y="2606040"/>
            <a:ext cx="2371680" cy="172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5" name="Oval 130"/>
          <p:cNvSpPr/>
          <p:nvPr/>
        </p:nvSpPr>
        <p:spPr>
          <a:xfrm>
            <a:off x="3612960" y="2571120"/>
            <a:ext cx="85680" cy="856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19440" rIns="4284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6" name="TextBox 131"/>
          <p:cNvSpPr/>
          <p:nvPr/>
        </p:nvSpPr>
        <p:spPr>
          <a:xfrm>
            <a:off x="1418400" y="2283480"/>
            <a:ext cx="22802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POST /chat/send  { to, message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7" name="Rectangle 132"/>
          <p:cNvSpPr/>
          <p:nvPr/>
        </p:nvSpPr>
        <p:spPr>
          <a:xfrm>
            <a:off x="3704400" y="3063240"/>
            <a:ext cx="2371680" cy="1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8" name="Oval 133"/>
          <p:cNvSpPr/>
          <p:nvPr/>
        </p:nvSpPr>
        <p:spPr>
          <a:xfrm>
            <a:off x="5990400" y="3028320"/>
            <a:ext cx="85680" cy="85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19440" rIns="4284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9" name="TextBox 134"/>
          <p:cNvSpPr/>
          <p:nvPr/>
        </p:nvSpPr>
        <p:spPr>
          <a:xfrm>
            <a:off x="3795840" y="2770560"/>
            <a:ext cx="22802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INSERT INTO Message (via Prisma)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0" name="Rectangle 135"/>
          <p:cNvSpPr/>
          <p:nvPr/>
        </p:nvSpPr>
        <p:spPr>
          <a:xfrm>
            <a:off x="3704400" y="3485520"/>
            <a:ext cx="85680" cy="85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1" name="Rectangle 136"/>
          <p:cNvSpPr/>
          <p:nvPr/>
        </p:nvSpPr>
        <p:spPr>
          <a:xfrm>
            <a:off x="3868920" y="3520440"/>
            <a:ext cx="85680" cy="1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2" name="Rectangle 137"/>
          <p:cNvSpPr/>
          <p:nvPr/>
        </p:nvSpPr>
        <p:spPr>
          <a:xfrm>
            <a:off x="4033440" y="3520440"/>
            <a:ext cx="85680" cy="1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3" name="Rectangle 138"/>
          <p:cNvSpPr/>
          <p:nvPr/>
        </p:nvSpPr>
        <p:spPr>
          <a:xfrm>
            <a:off x="4198320" y="3520440"/>
            <a:ext cx="85680" cy="1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4" name="Rectangle 139"/>
          <p:cNvSpPr/>
          <p:nvPr/>
        </p:nvSpPr>
        <p:spPr>
          <a:xfrm>
            <a:off x="4362840" y="3520440"/>
            <a:ext cx="85680" cy="1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5" name="Rectangle 140"/>
          <p:cNvSpPr/>
          <p:nvPr/>
        </p:nvSpPr>
        <p:spPr>
          <a:xfrm>
            <a:off x="4527360" y="3520440"/>
            <a:ext cx="85680" cy="1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6" name="Rectangle 141"/>
          <p:cNvSpPr/>
          <p:nvPr/>
        </p:nvSpPr>
        <p:spPr>
          <a:xfrm>
            <a:off x="4691880" y="3520440"/>
            <a:ext cx="85680" cy="1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7" name="Rectangle 142"/>
          <p:cNvSpPr/>
          <p:nvPr/>
        </p:nvSpPr>
        <p:spPr>
          <a:xfrm>
            <a:off x="4856400" y="3520440"/>
            <a:ext cx="85680" cy="1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8" name="Rectangle 143"/>
          <p:cNvSpPr/>
          <p:nvPr/>
        </p:nvSpPr>
        <p:spPr>
          <a:xfrm>
            <a:off x="5021280" y="3520440"/>
            <a:ext cx="85680" cy="1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9" name="Rectangle 144"/>
          <p:cNvSpPr/>
          <p:nvPr/>
        </p:nvSpPr>
        <p:spPr>
          <a:xfrm>
            <a:off x="5185800" y="3520440"/>
            <a:ext cx="85680" cy="1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0" name="Rectangle 145"/>
          <p:cNvSpPr/>
          <p:nvPr/>
        </p:nvSpPr>
        <p:spPr>
          <a:xfrm>
            <a:off x="5350320" y="3520440"/>
            <a:ext cx="85680" cy="1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1" name="Rectangle 146"/>
          <p:cNvSpPr/>
          <p:nvPr/>
        </p:nvSpPr>
        <p:spPr>
          <a:xfrm>
            <a:off x="5514840" y="3520440"/>
            <a:ext cx="85680" cy="1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2" name="Rectangle 147"/>
          <p:cNvSpPr/>
          <p:nvPr/>
        </p:nvSpPr>
        <p:spPr>
          <a:xfrm>
            <a:off x="5679360" y="3520440"/>
            <a:ext cx="85680" cy="1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3" name="Rectangle 148"/>
          <p:cNvSpPr/>
          <p:nvPr/>
        </p:nvSpPr>
        <p:spPr>
          <a:xfrm>
            <a:off x="5844240" y="3520440"/>
            <a:ext cx="85680" cy="1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4" name="Rectangle 149"/>
          <p:cNvSpPr/>
          <p:nvPr/>
        </p:nvSpPr>
        <p:spPr>
          <a:xfrm>
            <a:off x="6008760" y="3520440"/>
            <a:ext cx="67320" cy="1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840" tIns="-21960" rIns="33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5" name="Oval 150"/>
          <p:cNvSpPr/>
          <p:nvPr/>
        </p:nvSpPr>
        <p:spPr>
          <a:xfrm>
            <a:off x="3704400" y="3485520"/>
            <a:ext cx="85680" cy="856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19440" rIns="4284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6" name="TextBox 151"/>
          <p:cNvSpPr/>
          <p:nvPr/>
        </p:nvSpPr>
        <p:spPr>
          <a:xfrm>
            <a:off x="3795840" y="3227760"/>
            <a:ext cx="22802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8B5CF6"/>
                </a:solidFill>
                <a:effectLst/>
                <a:uFillTx/>
                <a:latin typeface="Consolas"/>
              </a:rPr>
              <a:t>saved message  { id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7" name="Rectangle 152"/>
          <p:cNvSpPr/>
          <p:nvPr/>
        </p:nvSpPr>
        <p:spPr>
          <a:xfrm>
            <a:off x="3704400" y="3977640"/>
            <a:ext cx="4749120" cy="1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8" name="Oval 153"/>
          <p:cNvSpPr/>
          <p:nvPr/>
        </p:nvSpPr>
        <p:spPr>
          <a:xfrm>
            <a:off x="8367840" y="3942720"/>
            <a:ext cx="85680" cy="85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19440" rIns="4284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9" name="TextBox 154"/>
          <p:cNvSpPr/>
          <p:nvPr/>
        </p:nvSpPr>
        <p:spPr>
          <a:xfrm>
            <a:off x="3780000" y="3716640"/>
            <a:ext cx="46576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SET latest:chat:&lt;from&gt;:&lt;to&gt; = msg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0" name="Rectangle 155"/>
          <p:cNvSpPr/>
          <p:nvPr/>
        </p:nvSpPr>
        <p:spPr>
          <a:xfrm>
            <a:off x="1326960" y="4399920"/>
            <a:ext cx="85680" cy="85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1" name="Rectangle 156"/>
          <p:cNvSpPr/>
          <p:nvPr/>
        </p:nvSpPr>
        <p:spPr>
          <a:xfrm>
            <a:off x="1491480" y="4434840"/>
            <a:ext cx="85680" cy="1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2" name="Rectangle 157"/>
          <p:cNvSpPr/>
          <p:nvPr/>
        </p:nvSpPr>
        <p:spPr>
          <a:xfrm>
            <a:off x="1656000" y="4434840"/>
            <a:ext cx="85680" cy="1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3" name="Rectangle 158"/>
          <p:cNvSpPr/>
          <p:nvPr/>
        </p:nvSpPr>
        <p:spPr>
          <a:xfrm>
            <a:off x="1820880" y="4434840"/>
            <a:ext cx="85680" cy="1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4" name="Rectangle 159"/>
          <p:cNvSpPr/>
          <p:nvPr/>
        </p:nvSpPr>
        <p:spPr>
          <a:xfrm>
            <a:off x="1985400" y="4434840"/>
            <a:ext cx="85680" cy="1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5" name="Rectangle 160"/>
          <p:cNvSpPr/>
          <p:nvPr/>
        </p:nvSpPr>
        <p:spPr>
          <a:xfrm>
            <a:off x="2149920" y="4434840"/>
            <a:ext cx="85680" cy="1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6" name="Rectangle 161"/>
          <p:cNvSpPr/>
          <p:nvPr/>
        </p:nvSpPr>
        <p:spPr>
          <a:xfrm>
            <a:off x="2314440" y="4434840"/>
            <a:ext cx="85680" cy="1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7" name="Rectangle 162"/>
          <p:cNvSpPr/>
          <p:nvPr/>
        </p:nvSpPr>
        <p:spPr>
          <a:xfrm>
            <a:off x="2478960" y="4434840"/>
            <a:ext cx="85680" cy="1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8" name="Rectangle 163"/>
          <p:cNvSpPr/>
          <p:nvPr/>
        </p:nvSpPr>
        <p:spPr>
          <a:xfrm>
            <a:off x="2643840" y="4434840"/>
            <a:ext cx="85680" cy="1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9" name="Rectangle 164"/>
          <p:cNvSpPr/>
          <p:nvPr/>
        </p:nvSpPr>
        <p:spPr>
          <a:xfrm>
            <a:off x="2808360" y="4434840"/>
            <a:ext cx="85680" cy="1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0" name="Rectangle 165"/>
          <p:cNvSpPr/>
          <p:nvPr/>
        </p:nvSpPr>
        <p:spPr>
          <a:xfrm>
            <a:off x="2972880" y="4434840"/>
            <a:ext cx="85680" cy="1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1" name="Rectangle 166"/>
          <p:cNvSpPr/>
          <p:nvPr/>
        </p:nvSpPr>
        <p:spPr>
          <a:xfrm>
            <a:off x="3137400" y="4434840"/>
            <a:ext cx="85680" cy="1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2" name="Rectangle 167"/>
          <p:cNvSpPr/>
          <p:nvPr/>
        </p:nvSpPr>
        <p:spPr>
          <a:xfrm>
            <a:off x="3301920" y="4434840"/>
            <a:ext cx="85680" cy="1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3" name="Rectangle 168"/>
          <p:cNvSpPr/>
          <p:nvPr/>
        </p:nvSpPr>
        <p:spPr>
          <a:xfrm>
            <a:off x="3466800" y="4434840"/>
            <a:ext cx="85680" cy="1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4" name="Rectangle 169"/>
          <p:cNvSpPr/>
          <p:nvPr/>
        </p:nvSpPr>
        <p:spPr>
          <a:xfrm>
            <a:off x="3631320" y="4434840"/>
            <a:ext cx="67320" cy="1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840" tIns="-21960" rIns="33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5" name="Oval 170"/>
          <p:cNvSpPr/>
          <p:nvPr/>
        </p:nvSpPr>
        <p:spPr>
          <a:xfrm>
            <a:off x="1326960" y="4399920"/>
            <a:ext cx="85680" cy="856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19440" rIns="4284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6" name="TextBox 171"/>
          <p:cNvSpPr/>
          <p:nvPr/>
        </p:nvSpPr>
        <p:spPr>
          <a:xfrm>
            <a:off x="1418400" y="4480560"/>
            <a:ext cx="22802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200 OK { status: SENT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7" name="Rectangle 172"/>
          <p:cNvSpPr/>
          <p:nvPr/>
        </p:nvSpPr>
        <p:spPr>
          <a:xfrm>
            <a:off x="8002080" y="4572000"/>
            <a:ext cx="3286080" cy="104580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8" name="Rectangle 173"/>
          <p:cNvSpPr/>
          <p:nvPr/>
        </p:nvSpPr>
        <p:spPr>
          <a:xfrm>
            <a:off x="8002080" y="4574520"/>
            <a:ext cx="588600" cy="222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9" name="TextBox 174"/>
          <p:cNvSpPr/>
          <p:nvPr/>
        </p:nvSpPr>
        <p:spPr>
          <a:xfrm>
            <a:off x="8002080" y="4574520"/>
            <a:ext cx="58860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loop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0" name="TextBox 175"/>
          <p:cNvSpPr/>
          <p:nvPr/>
        </p:nvSpPr>
        <p:spPr>
          <a:xfrm>
            <a:off x="8642160" y="4574520"/>
            <a:ext cx="22802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[polling 1s]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1" name="Rectangle 176"/>
          <p:cNvSpPr/>
          <p:nvPr/>
        </p:nvSpPr>
        <p:spPr>
          <a:xfrm>
            <a:off x="8459280" y="5120640"/>
            <a:ext cx="2371680" cy="1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2" name="Oval 177"/>
          <p:cNvSpPr/>
          <p:nvPr/>
        </p:nvSpPr>
        <p:spPr>
          <a:xfrm>
            <a:off x="8459280" y="5085720"/>
            <a:ext cx="85680" cy="856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19440" rIns="4284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3" name="TextBox 178"/>
          <p:cNvSpPr/>
          <p:nvPr/>
        </p:nvSpPr>
        <p:spPr>
          <a:xfrm>
            <a:off x="8475120" y="4894560"/>
            <a:ext cx="22802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GET latest:chat:*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4" name="Rectangle 179"/>
          <p:cNvSpPr/>
          <p:nvPr/>
        </p:nvSpPr>
        <p:spPr>
          <a:xfrm>
            <a:off x="8459280" y="5440680"/>
            <a:ext cx="85680" cy="1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5" name="Rectangle 180"/>
          <p:cNvSpPr/>
          <p:nvPr/>
        </p:nvSpPr>
        <p:spPr>
          <a:xfrm>
            <a:off x="8623800" y="5440680"/>
            <a:ext cx="85680" cy="1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6" name="Rectangle 181"/>
          <p:cNvSpPr/>
          <p:nvPr/>
        </p:nvSpPr>
        <p:spPr>
          <a:xfrm>
            <a:off x="8788320" y="5440680"/>
            <a:ext cx="85680" cy="1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7" name="Rectangle 182"/>
          <p:cNvSpPr/>
          <p:nvPr/>
        </p:nvSpPr>
        <p:spPr>
          <a:xfrm>
            <a:off x="8953200" y="5440680"/>
            <a:ext cx="85680" cy="1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8" name="Rectangle 183"/>
          <p:cNvSpPr/>
          <p:nvPr/>
        </p:nvSpPr>
        <p:spPr>
          <a:xfrm>
            <a:off x="9117720" y="5440680"/>
            <a:ext cx="85680" cy="1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9" name="Rectangle 184"/>
          <p:cNvSpPr/>
          <p:nvPr/>
        </p:nvSpPr>
        <p:spPr>
          <a:xfrm>
            <a:off x="9282240" y="5440680"/>
            <a:ext cx="85680" cy="1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0" name="Rectangle 185"/>
          <p:cNvSpPr/>
          <p:nvPr/>
        </p:nvSpPr>
        <p:spPr>
          <a:xfrm>
            <a:off x="9446760" y="5440680"/>
            <a:ext cx="85680" cy="1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1" name="Rectangle 186"/>
          <p:cNvSpPr/>
          <p:nvPr/>
        </p:nvSpPr>
        <p:spPr>
          <a:xfrm>
            <a:off x="9611280" y="5440680"/>
            <a:ext cx="85680" cy="1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2" name="Rectangle 187"/>
          <p:cNvSpPr/>
          <p:nvPr/>
        </p:nvSpPr>
        <p:spPr>
          <a:xfrm>
            <a:off x="9776160" y="5440680"/>
            <a:ext cx="85680" cy="1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3" name="Rectangle 188"/>
          <p:cNvSpPr/>
          <p:nvPr/>
        </p:nvSpPr>
        <p:spPr>
          <a:xfrm>
            <a:off x="9940680" y="5440680"/>
            <a:ext cx="85680" cy="1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4" name="Rectangle 189"/>
          <p:cNvSpPr/>
          <p:nvPr/>
        </p:nvSpPr>
        <p:spPr>
          <a:xfrm>
            <a:off x="10105200" y="5440680"/>
            <a:ext cx="85680" cy="1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5" name="Rectangle 190"/>
          <p:cNvSpPr/>
          <p:nvPr/>
        </p:nvSpPr>
        <p:spPr>
          <a:xfrm>
            <a:off x="10269720" y="5440680"/>
            <a:ext cx="85680" cy="1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6" name="Rectangle 191"/>
          <p:cNvSpPr/>
          <p:nvPr/>
        </p:nvSpPr>
        <p:spPr>
          <a:xfrm>
            <a:off x="10434240" y="5440680"/>
            <a:ext cx="85680" cy="1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7" name="Rectangle 192"/>
          <p:cNvSpPr/>
          <p:nvPr/>
        </p:nvSpPr>
        <p:spPr>
          <a:xfrm>
            <a:off x="10599120" y="5440680"/>
            <a:ext cx="85680" cy="1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-21960" rIns="4284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8" name="Rectangle 193"/>
          <p:cNvSpPr/>
          <p:nvPr/>
        </p:nvSpPr>
        <p:spPr>
          <a:xfrm>
            <a:off x="10745280" y="5405760"/>
            <a:ext cx="85680" cy="85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-21960" rIns="3636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9" name="Oval 194"/>
          <p:cNvSpPr/>
          <p:nvPr/>
        </p:nvSpPr>
        <p:spPr>
          <a:xfrm>
            <a:off x="10745280" y="5405760"/>
            <a:ext cx="85680" cy="856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2840" tIns="19440" rIns="4284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0" name="TextBox 195"/>
          <p:cNvSpPr/>
          <p:nvPr/>
        </p:nvSpPr>
        <p:spPr>
          <a:xfrm>
            <a:off x="8475120" y="5214600"/>
            <a:ext cx="22802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data { id, message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1" name="TextBox 196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2" name="TextBox 197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34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4" name="Text 64"/>
          <p:cNvSpPr/>
          <p:nvPr/>
        </p:nvSpPr>
        <p:spPr>
          <a:xfrm>
            <a:off x="549360" y="41220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 · DIAGRAMME DE SEQUENCE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6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Auth — signature JWT (jose)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7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8" name="Shape 3"/>
          <p:cNvSpPr/>
          <p:nvPr/>
        </p:nvSpPr>
        <p:spPr>
          <a:xfrm>
            <a:off x="548640" y="1691640"/>
            <a:ext cx="7309440" cy="456624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9" name="Shape 4"/>
          <p:cNvSpPr/>
          <p:nvPr/>
        </p:nvSpPr>
        <p:spPr>
          <a:xfrm>
            <a:off x="777240" y="1874520"/>
            <a:ext cx="131400" cy="13140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0" name="Shape 5"/>
          <p:cNvSpPr/>
          <p:nvPr/>
        </p:nvSpPr>
        <p:spPr>
          <a:xfrm>
            <a:off x="960120" y="1874520"/>
            <a:ext cx="131400" cy="13140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1" name="Shape 6"/>
          <p:cNvSpPr/>
          <p:nvPr/>
        </p:nvSpPr>
        <p:spPr>
          <a:xfrm>
            <a:off x="1143000" y="1874520"/>
            <a:ext cx="131400" cy="13140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2" name="Text 7"/>
          <p:cNvSpPr/>
          <p:nvPr/>
        </p:nvSpPr>
        <p:spPr>
          <a:xfrm>
            <a:off x="1371600" y="1783080"/>
            <a:ext cx="54806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src/lib/server/user/login.ts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3" name="Text 8"/>
          <p:cNvSpPr/>
          <p:nvPr/>
        </p:nvSpPr>
        <p:spPr>
          <a:xfrm>
            <a:off x="777240" y="224028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import { SignJWT } from 'jose';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4" name="Text 9"/>
          <p:cNvSpPr/>
          <p:nvPr/>
        </p:nvSpPr>
        <p:spPr>
          <a:xfrm>
            <a:off x="777240" y="244152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import bcrypt from 'bcrypt';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5" name="Text 10"/>
          <p:cNvSpPr/>
          <p:nvPr/>
        </p:nvSpPr>
        <p:spPr>
          <a:xfrm>
            <a:off x="777240" y="264276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6" name="Text 11"/>
          <p:cNvSpPr/>
          <p:nvPr/>
        </p:nvSpPr>
        <p:spPr>
          <a:xfrm>
            <a:off x="777240" y="284364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export async function login(email: string, password: string)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7" name="Text 12"/>
          <p:cNvSpPr/>
          <p:nvPr/>
        </p:nvSpPr>
        <p:spPr>
          <a:xfrm>
            <a:off x="777240" y="304488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const user = await db.user.findUnique({ where: { email } });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8" name="Text 13"/>
          <p:cNvSpPr/>
          <p:nvPr/>
        </p:nvSpPr>
        <p:spPr>
          <a:xfrm>
            <a:off x="777240" y="324612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  if (!user) throw new AuthError('INVALID_CREDENTIALS');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9" name="Text 14"/>
          <p:cNvSpPr/>
          <p:nvPr/>
        </p:nvSpPr>
        <p:spPr>
          <a:xfrm>
            <a:off x="777240" y="344736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0" name="Text 15"/>
          <p:cNvSpPr/>
          <p:nvPr/>
        </p:nvSpPr>
        <p:spPr>
          <a:xfrm>
            <a:off x="777240" y="364860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const ok = await bcrypt.compare(password, user.password);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1" name="Text 16"/>
          <p:cNvSpPr/>
          <p:nvPr/>
        </p:nvSpPr>
        <p:spPr>
          <a:xfrm>
            <a:off x="777240" y="384948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  if (!ok)  throw new AuthError('INVALID_CREDENTIALS');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2" name="Text 17"/>
          <p:cNvSpPr/>
          <p:nvPr/>
        </p:nvSpPr>
        <p:spPr>
          <a:xfrm>
            <a:off x="777240" y="405072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3" name="Text 18"/>
          <p:cNvSpPr/>
          <p:nvPr/>
        </p:nvSpPr>
        <p:spPr>
          <a:xfrm>
            <a:off x="777240" y="425196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const secret = new TextEncoder().encode(process.env.JWT_SECRET);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4" name="Text 19"/>
          <p:cNvSpPr/>
          <p:nvPr/>
        </p:nvSpPr>
        <p:spPr>
          <a:xfrm>
            <a:off x="777240" y="445320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  const token  = await new SignJWT({ userId: user.id })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5" name="Text 20"/>
          <p:cNvSpPr/>
          <p:nvPr/>
        </p:nvSpPr>
        <p:spPr>
          <a:xfrm>
            <a:off x="777240" y="465444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.setProtectedHeader({ alg: 'HS256' })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6" name="Text 21"/>
          <p:cNvSpPr/>
          <p:nvPr/>
        </p:nvSpPr>
        <p:spPr>
          <a:xfrm>
            <a:off x="777240" y="485532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.setIssuedAt()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7" name="Text 22"/>
          <p:cNvSpPr/>
          <p:nvPr/>
        </p:nvSpPr>
        <p:spPr>
          <a:xfrm>
            <a:off x="777240" y="505656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.setExpirationTime('480m')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8" name="Text 23"/>
          <p:cNvSpPr/>
          <p:nvPr/>
        </p:nvSpPr>
        <p:spPr>
          <a:xfrm>
            <a:off x="777240" y="525780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.sign(secret);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9" name="Text 24"/>
          <p:cNvSpPr/>
          <p:nvPr/>
        </p:nvSpPr>
        <p:spPr>
          <a:xfrm>
            <a:off x="777240" y="545904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0" name="Text 25"/>
          <p:cNvSpPr/>
          <p:nvPr/>
        </p:nvSpPr>
        <p:spPr>
          <a:xfrm>
            <a:off x="777240" y="566028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  return { token, user };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1" name="Text 26"/>
          <p:cNvSpPr/>
          <p:nvPr/>
        </p:nvSpPr>
        <p:spPr>
          <a:xfrm>
            <a:off x="777240" y="586116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2" name="Shape 27"/>
          <p:cNvSpPr/>
          <p:nvPr/>
        </p:nvSpPr>
        <p:spPr>
          <a:xfrm>
            <a:off x="8092440" y="1691640"/>
            <a:ext cx="3514680" cy="456624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3" name="Text 28"/>
          <p:cNvSpPr/>
          <p:nvPr/>
        </p:nvSpPr>
        <p:spPr>
          <a:xfrm>
            <a:off x="8275320" y="1783080"/>
            <a:ext cx="31946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4" name="Shape 29"/>
          <p:cNvSpPr/>
          <p:nvPr/>
        </p:nvSpPr>
        <p:spPr>
          <a:xfrm>
            <a:off x="8275320" y="2240280"/>
            <a:ext cx="405720" cy="40572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5" name="Text 30"/>
          <p:cNvSpPr/>
          <p:nvPr/>
        </p:nvSpPr>
        <p:spPr>
          <a:xfrm>
            <a:off x="8275320" y="224028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6" name="Text 31"/>
          <p:cNvSpPr/>
          <p:nvPr/>
        </p:nvSpPr>
        <p:spPr>
          <a:xfrm>
            <a:off x="8778240" y="219456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bcrypt.compare en temps constant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7" name="Shape 32"/>
          <p:cNvSpPr/>
          <p:nvPr/>
        </p:nvSpPr>
        <p:spPr>
          <a:xfrm>
            <a:off x="8275320" y="2880360"/>
            <a:ext cx="405720" cy="40572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8" name="Text 33"/>
          <p:cNvSpPr/>
          <p:nvPr/>
        </p:nvSpPr>
        <p:spPr>
          <a:xfrm>
            <a:off x="8275320" y="2844360"/>
            <a:ext cx="405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◉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9" name="Text 34"/>
          <p:cNvSpPr/>
          <p:nvPr/>
        </p:nvSpPr>
        <p:spPr>
          <a:xfrm>
            <a:off x="8778240" y="283464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Même message si user inconnu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0" name="Shape 35"/>
          <p:cNvSpPr/>
          <p:nvPr/>
        </p:nvSpPr>
        <p:spPr>
          <a:xfrm>
            <a:off x="8275320" y="3520440"/>
            <a:ext cx="405720" cy="40572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1" name="Text 36"/>
          <p:cNvSpPr/>
          <p:nvPr/>
        </p:nvSpPr>
        <p:spPr>
          <a:xfrm>
            <a:off x="8275320" y="3484440"/>
            <a:ext cx="40572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⊕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2" name="Text 37"/>
          <p:cNvSpPr/>
          <p:nvPr/>
        </p:nvSpPr>
        <p:spPr>
          <a:xfrm>
            <a:off x="8778240" y="347472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JWT signé HS256 (jose)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3" name="Shape 38"/>
          <p:cNvSpPr/>
          <p:nvPr/>
        </p:nvSpPr>
        <p:spPr>
          <a:xfrm>
            <a:off x="8275320" y="4160520"/>
            <a:ext cx="405720" cy="40572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4" name="Text 39"/>
          <p:cNvSpPr/>
          <p:nvPr/>
        </p:nvSpPr>
        <p:spPr>
          <a:xfrm>
            <a:off x="8275320" y="4114800"/>
            <a:ext cx="4057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◷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5" name="Text 40"/>
          <p:cNvSpPr/>
          <p:nvPr/>
        </p:nvSpPr>
        <p:spPr>
          <a:xfrm>
            <a:off x="8778240" y="411480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Expiration explicite 480min (8h)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6" name="Shape 41"/>
          <p:cNvSpPr/>
          <p:nvPr/>
        </p:nvSpPr>
        <p:spPr>
          <a:xfrm>
            <a:off x="8275320" y="4800600"/>
            <a:ext cx="405720" cy="40572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7" name="Text 42"/>
          <p:cNvSpPr/>
          <p:nvPr/>
        </p:nvSpPr>
        <p:spPr>
          <a:xfrm>
            <a:off x="8275320" y="4764600"/>
            <a:ext cx="40572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✦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8" name="Text 43"/>
          <p:cNvSpPr/>
          <p:nvPr/>
        </p:nvSpPr>
        <p:spPr>
          <a:xfrm>
            <a:off x="8778240" y="475488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Secret env var jamais commité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9" name="Shape 44"/>
          <p:cNvSpPr/>
          <p:nvPr/>
        </p:nvSpPr>
        <p:spPr>
          <a:xfrm>
            <a:off x="8275320" y="5440680"/>
            <a:ext cx="405720" cy="40572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0" name="Text 45"/>
          <p:cNvSpPr/>
          <p:nvPr/>
        </p:nvSpPr>
        <p:spPr>
          <a:xfrm>
            <a:off x="8275320" y="5293800"/>
            <a:ext cx="405720" cy="64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▣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1" name="Text 46"/>
          <p:cNvSpPr/>
          <p:nvPr/>
        </p:nvSpPr>
        <p:spPr>
          <a:xfrm>
            <a:off x="8778240" y="539496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Erreurs typées (AuthError)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2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3" name="Text 47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4" name="Text 48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35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6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Temps réel — Server-Sent Events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7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8" name="Shape 3"/>
          <p:cNvSpPr/>
          <p:nvPr/>
        </p:nvSpPr>
        <p:spPr>
          <a:xfrm>
            <a:off x="166320" y="1655640"/>
            <a:ext cx="1274400" cy="497160"/>
          </a:xfrm>
          <a:prstGeom prst="roundRect">
            <a:avLst>
              <a:gd name="adj" fmla="val 14545"/>
            </a:avLst>
          </a:prstGeom>
          <a:solidFill>
            <a:srgbClr val="EC4899">
              <a:alpha val="4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9" name="Text 4"/>
          <p:cNvSpPr/>
          <p:nvPr/>
        </p:nvSpPr>
        <p:spPr>
          <a:xfrm>
            <a:off x="166320" y="1655640"/>
            <a:ext cx="12744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0" name="Shape 5"/>
          <p:cNvSpPr/>
          <p:nvPr/>
        </p:nvSpPr>
        <p:spPr>
          <a:xfrm>
            <a:off x="806400" y="2158560"/>
            <a:ext cx="360" cy="28346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1" name="Shape 6"/>
          <p:cNvSpPr/>
          <p:nvPr/>
        </p:nvSpPr>
        <p:spPr>
          <a:xfrm>
            <a:off x="3275280" y="1655640"/>
            <a:ext cx="1274400" cy="497160"/>
          </a:xfrm>
          <a:prstGeom prst="roundRect">
            <a:avLst>
              <a:gd name="adj" fmla="val 14545"/>
            </a:avLst>
          </a:prstGeom>
          <a:solidFill>
            <a:srgbClr val="06B6D4">
              <a:alpha val="4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2" name="Text 7"/>
          <p:cNvSpPr/>
          <p:nvPr/>
        </p:nvSpPr>
        <p:spPr>
          <a:xfrm>
            <a:off x="3275280" y="1655640"/>
            <a:ext cx="12744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Next.js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3" name="Shape 8"/>
          <p:cNvSpPr/>
          <p:nvPr/>
        </p:nvSpPr>
        <p:spPr>
          <a:xfrm>
            <a:off x="3915360" y="2158560"/>
            <a:ext cx="360" cy="28346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4" name="Shape 9"/>
          <p:cNvSpPr/>
          <p:nvPr/>
        </p:nvSpPr>
        <p:spPr>
          <a:xfrm>
            <a:off x="6018480" y="1655640"/>
            <a:ext cx="1274400" cy="497160"/>
          </a:xfrm>
          <a:prstGeom prst="roundRect">
            <a:avLst>
              <a:gd name="adj" fmla="val 14545"/>
            </a:avLst>
          </a:prstGeom>
          <a:solidFill>
            <a:srgbClr val="8B5CF6">
              <a:alpha val="4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5" name="Text 10"/>
          <p:cNvSpPr/>
          <p:nvPr/>
        </p:nvSpPr>
        <p:spPr>
          <a:xfrm>
            <a:off x="6018480" y="1655640"/>
            <a:ext cx="12744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PostgreSQL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6" name="Shape 11"/>
          <p:cNvSpPr/>
          <p:nvPr/>
        </p:nvSpPr>
        <p:spPr>
          <a:xfrm>
            <a:off x="6658560" y="2158560"/>
            <a:ext cx="360" cy="28346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7" name="Shape 12"/>
          <p:cNvSpPr/>
          <p:nvPr/>
        </p:nvSpPr>
        <p:spPr>
          <a:xfrm>
            <a:off x="8395920" y="1655640"/>
            <a:ext cx="1274400" cy="497160"/>
          </a:xfrm>
          <a:prstGeom prst="roundRect">
            <a:avLst>
              <a:gd name="adj" fmla="val 14545"/>
            </a:avLst>
          </a:prstGeom>
          <a:solidFill>
            <a:srgbClr val="F59E0B">
              <a:alpha val="4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8" name="Text 13"/>
          <p:cNvSpPr/>
          <p:nvPr/>
        </p:nvSpPr>
        <p:spPr>
          <a:xfrm>
            <a:off x="8395920" y="1655640"/>
            <a:ext cx="12744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Upstash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Redis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9" name="Shape 14"/>
          <p:cNvSpPr/>
          <p:nvPr/>
        </p:nvSpPr>
        <p:spPr>
          <a:xfrm>
            <a:off x="9036000" y="2158560"/>
            <a:ext cx="360" cy="28346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0" name="Shape 15"/>
          <p:cNvSpPr/>
          <p:nvPr/>
        </p:nvSpPr>
        <p:spPr>
          <a:xfrm>
            <a:off x="10773360" y="1655640"/>
            <a:ext cx="1274400" cy="497160"/>
          </a:xfrm>
          <a:prstGeom prst="roundRect">
            <a:avLst>
              <a:gd name="adj" fmla="val 14545"/>
            </a:avLst>
          </a:prstGeom>
          <a:solidFill>
            <a:srgbClr val="10B981">
              <a:alpha val="4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1" name="Text 16"/>
          <p:cNvSpPr/>
          <p:nvPr/>
        </p:nvSpPr>
        <p:spPr>
          <a:xfrm>
            <a:off x="10773360" y="1655640"/>
            <a:ext cx="12744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B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(SSE)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2" name="Shape 17"/>
          <p:cNvSpPr/>
          <p:nvPr/>
        </p:nvSpPr>
        <p:spPr>
          <a:xfrm>
            <a:off x="11413440" y="2158560"/>
            <a:ext cx="360" cy="28346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3" name="Shape 18"/>
          <p:cNvSpPr/>
          <p:nvPr/>
        </p:nvSpPr>
        <p:spPr>
          <a:xfrm>
            <a:off x="806400" y="2615760"/>
            <a:ext cx="3108960" cy="360"/>
          </a:xfrm>
          <a:prstGeom prst="line">
            <a:avLst/>
          </a:prstGeom>
          <a:ln w="2540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4" name="Text 19"/>
          <p:cNvSpPr/>
          <p:nvPr/>
        </p:nvSpPr>
        <p:spPr>
          <a:xfrm>
            <a:off x="806400" y="2323080"/>
            <a:ext cx="31032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POST /api/private/chat/send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5" name="Shape 20"/>
          <p:cNvSpPr/>
          <p:nvPr/>
        </p:nvSpPr>
        <p:spPr>
          <a:xfrm>
            <a:off x="3915360" y="3027240"/>
            <a:ext cx="2743200" cy="360"/>
          </a:xfrm>
          <a:prstGeom prst="line">
            <a:avLst/>
          </a:prstGeom>
          <a:ln w="25400">
            <a:solidFill>
              <a:srgbClr val="06B6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6" name="Text 21"/>
          <p:cNvSpPr/>
          <p:nvPr/>
        </p:nvSpPr>
        <p:spPr>
          <a:xfrm>
            <a:off x="3915360" y="2734560"/>
            <a:ext cx="2737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INSERT message (Prisma)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7" name="Shape 22"/>
          <p:cNvSpPr/>
          <p:nvPr/>
        </p:nvSpPr>
        <p:spPr>
          <a:xfrm>
            <a:off x="3915360" y="3438720"/>
            <a:ext cx="5120640" cy="360"/>
          </a:xfrm>
          <a:prstGeom prst="line">
            <a:avLst/>
          </a:prstGeom>
          <a:ln w="25400">
            <a:solidFill>
              <a:srgbClr val="F59E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8" name="Text 23"/>
          <p:cNvSpPr/>
          <p:nvPr/>
        </p:nvSpPr>
        <p:spPr>
          <a:xfrm>
            <a:off x="3915360" y="3146040"/>
            <a:ext cx="51148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SET latest:chat:{from}:{to}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9" name="Shape 24"/>
          <p:cNvSpPr/>
          <p:nvPr/>
        </p:nvSpPr>
        <p:spPr>
          <a:xfrm flipH="1">
            <a:off x="806400" y="3850200"/>
            <a:ext cx="3108960" cy="360"/>
          </a:xfrm>
          <a:prstGeom prst="line">
            <a:avLst/>
          </a:prstGeom>
          <a:ln w="25400">
            <a:solidFill>
              <a:srgbClr val="10B981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0" name="Text 25"/>
          <p:cNvSpPr/>
          <p:nvPr/>
        </p:nvSpPr>
        <p:spPr>
          <a:xfrm>
            <a:off x="806400" y="3557520"/>
            <a:ext cx="31032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200 OK status SENT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1" name="Shape 26"/>
          <p:cNvSpPr/>
          <p:nvPr/>
        </p:nvSpPr>
        <p:spPr>
          <a:xfrm flipH="1">
            <a:off x="9036000" y="4307400"/>
            <a:ext cx="2377440" cy="360"/>
          </a:xfrm>
          <a:prstGeom prst="line">
            <a:avLst/>
          </a:prstGeom>
          <a:ln w="25400">
            <a:solidFill>
              <a:srgbClr val="10B981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2" name="Text 27"/>
          <p:cNvSpPr/>
          <p:nvPr/>
        </p:nvSpPr>
        <p:spPr>
          <a:xfrm>
            <a:off x="9036000" y="4014720"/>
            <a:ext cx="23716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GET latest:chat:* (polling REST)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3" name="Shape 28"/>
          <p:cNvSpPr/>
          <p:nvPr/>
        </p:nvSpPr>
        <p:spPr>
          <a:xfrm>
            <a:off x="9036000" y="4718880"/>
            <a:ext cx="2377440" cy="360"/>
          </a:xfrm>
          <a:prstGeom prst="line">
            <a:avLst/>
          </a:prstGeom>
          <a:ln w="25400">
            <a:solidFill>
              <a:srgbClr val="F59E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4" name="Text 29"/>
          <p:cNvSpPr/>
          <p:nvPr/>
        </p:nvSpPr>
        <p:spPr>
          <a:xfrm>
            <a:off x="9036000" y="4426200"/>
            <a:ext cx="23716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payload SSE  data: {...}\n\n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5" name="Shape 30"/>
          <p:cNvSpPr/>
          <p:nvPr/>
        </p:nvSpPr>
        <p:spPr>
          <a:xfrm>
            <a:off x="548640" y="5313240"/>
            <a:ext cx="11058480" cy="954360"/>
          </a:xfrm>
          <a:prstGeom prst="roundRect">
            <a:avLst>
              <a:gd name="adj" fmla="val 7619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6" name="Text 31"/>
          <p:cNvSpPr/>
          <p:nvPr/>
        </p:nvSpPr>
        <p:spPr>
          <a:xfrm>
            <a:off x="777240" y="5404680"/>
            <a:ext cx="1060128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Compromis assumé · Upstash Redis est un service REST (pas de pub/sub TCP) : on poll la clé latest:chat:* depuis l'endpoint SSE, ce qui reste compatible avec Vercel serverless et suffit pour le volume du projet. Roadmap : Redis classique en pub/sub si la charge augmente.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7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8" name="Text 32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9" name="Text 33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36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1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SSE — endpoint /chat/listen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2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3" name="Shape 3"/>
          <p:cNvSpPr/>
          <p:nvPr/>
        </p:nvSpPr>
        <p:spPr>
          <a:xfrm>
            <a:off x="548640" y="1691640"/>
            <a:ext cx="7309440" cy="456624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4" name="Shape 4"/>
          <p:cNvSpPr/>
          <p:nvPr/>
        </p:nvSpPr>
        <p:spPr>
          <a:xfrm>
            <a:off x="777240" y="1874520"/>
            <a:ext cx="131400" cy="13140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5" name="Shape 5"/>
          <p:cNvSpPr/>
          <p:nvPr/>
        </p:nvSpPr>
        <p:spPr>
          <a:xfrm>
            <a:off x="960120" y="1874520"/>
            <a:ext cx="131400" cy="13140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6" name="Shape 6"/>
          <p:cNvSpPr/>
          <p:nvPr/>
        </p:nvSpPr>
        <p:spPr>
          <a:xfrm>
            <a:off x="1143000" y="1874520"/>
            <a:ext cx="131400" cy="13140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7" name="Text 7"/>
          <p:cNvSpPr/>
          <p:nvPr/>
        </p:nvSpPr>
        <p:spPr>
          <a:xfrm>
            <a:off x="1371600" y="1783080"/>
            <a:ext cx="54806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src/app/api/private/chat/listen/route.ts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8" name="Text 8"/>
          <p:cNvSpPr/>
          <p:nvPr/>
        </p:nvSpPr>
        <p:spPr>
          <a:xfrm>
            <a:off x="777240" y="224028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export async function GET(req: NextRequest)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9" name="Text 9"/>
          <p:cNvSpPr/>
          <p:nvPr/>
        </p:nvSpPr>
        <p:spPr>
          <a:xfrm>
            <a:off x="777240" y="238212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const userId = await getUserIdFromRequest(req);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0" name="Text 10"/>
          <p:cNvSpPr/>
          <p:nvPr/>
        </p:nvSpPr>
        <p:spPr>
          <a:xfrm>
            <a:off x="777240" y="252360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  if (!userId) return new Response('Unauthorized', { status: 401 });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1" name="Text 11"/>
          <p:cNvSpPr/>
          <p:nvPr/>
        </p:nvSpPr>
        <p:spPr>
          <a:xfrm>
            <a:off x="777240" y="266544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2" name="Text 12"/>
          <p:cNvSpPr/>
          <p:nvPr/>
        </p:nvSpPr>
        <p:spPr>
          <a:xfrm>
            <a:off x="777240" y="280728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const { conversationId, type } = parseParams(req.url);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3" name="Text 13"/>
          <p:cNvSpPr/>
          <p:nvPr/>
        </p:nvSpPr>
        <p:spPr>
          <a:xfrm>
            <a:off x="777240" y="294912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4" name="Text 14"/>
          <p:cNvSpPr/>
          <p:nvPr/>
        </p:nvSpPr>
        <p:spPr>
          <a:xfrm>
            <a:off x="777240" y="309060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  const stream = new ReadableStream({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5" name="Text 15"/>
          <p:cNvSpPr/>
          <p:nvPr/>
        </p:nvSpPr>
        <p:spPr>
          <a:xfrm>
            <a:off x="777240" y="323244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    start(controller)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6" name="Text 16"/>
          <p:cNvSpPr/>
          <p:nvPr/>
        </p:nvSpPr>
        <p:spPr>
          <a:xfrm>
            <a:off x="777240" y="337428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  const enc = new TextEncoder();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7" name="Text 17"/>
          <p:cNvSpPr/>
          <p:nvPr/>
        </p:nvSpPr>
        <p:spPr>
          <a:xfrm>
            <a:off x="777240" y="351576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  controller.enqueue(enc.encode('data: {"type":"connected"}\n\n'));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8" name="Text 18"/>
          <p:cNvSpPr/>
          <p:nvPr/>
        </p:nvSpPr>
        <p:spPr>
          <a:xfrm>
            <a:off x="777240" y="365760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9" name="Text 19"/>
          <p:cNvSpPr/>
          <p:nvPr/>
        </p:nvSpPr>
        <p:spPr>
          <a:xfrm>
            <a:off x="777240" y="379944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    let active = true, lastId = '';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0" name="Text 20"/>
          <p:cNvSpPr/>
          <p:nvPr/>
        </p:nvSpPr>
        <p:spPr>
          <a:xfrm>
            <a:off x="777240" y="394092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    (async function poll()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1" name="Text 21"/>
          <p:cNvSpPr/>
          <p:nvPr/>
        </p:nvSpPr>
        <p:spPr>
          <a:xfrm>
            <a:off x="777240" y="408276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      while (active)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2" name="Text 22"/>
          <p:cNvSpPr/>
          <p:nvPr/>
        </p:nvSpPr>
        <p:spPr>
          <a:xfrm>
            <a:off x="777240" y="422460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5CF6"/>
                </a:solidFill>
                <a:effectLst/>
                <a:uFillTx/>
                <a:latin typeface="Consolas"/>
                <a:ea typeface="Consolas"/>
              </a:rPr>
              <a:t>          const key = `latest:chat:${userId}:${conversationId}`;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3" name="Text 23"/>
          <p:cNvSpPr/>
          <p:nvPr/>
        </p:nvSpPr>
        <p:spPr>
          <a:xfrm>
            <a:off x="777240" y="436644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      const data = await redis.get(key);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4" name="Text 24"/>
          <p:cNvSpPr/>
          <p:nvPr/>
        </p:nvSpPr>
        <p:spPr>
          <a:xfrm>
            <a:off x="777240" y="450792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        if (data &amp;&amp; data.id !== lastId)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5" name="Text 25"/>
          <p:cNvSpPr/>
          <p:nvPr/>
        </p:nvSpPr>
        <p:spPr>
          <a:xfrm>
            <a:off x="777240" y="464976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          lastId = data.id;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6" name="Text 26"/>
          <p:cNvSpPr/>
          <p:nvPr/>
        </p:nvSpPr>
        <p:spPr>
          <a:xfrm>
            <a:off x="777240" y="479160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        controller.enqueue(enc.encode(`data: ${JSON.stringify(data)}\n\n`));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7" name="Text 27"/>
          <p:cNvSpPr/>
          <p:nvPr/>
        </p:nvSpPr>
        <p:spPr>
          <a:xfrm>
            <a:off x="777240" y="493308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        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8" name="Text 28"/>
          <p:cNvSpPr/>
          <p:nvPr/>
        </p:nvSpPr>
        <p:spPr>
          <a:xfrm>
            <a:off x="777240" y="507492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      await sleep(1000);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9" name="Text 29"/>
          <p:cNvSpPr/>
          <p:nvPr/>
        </p:nvSpPr>
        <p:spPr>
          <a:xfrm>
            <a:off x="777240" y="521676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      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0" name="Text 30"/>
          <p:cNvSpPr/>
          <p:nvPr/>
        </p:nvSpPr>
        <p:spPr>
          <a:xfrm>
            <a:off x="777240" y="535824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    })();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1" name="Text 31"/>
          <p:cNvSpPr/>
          <p:nvPr/>
        </p:nvSpPr>
        <p:spPr>
          <a:xfrm>
            <a:off x="777240" y="550008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      req.signal.addEventListener('abort', () =&gt; { active = false; controller.close(); });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2" name="Text 32"/>
          <p:cNvSpPr/>
          <p:nvPr/>
        </p:nvSpPr>
        <p:spPr>
          <a:xfrm>
            <a:off x="777240" y="564192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    },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3" name="Text 33"/>
          <p:cNvSpPr/>
          <p:nvPr/>
        </p:nvSpPr>
        <p:spPr>
          <a:xfrm>
            <a:off x="777240" y="578376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  });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4" name="Text 34"/>
          <p:cNvSpPr/>
          <p:nvPr/>
        </p:nvSpPr>
        <p:spPr>
          <a:xfrm>
            <a:off x="777240" y="592524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return new Response(stream, { headers: { 'Content-Type': 'text/event-stream' } });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5" name="Text 35"/>
          <p:cNvSpPr/>
          <p:nvPr/>
        </p:nvSpPr>
        <p:spPr>
          <a:xfrm>
            <a:off x="777240" y="6067080"/>
            <a:ext cx="6943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6" name="Shape 36"/>
          <p:cNvSpPr/>
          <p:nvPr/>
        </p:nvSpPr>
        <p:spPr>
          <a:xfrm>
            <a:off x="8092440" y="1691640"/>
            <a:ext cx="3514680" cy="456624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7" name="Text 37"/>
          <p:cNvSpPr/>
          <p:nvPr/>
        </p:nvSpPr>
        <p:spPr>
          <a:xfrm>
            <a:off x="8275320" y="1783080"/>
            <a:ext cx="31946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Mécanique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8" name="Shape 38"/>
          <p:cNvSpPr/>
          <p:nvPr/>
        </p:nvSpPr>
        <p:spPr>
          <a:xfrm>
            <a:off x="8275320" y="2240280"/>
            <a:ext cx="405720" cy="40572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9" name="Text 39"/>
          <p:cNvSpPr/>
          <p:nvPr/>
        </p:nvSpPr>
        <p:spPr>
          <a:xfrm>
            <a:off x="8275320" y="224028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0" name="Text 40"/>
          <p:cNvSpPr/>
          <p:nvPr/>
        </p:nvSpPr>
        <p:spPr>
          <a:xfrm>
            <a:off x="8778240" y="219456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ReadableStream Web standard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1" name="Shape 41"/>
          <p:cNvSpPr/>
          <p:nvPr/>
        </p:nvSpPr>
        <p:spPr>
          <a:xfrm>
            <a:off x="8275320" y="2880360"/>
            <a:ext cx="405720" cy="40572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2" name="Text 42"/>
          <p:cNvSpPr/>
          <p:nvPr/>
        </p:nvSpPr>
        <p:spPr>
          <a:xfrm>
            <a:off x="8275320" y="288036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↻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3" name="Text 43"/>
          <p:cNvSpPr/>
          <p:nvPr/>
        </p:nvSpPr>
        <p:spPr>
          <a:xfrm>
            <a:off x="8778240" y="283464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Polling Redis 1s (REST)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4" name="Shape 44"/>
          <p:cNvSpPr/>
          <p:nvPr/>
        </p:nvSpPr>
        <p:spPr>
          <a:xfrm>
            <a:off x="8275320" y="3520440"/>
            <a:ext cx="405720" cy="40572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5" name="Text 45"/>
          <p:cNvSpPr/>
          <p:nvPr/>
        </p:nvSpPr>
        <p:spPr>
          <a:xfrm>
            <a:off x="8275320" y="352044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✦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6" name="Text 46"/>
          <p:cNvSpPr/>
          <p:nvPr/>
        </p:nvSpPr>
        <p:spPr>
          <a:xfrm>
            <a:off x="8778240" y="347472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Clé latest:chat:&lt;from&gt;:&lt;to&gt;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7" name="Shape 47"/>
          <p:cNvSpPr/>
          <p:nvPr/>
        </p:nvSpPr>
        <p:spPr>
          <a:xfrm>
            <a:off x="8275320" y="4160520"/>
            <a:ext cx="405720" cy="40572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8" name="Text 48"/>
          <p:cNvSpPr/>
          <p:nvPr/>
        </p:nvSpPr>
        <p:spPr>
          <a:xfrm>
            <a:off x="8275320" y="416052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⊕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9" name="Text 49"/>
          <p:cNvSpPr/>
          <p:nvPr/>
        </p:nvSpPr>
        <p:spPr>
          <a:xfrm>
            <a:off x="8778240" y="411480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Déduplication par lastId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0" name="Shape 50"/>
          <p:cNvSpPr/>
          <p:nvPr/>
        </p:nvSpPr>
        <p:spPr>
          <a:xfrm>
            <a:off x="8275320" y="4800600"/>
            <a:ext cx="405720" cy="40572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1" name="Text 51"/>
          <p:cNvSpPr/>
          <p:nvPr/>
        </p:nvSpPr>
        <p:spPr>
          <a:xfrm>
            <a:off x="8275320" y="480060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⊘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2" name="Text 52"/>
          <p:cNvSpPr/>
          <p:nvPr/>
        </p:nvSpPr>
        <p:spPr>
          <a:xfrm>
            <a:off x="8778240" y="475488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abort → cleanup poll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3" name="Shape 53"/>
          <p:cNvSpPr/>
          <p:nvPr/>
        </p:nvSpPr>
        <p:spPr>
          <a:xfrm>
            <a:off x="8275320" y="5440680"/>
            <a:ext cx="405720" cy="40572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4" name="Text 54"/>
          <p:cNvSpPr/>
          <p:nvPr/>
        </p:nvSpPr>
        <p:spPr>
          <a:xfrm>
            <a:off x="8275320" y="544068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◉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5" name="Text 55"/>
          <p:cNvSpPr/>
          <p:nvPr/>
        </p:nvSpPr>
        <p:spPr>
          <a:xfrm>
            <a:off x="8778240" y="539496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userId injecté par middleware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66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7" name="Text 56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8" name="Text 57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37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0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 · 60+ endpoints REST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1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2" name="Shape 3"/>
          <p:cNvSpPr/>
          <p:nvPr/>
        </p:nvSpPr>
        <p:spPr>
          <a:xfrm>
            <a:off x="457200" y="1691640"/>
            <a:ext cx="3651840" cy="223452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3" name="Shape 4"/>
          <p:cNvSpPr/>
          <p:nvPr/>
        </p:nvSpPr>
        <p:spPr>
          <a:xfrm>
            <a:off x="457200" y="1691640"/>
            <a:ext cx="67320" cy="22345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4" name="Text 5"/>
          <p:cNvSpPr/>
          <p:nvPr/>
        </p:nvSpPr>
        <p:spPr>
          <a:xfrm>
            <a:off x="685800" y="178308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Auth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5" name="Shape 6"/>
          <p:cNvSpPr/>
          <p:nvPr/>
        </p:nvSpPr>
        <p:spPr>
          <a:xfrm>
            <a:off x="685800" y="219456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6" name="Text 7"/>
          <p:cNvSpPr/>
          <p:nvPr/>
        </p:nvSpPr>
        <p:spPr>
          <a:xfrm>
            <a:off x="685800" y="219456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7" name="Text 8"/>
          <p:cNvSpPr/>
          <p:nvPr/>
        </p:nvSpPr>
        <p:spPr>
          <a:xfrm>
            <a:off x="1325880" y="219456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/api/public/auth/register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8" name="Shape 9"/>
          <p:cNvSpPr/>
          <p:nvPr/>
        </p:nvSpPr>
        <p:spPr>
          <a:xfrm>
            <a:off x="685800" y="260604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9" name="Text 10"/>
          <p:cNvSpPr/>
          <p:nvPr/>
        </p:nvSpPr>
        <p:spPr>
          <a:xfrm>
            <a:off x="685800" y="260604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0" name="Text 11"/>
          <p:cNvSpPr/>
          <p:nvPr/>
        </p:nvSpPr>
        <p:spPr>
          <a:xfrm>
            <a:off x="1325880" y="260604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/api/public/auth/login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1" name="Shape 12"/>
          <p:cNvSpPr/>
          <p:nvPr/>
        </p:nvSpPr>
        <p:spPr>
          <a:xfrm>
            <a:off x="685800" y="301752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2" name="Text 13"/>
          <p:cNvSpPr/>
          <p:nvPr/>
        </p:nvSpPr>
        <p:spPr>
          <a:xfrm>
            <a:off x="685800" y="301752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3" name="Text 14"/>
          <p:cNvSpPr/>
          <p:nvPr/>
        </p:nvSpPr>
        <p:spPr>
          <a:xfrm>
            <a:off x="1325880" y="301752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/api/public/auth/logout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4" name="Shape 15"/>
          <p:cNvSpPr/>
          <p:nvPr/>
        </p:nvSpPr>
        <p:spPr>
          <a:xfrm>
            <a:off x="685800" y="342900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5" name="Text 16"/>
          <p:cNvSpPr/>
          <p:nvPr/>
        </p:nvSpPr>
        <p:spPr>
          <a:xfrm>
            <a:off x="685800" y="342900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6" name="Text 17"/>
          <p:cNvSpPr/>
          <p:nvPr/>
        </p:nvSpPr>
        <p:spPr>
          <a:xfrm>
            <a:off x="1325880" y="342900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/api/public/auth/callback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7" name="Shape 18"/>
          <p:cNvSpPr/>
          <p:nvPr/>
        </p:nvSpPr>
        <p:spPr>
          <a:xfrm>
            <a:off x="4251960" y="1691640"/>
            <a:ext cx="3651840" cy="223452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8" name="Shape 19"/>
          <p:cNvSpPr/>
          <p:nvPr/>
        </p:nvSpPr>
        <p:spPr>
          <a:xfrm>
            <a:off x="4251960" y="1691640"/>
            <a:ext cx="67320" cy="22345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9" name="Text 20"/>
          <p:cNvSpPr/>
          <p:nvPr/>
        </p:nvSpPr>
        <p:spPr>
          <a:xfrm>
            <a:off x="4480560" y="178308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User &amp; Profil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0" name="Shape 21"/>
          <p:cNvSpPr/>
          <p:nvPr/>
        </p:nvSpPr>
        <p:spPr>
          <a:xfrm>
            <a:off x="4480560" y="219456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1" name="Text 22"/>
          <p:cNvSpPr/>
          <p:nvPr/>
        </p:nvSpPr>
        <p:spPr>
          <a:xfrm>
            <a:off x="4480560" y="219456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2" name="Text 23"/>
          <p:cNvSpPr/>
          <p:nvPr/>
        </p:nvSpPr>
        <p:spPr>
          <a:xfrm>
            <a:off x="5120640" y="219456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/api/private/me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3" name="Shape 24"/>
          <p:cNvSpPr/>
          <p:nvPr/>
        </p:nvSpPr>
        <p:spPr>
          <a:xfrm>
            <a:off x="4480560" y="260604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4" name="Text 25"/>
          <p:cNvSpPr/>
          <p:nvPr/>
        </p:nvSpPr>
        <p:spPr>
          <a:xfrm>
            <a:off x="4480560" y="260604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PUT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5" name="Text 26"/>
          <p:cNvSpPr/>
          <p:nvPr/>
        </p:nvSpPr>
        <p:spPr>
          <a:xfrm>
            <a:off x="5120640" y="260604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/api/private/me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6" name="Shape 27"/>
          <p:cNvSpPr/>
          <p:nvPr/>
        </p:nvSpPr>
        <p:spPr>
          <a:xfrm>
            <a:off x="4480560" y="301752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7" name="Text 28"/>
          <p:cNvSpPr/>
          <p:nvPr/>
        </p:nvSpPr>
        <p:spPr>
          <a:xfrm>
            <a:off x="4480560" y="301752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8" name="Text 29"/>
          <p:cNvSpPr/>
          <p:nvPr/>
        </p:nvSpPr>
        <p:spPr>
          <a:xfrm>
            <a:off x="5120640" y="301752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/api/private/friend-requests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9" name="Shape 30"/>
          <p:cNvSpPr/>
          <p:nvPr/>
        </p:nvSpPr>
        <p:spPr>
          <a:xfrm>
            <a:off x="4480560" y="342900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0" name="Text 31"/>
          <p:cNvSpPr/>
          <p:nvPr/>
        </p:nvSpPr>
        <p:spPr>
          <a:xfrm>
            <a:off x="4480560" y="342900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1" name="Text 32"/>
          <p:cNvSpPr/>
          <p:nvPr/>
        </p:nvSpPr>
        <p:spPr>
          <a:xfrm>
            <a:off x="5120640" y="342900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/api/private/friend-requests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2" name="Shape 33"/>
          <p:cNvSpPr/>
          <p:nvPr/>
        </p:nvSpPr>
        <p:spPr>
          <a:xfrm>
            <a:off x="8046720" y="1691640"/>
            <a:ext cx="3651840" cy="223452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3" name="Shape 34"/>
          <p:cNvSpPr/>
          <p:nvPr/>
        </p:nvSpPr>
        <p:spPr>
          <a:xfrm>
            <a:off x="8046720" y="1691640"/>
            <a:ext cx="67320" cy="22345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4" name="Text 35"/>
          <p:cNvSpPr/>
          <p:nvPr/>
        </p:nvSpPr>
        <p:spPr>
          <a:xfrm>
            <a:off x="8275320" y="178308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Contenu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5" name="Shape 36"/>
          <p:cNvSpPr/>
          <p:nvPr/>
        </p:nvSpPr>
        <p:spPr>
          <a:xfrm>
            <a:off x="8275320" y="219456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6" name="Text 37"/>
          <p:cNvSpPr/>
          <p:nvPr/>
        </p:nvSpPr>
        <p:spPr>
          <a:xfrm>
            <a:off x="8275320" y="219456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7" name="Text 38"/>
          <p:cNvSpPr/>
          <p:nvPr/>
        </p:nvSpPr>
        <p:spPr>
          <a:xfrm>
            <a:off x="8915400" y="219456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8" name="Shape 39"/>
          <p:cNvSpPr/>
          <p:nvPr/>
        </p:nvSpPr>
        <p:spPr>
          <a:xfrm>
            <a:off x="8275320" y="260604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9" name="Text 40"/>
          <p:cNvSpPr/>
          <p:nvPr/>
        </p:nvSpPr>
        <p:spPr>
          <a:xfrm>
            <a:off x="8275320" y="260604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0" name="Text 41"/>
          <p:cNvSpPr/>
          <p:nvPr/>
        </p:nvSpPr>
        <p:spPr>
          <a:xfrm>
            <a:off x="8915400" y="260604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1" name="Shape 42"/>
          <p:cNvSpPr/>
          <p:nvPr/>
        </p:nvSpPr>
        <p:spPr>
          <a:xfrm>
            <a:off x="8275320" y="301752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2" name="Text 43"/>
          <p:cNvSpPr/>
          <p:nvPr/>
        </p:nvSpPr>
        <p:spPr>
          <a:xfrm>
            <a:off x="8275320" y="301752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3" name="Text 44"/>
          <p:cNvSpPr/>
          <p:nvPr/>
        </p:nvSpPr>
        <p:spPr>
          <a:xfrm>
            <a:off x="8915400" y="301752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/api/private/stories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4" name="Shape 45"/>
          <p:cNvSpPr/>
          <p:nvPr/>
        </p:nvSpPr>
        <p:spPr>
          <a:xfrm>
            <a:off x="8275320" y="342900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5" name="Text 46"/>
          <p:cNvSpPr/>
          <p:nvPr/>
        </p:nvSpPr>
        <p:spPr>
          <a:xfrm>
            <a:off x="8275320" y="342900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6" name="Text 47"/>
          <p:cNvSpPr/>
          <p:nvPr/>
        </p:nvSpPr>
        <p:spPr>
          <a:xfrm>
            <a:off x="8915400" y="342900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/api/private/stories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7" name="Shape 48"/>
          <p:cNvSpPr/>
          <p:nvPr/>
        </p:nvSpPr>
        <p:spPr>
          <a:xfrm>
            <a:off x="457200" y="4069080"/>
            <a:ext cx="3651840" cy="223452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8" name="Shape 49"/>
          <p:cNvSpPr/>
          <p:nvPr/>
        </p:nvSpPr>
        <p:spPr>
          <a:xfrm>
            <a:off x="457200" y="4069080"/>
            <a:ext cx="67320" cy="223452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9" name="Text 50"/>
          <p:cNvSpPr/>
          <p:nvPr/>
        </p:nvSpPr>
        <p:spPr>
          <a:xfrm>
            <a:off x="685800" y="416052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Messagerie &amp; Temps réel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0" name="Shape 51"/>
          <p:cNvSpPr/>
          <p:nvPr/>
        </p:nvSpPr>
        <p:spPr>
          <a:xfrm>
            <a:off x="685800" y="457200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1" name="Text 52"/>
          <p:cNvSpPr/>
          <p:nvPr/>
        </p:nvSpPr>
        <p:spPr>
          <a:xfrm>
            <a:off x="685800" y="457200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2" name="Text 53"/>
          <p:cNvSpPr/>
          <p:nvPr/>
        </p:nvSpPr>
        <p:spPr>
          <a:xfrm>
            <a:off x="1325880" y="457200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/api/private/conversations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3" name="Shape 54"/>
          <p:cNvSpPr/>
          <p:nvPr/>
        </p:nvSpPr>
        <p:spPr>
          <a:xfrm>
            <a:off x="685800" y="498348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4" name="Text 55"/>
          <p:cNvSpPr/>
          <p:nvPr/>
        </p:nvSpPr>
        <p:spPr>
          <a:xfrm>
            <a:off x="685800" y="498348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5" name="Text 56"/>
          <p:cNvSpPr/>
          <p:nvPr/>
        </p:nvSpPr>
        <p:spPr>
          <a:xfrm>
            <a:off x="1325880" y="498348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/api/private/chat/send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6" name="Shape 57"/>
          <p:cNvSpPr/>
          <p:nvPr/>
        </p:nvSpPr>
        <p:spPr>
          <a:xfrm>
            <a:off x="685800" y="539496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7" name="Text 58"/>
          <p:cNvSpPr/>
          <p:nvPr/>
        </p:nvSpPr>
        <p:spPr>
          <a:xfrm>
            <a:off x="685800" y="539496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SSE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8" name="Text 59"/>
          <p:cNvSpPr/>
          <p:nvPr/>
        </p:nvSpPr>
        <p:spPr>
          <a:xfrm>
            <a:off x="1325880" y="539496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/api/private/chat/listen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9" name="Shape 60"/>
          <p:cNvSpPr/>
          <p:nvPr/>
        </p:nvSpPr>
        <p:spPr>
          <a:xfrm>
            <a:off x="685800" y="580644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0" name="Text 61"/>
          <p:cNvSpPr/>
          <p:nvPr/>
        </p:nvSpPr>
        <p:spPr>
          <a:xfrm>
            <a:off x="685800" y="580644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SSE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1" name="Text 62"/>
          <p:cNvSpPr/>
          <p:nvPr/>
        </p:nvSpPr>
        <p:spPr>
          <a:xfrm>
            <a:off x="1325880" y="580644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/api/private/chat/typing/listen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2" name="Shape 63"/>
          <p:cNvSpPr/>
          <p:nvPr/>
        </p:nvSpPr>
        <p:spPr>
          <a:xfrm>
            <a:off x="4251960" y="4069080"/>
            <a:ext cx="3651840" cy="223452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3" name="Shape 64"/>
          <p:cNvSpPr/>
          <p:nvPr/>
        </p:nvSpPr>
        <p:spPr>
          <a:xfrm>
            <a:off x="4251960" y="4069080"/>
            <a:ext cx="67320" cy="22345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4" name="Text 65"/>
          <p:cNvSpPr/>
          <p:nvPr/>
        </p:nvSpPr>
        <p:spPr>
          <a:xfrm>
            <a:off x="4480560" y="416052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Communautés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5" name="Shape 66"/>
          <p:cNvSpPr/>
          <p:nvPr/>
        </p:nvSpPr>
        <p:spPr>
          <a:xfrm>
            <a:off x="4480560" y="457200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6" name="Text 67"/>
          <p:cNvSpPr/>
          <p:nvPr/>
        </p:nvSpPr>
        <p:spPr>
          <a:xfrm>
            <a:off x="4480560" y="457200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7" name="Text 68"/>
          <p:cNvSpPr/>
          <p:nvPr/>
        </p:nvSpPr>
        <p:spPr>
          <a:xfrm>
            <a:off x="5120640" y="457200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/api/private/groups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8" name="Shape 69"/>
          <p:cNvSpPr/>
          <p:nvPr/>
        </p:nvSpPr>
        <p:spPr>
          <a:xfrm>
            <a:off x="4480560" y="498348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9" name="Text 70"/>
          <p:cNvSpPr/>
          <p:nvPr/>
        </p:nvSpPr>
        <p:spPr>
          <a:xfrm>
            <a:off x="4480560" y="498348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0" name="Text 71"/>
          <p:cNvSpPr/>
          <p:nvPr/>
        </p:nvSpPr>
        <p:spPr>
          <a:xfrm>
            <a:off x="5120640" y="498348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/api/private/groups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1" name="Shape 72"/>
          <p:cNvSpPr/>
          <p:nvPr/>
        </p:nvSpPr>
        <p:spPr>
          <a:xfrm>
            <a:off x="4480560" y="539496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2" name="Text 73"/>
          <p:cNvSpPr/>
          <p:nvPr/>
        </p:nvSpPr>
        <p:spPr>
          <a:xfrm>
            <a:off x="4480560" y="539496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3" name="Text 74"/>
          <p:cNvSpPr/>
          <p:nvPr/>
        </p:nvSpPr>
        <p:spPr>
          <a:xfrm>
            <a:off x="5120640" y="539496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/api/private/events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4" name="Shape 75"/>
          <p:cNvSpPr/>
          <p:nvPr/>
        </p:nvSpPr>
        <p:spPr>
          <a:xfrm>
            <a:off x="4480560" y="580644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5" name="Text 76"/>
          <p:cNvSpPr/>
          <p:nvPr/>
        </p:nvSpPr>
        <p:spPr>
          <a:xfrm>
            <a:off x="4480560" y="580644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6" name="Text 77"/>
          <p:cNvSpPr/>
          <p:nvPr/>
        </p:nvSpPr>
        <p:spPr>
          <a:xfrm>
            <a:off x="5120640" y="580644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/api/private/events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7" name="Shape 78"/>
          <p:cNvSpPr/>
          <p:nvPr/>
        </p:nvSpPr>
        <p:spPr>
          <a:xfrm>
            <a:off x="8046720" y="4069080"/>
            <a:ext cx="3651840" cy="223452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8" name="Shape 79"/>
          <p:cNvSpPr/>
          <p:nvPr/>
        </p:nvSpPr>
        <p:spPr>
          <a:xfrm>
            <a:off x="8046720" y="4069080"/>
            <a:ext cx="67320" cy="22345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9" name="Text 80"/>
          <p:cNvSpPr/>
          <p:nvPr/>
        </p:nvSpPr>
        <p:spPr>
          <a:xfrm>
            <a:off x="8275320" y="4160520"/>
            <a:ext cx="3286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Recherche &amp; Notif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0" name="Shape 81"/>
          <p:cNvSpPr/>
          <p:nvPr/>
        </p:nvSpPr>
        <p:spPr>
          <a:xfrm>
            <a:off x="8275320" y="457200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1" name="Text 82"/>
          <p:cNvSpPr/>
          <p:nvPr/>
        </p:nvSpPr>
        <p:spPr>
          <a:xfrm>
            <a:off x="8275320" y="457200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2" name="Text 83"/>
          <p:cNvSpPr/>
          <p:nvPr/>
        </p:nvSpPr>
        <p:spPr>
          <a:xfrm>
            <a:off x="8915400" y="457200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/api/private/search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3" name="Shape 84"/>
          <p:cNvSpPr/>
          <p:nvPr/>
        </p:nvSpPr>
        <p:spPr>
          <a:xfrm>
            <a:off x="8275320" y="498348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4" name="Text 85"/>
          <p:cNvSpPr/>
          <p:nvPr/>
        </p:nvSpPr>
        <p:spPr>
          <a:xfrm>
            <a:off x="8275320" y="498348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5" name="Text 86"/>
          <p:cNvSpPr/>
          <p:nvPr/>
        </p:nvSpPr>
        <p:spPr>
          <a:xfrm>
            <a:off x="8915400" y="498348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/api/private/invitations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6" name="Shape 87"/>
          <p:cNvSpPr/>
          <p:nvPr/>
        </p:nvSpPr>
        <p:spPr>
          <a:xfrm>
            <a:off x="8275320" y="539496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7" name="Text 88"/>
          <p:cNvSpPr/>
          <p:nvPr/>
        </p:nvSpPr>
        <p:spPr>
          <a:xfrm>
            <a:off x="8275320" y="539496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8" name="Text 89"/>
          <p:cNvSpPr/>
          <p:nvPr/>
        </p:nvSpPr>
        <p:spPr>
          <a:xfrm>
            <a:off x="8915400" y="539496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/api/private/notifications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9" name="Shape 90"/>
          <p:cNvSpPr/>
          <p:nvPr/>
        </p:nvSpPr>
        <p:spPr>
          <a:xfrm>
            <a:off x="8275320" y="5806440"/>
            <a:ext cx="588600" cy="286920"/>
          </a:xfrm>
          <a:prstGeom prst="roundRect">
            <a:avLst>
              <a:gd name="adj" fmla="val 18750"/>
            </a:avLst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0" name="Text 91"/>
          <p:cNvSpPr/>
          <p:nvPr/>
        </p:nvSpPr>
        <p:spPr>
          <a:xfrm>
            <a:off x="8275320" y="5806440"/>
            <a:ext cx="5886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PATCH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1" name="Text 92"/>
          <p:cNvSpPr/>
          <p:nvPr/>
        </p:nvSpPr>
        <p:spPr>
          <a:xfrm>
            <a:off x="8915400" y="5806440"/>
            <a:ext cx="264600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/api/private/notifications/:id/read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62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3" name="Text 93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4" name="Text 94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38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6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Middleware d'authentification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7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8" name="Shape 3"/>
          <p:cNvSpPr/>
          <p:nvPr/>
        </p:nvSpPr>
        <p:spPr>
          <a:xfrm>
            <a:off x="548640" y="1691640"/>
            <a:ext cx="7309440" cy="456624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9" name="Shape 4"/>
          <p:cNvSpPr/>
          <p:nvPr/>
        </p:nvSpPr>
        <p:spPr>
          <a:xfrm>
            <a:off x="777240" y="1874520"/>
            <a:ext cx="131400" cy="13140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0" name="Shape 5"/>
          <p:cNvSpPr/>
          <p:nvPr/>
        </p:nvSpPr>
        <p:spPr>
          <a:xfrm>
            <a:off x="960120" y="1874520"/>
            <a:ext cx="131400" cy="13140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1" name="Shape 6"/>
          <p:cNvSpPr/>
          <p:nvPr/>
        </p:nvSpPr>
        <p:spPr>
          <a:xfrm>
            <a:off x="1143000" y="1874520"/>
            <a:ext cx="131400" cy="13140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2" name="Text 7"/>
          <p:cNvSpPr/>
          <p:nvPr/>
        </p:nvSpPr>
        <p:spPr>
          <a:xfrm>
            <a:off x="1371600" y="1783080"/>
            <a:ext cx="54806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src/middleware.ts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3" name="Text 8"/>
          <p:cNvSpPr/>
          <p:nvPr/>
        </p:nvSpPr>
        <p:spPr>
          <a:xfrm>
            <a:off x="777240" y="224028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export async function middleware(req: NextRequest)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4" name="Text 9"/>
          <p:cNvSpPr/>
          <p:nvPr/>
        </p:nvSpPr>
        <p:spPr>
          <a:xfrm>
            <a:off x="777240" y="245052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const { pathname } = req.nextUrl;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5" name="Text 10"/>
          <p:cNvSpPr/>
          <p:nvPr/>
        </p:nvSpPr>
        <p:spPr>
          <a:xfrm>
            <a:off x="777240" y="266076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const isPublic = pathname.startsWith('/api/public')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6" name="Text 11"/>
          <p:cNvSpPr/>
          <p:nvPr/>
        </p:nvSpPr>
        <p:spPr>
          <a:xfrm>
            <a:off x="777240" y="287136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|| ['/login', '/register'].some(r =&gt; pathname.startsWith(r));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7" name="Text 12"/>
          <p:cNvSpPr/>
          <p:nvPr/>
        </p:nvSpPr>
        <p:spPr>
          <a:xfrm>
            <a:off x="777240" y="308160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if (isPublic) return NextResponse.next();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8" name="Text 13"/>
          <p:cNvSpPr/>
          <p:nvPr/>
        </p:nvSpPr>
        <p:spPr>
          <a:xfrm>
            <a:off x="777240" y="329184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9" name="Text 14"/>
          <p:cNvSpPr/>
          <p:nvPr/>
        </p:nvSpPr>
        <p:spPr>
          <a:xfrm>
            <a:off x="777240" y="350208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const token = req.cookies.get('authToken')?.value;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0" name="Text 15"/>
          <p:cNvSpPr/>
          <p:nvPr/>
        </p:nvSpPr>
        <p:spPr>
          <a:xfrm>
            <a:off x="777240" y="371232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  if (!token) return NextResponse.redirect('/login');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1" name="Text 16"/>
          <p:cNvSpPr/>
          <p:nvPr/>
        </p:nvSpPr>
        <p:spPr>
          <a:xfrm>
            <a:off x="777240" y="392292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2" name="Text 17"/>
          <p:cNvSpPr/>
          <p:nvPr/>
        </p:nvSpPr>
        <p:spPr>
          <a:xfrm>
            <a:off x="777240" y="413316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try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3" name="Text 18"/>
          <p:cNvSpPr/>
          <p:nvPr/>
        </p:nvSpPr>
        <p:spPr>
          <a:xfrm>
            <a:off x="777240" y="434340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    const { userId } = await verifyJwt(token);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4" name="Text 19"/>
          <p:cNvSpPr/>
          <p:nvPr/>
        </p:nvSpPr>
        <p:spPr>
          <a:xfrm>
            <a:off x="777240" y="455364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const </a:t>
            </a: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headers </a:t>
            </a: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= new </a:t>
            </a: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Headers</a:t>
            </a: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(req.he</a:t>
            </a: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aders);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5" name="Text 20"/>
          <p:cNvSpPr/>
          <p:nvPr/>
        </p:nvSpPr>
        <p:spPr>
          <a:xfrm>
            <a:off x="777240" y="476388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  headers.set('x-user-id', userId);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6" name="Text 21"/>
          <p:cNvSpPr/>
          <p:nvPr/>
        </p:nvSpPr>
        <p:spPr>
          <a:xfrm>
            <a:off x="777240" y="497448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return NextResponse.next({ request: { headers } });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7" name="Text 22"/>
          <p:cNvSpPr/>
          <p:nvPr/>
        </p:nvSpPr>
        <p:spPr>
          <a:xfrm>
            <a:off x="777240" y="518472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} catch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8" name="Text 23"/>
          <p:cNvSpPr/>
          <p:nvPr/>
        </p:nvSpPr>
        <p:spPr>
          <a:xfrm>
            <a:off x="777240" y="539496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    return NextResponse.redirect('/login');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9" name="Text 24"/>
          <p:cNvSpPr/>
          <p:nvPr/>
        </p:nvSpPr>
        <p:spPr>
          <a:xfrm>
            <a:off x="777240" y="560520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0" name="Text 25"/>
          <p:cNvSpPr/>
          <p:nvPr/>
        </p:nvSpPr>
        <p:spPr>
          <a:xfrm>
            <a:off x="777240" y="5815440"/>
            <a:ext cx="69436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1" name="Shape 26"/>
          <p:cNvSpPr/>
          <p:nvPr/>
        </p:nvSpPr>
        <p:spPr>
          <a:xfrm>
            <a:off x="8092440" y="1691640"/>
            <a:ext cx="3514680" cy="456624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2" name="Text 27"/>
          <p:cNvSpPr/>
          <p:nvPr/>
        </p:nvSpPr>
        <p:spPr>
          <a:xfrm>
            <a:off x="8275320" y="1783080"/>
            <a:ext cx="31946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3" name="Shape 28"/>
          <p:cNvSpPr/>
          <p:nvPr/>
        </p:nvSpPr>
        <p:spPr>
          <a:xfrm>
            <a:off x="8275320" y="2240280"/>
            <a:ext cx="405720" cy="40572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4" name="Text 29"/>
          <p:cNvSpPr/>
          <p:nvPr/>
        </p:nvSpPr>
        <p:spPr>
          <a:xfrm>
            <a:off x="8275320" y="2204280"/>
            <a:ext cx="405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◉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5" name="Text 30"/>
          <p:cNvSpPr/>
          <p:nvPr/>
        </p:nvSpPr>
        <p:spPr>
          <a:xfrm>
            <a:off x="8778240" y="219456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Allow-list pour routes publiques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6" name="Shape 31"/>
          <p:cNvSpPr/>
          <p:nvPr/>
        </p:nvSpPr>
        <p:spPr>
          <a:xfrm>
            <a:off x="8275320" y="2880360"/>
            <a:ext cx="405720" cy="40572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7" name="Text 32"/>
          <p:cNvSpPr/>
          <p:nvPr/>
        </p:nvSpPr>
        <p:spPr>
          <a:xfrm>
            <a:off x="8275320" y="2808360"/>
            <a:ext cx="40572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◉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8" name="Text 33"/>
          <p:cNvSpPr/>
          <p:nvPr/>
        </p:nvSpPr>
        <p:spPr>
          <a:xfrm>
            <a:off x="8778240" y="283464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Cookie HttpOnly authToken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9" name="Shape 34"/>
          <p:cNvSpPr/>
          <p:nvPr/>
        </p:nvSpPr>
        <p:spPr>
          <a:xfrm>
            <a:off x="8275320" y="3520440"/>
            <a:ext cx="405720" cy="40572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0" name="Text 35"/>
          <p:cNvSpPr/>
          <p:nvPr/>
        </p:nvSpPr>
        <p:spPr>
          <a:xfrm>
            <a:off x="8275320" y="352044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1" name="Text 36"/>
          <p:cNvSpPr/>
          <p:nvPr/>
        </p:nvSpPr>
        <p:spPr>
          <a:xfrm>
            <a:off x="8778240" y="347472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Vérification JWT via jose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2" name="Shape 37"/>
          <p:cNvSpPr/>
          <p:nvPr/>
        </p:nvSpPr>
        <p:spPr>
          <a:xfrm>
            <a:off x="8275320" y="4160520"/>
            <a:ext cx="405720" cy="40572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3" name="Text 38"/>
          <p:cNvSpPr/>
          <p:nvPr/>
        </p:nvSpPr>
        <p:spPr>
          <a:xfrm>
            <a:off x="8275320" y="416052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↩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4" name="Text 39"/>
          <p:cNvSpPr/>
          <p:nvPr/>
        </p:nvSpPr>
        <p:spPr>
          <a:xfrm>
            <a:off x="8778240" y="411480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Redirect /login si invalide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5" name="Shape 40"/>
          <p:cNvSpPr/>
          <p:nvPr/>
        </p:nvSpPr>
        <p:spPr>
          <a:xfrm>
            <a:off x="8275320" y="4800600"/>
            <a:ext cx="405720" cy="40572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6" name="Text 41"/>
          <p:cNvSpPr/>
          <p:nvPr/>
        </p:nvSpPr>
        <p:spPr>
          <a:xfrm>
            <a:off x="8275320" y="480060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✉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7" name="Text 42"/>
          <p:cNvSpPr/>
          <p:nvPr/>
        </p:nvSpPr>
        <p:spPr>
          <a:xfrm>
            <a:off x="8778240" y="475488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Injection x-user-id header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8" name="Shape 43"/>
          <p:cNvSpPr/>
          <p:nvPr/>
        </p:nvSpPr>
        <p:spPr>
          <a:xfrm>
            <a:off x="8275320" y="5440680"/>
            <a:ext cx="405720" cy="40572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9" name="Text 44"/>
          <p:cNvSpPr/>
          <p:nvPr/>
        </p:nvSpPr>
        <p:spPr>
          <a:xfrm>
            <a:off x="8275320" y="5224680"/>
            <a:ext cx="40572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▣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0" name="Text 45"/>
          <p:cNvSpPr/>
          <p:nvPr/>
        </p:nvSpPr>
        <p:spPr>
          <a:xfrm>
            <a:off x="8778240" y="539496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Sécurité par défaut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1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2" name="Text 46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3" name="Text 47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39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5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Sécurité applicative &amp; RGPD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6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7" name="Shape 3"/>
          <p:cNvSpPr/>
          <p:nvPr/>
        </p:nvSpPr>
        <p:spPr>
          <a:xfrm>
            <a:off x="548640" y="1691640"/>
            <a:ext cx="5526360" cy="456624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8" name="Text 4"/>
          <p:cNvSpPr/>
          <p:nvPr/>
        </p:nvSpPr>
        <p:spPr>
          <a:xfrm>
            <a:off x="731520" y="1783080"/>
            <a:ext cx="5023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Mesures en place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9" name="Text 5"/>
          <p:cNvSpPr/>
          <p:nvPr/>
        </p:nvSpPr>
        <p:spPr>
          <a:xfrm>
            <a:off x="777240" y="2194560"/>
            <a:ext cx="3600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◉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0" name="Text 6"/>
          <p:cNvSpPr/>
          <p:nvPr/>
        </p:nvSpPr>
        <p:spPr>
          <a:xfrm>
            <a:off x="1188720" y="219456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JWT signé (jose) · cookies HttpOnly · SameSite=Lax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1" name="Text 7"/>
          <p:cNvSpPr/>
          <p:nvPr/>
        </p:nvSpPr>
        <p:spPr>
          <a:xfrm>
            <a:off x="777240" y="2743200"/>
            <a:ext cx="3600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✦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2" name="Text 8"/>
          <p:cNvSpPr/>
          <p:nvPr/>
        </p:nvSpPr>
        <p:spPr>
          <a:xfrm>
            <a:off x="1188720" y="274320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bcrypt cost 12 sur tous les mots de passe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3" name="Text 9"/>
          <p:cNvSpPr/>
          <p:nvPr/>
        </p:nvSpPr>
        <p:spPr>
          <a:xfrm>
            <a:off x="777240" y="3291840"/>
            <a:ext cx="3600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⊕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4" name="Text 10"/>
          <p:cNvSpPr/>
          <p:nvPr/>
        </p:nvSpPr>
        <p:spPr>
          <a:xfrm>
            <a:off x="1188720" y="329184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Validation Zod systématique des payloads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5" name="Text 11"/>
          <p:cNvSpPr/>
          <p:nvPr/>
        </p:nvSpPr>
        <p:spPr>
          <a:xfrm>
            <a:off x="777240" y="3840480"/>
            <a:ext cx="3600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▣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6" name="Text 12"/>
          <p:cNvSpPr/>
          <p:nvPr/>
        </p:nvSpPr>
        <p:spPr>
          <a:xfrm>
            <a:off x="1188720" y="38404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OAuth Google avec state cookie anti-CSRF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7" name="Text 13"/>
          <p:cNvSpPr/>
          <p:nvPr/>
        </p:nvSpPr>
        <p:spPr>
          <a:xfrm>
            <a:off x="777240" y="4389120"/>
            <a:ext cx="3600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⊘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8" name="Text 14"/>
          <p:cNvSpPr/>
          <p:nvPr/>
        </p:nvSpPr>
        <p:spPr>
          <a:xfrm>
            <a:off x="1188720" y="438912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 injection bloquée par Prisma (paramétrage)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9" name="Text 15"/>
          <p:cNvSpPr/>
          <p:nvPr/>
        </p:nvSpPr>
        <p:spPr>
          <a:xfrm>
            <a:off x="777240" y="4937760"/>
            <a:ext cx="3600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⌕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0" name="Text 16"/>
          <p:cNvSpPr/>
          <p:nvPr/>
        </p:nvSpPr>
        <p:spPr>
          <a:xfrm>
            <a:off x="1188720" y="493776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OWASP Top 10 audité — voir securite-rgpd.md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1" name="Text 17"/>
          <p:cNvSpPr/>
          <p:nvPr/>
        </p:nvSpPr>
        <p:spPr>
          <a:xfrm>
            <a:off x="777240" y="5486400"/>
            <a:ext cx="3600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◌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2" name="Text 18"/>
          <p:cNvSpPr/>
          <p:nvPr/>
        </p:nvSpPr>
        <p:spPr>
          <a:xfrm>
            <a:off x="1188720" y="548640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HTTPS forcé en production via Vercel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3" name="Shape 19"/>
          <p:cNvSpPr/>
          <p:nvPr/>
        </p:nvSpPr>
        <p:spPr>
          <a:xfrm>
            <a:off x="6263640" y="1691640"/>
            <a:ext cx="5526360" cy="456624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4" name="Text 20"/>
          <p:cNvSpPr/>
          <p:nvPr/>
        </p:nvSpPr>
        <p:spPr>
          <a:xfrm>
            <a:off x="6446520" y="1783080"/>
            <a:ext cx="5023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Conformité RGPD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5" name="Text 21"/>
          <p:cNvSpPr/>
          <p:nvPr/>
        </p:nvSpPr>
        <p:spPr>
          <a:xfrm>
            <a:off x="6446520" y="2194560"/>
            <a:ext cx="5023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Données collectées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6" name="Text 22"/>
          <p:cNvSpPr/>
          <p:nvPr/>
        </p:nvSpPr>
        <p:spPr>
          <a:xfrm>
            <a:off x="6446520" y="2468880"/>
            <a:ext cx="520632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Email, nom, date de naissance, contenus publiés. Aucun traitement marketing ; aucune donnée sensible au sens art. 9.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7" name="Text 23"/>
          <p:cNvSpPr/>
          <p:nvPr/>
        </p:nvSpPr>
        <p:spPr>
          <a:xfrm>
            <a:off x="6446520" y="3108960"/>
            <a:ext cx="5023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Droits de la personne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8" name="Text 24"/>
          <p:cNvSpPr/>
          <p:nvPr/>
        </p:nvSpPr>
        <p:spPr>
          <a:xfrm>
            <a:off x="6446520" y="338328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Accès &amp; consultation profil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9" name="Shape 25"/>
          <p:cNvSpPr/>
          <p:nvPr/>
        </p:nvSpPr>
        <p:spPr>
          <a:xfrm>
            <a:off x="10058400" y="3410640"/>
            <a:ext cx="1365840" cy="250200"/>
          </a:xfrm>
          <a:prstGeom prst="roundRect">
            <a:avLst>
              <a:gd name="adj" fmla="val 53571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0" name="Text 26"/>
          <p:cNvSpPr/>
          <p:nvPr/>
        </p:nvSpPr>
        <p:spPr>
          <a:xfrm>
            <a:off x="10058400" y="3410640"/>
            <a:ext cx="136584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1" name="Text 27"/>
          <p:cNvSpPr/>
          <p:nvPr/>
        </p:nvSpPr>
        <p:spPr>
          <a:xfrm>
            <a:off x="6446520" y="374904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Rectification (settings)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2" name="Shape 28"/>
          <p:cNvSpPr/>
          <p:nvPr/>
        </p:nvSpPr>
        <p:spPr>
          <a:xfrm>
            <a:off x="10058400" y="3776400"/>
            <a:ext cx="1365840" cy="250200"/>
          </a:xfrm>
          <a:prstGeom prst="roundRect">
            <a:avLst>
              <a:gd name="adj" fmla="val 53571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3" name="Text 29"/>
          <p:cNvSpPr/>
          <p:nvPr/>
        </p:nvSpPr>
        <p:spPr>
          <a:xfrm>
            <a:off x="10058400" y="3776400"/>
            <a:ext cx="136584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4" name="Text 30"/>
          <p:cNvSpPr/>
          <p:nvPr/>
        </p:nvSpPr>
        <p:spPr>
          <a:xfrm>
            <a:off x="6446520" y="411480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Effacement / droit à l'oubli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5" name="Shape 31"/>
          <p:cNvSpPr/>
          <p:nvPr/>
        </p:nvSpPr>
        <p:spPr>
          <a:xfrm>
            <a:off x="10058400" y="4142160"/>
            <a:ext cx="1365840" cy="250200"/>
          </a:xfrm>
          <a:prstGeom prst="roundRect">
            <a:avLst>
              <a:gd name="adj" fmla="val 53571"/>
            </a:avLst>
          </a:prstGeom>
          <a:solidFill>
            <a:srgbClr val="F59E0B">
              <a:alpha val="25000"/>
            </a:srgbClr>
          </a:solidFill>
          <a:ln w="952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6" name="Text 32"/>
          <p:cNvSpPr/>
          <p:nvPr/>
        </p:nvSpPr>
        <p:spPr>
          <a:xfrm>
            <a:off x="10058400" y="4142160"/>
            <a:ext cx="136584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Roadmap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7" name="Text 33"/>
          <p:cNvSpPr/>
          <p:nvPr/>
        </p:nvSpPr>
        <p:spPr>
          <a:xfrm>
            <a:off x="6446520" y="448056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Portabilité (export JSON)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8" name="Shape 34"/>
          <p:cNvSpPr/>
          <p:nvPr/>
        </p:nvSpPr>
        <p:spPr>
          <a:xfrm>
            <a:off x="10058400" y="4507920"/>
            <a:ext cx="1365840" cy="250200"/>
          </a:xfrm>
          <a:prstGeom prst="roundRect">
            <a:avLst>
              <a:gd name="adj" fmla="val 53571"/>
            </a:avLst>
          </a:prstGeom>
          <a:solidFill>
            <a:srgbClr val="F59E0B">
              <a:alpha val="25000"/>
            </a:srgbClr>
          </a:solidFill>
          <a:ln w="952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9" name="Text 35"/>
          <p:cNvSpPr/>
          <p:nvPr/>
        </p:nvSpPr>
        <p:spPr>
          <a:xfrm>
            <a:off x="10058400" y="4507920"/>
            <a:ext cx="136584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Roadmap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0" name="Text 36"/>
          <p:cNvSpPr/>
          <p:nvPr/>
        </p:nvSpPr>
        <p:spPr>
          <a:xfrm>
            <a:off x="6446520" y="484632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Opposition / consentement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1" name="Shape 37"/>
          <p:cNvSpPr/>
          <p:nvPr/>
        </p:nvSpPr>
        <p:spPr>
          <a:xfrm>
            <a:off x="10058400" y="4873680"/>
            <a:ext cx="1365840" cy="250200"/>
          </a:xfrm>
          <a:prstGeom prst="roundRect">
            <a:avLst>
              <a:gd name="adj" fmla="val 53571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2" name="Text 38"/>
          <p:cNvSpPr/>
          <p:nvPr/>
        </p:nvSpPr>
        <p:spPr>
          <a:xfrm>
            <a:off x="10058400" y="4873680"/>
            <a:ext cx="136584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3" name="Text 39"/>
          <p:cNvSpPr/>
          <p:nvPr/>
        </p:nvSpPr>
        <p:spPr>
          <a:xfrm>
            <a:off x="6446520" y="5349240"/>
            <a:ext cx="520632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Roadmap durcissement : headers CSP, sanitization markdown (DOMPurify).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54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5" name="Text 40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6" name="Text 41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40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Rectangle 1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840" tIns="45000" rIns="338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8" name="TextBox 2"/>
          <p:cNvSpPr/>
          <p:nvPr/>
        </p:nvSpPr>
        <p:spPr>
          <a:xfrm>
            <a:off x="548640" y="447480"/>
            <a:ext cx="7309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Noto Sans CJK SC"/>
              </a:rPr>
              <a:t>· SQL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9" name="TextBox 3"/>
          <p:cNvSpPr/>
          <p:nvPr/>
        </p:nvSpPr>
        <p:spPr>
          <a:xfrm>
            <a:off x="548640" y="721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Cheminement d'une requête SQL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0" name="Rectangle 4"/>
          <p:cNvSpPr/>
          <p:nvPr/>
        </p:nvSpPr>
        <p:spPr>
          <a:xfrm>
            <a:off x="548640" y="1691640"/>
            <a:ext cx="7309440" cy="456624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1" name="Oval 5"/>
          <p:cNvSpPr/>
          <p:nvPr/>
        </p:nvSpPr>
        <p:spPr>
          <a:xfrm>
            <a:off x="777240" y="1874520"/>
            <a:ext cx="131400" cy="1314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5880" tIns="45000" rIns="658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2" name="Oval 6"/>
          <p:cNvSpPr/>
          <p:nvPr/>
        </p:nvSpPr>
        <p:spPr>
          <a:xfrm>
            <a:off x="960120" y="1874520"/>
            <a:ext cx="131400" cy="1314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5880" tIns="45000" rIns="658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3" name="Oval 7"/>
          <p:cNvSpPr/>
          <p:nvPr/>
        </p:nvSpPr>
        <p:spPr>
          <a:xfrm>
            <a:off x="1143000" y="1874520"/>
            <a:ext cx="131400" cy="1314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5880" tIns="45000" rIns="658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4" name="TextBox 8"/>
          <p:cNvSpPr/>
          <p:nvPr/>
        </p:nvSpPr>
        <p:spPr>
          <a:xfrm>
            <a:off x="1371600" y="1855080"/>
            <a:ext cx="63950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src/app/api/private/post/[id]/route.ts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5" name="TextBox 9"/>
          <p:cNvSpPr/>
          <p:nvPr/>
        </p:nvSpPr>
        <p:spPr>
          <a:xfrm>
            <a:off x="777240" y="224028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import { db } from '@/lib/db';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6" name="TextBox 10"/>
          <p:cNvSpPr/>
          <p:nvPr/>
        </p:nvSpPr>
        <p:spPr>
          <a:xfrm>
            <a:off x="777240" y="244152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import { getUserIdFromRequest } from '@/lib/server/api/getUserId';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7" name="TextBox 12"/>
          <p:cNvSpPr/>
          <p:nvPr/>
        </p:nvSpPr>
        <p:spPr>
          <a:xfrm>
            <a:off x="777240" y="264276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export async function GET(req: NextRequest, ctx)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8" name="TextBox 13"/>
          <p:cNvSpPr/>
          <p:nvPr/>
        </p:nvSpPr>
        <p:spPr>
          <a:xfrm>
            <a:off x="777240" y="284364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const userId = await getUserIdFromRequest(req);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9" name="TextBox 14"/>
          <p:cNvSpPr/>
          <p:nvPr/>
        </p:nvSpPr>
        <p:spPr>
          <a:xfrm>
            <a:off x="777240" y="304488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</a:rPr>
              <a:t>  if (!userId) return respondError('Unauthorized', 401);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0" name="TextBox 16"/>
          <p:cNvSpPr/>
          <p:nvPr/>
        </p:nvSpPr>
        <p:spPr>
          <a:xfrm>
            <a:off x="777240" y="324612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const { id } = await ctx.params;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1" name="TextBox 18"/>
          <p:cNvSpPr/>
          <p:nvPr/>
        </p:nvSpPr>
        <p:spPr>
          <a:xfrm>
            <a:off x="777240" y="344736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// 1. Validation entrée — Zod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2" name="TextBox 19"/>
          <p:cNvSpPr/>
          <p:nvPr/>
        </p:nvSpPr>
        <p:spPr>
          <a:xfrm>
            <a:off x="777240" y="364860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  const params = z.object({ id: z.string().cuid() }).parse({ id });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3" name="TextBox 21"/>
          <p:cNvSpPr/>
          <p:nvPr/>
        </p:nvSpPr>
        <p:spPr>
          <a:xfrm>
            <a:off x="777240" y="384948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// 2. Query Prisma type-safe → SQL paramétré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4" name="TextBox 22"/>
          <p:cNvSpPr/>
          <p:nvPr/>
        </p:nvSpPr>
        <p:spPr>
          <a:xfrm>
            <a:off x="777240" y="405072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  const post = await db.post.findUnique({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5" name="TextBox 23"/>
          <p:cNvSpPr/>
          <p:nvPr/>
        </p:nvSpPr>
        <p:spPr>
          <a:xfrm>
            <a:off x="777240" y="425196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where: { id: params.id },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6" name="TextBox 24"/>
          <p:cNvSpPr/>
          <p:nvPr/>
        </p:nvSpPr>
        <p:spPr>
          <a:xfrm>
            <a:off x="777240" y="445320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include: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7" name="TextBox 25"/>
          <p:cNvSpPr/>
          <p:nvPr/>
        </p:nvSpPr>
        <p:spPr>
          <a:xfrm>
            <a:off x="777240" y="465444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  user:     { select: { id, username, avatar } },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8" name="TextBox 26"/>
          <p:cNvSpPr/>
          <p:nvPr/>
        </p:nvSpPr>
        <p:spPr>
          <a:xfrm>
            <a:off x="777240" y="485532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  comments: { select: { id, message, datetime } },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9" name="TextBox 27"/>
          <p:cNvSpPr/>
          <p:nvPr/>
        </p:nvSpPr>
        <p:spPr>
          <a:xfrm>
            <a:off x="777240" y="505656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  reactions: true,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0" name="TextBox 28"/>
          <p:cNvSpPr/>
          <p:nvPr/>
        </p:nvSpPr>
        <p:spPr>
          <a:xfrm>
            <a:off x="777240" y="525780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},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1" name="TextBox 29"/>
          <p:cNvSpPr/>
          <p:nvPr/>
        </p:nvSpPr>
        <p:spPr>
          <a:xfrm>
            <a:off x="777240" y="545904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  });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2" name="TextBox 31"/>
          <p:cNvSpPr/>
          <p:nvPr/>
        </p:nvSpPr>
        <p:spPr>
          <a:xfrm>
            <a:off x="777240" y="566028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// 3. Retour structuré + types inférés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3" name="TextBox 32"/>
          <p:cNvSpPr/>
          <p:nvPr/>
        </p:nvSpPr>
        <p:spPr>
          <a:xfrm>
            <a:off x="777240" y="586116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  return respondSuccess(post);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4" name="TextBox 33"/>
          <p:cNvSpPr/>
          <p:nvPr/>
        </p:nvSpPr>
        <p:spPr>
          <a:xfrm>
            <a:off x="777240" y="606240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5" name="Rectangle 34"/>
          <p:cNvSpPr/>
          <p:nvPr/>
        </p:nvSpPr>
        <p:spPr>
          <a:xfrm>
            <a:off x="8092440" y="1691640"/>
            <a:ext cx="3514680" cy="456624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6" name="TextBox 35"/>
          <p:cNvSpPr/>
          <p:nvPr/>
        </p:nvSpPr>
        <p:spPr>
          <a:xfrm>
            <a:off x="8275320" y="1783080"/>
            <a:ext cx="31489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Pipeline en 5 étapes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7" name="Oval 36"/>
          <p:cNvSpPr/>
          <p:nvPr/>
        </p:nvSpPr>
        <p:spPr>
          <a:xfrm>
            <a:off x="8275320" y="2240280"/>
            <a:ext cx="405720" cy="4057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8" name="TextBox 37"/>
          <p:cNvSpPr/>
          <p:nvPr/>
        </p:nvSpPr>
        <p:spPr>
          <a:xfrm>
            <a:off x="8275320" y="224028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9" name="TextBox 38"/>
          <p:cNvSpPr/>
          <p:nvPr/>
        </p:nvSpPr>
        <p:spPr>
          <a:xfrm>
            <a:off x="8814240" y="230256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Middleware → x-user-id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0" name="Oval 39"/>
          <p:cNvSpPr/>
          <p:nvPr/>
        </p:nvSpPr>
        <p:spPr>
          <a:xfrm>
            <a:off x="8275320" y="2880360"/>
            <a:ext cx="405720" cy="40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1" name="TextBox 40"/>
          <p:cNvSpPr/>
          <p:nvPr/>
        </p:nvSpPr>
        <p:spPr>
          <a:xfrm>
            <a:off x="8275320" y="288036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2" name="TextBox 41"/>
          <p:cNvSpPr/>
          <p:nvPr/>
        </p:nvSpPr>
        <p:spPr>
          <a:xfrm>
            <a:off x="8814240" y="297864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Zod valide l'entrée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3" name="Oval 42"/>
          <p:cNvSpPr/>
          <p:nvPr/>
        </p:nvSpPr>
        <p:spPr>
          <a:xfrm>
            <a:off x="8275320" y="3520440"/>
            <a:ext cx="405720" cy="4057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4" name="TextBox 43"/>
          <p:cNvSpPr/>
          <p:nvPr/>
        </p:nvSpPr>
        <p:spPr>
          <a:xfrm>
            <a:off x="8275320" y="352044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5" name="TextBox 44"/>
          <p:cNvSpPr/>
          <p:nvPr/>
        </p:nvSpPr>
        <p:spPr>
          <a:xfrm>
            <a:off x="8814240" y="358272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Prisma compose le SQL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6" name="Oval 45"/>
          <p:cNvSpPr/>
          <p:nvPr/>
        </p:nvSpPr>
        <p:spPr>
          <a:xfrm>
            <a:off x="8275320" y="4160520"/>
            <a:ext cx="405720" cy="40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7" name="TextBox 46"/>
          <p:cNvSpPr/>
          <p:nvPr/>
        </p:nvSpPr>
        <p:spPr>
          <a:xfrm>
            <a:off x="8275320" y="416052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8" name="TextBox 47"/>
          <p:cNvSpPr/>
          <p:nvPr/>
        </p:nvSpPr>
        <p:spPr>
          <a:xfrm>
            <a:off x="8814240" y="422280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pg envoie SQL paramétré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9" name="Oval 48"/>
          <p:cNvSpPr/>
          <p:nvPr/>
        </p:nvSpPr>
        <p:spPr>
          <a:xfrm>
            <a:off x="8275320" y="4800600"/>
            <a:ext cx="405720" cy="4057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0" name="TextBox 49"/>
          <p:cNvSpPr/>
          <p:nvPr/>
        </p:nvSpPr>
        <p:spPr>
          <a:xfrm>
            <a:off x="8275320" y="480060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1" name="TextBox 50"/>
          <p:cNvSpPr/>
          <p:nvPr/>
        </p:nvSpPr>
        <p:spPr>
          <a:xfrm>
            <a:off x="8814240" y="4862880"/>
            <a:ext cx="2646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Réponse typée TypeScript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2" name="TextBox 51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3" name="TextBox 52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41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04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Rectangle 1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840" tIns="45000" rIns="338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6" name="TextBox 2"/>
          <p:cNvSpPr/>
          <p:nvPr/>
        </p:nvSpPr>
        <p:spPr>
          <a:xfrm>
            <a:off x="548640" y="447480"/>
            <a:ext cx="7309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Noto Sans CJK SC"/>
              </a:rPr>
              <a:t>· SQL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7" name="TextBox 3"/>
          <p:cNvSpPr/>
          <p:nvPr/>
        </p:nvSpPr>
        <p:spPr>
          <a:xfrm>
            <a:off x="548640" y="721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Requête préparée : pourquoi c'est sûr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8" name="Rectangle 4"/>
          <p:cNvSpPr/>
          <p:nvPr/>
        </p:nvSpPr>
        <p:spPr>
          <a:xfrm>
            <a:off x="548640" y="1691640"/>
            <a:ext cx="5343480" cy="456624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9" name="Rectangle 5"/>
          <p:cNvSpPr/>
          <p:nvPr/>
        </p:nvSpPr>
        <p:spPr>
          <a:xfrm>
            <a:off x="548640" y="1691640"/>
            <a:ext cx="5343480" cy="36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0" name="TextBox 6"/>
          <p:cNvSpPr/>
          <p:nvPr/>
        </p:nvSpPr>
        <p:spPr>
          <a:xfrm>
            <a:off x="685800" y="1755720"/>
            <a:ext cx="50234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❌  Requête naïve — VULNÉRABLE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1" name="TextBox 7"/>
          <p:cNvSpPr/>
          <p:nvPr/>
        </p:nvSpPr>
        <p:spPr>
          <a:xfrm>
            <a:off x="731520" y="224028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// ⚠️ N'EST PAS dans notre code, illustration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2" name="TextBox 8"/>
          <p:cNvSpPr/>
          <p:nvPr/>
        </p:nvSpPr>
        <p:spPr>
          <a:xfrm>
            <a:off x="731520" y="251460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3" name="TextBox 9"/>
          <p:cNvSpPr/>
          <p:nvPr/>
        </p:nvSpPr>
        <p:spPr>
          <a:xfrm>
            <a:off x="731520" y="278892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const email = req.body.email;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4" name="TextBox 10"/>
          <p:cNvSpPr/>
          <p:nvPr/>
        </p:nvSpPr>
        <p:spPr>
          <a:xfrm>
            <a:off x="731520" y="306324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5" name="TextBox 11"/>
          <p:cNvSpPr/>
          <p:nvPr/>
        </p:nvSpPr>
        <p:spPr>
          <a:xfrm>
            <a:off x="731520" y="333756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</a:rPr>
              <a:t>const result = await db.$queryRawUnsafe(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6" name="TextBox 12"/>
          <p:cNvSpPr/>
          <p:nvPr/>
        </p:nvSpPr>
        <p:spPr>
          <a:xfrm>
            <a:off x="731520" y="361188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</a:rPr>
              <a:t>  `SELECT * FROM users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7" name="TextBox 13"/>
          <p:cNvSpPr/>
          <p:nvPr/>
        </p:nvSpPr>
        <p:spPr>
          <a:xfrm>
            <a:off x="731520" y="388620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</a:rPr>
              <a:t>   WHERE email = '${email}'`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8" name="TextBox 14"/>
          <p:cNvSpPr/>
          <p:nvPr/>
        </p:nvSpPr>
        <p:spPr>
          <a:xfrm>
            <a:off x="731520" y="416052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</a:rPr>
              <a:t>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9" name="TextBox 15"/>
          <p:cNvSpPr/>
          <p:nvPr/>
        </p:nvSpPr>
        <p:spPr>
          <a:xfrm>
            <a:off x="731520" y="443484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0" name="TextBox 16"/>
          <p:cNvSpPr/>
          <p:nvPr/>
        </p:nvSpPr>
        <p:spPr>
          <a:xfrm>
            <a:off x="731520" y="470916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// Si email = "x' OR '1'='1"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1" name="TextBox 17"/>
          <p:cNvSpPr/>
          <p:nvPr/>
        </p:nvSpPr>
        <p:spPr>
          <a:xfrm>
            <a:off x="731520" y="498348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// → SELECT * FROM users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2" name="TextBox 18"/>
          <p:cNvSpPr/>
          <p:nvPr/>
        </p:nvSpPr>
        <p:spPr>
          <a:xfrm>
            <a:off x="731520" y="525780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//   WHERE email = 'x' OR '1'='1'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3" name="TextBox 19"/>
          <p:cNvSpPr/>
          <p:nvPr/>
        </p:nvSpPr>
        <p:spPr>
          <a:xfrm>
            <a:off x="731520" y="553212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</a:rPr>
              <a:t>// → renvoie TOUS les utilisateurs ☠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4" name="Rectangle 20"/>
          <p:cNvSpPr/>
          <p:nvPr/>
        </p:nvSpPr>
        <p:spPr>
          <a:xfrm>
            <a:off x="6080760" y="1691640"/>
            <a:ext cx="5343480" cy="456624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5" name="Rectangle 21"/>
          <p:cNvSpPr/>
          <p:nvPr/>
        </p:nvSpPr>
        <p:spPr>
          <a:xfrm>
            <a:off x="6080760" y="1691640"/>
            <a:ext cx="534348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6" name="TextBox 22"/>
          <p:cNvSpPr/>
          <p:nvPr/>
        </p:nvSpPr>
        <p:spPr>
          <a:xfrm>
            <a:off x="6217920" y="1755720"/>
            <a:ext cx="50234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 Prisma — PROTÉGÉ par défaut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7" name="TextBox 23"/>
          <p:cNvSpPr/>
          <p:nvPr/>
        </p:nvSpPr>
        <p:spPr>
          <a:xfrm>
            <a:off x="6263640" y="224028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// ✅ Le pattern utilisé partout dans le projet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8" name="TextBox 24"/>
          <p:cNvSpPr/>
          <p:nvPr/>
        </p:nvSpPr>
        <p:spPr>
          <a:xfrm>
            <a:off x="6263640" y="251460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9" name="TextBox 25"/>
          <p:cNvSpPr/>
          <p:nvPr/>
        </p:nvSpPr>
        <p:spPr>
          <a:xfrm>
            <a:off x="6263640" y="278892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const email = req.body.email;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0" name="TextBox 26"/>
          <p:cNvSpPr/>
          <p:nvPr/>
        </p:nvSpPr>
        <p:spPr>
          <a:xfrm>
            <a:off x="6263640" y="306324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1" name="TextBox 27"/>
          <p:cNvSpPr/>
          <p:nvPr/>
        </p:nvSpPr>
        <p:spPr>
          <a:xfrm>
            <a:off x="6263640" y="333756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const user = await db.user.findUnique({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2" name="TextBox 28"/>
          <p:cNvSpPr/>
          <p:nvPr/>
        </p:nvSpPr>
        <p:spPr>
          <a:xfrm>
            <a:off x="6263640" y="361188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where: { email },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3" name="TextBox 29"/>
          <p:cNvSpPr/>
          <p:nvPr/>
        </p:nvSpPr>
        <p:spPr>
          <a:xfrm>
            <a:off x="6263640" y="388620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});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4" name="TextBox 30"/>
          <p:cNvSpPr/>
          <p:nvPr/>
        </p:nvSpPr>
        <p:spPr>
          <a:xfrm>
            <a:off x="6263640" y="416052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5" name="TextBox 31"/>
          <p:cNvSpPr/>
          <p:nvPr/>
        </p:nvSpPr>
        <p:spPr>
          <a:xfrm>
            <a:off x="6263640" y="443484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// Prisma envoie au driver pg 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6" name="TextBox 32"/>
          <p:cNvSpPr/>
          <p:nvPr/>
        </p:nvSpPr>
        <p:spPr>
          <a:xfrm>
            <a:off x="6263640" y="470916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//   SELECT * FROM users WHERE email = $1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7" name="TextBox 33"/>
          <p:cNvSpPr/>
          <p:nvPr/>
        </p:nvSpPr>
        <p:spPr>
          <a:xfrm>
            <a:off x="6263640" y="498348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//   avec params = ['x' OR ''1''=''1']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8" name="TextBox 34"/>
          <p:cNvSpPr/>
          <p:nvPr/>
        </p:nvSpPr>
        <p:spPr>
          <a:xfrm>
            <a:off x="6263640" y="525780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//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9" name="TextBox 35"/>
          <p:cNvSpPr/>
          <p:nvPr/>
        </p:nvSpPr>
        <p:spPr>
          <a:xfrm>
            <a:off x="6263640" y="553212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// PostgreSQL traite $1 comme STRING littérale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0" name="TextBox 36"/>
          <p:cNvSpPr/>
          <p:nvPr/>
        </p:nvSpPr>
        <p:spPr>
          <a:xfrm>
            <a:off x="6263640" y="5806440"/>
            <a:ext cx="506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// → 0 ligne renvoyée 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1" name="TextBox 37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2" name="TextBox 38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42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Rectangle 1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840" tIns="45000" rIns="338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5" name="TextBox 2"/>
          <p:cNvSpPr/>
          <p:nvPr/>
        </p:nvSpPr>
        <p:spPr>
          <a:xfrm>
            <a:off x="548640" y="447480"/>
            <a:ext cx="7309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Noto Sans CJK SC"/>
              </a:rPr>
              <a:t>· SQL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6" name="TextBox 3"/>
          <p:cNvSpPr/>
          <p:nvPr/>
        </p:nvSpPr>
        <p:spPr>
          <a:xfrm>
            <a:off x="548640" y="721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Anti-SQLi : défense en profondeur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7" name="Rectangle 4"/>
          <p:cNvSpPr/>
          <p:nvPr/>
        </p:nvSpPr>
        <p:spPr>
          <a:xfrm>
            <a:off x="548640" y="1691640"/>
            <a:ext cx="7309440" cy="86292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8" name="Rectangle 5"/>
          <p:cNvSpPr/>
          <p:nvPr/>
        </p:nvSpPr>
        <p:spPr>
          <a:xfrm>
            <a:off x="548640" y="1691640"/>
            <a:ext cx="104040" cy="86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200" tIns="45000" rIns="522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9" name="TextBox 6"/>
          <p:cNvSpPr/>
          <p:nvPr/>
        </p:nvSpPr>
        <p:spPr>
          <a:xfrm>
            <a:off x="822960" y="1783080"/>
            <a:ext cx="451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0" name="TextBox 7"/>
          <p:cNvSpPr/>
          <p:nvPr/>
        </p:nvSpPr>
        <p:spPr>
          <a:xfrm>
            <a:off x="1417320" y="1783080"/>
            <a:ext cx="2280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ZOD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1" name="TextBox 8"/>
          <p:cNvSpPr/>
          <p:nvPr/>
        </p:nvSpPr>
        <p:spPr>
          <a:xfrm>
            <a:off x="1417320" y="2057400"/>
            <a:ext cx="5023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Validation type + format avant tout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2" name="TextBox 9"/>
          <p:cNvSpPr/>
          <p:nvPr/>
        </p:nvSpPr>
        <p:spPr>
          <a:xfrm>
            <a:off x="4718880" y="2286000"/>
            <a:ext cx="20998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z.string().email().min(6)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3" name="Rectangle 10"/>
          <p:cNvSpPr/>
          <p:nvPr/>
        </p:nvSpPr>
        <p:spPr>
          <a:xfrm>
            <a:off x="548640" y="2743200"/>
            <a:ext cx="7309440" cy="86292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4" name="Rectangle 11"/>
          <p:cNvSpPr/>
          <p:nvPr/>
        </p:nvSpPr>
        <p:spPr>
          <a:xfrm>
            <a:off x="548640" y="2743200"/>
            <a:ext cx="104040" cy="862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200" tIns="45000" rIns="522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5" name="TextBox 12"/>
          <p:cNvSpPr/>
          <p:nvPr/>
        </p:nvSpPr>
        <p:spPr>
          <a:xfrm>
            <a:off x="822960" y="2834640"/>
            <a:ext cx="451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6" name="TextBox 13"/>
          <p:cNvSpPr/>
          <p:nvPr/>
        </p:nvSpPr>
        <p:spPr>
          <a:xfrm>
            <a:off x="1417320" y="2834640"/>
            <a:ext cx="2280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PRISMA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7" name="TextBox 14"/>
          <p:cNvSpPr/>
          <p:nvPr/>
        </p:nvSpPr>
        <p:spPr>
          <a:xfrm>
            <a:off x="1417320" y="3108960"/>
            <a:ext cx="5023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Compose un SQL paramétré (jamais de concat)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8" name="TextBox 15"/>
          <p:cNvSpPr/>
          <p:nvPr/>
        </p:nvSpPr>
        <p:spPr>
          <a:xfrm>
            <a:off x="4665960" y="3276000"/>
            <a:ext cx="3103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db.user.findUnique({ where: { email } })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9" name="Rectangle 16"/>
          <p:cNvSpPr/>
          <p:nvPr/>
        </p:nvSpPr>
        <p:spPr>
          <a:xfrm>
            <a:off x="548640" y="3794760"/>
            <a:ext cx="7309440" cy="86292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0" name="Rectangle 17"/>
          <p:cNvSpPr/>
          <p:nvPr/>
        </p:nvSpPr>
        <p:spPr>
          <a:xfrm>
            <a:off x="548640" y="3794760"/>
            <a:ext cx="104040" cy="86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200" tIns="45000" rIns="522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1" name="TextBox 18"/>
          <p:cNvSpPr/>
          <p:nvPr/>
        </p:nvSpPr>
        <p:spPr>
          <a:xfrm>
            <a:off x="822960" y="3886200"/>
            <a:ext cx="451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2" name="TextBox 19"/>
          <p:cNvSpPr/>
          <p:nvPr/>
        </p:nvSpPr>
        <p:spPr>
          <a:xfrm>
            <a:off x="1417320" y="3886200"/>
            <a:ext cx="2280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DRIVER PG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3" name="TextBox 20"/>
          <p:cNvSpPr/>
          <p:nvPr/>
        </p:nvSpPr>
        <p:spPr>
          <a:xfrm>
            <a:off x="1417320" y="4160520"/>
            <a:ext cx="5023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Sépare query texte + array de params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4" name="TextBox 21"/>
          <p:cNvSpPr/>
          <p:nvPr/>
        </p:nvSpPr>
        <p:spPr>
          <a:xfrm>
            <a:off x="4699440" y="4333680"/>
            <a:ext cx="24199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PREPARE → EXECUTE($1, $2, ...)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5" name="Rectangle 22"/>
          <p:cNvSpPr/>
          <p:nvPr/>
        </p:nvSpPr>
        <p:spPr>
          <a:xfrm>
            <a:off x="548640" y="4846320"/>
            <a:ext cx="7309440" cy="86292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6" name="Rectangle 23"/>
          <p:cNvSpPr/>
          <p:nvPr/>
        </p:nvSpPr>
        <p:spPr>
          <a:xfrm>
            <a:off x="548640" y="4846320"/>
            <a:ext cx="104040" cy="86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200" tIns="45000" rIns="522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7" name="TextBox 24"/>
          <p:cNvSpPr/>
          <p:nvPr/>
        </p:nvSpPr>
        <p:spPr>
          <a:xfrm>
            <a:off x="822960" y="4937760"/>
            <a:ext cx="451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8" name="TextBox 25"/>
          <p:cNvSpPr/>
          <p:nvPr/>
        </p:nvSpPr>
        <p:spPr>
          <a:xfrm>
            <a:off x="1417320" y="4937760"/>
            <a:ext cx="2280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POSTGRES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9" name="TextBox 26"/>
          <p:cNvSpPr/>
          <p:nvPr/>
        </p:nvSpPr>
        <p:spPr>
          <a:xfrm>
            <a:off x="1417320" y="5212080"/>
            <a:ext cx="5023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Traite chaque param comme littéral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0" name="TextBox 27"/>
          <p:cNvSpPr/>
          <p:nvPr/>
        </p:nvSpPr>
        <p:spPr>
          <a:xfrm>
            <a:off x="4721040" y="5421240"/>
            <a:ext cx="401760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WHERE email = $1   (binding)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1" name="Rectangle 28"/>
          <p:cNvSpPr/>
          <p:nvPr/>
        </p:nvSpPr>
        <p:spPr>
          <a:xfrm>
            <a:off x="8092440" y="1691640"/>
            <a:ext cx="3514680" cy="456624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2" name="TextBox 29"/>
          <p:cNvSpPr/>
          <p:nvPr/>
        </p:nvSpPr>
        <p:spPr>
          <a:xfrm>
            <a:off x="8275320" y="1783080"/>
            <a:ext cx="31489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Payload attaque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3" name="Oval 30"/>
          <p:cNvSpPr/>
          <p:nvPr/>
        </p:nvSpPr>
        <p:spPr>
          <a:xfrm>
            <a:off x="8275320" y="2240280"/>
            <a:ext cx="405720" cy="4057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4" name="TextBox 31"/>
          <p:cNvSpPr/>
          <p:nvPr/>
        </p:nvSpPr>
        <p:spPr>
          <a:xfrm>
            <a:off x="8275320" y="224028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5" name="TextBox 32"/>
          <p:cNvSpPr/>
          <p:nvPr/>
        </p:nvSpPr>
        <p:spPr>
          <a:xfrm>
            <a:off x="8814240" y="230256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' OR 1=1-- envoyé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6" name="Oval 33"/>
          <p:cNvSpPr/>
          <p:nvPr/>
        </p:nvSpPr>
        <p:spPr>
          <a:xfrm>
            <a:off x="8275320" y="2880360"/>
            <a:ext cx="405720" cy="40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7" name="TextBox 34"/>
          <p:cNvSpPr/>
          <p:nvPr/>
        </p:nvSpPr>
        <p:spPr>
          <a:xfrm>
            <a:off x="8275320" y="288036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8" name="TextBox 35"/>
          <p:cNvSpPr/>
          <p:nvPr/>
        </p:nvSpPr>
        <p:spPr>
          <a:xfrm>
            <a:off x="8814240" y="297864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Zod : pas un email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9" name="Oval 36"/>
          <p:cNvSpPr/>
          <p:nvPr/>
        </p:nvSpPr>
        <p:spPr>
          <a:xfrm>
            <a:off x="8275320" y="3520440"/>
            <a:ext cx="405720" cy="4057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0" name="TextBox 37"/>
          <p:cNvSpPr/>
          <p:nvPr/>
        </p:nvSpPr>
        <p:spPr>
          <a:xfrm>
            <a:off x="8275320" y="352044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1" name="TextBox 38"/>
          <p:cNvSpPr/>
          <p:nvPr/>
        </p:nvSpPr>
        <p:spPr>
          <a:xfrm>
            <a:off x="8814240" y="358272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Prisma : paramètre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2" name="Oval 39"/>
          <p:cNvSpPr/>
          <p:nvPr/>
        </p:nvSpPr>
        <p:spPr>
          <a:xfrm>
            <a:off x="8275320" y="4160520"/>
            <a:ext cx="405720" cy="4057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3" name="TextBox 40"/>
          <p:cNvSpPr/>
          <p:nvPr/>
        </p:nvSpPr>
        <p:spPr>
          <a:xfrm>
            <a:off x="8275320" y="416052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4" name="TextBox 41"/>
          <p:cNvSpPr/>
          <p:nvPr/>
        </p:nvSpPr>
        <p:spPr>
          <a:xfrm>
            <a:off x="8814240" y="422280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Driver : binding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5" name="Oval 42"/>
          <p:cNvSpPr/>
          <p:nvPr/>
        </p:nvSpPr>
        <p:spPr>
          <a:xfrm>
            <a:off x="8275320" y="4800600"/>
            <a:ext cx="405720" cy="40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6" name="TextBox 43"/>
          <p:cNvSpPr/>
          <p:nvPr/>
        </p:nvSpPr>
        <p:spPr>
          <a:xfrm>
            <a:off x="8275320" y="480060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7" name="TextBox 44"/>
          <p:cNvSpPr/>
          <p:nvPr/>
        </p:nvSpPr>
        <p:spPr>
          <a:xfrm>
            <a:off x="8814240" y="489888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PG : 0 résultat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8" name="TextBox 45"/>
          <p:cNvSpPr/>
          <p:nvPr/>
        </p:nvSpPr>
        <p:spPr>
          <a:xfrm>
            <a:off x="548640" y="598932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OWASP Top 10 — A03:2021 Injection · neutralisée structurellement par Prisma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9" name="TextBox 46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0" name="TextBox 47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43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1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05 · QUALITÉ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3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Stratégie de tests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4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5" name="Shape 3"/>
          <p:cNvSpPr/>
          <p:nvPr/>
        </p:nvSpPr>
        <p:spPr>
          <a:xfrm>
            <a:off x="2790000" y="1600200"/>
            <a:ext cx="1240200" cy="947520"/>
          </a:xfrm>
          <a:prstGeom prst="rect">
            <a:avLst/>
          </a:prstGeom>
          <a:solidFill>
            <a:srgbClr val="EF4444">
              <a:alpha val="40000"/>
            </a:srgbClr>
          </a:solidFill>
          <a:ln w="1905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6" name="Text 4"/>
          <p:cNvSpPr/>
          <p:nvPr/>
        </p:nvSpPr>
        <p:spPr>
          <a:xfrm>
            <a:off x="2790000" y="1600200"/>
            <a:ext cx="1240200" cy="94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E2E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7" name="Shape 5"/>
          <p:cNvSpPr/>
          <p:nvPr/>
        </p:nvSpPr>
        <p:spPr>
          <a:xfrm>
            <a:off x="2166840" y="2553840"/>
            <a:ext cx="2486160" cy="1329120"/>
          </a:xfrm>
          <a:prstGeom prst="rect">
            <a:avLst/>
          </a:prstGeom>
          <a:solidFill>
            <a:srgbClr val="F59E0B">
              <a:alpha val="4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8" name="Text 6"/>
          <p:cNvSpPr/>
          <p:nvPr/>
        </p:nvSpPr>
        <p:spPr>
          <a:xfrm>
            <a:off x="2166840" y="2553840"/>
            <a:ext cx="2486160" cy="13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Tests d'intégration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9" name="Shape 7"/>
          <p:cNvSpPr/>
          <p:nvPr/>
        </p:nvSpPr>
        <p:spPr>
          <a:xfrm>
            <a:off x="1336320" y="3888720"/>
            <a:ext cx="4147200" cy="1519920"/>
          </a:xfrm>
          <a:prstGeom prst="rect">
            <a:avLst/>
          </a:prstGeom>
          <a:solidFill>
            <a:srgbClr val="10B981">
              <a:alpha val="4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0" name="Text 8"/>
          <p:cNvSpPr/>
          <p:nvPr/>
        </p:nvSpPr>
        <p:spPr>
          <a:xfrm>
            <a:off x="1336320" y="3888720"/>
            <a:ext cx="4147200" cy="15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Tests unitaires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1" name="Shape 9"/>
          <p:cNvSpPr/>
          <p:nvPr/>
        </p:nvSpPr>
        <p:spPr>
          <a:xfrm>
            <a:off x="6919200" y="1387080"/>
            <a:ext cx="3883320" cy="3999240"/>
          </a:xfrm>
          <a:prstGeom prst="roundRect">
            <a:avLst>
              <a:gd name="adj" fmla="val 16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2" name="Text 10"/>
          <p:cNvSpPr/>
          <p:nvPr/>
        </p:nvSpPr>
        <p:spPr>
          <a:xfrm>
            <a:off x="7077960" y="1468800"/>
            <a:ext cx="356580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Pyramide adoptée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3" name="Shape 11"/>
          <p:cNvSpPr/>
          <p:nvPr/>
        </p:nvSpPr>
        <p:spPr>
          <a:xfrm>
            <a:off x="7077960" y="1877400"/>
            <a:ext cx="73800" cy="73008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7080" tIns="45000" rIns="370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4" name="Text 12"/>
          <p:cNvSpPr/>
          <p:nvPr/>
        </p:nvSpPr>
        <p:spPr>
          <a:xfrm>
            <a:off x="7236720" y="1877400"/>
            <a:ext cx="2375280" cy="3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E2E (Playwright)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5" name="Shape 13"/>
          <p:cNvSpPr/>
          <p:nvPr/>
        </p:nvSpPr>
        <p:spPr>
          <a:xfrm>
            <a:off x="9657000" y="1918440"/>
            <a:ext cx="986760" cy="239760"/>
          </a:xfrm>
          <a:prstGeom prst="roundRect">
            <a:avLst>
              <a:gd name="adj" fmla="val 50000"/>
            </a:avLst>
          </a:prstGeom>
          <a:solidFill>
            <a:srgbClr val="EF4444">
              <a:alpha val="25000"/>
            </a:srgbClr>
          </a:solidFill>
          <a:ln w="9525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6" name="Text 14"/>
          <p:cNvSpPr/>
          <p:nvPr/>
        </p:nvSpPr>
        <p:spPr>
          <a:xfrm>
            <a:off x="9657000" y="1918440"/>
            <a:ext cx="9867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Roadmap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7" name="Text 15"/>
          <p:cNvSpPr/>
          <p:nvPr/>
        </p:nvSpPr>
        <p:spPr>
          <a:xfrm>
            <a:off x="7236720" y="2204280"/>
            <a:ext cx="340704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Parcours critiques : inscription, post, chat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8" name="Shape 16"/>
          <p:cNvSpPr/>
          <p:nvPr/>
        </p:nvSpPr>
        <p:spPr>
          <a:xfrm>
            <a:off x="7077960" y="2694600"/>
            <a:ext cx="73800" cy="7300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7080" tIns="45000" rIns="370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9" name="Text 17"/>
          <p:cNvSpPr/>
          <p:nvPr/>
        </p:nvSpPr>
        <p:spPr>
          <a:xfrm>
            <a:off x="7236720" y="2694600"/>
            <a:ext cx="2375280" cy="3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Intégration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0" name="Shape 18"/>
          <p:cNvSpPr/>
          <p:nvPr/>
        </p:nvSpPr>
        <p:spPr>
          <a:xfrm>
            <a:off x="9657000" y="2735640"/>
            <a:ext cx="986760" cy="239760"/>
          </a:xfrm>
          <a:prstGeom prst="roundRect">
            <a:avLst>
              <a:gd name="adj" fmla="val 50000"/>
            </a:avLst>
          </a:prstGeom>
          <a:solidFill>
            <a:srgbClr val="F59E0B">
              <a:alpha val="25000"/>
            </a:srgbClr>
          </a:solidFill>
          <a:ln w="952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1" name="Text 19"/>
          <p:cNvSpPr/>
          <p:nvPr/>
        </p:nvSpPr>
        <p:spPr>
          <a:xfrm>
            <a:off x="9657000" y="2735640"/>
            <a:ext cx="9867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En place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2" name="Text 20"/>
          <p:cNvSpPr/>
          <p:nvPr/>
        </p:nvSpPr>
        <p:spPr>
          <a:xfrm>
            <a:off x="7236720" y="3021480"/>
            <a:ext cx="340704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Jest + ts-jest sur /api/auth (authentification)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3" name="Shape 21"/>
          <p:cNvSpPr/>
          <p:nvPr/>
        </p:nvSpPr>
        <p:spPr>
          <a:xfrm>
            <a:off x="7077960" y="3512160"/>
            <a:ext cx="73800" cy="73008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7080" tIns="45000" rIns="370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4" name="Text 22"/>
          <p:cNvSpPr/>
          <p:nvPr/>
        </p:nvSpPr>
        <p:spPr>
          <a:xfrm>
            <a:off x="7236720" y="3512160"/>
            <a:ext cx="2375280" cy="3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Unitaires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5" name="Shape 23"/>
          <p:cNvSpPr/>
          <p:nvPr/>
        </p:nvSpPr>
        <p:spPr>
          <a:xfrm>
            <a:off x="9657000" y="3552840"/>
            <a:ext cx="986760" cy="23976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6" name="Text 24"/>
          <p:cNvSpPr/>
          <p:nvPr/>
        </p:nvSpPr>
        <p:spPr>
          <a:xfrm>
            <a:off x="9657000" y="3552840"/>
            <a:ext cx="9867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En place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7" name="Text 25"/>
          <p:cNvSpPr/>
          <p:nvPr/>
        </p:nvSpPr>
        <p:spPr>
          <a:xfrm>
            <a:off x="7236720" y="3839040"/>
            <a:ext cx="340704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Helpers, validators Zod, hashing, JWT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8" name="Shape 26"/>
          <p:cNvSpPr/>
          <p:nvPr/>
        </p:nvSpPr>
        <p:spPr>
          <a:xfrm>
            <a:off x="7077960" y="4329360"/>
            <a:ext cx="73800" cy="73008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7080" tIns="45000" rIns="370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9" name="Text 27"/>
          <p:cNvSpPr/>
          <p:nvPr/>
        </p:nvSpPr>
        <p:spPr>
          <a:xfrm>
            <a:off x="7236720" y="4329360"/>
            <a:ext cx="2375280" cy="3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Lint &amp; types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0" name="Shape 28"/>
          <p:cNvSpPr/>
          <p:nvPr/>
        </p:nvSpPr>
        <p:spPr>
          <a:xfrm>
            <a:off x="9657000" y="4370040"/>
            <a:ext cx="986760" cy="23976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1" name="Text 29"/>
          <p:cNvSpPr/>
          <p:nvPr/>
        </p:nvSpPr>
        <p:spPr>
          <a:xfrm>
            <a:off x="9657000" y="4370040"/>
            <a:ext cx="9867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CI bloquant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2" name="Text 30"/>
          <p:cNvSpPr/>
          <p:nvPr/>
        </p:nvSpPr>
        <p:spPr>
          <a:xfrm>
            <a:off x="7236720" y="4656240"/>
            <a:ext cx="340704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ESLint + TypeScript strict, prisma generate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3" name="Shape 31"/>
          <p:cNvSpPr/>
          <p:nvPr/>
        </p:nvSpPr>
        <p:spPr>
          <a:xfrm>
            <a:off x="548640" y="5577840"/>
            <a:ext cx="11058480" cy="680040"/>
          </a:xfrm>
          <a:prstGeom prst="roundRect">
            <a:avLst>
              <a:gd name="adj" fmla="val 10667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4" name="Text 32"/>
          <p:cNvSpPr/>
          <p:nvPr/>
        </p:nvSpPr>
        <p:spPr>
          <a:xfrm>
            <a:off x="777240" y="5623560"/>
            <a:ext cx="1060128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Coverage cible :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80% sur les modules critiques (auth, chat, persistence). 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Jeux d'essai documentés dans tests-strategy.md.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5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6" name="Text 33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7" name="Text 34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44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05 · QUALITÉ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9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Déploiement continu — Vercel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0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1" name="Shape 3"/>
          <p:cNvSpPr/>
          <p:nvPr/>
        </p:nvSpPr>
        <p:spPr>
          <a:xfrm>
            <a:off x="434520" y="2194560"/>
            <a:ext cx="1365840" cy="21888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2" name="Shape 4"/>
          <p:cNvSpPr/>
          <p:nvPr/>
        </p:nvSpPr>
        <p:spPr>
          <a:xfrm>
            <a:off x="800280" y="2423160"/>
            <a:ext cx="634320" cy="634320"/>
          </a:xfrm>
          <a:prstGeom prst="ellipse">
            <a:avLst/>
          </a:prstGeom>
          <a:solidFill>
            <a:srgbClr val="A1A1AA">
              <a:alpha val="30000"/>
            </a:srgbClr>
          </a:solidFill>
          <a:ln w="19050">
            <a:solidFill>
              <a:srgbClr val="A1A1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3" name="Text 5"/>
          <p:cNvSpPr/>
          <p:nvPr/>
        </p:nvSpPr>
        <p:spPr>
          <a:xfrm>
            <a:off x="800280" y="2315160"/>
            <a:ext cx="63432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↗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4" name="Text 6"/>
          <p:cNvSpPr/>
          <p:nvPr/>
        </p:nvSpPr>
        <p:spPr>
          <a:xfrm>
            <a:off x="480240" y="3154680"/>
            <a:ext cx="12744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Push / PR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5" name="Text 7"/>
          <p:cNvSpPr/>
          <p:nvPr/>
        </p:nvSpPr>
        <p:spPr>
          <a:xfrm>
            <a:off x="480240" y="3520440"/>
            <a:ext cx="127440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main · feature-*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6" name="Shape 8"/>
          <p:cNvSpPr/>
          <p:nvPr/>
        </p:nvSpPr>
        <p:spPr>
          <a:xfrm>
            <a:off x="1805760" y="2779200"/>
            <a:ext cx="45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22680" tIns="-44640" rIns="2268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7" name="Shape 9"/>
          <p:cNvSpPr/>
          <p:nvPr/>
        </p:nvSpPr>
        <p:spPr>
          <a:xfrm>
            <a:off x="1851840" y="2194560"/>
            <a:ext cx="1365840" cy="21888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8" name="Shape 10"/>
          <p:cNvSpPr/>
          <p:nvPr/>
        </p:nvSpPr>
        <p:spPr>
          <a:xfrm>
            <a:off x="2217600" y="2423160"/>
            <a:ext cx="634320" cy="63432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9" name="Text 11"/>
          <p:cNvSpPr/>
          <p:nvPr/>
        </p:nvSpPr>
        <p:spPr>
          <a:xfrm>
            <a:off x="2217600" y="2351160"/>
            <a:ext cx="63432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↓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0" name="Text 12"/>
          <p:cNvSpPr/>
          <p:nvPr/>
        </p:nvSpPr>
        <p:spPr>
          <a:xfrm>
            <a:off x="1897560" y="3154680"/>
            <a:ext cx="12744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Checkout &amp; Setup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1" name="Text 13"/>
          <p:cNvSpPr/>
          <p:nvPr/>
        </p:nvSpPr>
        <p:spPr>
          <a:xfrm>
            <a:off x="1897560" y="3520440"/>
            <a:ext cx="127440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vercel build · intégration Git native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2" name="Shape 14"/>
          <p:cNvSpPr/>
          <p:nvPr/>
        </p:nvSpPr>
        <p:spPr>
          <a:xfrm>
            <a:off x="3223080" y="2743200"/>
            <a:ext cx="45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22680" tIns="-44640" rIns="2268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3" name="Shape 15"/>
          <p:cNvSpPr/>
          <p:nvPr/>
        </p:nvSpPr>
        <p:spPr>
          <a:xfrm>
            <a:off x="3269160" y="2194560"/>
            <a:ext cx="1365840" cy="21888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4" name="Shape 16"/>
          <p:cNvSpPr/>
          <p:nvPr/>
        </p:nvSpPr>
        <p:spPr>
          <a:xfrm>
            <a:off x="3634920" y="2423160"/>
            <a:ext cx="634320" cy="63432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5" name="Text 17"/>
          <p:cNvSpPr/>
          <p:nvPr/>
        </p:nvSpPr>
        <p:spPr>
          <a:xfrm>
            <a:off x="3634920" y="2315160"/>
            <a:ext cx="63432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▤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6" name="Text 18"/>
          <p:cNvSpPr/>
          <p:nvPr/>
        </p:nvSpPr>
        <p:spPr>
          <a:xfrm>
            <a:off x="3314880" y="3154680"/>
            <a:ext cx="12744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Install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7" name="Text 19"/>
          <p:cNvSpPr/>
          <p:nvPr/>
        </p:nvSpPr>
        <p:spPr>
          <a:xfrm>
            <a:off x="3314880" y="3520440"/>
            <a:ext cx="127440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bun install --frozen-lockfile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8" name="Shape 20"/>
          <p:cNvSpPr/>
          <p:nvPr/>
        </p:nvSpPr>
        <p:spPr>
          <a:xfrm>
            <a:off x="4640400" y="2743200"/>
            <a:ext cx="45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22680" tIns="-44640" rIns="2268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9" name="Shape 21"/>
          <p:cNvSpPr/>
          <p:nvPr/>
        </p:nvSpPr>
        <p:spPr>
          <a:xfrm>
            <a:off x="4686480" y="2194560"/>
            <a:ext cx="1365840" cy="21888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0" name="Shape 22"/>
          <p:cNvSpPr/>
          <p:nvPr/>
        </p:nvSpPr>
        <p:spPr>
          <a:xfrm>
            <a:off x="5052240" y="2423160"/>
            <a:ext cx="634320" cy="63432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1" name="Text 23"/>
          <p:cNvSpPr/>
          <p:nvPr/>
        </p:nvSpPr>
        <p:spPr>
          <a:xfrm>
            <a:off x="5052240" y="2315160"/>
            <a:ext cx="63432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⊕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2" name="Text 24"/>
          <p:cNvSpPr/>
          <p:nvPr/>
        </p:nvSpPr>
        <p:spPr>
          <a:xfrm>
            <a:off x="4732200" y="3154680"/>
            <a:ext cx="12744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Prisma generate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3" name="Text 25"/>
          <p:cNvSpPr/>
          <p:nvPr/>
        </p:nvSpPr>
        <p:spPr>
          <a:xfrm>
            <a:off x="4732200" y="3520440"/>
            <a:ext cx="127440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bunx prisma generate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4" name="Shape 26"/>
          <p:cNvSpPr/>
          <p:nvPr/>
        </p:nvSpPr>
        <p:spPr>
          <a:xfrm>
            <a:off x="6057720" y="2743200"/>
            <a:ext cx="45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22680" tIns="-44640" rIns="2268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5" name="Shape 27"/>
          <p:cNvSpPr/>
          <p:nvPr/>
        </p:nvSpPr>
        <p:spPr>
          <a:xfrm>
            <a:off x="6103800" y="2194560"/>
            <a:ext cx="1365840" cy="21888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6" name="Shape 28"/>
          <p:cNvSpPr/>
          <p:nvPr/>
        </p:nvSpPr>
        <p:spPr>
          <a:xfrm>
            <a:off x="6469560" y="2423160"/>
            <a:ext cx="634320" cy="63432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7" name="Text 29"/>
          <p:cNvSpPr/>
          <p:nvPr/>
        </p:nvSpPr>
        <p:spPr>
          <a:xfrm>
            <a:off x="6469560" y="2351160"/>
            <a:ext cx="63432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≡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8" name="Text 30"/>
          <p:cNvSpPr/>
          <p:nvPr/>
        </p:nvSpPr>
        <p:spPr>
          <a:xfrm>
            <a:off x="6149520" y="3154680"/>
            <a:ext cx="12744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9" name="Text 31"/>
          <p:cNvSpPr/>
          <p:nvPr/>
        </p:nvSpPr>
        <p:spPr>
          <a:xfrm>
            <a:off x="6149520" y="3520440"/>
            <a:ext cx="127440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bun run lint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0" name="Shape 32"/>
          <p:cNvSpPr/>
          <p:nvPr/>
        </p:nvSpPr>
        <p:spPr>
          <a:xfrm>
            <a:off x="7475040" y="2743200"/>
            <a:ext cx="45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22680" tIns="-44640" rIns="2268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1" name="Shape 33"/>
          <p:cNvSpPr/>
          <p:nvPr/>
        </p:nvSpPr>
        <p:spPr>
          <a:xfrm>
            <a:off x="7521120" y="2194560"/>
            <a:ext cx="1365840" cy="21888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2" name="Shape 34"/>
          <p:cNvSpPr/>
          <p:nvPr/>
        </p:nvSpPr>
        <p:spPr>
          <a:xfrm>
            <a:off x="7886880" y="2423160"/>
            <a:ext cx="634320" cy="634320"/>
          </a:xfrm>
          <a:prstGeom prst="ellipse">
            <a:avLst/>
          </a:prstGeom>
          <a:solidFill>
            <a:srgbClr val="EF4444">
              <a:alpha val="30000"/>
            </a:srgbClr>
          </a:solidFill>
          <a:ln w="1905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3" name="Text 35"/>
          <p:cNvSpPr/>
          <p:nvPr/>
        </p:nvSpPr>
        <p:spPr>
          <a:xfrm>
            <a:off x="7886880" y="2423160"/>
            <a:ext cx="63432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✓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4" name="Text 36"/>
          <p:cNvSpPr/>
          <p:nvPr/>
        </p:nvSpPr>
        <p:spPr>
          <a:xfrm>
            <a:off x="7566840" y="3154680"/>
            <a:ext cx="12744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5" name="Text 37"/>
          <p:cNvSpPr/>
          <p:nvPr/>
        </p:nvSpPr>
        <p:spPr>
          <a:xfrm>
            <a:off x="7566840" y="3520440"/>
            <a:ext cx="127440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bun run test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6" name="Shape 38"/>
          <p:cNvSpPr/>
          <p:nvPr/>
        </p:nvSpPr>
        <p:spPr>
          <a:xfrm>
            <a:off x="8892360" y="2743200"/>
            <a:ext cx="45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22680" tIns="-44640" rIns="2268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7" name="Shape 39"/>
          <p:cNvSpPr/>
          <p:nvPr/>
        </p:nvSpPr>
        <p:spPr>
          <a:xfrm>
            <a:off x="8938440" y="2194560"/>
            <a:ext cx="1365840" cy="21888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8" name="Shape 40"/>
          <p:cNvSpPr/>
          <p:nvPr/>
        </p:nvSpPr>
        <p:spPr>
          <a:xfrm>
            <a:off x="9304200" y="2423160"/>
            <a:ext cx="634320" cy="634320"/>
          </a:xfrm>
          <a:prstGeom prst="ellipse">
            <a:avLst/>
          </a:prstGeom>
          <a:solidFill>
            <a:srgbClr val="F472B6">
              <a:alpha val="30000"/>
            </a:srgbClr>
          </a:solidFill>
          <a:ln w="19050">
            <a:solidFill>
              <a:srgbClr val="F47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9" name="Text 41"/>
          <p:cNvSpPr/>
          <p:nvPr/>
        </p:nvSpPr>
        <p:spPr>
          <a:xfrm>
            <a:off x="9304200" y="2351160"/>
            <a:ext cx="63432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◧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0" name="Text 42"/>
          <p:cNvSpPr/>
          <p:nvPr/>
        </p:nvSpPr>
        <p:spPr>
          <a:xfrm>
            <a:off x="8984160" y="3154680"/>
            <a:ext cx="12744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Build Next.js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1" name="Text 43"/>
          <p:cNvSpPr/>
          <p:nvPr/>
        </p:nvSpPr>
        <p:spPr>
          <a:xfrm>
            <a:off x="8984160" y="3520440"/>
            <a:ext cx="127440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bun run build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2" name="Shape 44"/>
          <p:cNvSpPr/>
          <p:nvPr/>
        </p:nvSpPr>
        <p:spPr>
          <a:xfrm>
            <a:off x="10309680" y="2743200"/>
            <a:ext cx="45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22680" tIns="-44640" rIns="2268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3" name="Shape 45"/>
          <p:cNvSpPr/>
          <p:nvPr/>
        </p:nvSpPr>
        <p:spPr>
          <a:xfrm>
            <a:off x="10355760" y="2194560"/>
            <a:ext cx="1365840" cy="21888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4" name="Shape 46"/>
          <p:cNvSpPr/>
          <p:nvPr/>
        </p:nvSpPr>
        <p:spPr>
          <a:xfrm>
            <a:off x="10721520" y="2423160"/>
            <a:ext cx="634320" cy="63432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5" name="Text 47"/>
          <p:cNvSpPr/>
          <p:nvPr/>
        </p:nvSpPr>
        <p:spPr>
          <a:xfrm>
            <a:off x="10721520" y="2351160"/>
            <a:ext cx="63432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▲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6" name="Text 48"/>
          <p:cNvSpPr/>
          <p:nvPr/>
        </p:nvSpPr>
        <p:spPr>
          <a:xfrm>
            <a:off x="10401480" y="3154680"/>
            <a:ext cx="12744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Deploy Vercel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7" name="Text 49"/>
          <p:cNvSpPr/>
          <p:nvPr/>
        </p:nvSpPr>
        <p:spPr>
          <a:xfrm>
            <a:off x="10401480" y="3520440"/>
            <a:ext cx="127440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preview ou prod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8" name="Shape 50"/>
          <p:cNvSpPr/>
          <p:nvPr/>
        </p:nvSpPr>
        <p:spPr>
          <a:xfrm>
            <a:off x="548640" y="4754880"/>
            <a:ext cx="11058480" cy="1548720"/>
          </a:xfrm>
          <a:prstGeom prst="roundRect">
            <a:avLst>
              <a:gd name="adj" fmla="val 5882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9" name="Text 51"/>
          <p:cNvSpPr/>
          <p:nvPr/>
        </p:nvSpPr>
        <p:spPr>
          <a:xfrm>
            <a:off x="731520" y="4846320"/>
            <a:ext cx="54806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Pipeline Vercel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0" name="Text 52"/>
          <p:cNvSpPr/>
          <p:nvPr/>
        </p:nvSpPr>
        <p:spPr>
          <a:xfrm>
            <a:off x="731520" y="5120640"/>
            <a:ext cx="106927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push vers main → build Vercel déclenché automatiquement par intégration Git native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1" name="Text 53"/>
          <p:cNvSpPr/>
          <p:nvPr/>
        </p:nvSpPr>
        <p:spPr>
          <a:xfrm>
            <a:off x="731520" y="5312520"/>
            <a:ext cx="106927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Preview URL unique générée par PR — testable avant merge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2" name="Text 54"/>
          <p:cNvSpPr/>
          <p:nvPr/>
        </p:nvSpPr>
        <p:spPr>
          <a:xfrm>
            <a:off x="731520" y="5504760"/>
            <a:ext cx="106927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~2 min commit → preview  ·  rollback one-click si régression prod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3" name="Text 55"/>
          <p:cNvSpPr/>
          <p:nvPr/>
        </p:nvSpPr>
        <p:spPr>
          <a:xfrm>
            <a:off x="731520" y="5696640"/>
            <a:ext cx="106927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Secrets via env vars Vercel · jamais committés · SSL automatique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4" name="Text 56"/>
          <p:cNvSpPr/>
          <p:nvPr/>
        </p:nvSpPr>
        <p:spPr>
          <a:xfrm>
            <a:off x="731520" y="5888880"/>
            <a:ext cx="106927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5" name="Text 57"/>
          <p:cNvSpPr/>
          <p:nvPr/>
        </p:nvSpPr>
        <p:spPr>
          <a:xfrm>
            <a:off x="731520" y="6080760"/>
            <a:ext cx="106927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6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7" name="Text 58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8" name="Text 59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45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Rectangle 1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840" tIns="45000" rIns="338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0" name="TextBox 2"/>
          <p:cNvSpPr/>
          <p:nvPr/>
        </p:nvSpPr>
        <p:spPr>
          <a:xfrm>
            <a:off x="548640" y="447480"/>
            <a:ext cx="7309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05 · DÉPLOIEMENT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1" name="TextBox 3"/>
          <p:cNvSpPr/>
          <p:nvPr/>
        </p:nvSpPr>
        <p:spPr>
          <a:xfrm>
            <a:off x="548640" y="757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Du commit à la production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2" name="Rectangle 4"/>
          <p:cNvSpPr/>
          <p:nvPr/>
        </p:nvSpPr>
        <p:spPr>
          <a:xfrm>
            <a:off x="685800" y="2011680"/>
            <a:ext cx="1658880" cy="118296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3" name="Rectangle 5"/>
          <p:cNvSpPr/>
          <p:nvPr/>
        </p:nvSpPr>
        <p:spPr>
          <a:xfrm>
            <a:off x="685800" y="2011680"/>
            <a:ext cx="1658880" cy="6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4" name="TextBox 6"/>
          <p:cNvSpPr/>
          <p:nvPr/>
        </p:nvSpPr>
        <p:spPr>
          <a:xfrm>
            <a:off x="685800" y="2194560"/>
            <a:ext cx="165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8B5CF6"/>
                </a:solidFill>
                <a:effectLst/>
                <a:uFillTx/>
                <a:latin typeface="Calibri"/>
              </a:rPr>
              <a:t>⟳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5" name="TextBox 7"/>
          <p:cNvSpPr/>
          <p:nvPr/>
        </p:nvSpPr>
        <p:spPr>
          <a:xfrm>
            <a:off x="685800" y="2743200"/>
            <a:ext cx="16588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git push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6" name="TextBox 8"/>
          <p:cNvSpPr/>
          <p:nvPr/>
        </p:nvSpPr>
        <p:spPr>
          <a:xfrm>
            <a:off x="685800" y="2971800"/>
            <a:ext cx="165888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main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7" name="TextBox 9"/>
          <p:cNvSpPr/>
          <p:nvPr/>
        </p:nvSpPr>
        <p:spPr>
          <a:xfrm>
            <a:off x="2298960" y="2514600"/>
            <a:ext cx="19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8" name="Rectangle 10"/>
          <p:cNvSpPr/>
          <p:nvPr/>
        </p:nvSpPr>
        <p:spPr>
          <a:xfrm>
            <a:off x="2502360" y="2011680"/>
            <a:ext cx="1658880" cy="118296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9" name="Rectangle 11"/>
          <p:cNvSpPr/>
          <p:nvPr/>
        </p:nvSpPr>
        <p:spPr>
          <a:xfrm>
            <a:off x="2502360" y="2011680"/>
            <a:ext cx="1658880" cy="6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0" name="TextBox 12"/>
          <p:cNvSpPr/>
          <p:nvPr/>
        </p:nvSpPr>
        <p:spPr>
          <a:xfrm>
            <a:off x="2502360" y="2194560"/>
            <a:ext cx="165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◉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1" name="TextBox 13"/>
          <p:cNvSpPr/>
          <p:nvPr/>
        </p:nvSpPr>
        <p:spPr>
          <a:xfrm>
            <a:off x="2502360" y="2743200"/>
            <a:ext cx="16588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Vercel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2" name="TextBox 14"/>
          <p:cNvSpPr/>
          <p:nvPr/>
        </p:nvSpPr>
        <p:spPr>
          <a:xfrm>
            <a:off x="2502360" y="2971800"/>
            <a:ext cx="165888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intégration Git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3" name="TextBox 15"/>
          <p:cNvSpPr/>
          <p:nvPr/>
        </p:nvSpPr>
        <p:spPr>
          <a:xfrm>
            <a:off x="4115520" y="2514600"/>
            <a:ext cx="19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4" name="Rectangle 16"/>
          <p:cNvSpPr/>
          <p:nvPr/>
        </p:nvSpPr>
        <p:spPr>
          <a:xfrm>
            <a:off x="4318560" y="2011680"/>
            <a:ext cx="1659240" cy="118296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5" name="Rectangle 17"/>
          <p:cNvSpPr/>
          <p:nvPr/>
        </p:nvSpPr>
        <p:spPr>
          <a:xfrm>
            <a:off x="4318560" y="2011680"/>
            <a:ext cx="1659240" cy="6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6" name="TextBox 18"/>
          <p:cNvSpPr/>
          <p:nvPr/>
        </p:nvSpPr>
        <p:spPr>
          <a:xfrm>
            <a:off x="4318560" y="2194560"/>
            <a:ext cx="165924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7" name="TextBox 19"/>
          <p:cNvSpPr/>
          <p:nvPr/>
        </p:nvSpPr>
        <p:spPr>
          <a:xfrm>
            <a:off x="4318560" y="2743200"/>
            <a:ext cx="16592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Lint + Test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8" name="TextBox 20"/>
          <p:cNvSpPr/>
          <p:nvPr/>
        </p:nvSpPr>
        <p:spPr>
          <a:xfrm>
            <a:off x="4318560" y="2971800"/>
            <a:ext cx="16592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Jest passe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9" name="TextBox 21"/>
          <p:cNvSpPr/>
          <p:nvPr/>
        </p:nvSpPr>
        <p:spPr>
          <a:xfrm>
            <a:off x="5932080" y="2514600"/>
            <a:ext cx="19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0" name="Rectangle 22"/>
          <p:cNvSpPr/>
          <p:nvPr/>
        </p:nvSpPr>
        <p:spPr>
          <a:xfrm>
            <a:off x="6135120" y="2011680"/>
            <a:ext cx="1659240" cy="118296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1" name="Rectangle 23"/>
          <p:cNvSpPr/>
          <p:nvPr/>
        </p:nvSpPr>
        <p:spPr>
          <a:xfrm>
            <a:off x="6135120" y="2011680"/>
            <a:ext cx="1659240" cy="6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2" name="TextBox 24"/>
          <p:cNvSpPr/>
          <p:nvPr/>
        </p:nvSpPr>
        <p:spPr>
          <a:xfrm>
            <a:off x="6135120" y="2194560"/>
            <a:ext cx="165924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▣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3" name="TextBox 25"/>
          <p:cNvSpPr/>
          <p:nvPr/>
        </p:nvSpPr>
        <p:spPr>
          <a:xfrm>
            <a:off x="6135120" y="2743200"/>
            <a:ext cx="16592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Build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4" name="TextBox 26"/>
          <p:cNvSpPr/>
          <p:nvPr/>
        </p:nvSpPr>
        <p:spPr>
          <a:xfrm>
            <a:off x="6135120" y="2971800"/>
            <a:ext cx="16592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next build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5" name="TextBox 27"/>
          <p:cNvSpPr/>
          <p:nvPr/>
        </p:nvSpPr>
        <p:spPr>
          <a:xfrm>
            <a:off x="7748640" y="2514600"/>
            <a:ext cx="19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6" name="Rectangle 28"/>
          <p:cNvSpPr/>
          <p:nvPr/>
        </p:nvSpPr>
        <p:spPr>
          <a:xfrm>
            <a:off x="7951680" y="2011680"/>
            <a:ext cx="1658880" cy="118296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7" name="Rectangle 29"/>
          <p:cNvSpPr/>
          <p:nvPr/>
        </p:nvSpPr>
        <p:spPr>
          <a:xfrm>
            <a:off x="7951680" y="2011680"/>
            <a:ext cx="1658880" cy="67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8" name="TextBox 30"/>
          <p:cNvSpPr/>
          <p:nvPr/>
        </p:nvSpPr>
        <p:spPr>
          <a:xfrm>
            <a:off x="7951680" y="2194560"/>
            <a:ext cx="165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472B6"/>
                </a:solidFill>
                <a:effectLst/>
                <a:uFillTx/>
                <a:latin typeface="Calibri"/>
              </a:rPr>
              <a:t>▲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9" name="TextBox 31"/>
          <p:cNvSpPr/>
          <p:nvPr/>
        </p:nvSpPr>
        <p:spPr>
          <a:xfrm>
            <a:off x="7951680" y="2743200"/>
            <a:ext cx="16588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Vercel deploy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0" name="TextBox 32"/>
          <p:cNvSpPr/>
          <p:nvPr/>
        </p:nvSpPr>
        <p:spPr>
          <a:xfrm>
            <a:off x="7951680" y="2971800"/>
            <a:ext cx="165888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Edge runtime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1" name="TextBox 33"/>
          <p:cNvSpPr/>
          <p:nvPr/>
        </p:nvSpPr>
        <p:spPr>
          <a:xfrm>
            <a:off x="9565200" y="2514600"/>
            <a:ext cx="19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2" name="Rectangle 34"/>
          <p:cNvSpPr/>
          <p:nvPr/>
        </p:nvSpPr>
        <p:spPr>
          <a:xfrm>
            <a:off x="9768240" y="2011680"/>
            <a:ext cx="1658880" cy="118296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3" name="Rectangle 35"/>
          <p:cNvSpPr/>
          <p:nvPr/>
        </p:nvSpPr>
        <p:spPr>
          <a:xfrm>
            <a:off x="9768240" y="2011680"/>
            <a:ext cx="1658880" cy="673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4" name="TextBox 36"/>
          <p:cNvSpPr/>
          <p:nvPr/>
        </p:nvSpPr>
        <p:spPr>
          <a:xfrm>
            <a:off x="9768240" y="2194560"/>
            <a:ext cx="165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●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5" name="TextBox 37"/>
          <p:cNvSpPr/>
          <p:nvPr/>
        </p:nvSpPr>
        <p:spPr>
          <a:xfrm>
            <a:off x="9768240" y="2743200"/>
            <a:ext cx="16588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Production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6" name="TextBox 38"/>
          <p:cNvSpPr/>
          <p:nvPr/>
        </p:nvSpPr>
        <p:spPr>
          <a:xfrm>
            <a:off x="9768240" y="2971800"/>
            <a:ext cx="165888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URL live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7" name="Rectangle 39"/>
          <p:cNvSpPr/>
          <p:nvPr/>
        </p:nvSpPr>
        <p:spPr>
          <a:xfrm>
            <a:off x="548640" y="3749040"/>
            <a:ext cx="6852240" cy="246312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8" name="Oval 40"/>
          <p:cNvSpPr/>
          <p:nvPr/>
        </p:nvSpPr>
        <p:spPr>
          <a:xfrm>
            <a:off x="777240" y="3931920"/>
            <a:ext cx="131400" cy="1314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5880" tIns="45000" rIns="658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9" name="Oval 41"/>
          <p:cNvSpPr/>
          <p:nvPr/>
        </p:nvSpPr>
        <p:spPr>
          <a:xfrm>
            <a:off x="960120" y="3931920"/>
            <a:ext cx="131400" cy="1314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5880" tIns="45000" rIns="658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0" name="Oval 42"/>
          <p:cNvSpPr/>
          <p:nvPr/>
        </p:nvSpPr>
        <p:spPr>
          <a:xfrm>
            <a:off x="1143000" y="3931920"/>
            <a:ext cx="131400" cy="1314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5880" tIns="45000" rIns="658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1" name="TextBox 43"/>
          <p:cNvSpPr/>
          <p:nvPr/>
        </p:nvSpPr>
        <p:spPr>
          <a:xfrm>
            <a:off x="1371600" y="3912480"/>
            <a:ext cx="59378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Flux de déploiement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2" name="TextBox 44"/>
          <p:cNvSpPr/>
          <p:nvPr/>
        </p:nvSpPr>
        <p:spPr>
          <a:xfrm>
            <a:off x="777240" y="4297680"/>
            <a:ext cx="63950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push vers main → Vercel build automatique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3" name="TextBox 45"/>
          <p:cNvSpPr/>
          <p:nvPr/>
        </p:nvSpPr>
        <p:spPr>
          <a:xfrm>
            <a:off x="777240" y="4498920"/>
            <a:ext cx="63950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4" name="TextBox 46"/>
          <p:cNvSpPr/>
          <p:nvPr/>
        </p:nvSpPr>
        <p:spPr>
          <a:xfrm>
            <a:off x="777240" y="4700160"/>
            <a:ext cx="63950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5" name="TextBox 47"/>
          <p:cNvSpPr/>
          <p:nvPr/>
        </p:nvSpPr>
        <p:spPr>
          <a:xfrm>
            <a:off x="777240" y="4901040"/>
            <a:ext cx="63950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6" name="TextBox 48"/>
          <p:cNvSpPr/>
          <p:nvPr/>
        </p:nvSpPr>
        <p:spPr>
          <a:xfrm>
            <a:off x="777240" y="5102280"/>
            <a:ext cx="63950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7" name="TextBox 49"/>
          <p:cNvSpPr/>
          <p:nvPr/>
        </p:nvSpPr>
        <p:spPr>
          <a:xfrm>
            <a:off x="777240" y="5303520"/>
            <a:ext cx="63950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8" name="TextBox 50"/>
          <p:cNvSpPr/>
          <p:nvPr/>
        </p:nvSpPr>
        <p:spPr>
          <a:xfrm>
            <a:off x="777240" y="5504760"/>
            <a:ext cx="63950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9" name="TextBox 51"/>
          <p:cNvSpPr/>
          <p:nvPr/>
        </p:nvSpPr>
        <p:spPr>
          <a:xfrm>
            <a:off x="777240" y="5706000"/>
            <a:ext cx="63950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0" name="Rectangle 52"/>
          <p:cNvSpPr/>
          <p:nvPr/>
        </p:nvSpPr>
        <p:spPr>
          <a:xfrm>
            <a:off x="8092440" y="3749040"/>
            <a:ext cx="3514680" cy="246312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1" name="TextBox 53"/>
          <p:cNvSpPr/>
          <p:nvPr/>
        </p:nvSpPr>
        <p:spPr>
          <a:xfrm>
            <a:off x="8275320" y="3840480"/>
            <a:ext cx="31489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Chiffres clés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2" name="Oval 54"/>
          <p:cNvSpPr/>
          <p:nvPr/>
        </p:nvSpPr>
        <p:spPr>
          <a:xfrm>
            <a:off x="8275320" y="4297680"/>
            <a:ext cx="405720" cy="40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3" name="TextBox 55"/>
          <p:cNvSpPr/>
          <p:nvPr/>
        </p:nvSpPr>
        <p:spPr>
          <a:xfrm>
            <a:off x="8275320" y="4379400"/>
            <a:ext cx="40572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⚡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4" name="TextBox 56"/>
          <p:cNvSpPr/>
          <p:nvPr/>
        </p:nvSpPr>
        <p:spPr>
          <a:xfrm>
            <a:off x="8814240" y="4359960"/>
            <a:ext cx="2646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~2 min commit → preview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5" name="Oval 57"/>
          <p:cNvSpPr/>
          <p:nvPr/>
        </p:nvSpPr>
        <p:spPr>
          <a:xfrm>
            <a:off x="8275320" y="4937760"/>
            <a:ext cx="405720" cy="4057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6" name="TextBox 58"/>
          <p:cNvSpPr/>
          <p:nvPr/>
        </p:nvSpPr>
        <p:spPr>
          <a:xfrm>
            <a:off x="8275320" y="493776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7" name="TextBox 59"/>
          <p:cNvSpPr/>
          <p:nvPr/>
        </p:nvSpPr>
        <p:spPr>
          <a:xfrm>
            <a:off x="8814240" y="500004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Lint + Test bloquants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8" name="Oval 60"/>
          <p:cNvSpPr/>
          <p:nvPr/>
        </p:nvSpPr>
        <p:spPr>
          <a:xfrm>
            <a:off x="8275320" y="5577840"/>
            <a:ext cx="405720" cy="4057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9" name="TextBox 61"/>
          <p:cNvSpPr/>
          <p:nvPr/>
        </p:nvSpPr>
        <p:spPr>
          <a:xfrm>
            <a:off x="8275320" y="557784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</a:rPr>
              <a:t>▲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0" name="TextBox 62"/>
          <p:cNvSpPr/>
          <p:nvPr/>
        </p:nvSpPr>
        <p:spPr>
          <a:xfrm>
            <a:off x="8814240" y="567612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Vercel preview par PR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1" name="TextBox 63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2" name="TextBox 64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46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5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1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840" tIns="45000" rIns="338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5" name="TextBox 2"/>
          <p:cNvSpPr/>
          <p:nvPr/>
        </p:nvSpPr>
        <p:spPr>
          <a:xfrm>
            <a:off x="548640" y="447480"/>
            <a:ext cx="7309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05 · DÉPLOIEMENT · DOCKER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6" name="TextBox 3"/>
          <p:cNvSpPr/>
          <p:nvPr/>
        </p:nvSpPr>
        <p:spPr>
          <a:xfrm>
            <a:off x="548640" y="757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Dockerfile multi-stage — détail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7" name="Rectangle 4"/>
          <p:cNvSpPr/>
          <p:nvPr/>
        </p:nvSpPr>
        <p:spPr>
          <a:xfrm>
            <a:off x="548640" y="1691640"/>
            <a:ext cx="7309440" cy="456624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8" name="Oval 5"/>
          <p:cNvSpPr/>
          <p:nvPr/>
        </p:nvSpPr>
        <p:spPr>
          <a:xfrm>
            <a:off x="777240" y="1874520"/>
            <a:ext cx="131400" cy="1314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5880" tIns="45000" rIns="658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9" name="Oval 6"/>
          <p:cNvSpPr/>
          <p:nvPr/>
        </p:nvSpPr>
        <p:spPr>
          <a:xfrm>
            <a:off x="960120" y="1874520"/>
            <a:ext cx="131400" cy="1314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5880" tIns="45000" rIns="658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0" name="Oval 7"/>
          <p:cNvSpPr/>
          <p:nvPr/>
        </p:nvSpPr>
        <p:spPr>
          <a:xfrm>
            <a:off x="1143000" y="1874520"/>
            <a:ext cx="131400" cy="1314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5880" tIns="45000" rIns="658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1" name="TextBox 8"/>
          <p:cNvSpPr/>
          <p:nvPr/>
        </p:nvSpPr>
        <p:spPr>
          <a:xfrm>
            <a:off x="1371600" y="1855080"/>
            <a:ext cx="63950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Dockerfile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2" name="TextBox 9"/>
          <p:cNvSpPr/>
          <p:nvPr/>
        </p:nvSpPr>
        <p:spPr>
          <a:xfrm>
            <a:off x="777240" y="219456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# Stage 1 — Builder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3" name="TextBox 11"/>
          <p:cNvSpPr/>
          <p:nvPr/>
        </p:nvSpPr>
        <p:spPr>
          <a:xfrm>
            <a:off x="777240" y="237744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FROM oven/bun:1 AS builder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4" name="TextBox 12"/>
          <p:cNvSpPr/>
          <p:nvPr/>
        </p:nvSpPr>
        <p:spPr>
          <a:xfrm>
            <a:off x="777240" y="256032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WORKDIR /app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5" name="TextBox 13"/>
          <p:cNvSpPr/>
          <p:nvPr/>
        </p:nvSpPr>
        <p:spPr>
          <a:xfrm>
            <a:off x="777240" y="274320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COPY package.json bun.lock ./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6" name="TextBox 15"/>
          <p:cNvSpPr/>
          <p:nvPr/>
        </p:nvSpPr>
        <p:spPr>
          <a:xfrm>
            <a:off x="777240" y="292608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RUN bun install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7" name="TextBox 16"/>
          <p:cNvSpPr/>
          <p:nvPr/>
        </p:nvSpPr>
        <p:spPr>
          <a:xfrm>
            <a:off x="777240" y="310896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RUN bunx prisma generate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8" name="TextBox 17"/>
          <p:cNvSpPr/>
          <p:nvPr/>
        </p:nvSpPr>
        <p:spPr>
          <a:xfrm>
            <a:off x="777240" y="329184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RUN bun run build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9" name="TextBox 18"/>
          <p:cNvSpPr/>
          <p:nvPr/>
        </p:nvSpPr>
        <p:spPr>
          <a:xfrm>
            <a:off x="777240" y="347472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# Stage 2 — Runner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0" name="TextBox 20"/>
          <p:cNvSpPr/>
          <p:nvPr/>
        </p:nvSpPr>
        <p:spPr>
          <a:xfrm>
            <a:off x="777240" y="365760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FROM oven/bun:1 AS runner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1" name="TextBox 21"/>
          <p:cNvSpPr/>
          <p:nvPr/>
        </p:nvSpPr>
        <p:spPr>
          <a:xfrm>
            <a:off x="777240" y="384048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COPY --from=builder /app/.next ./.next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2" name="TextBox 23"/>
          <p:cNvSpPr/>
          <p:nvPr/>
        </p:nvSpPr>
        <p:spPr>
          <a:xfrm>
            <a:off x="777240" y="402336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COPY --from=builder /app/node_modules ./node_modules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3" name="TextBox 24"/>
          <p:cNvSpPr/>
          <p:nvPr/>
        </p:nvSpPr>
        <p:spPr>
          <a:xfrm>
            <a:off x="777240" y="420624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EXPOSE 3000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4" name="TextBox 26"/>
          <p:cNvSpPr/>
          <p:nvPr/>
        </p:nvSpPr>
        <p:spPr>
          <a:xfrm>
            <a:off x="777240" y="438912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CMD ["sh", "-c", "prisma migrate deploy &amp;&amp; bun start"]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5" name="TextBox 27"/>
          <p:cNvSpPr/>
          <p:nvPr/>
        </p:nvSpPr>
        <p:spPr>
          <a:xfrm>
            <a:off x="777240" y="457200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6" name="TextBox 29"/>
          <p:cNvSpPr/>
          <p:nvPr/>
        </p:nvSpPr>
        <p:spPr>
          <a:xfrm>
            <a:off x="777240" y="475488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7" name="TextBox 30"/>
          <p:cNvSpPr/>
          <p:nvPr/>
        </p:nvSpPr>
        <p:spPr>
          <a:xfrm>
            <a:off x="777240" y="493776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8" name="TextBox 32"/>
          <p:cNvSpPr/>
          <p:nvPr/>
        </p:nvSpPr>
        <p:spPr>
          <a:xfrm>
            <a:off x="777240" y="512064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9" name="TextBox 33"/>
          <p:cNvSpPr/>
          <p:nvPr/>
        </p:nvSpPr>
        <p:spPr>
          <a:xfrm>
            <a:off x="777240" y="530352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0" name="TextBox 35"/>
          <p:cNvSpPr/>
          <p:nvPr/>
        </p:nvSpPr>
        <p:spPr>
          <a:xfrm>
            <a:off x="777240" y="548640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1" name="TextBox 36"/>
          <p:cNvSpPr/>
          <p:nvPr/>
        </p:nvSpPr>
        <p:spPr>
          <a:xfrm>
            <a:off x="777240" y="566928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2" name="TextBox 38"/>
          <p:cNvSpPr/>
          <p:nvPr/>
        </p:nvSpPr>
        <p:spPr>
          <a:xfrm>
            <a:off x="777240" y="585216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3" name="TextBox 39"/>
          <p:cNvSpPr/>
          <p:nvPr/>
        </p:nvSpPr>
        <p:spPr>
          <a:xfrm>
            <a:off x="777240" y="6035040"/>
            <a:ext cx="68522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4" name="Rectangle 40"/>
          <p:cNvSpPr/>
          <p:nvPr/>
        </p:nvSpPr>
        <p:spPr>
          <a:xfrm>
            <a:off x="8092440" y="1691640"/>
            <a:ext cx="3514680" cy="456624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5" name="TextBox 41"/>
          <p:cNvSpPr/>
          <p:nvPr/>
        </p:nvSpPr>
        <p:spPr>
          <a:xfrm>
            <a:off x="8275320" y="1783080"/>
            <a:ext cx="31489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Pourquoi multi-stage 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6" name="Oval 42"/>
          <p:cNvSpPr/>
          <p:nvPr/>
        </p:nvSpPr>
        <p:spPr>
          <a:xfrm>
            <a:off x="8275320" y="2240280"/>
            <a:ext cx="405720" cy="4057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7" name="TextBox 43"/>
          <p:cNvSpPr/>
          <p:nvPr/>
        </p:nvSpPr>
        <p:spPr>
          <a:xfrm>
            <a:off x="8275320" y="224028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</a:rPr>
              <a:t>◐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8" name="TextBox 44"/>
          <p:cNvSpPr/>
          <p:nvPr/>
        </p:nvSpPr>
        <p:spPr>
          <a:xfrm>
            <a:off x="8814240" y="2302560"/>
            <a:ext cx="2646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builder : compile + génère les artefacts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9" name="Oval 45"/>
          <p:cNvSpPr/>
          <p:nvPr/>
        </p:nvSpPr>
        <p:spPr>
          <a:xfrm>
            <a:off x="8275320" y="2880360"/>
            <a:ext cx="405720" cy="4057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0" name="TextBox 46"/>
          <p:cNvSpPr/>
          <p:nvPr/>
        </p:nvSpPr>
        <p:spPr>
          <a:xfrm>
            <a:off x="8275320" y="288036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1" name="TextBox 47"/>
          <p:cNvSpPr/>
          <p:nvPr/>
        </p:nvSpPr>
        <p:spPr>
          <a:xfrm>
            <a:off x="8814240" y="294264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runner : image finale légère (sans devDeps)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2" name="Oval 48"/>
          <p:cNvSpPr/>
          <p:nvPr/>
        </p:nvSpPr>
        <p:spPr>
          <a:xfrm>
            <a:off x="8275320" y="3520440"/>
            <a:ext cx="405720" cy="40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3" name="TextBox 49"/>
          <p:cNvSpPr/>
          <p:nvPr/>
        </p:nvSpPr>
        <p:spPr>
          <a:xfrm>
            <a:off x="8275320" y="352044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▣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4" name="TextBox 50"/>
          <p:cNvSpPr/>
          <p:nvPr/>
        </p:nvSpPr>
        <p:spPr>
          <a:xfrm>
            <a:off x="8814240" y="358272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Image ~400 MB vs ~1 GB sans multi-stage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5" name="Oval 51"/>
          <p:cNvSpPr/>
          <p:nvPr/>
        </p:nvSpPr>
        <p:spPr>
          <a:xfrm>
            <a:off x="8275320" y="4160520"/>
            <a:ext cx="405720" cy="4057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6" name="TextBox 52"/>
          <p:cNvSpPr/>
          <p:nvPr/>
        </p:nvSpPr>
        <p:spPr>
          <a:xfrm>
            <a:off x="8275320" y="416052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▤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7" name="TextBox 53"/>
          <p:cNvSpPr/>
          <p:nvPr/>
        </p:nvSpPr>
        <p:spPr>
          <a:xfrm>
            <a:off x="8814240" y="422280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Sécurité : pas de secrets ou devtools en prod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8" name="Oval 54"/>
          <p:cNvSpPr/>
          <p:nvPr/>
        </p:nvSpPr>
        <p:spPr>
          <a:xfrm>
            <a:off x="8275320" y="4800600"/>
            <a:ext cx="405720" cy="40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9" name="TextBox 55"/>
          <p:cNvSpPr/>
          <p:nvPr/>
        </p:nvSpPr>
        <p:spPr>
          <a:xfrm>
            <a:off x="8275320" y="480060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0" name="TextBox 56"/>
          <p:cNvSpPr/>
          <p:nvPr/>
        </p:nvSpPr>
        <p:spPr>
          <a:xfrm>
            <a:off x="8814240" y="486288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Reproductibilité : même image local et prod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1" name="Oval 57"/>
          <p:cNvSpPr/>
          <p:nvPr/>
        </p:nvSpPr>
        <p:spPr>
          <a:xfrm>
            <a:off x="8275320" y="5440680"/>
            <a:ext cx="405720" cy="4057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2" name="TextBox 58"/>
          <p:cNvSpPr/>
          <p:nvPr/>
        </p:nvSpPr>
        <p:spPr>
          <a:xfrm>
            <a:off x="8275320" y="544068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</a:rPr>
              <a:t>▲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3" name="TextBox 59"/>
          <p:cNvSpPr/>
          <p:nvPr/>
        </p:nvSpPr>
        <p:spPr>
          <a:xfrm>
            <a:off x="8814240" y="5538960"/>
            <a:ext cx="264600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Rollback facile : image versionnée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4" name="TextBox 60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5" name="TextBox 61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47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06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Rectangle 1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840" tIns="45000" rIns="338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8" name="TextBox 2"/>
          <p:cNvSpPr/>
          <p:nvPr/>
        </p:nvSpPr>
        <p:spPr>
          <a:xfrm>
            <a:off x="548640" y="447480"/>
            <a:ext cx="7309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05 · DÉPLOIEMENT · DOCKER COMPOSE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9" name="TextBox 3"/>
          <p:cNvSpPr/>
          <p:nvPr/>
        </p:nvSpPr>
        <p:spPr>
          <a:xfrm>
            <a:off x="548640" y="757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Deux profils — dev &amp; prod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0" name="Rectangle 4"/>
          <p:cNvSpPr/>
          <p:nvPr/>
        </p:nvSpPr>
        <p:spPr>
          <a:xfrm>
            <a:off x="548640" y="1691640"/>
            <a:ext cx="3651840" cy="456624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1" name="Rectangle 5"/>
          <p:cNvSpPr/>
          <p:nvPr/>
        </p:nvSpPr>
        <p:spPr>
          <a:xfrm>
            <a:off x="548640" y="1691640"/>
            <a:ext cx="3651840" cy="85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2840" rIns="9000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2" name="TextBox 6"/>
          <p:cNvSpPr/>
          <p:nvPr/>
        </p:nvSpPr>
        <p:spPr>
          <a:xfrm>
            <a:off x="731520" y="1965960"/>
            <a:ext cx="72576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⟳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3" name="TextBox 7"/>
          <p:cNvSpPr/>
          <p:nvPr/>
        </p:nvSpPr>
        <p:spPr>
          <a:xfrm>
            <a:off x="1508760" y="1965960"/>
            <a:ext cx="2508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Profil dev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4" name="TextBox 8"/>
          <p:cNvSpPr/>
          <p:nvPr/>
        </p:nvSpPr>
        <p:spPr>
          <a:xfrm>
            <a:off x="1508760" y="2331720"/>
            <a:ext cx="2508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Développement local avec hot-reload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5" name="Rectangle 9"/>
          <p:cNvSpPr/>
          <p:nvPr/>
        </p:nvSpPr>
        <p:spPr>
          <a:xfrm>
            <a:off x="731520" y="2788920"/>
            <a:ext cx="3286080" cy="45144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6" name="TextBox 10"/>
          <p:cNvSpPr/>
          <p:nvPr/>
        </p:nvSpPr>
        <p:spPr>
          <a:xfrm>
            <a:off x="822960" y="2853000"/>
            <a:ext cx="31032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Bun + watch + polling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7" name="TextBox 11"/>
          <p:cNvSpPr/>
          <p:nvPr/>
        </p:nvSpPr>
        <p:spPr>
          <a:xfrm>
            <a:off x="777240" y="3520440"/>
            <a:ext cx="31946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on: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8" name="TextBox 12"/>
          <p:cNvSpPr/>
          <p:nvPr/>
        </p:nvSpPr>
        <p:spPr>
          <a:xfrm>
            <a:off x="777240" y="3776400"/>
            <a:ext cx="31946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docker-compose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9" name="TextBox 13"/>
          <p:cNvSpPr/>
          <p:nvPr/>
        </p:nvSpPr>
        <p:spPr>
          <a:xfrm>
            <a:off x="777240" y="4032360"/>
            <a:ext cx="31946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--profile dev up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0" name="TextBox 14"/>
          <p:cNvSpPr/>
          <p:nvPr/>
        </p:nvSpPr>
        <p:spPr>
          <a:xfrm>
            <a:off x="777240" y="4288680"/>
            <a:ext cx="31946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1" name="TextBox 15"/>
          <p:cNvSpPr/>
          <p:nvPr/>
        </p:nvSpPr>
        <p:spPr>
          <a:xfrm>
            <a:off x="731520" y="498348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↓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2" name="TextBox 16"/>
          <p:cNvSpPr/>
          <p:nvPr/>
        </p:nvSpPr>
        <p:spPr>
          <a:xfrm>
            <a:off x="731520" y="534924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App sur localhost:3000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3" name="TextBox 17"/>
          <p:cNvSpPr/>
          <p:nvPr/>
        </p:nvSpPr>
        <p:spPr>
          <a:xfrm>
            <a:off x="731520" y="562356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volume monté, hot reload actif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4" name="Rectangle 18"/>
          <p:cNvSpPr/>
          <p:nvPr/>
        </p:nvSpPr>
        <p:spPr>
          <a:xfrm>
            <a:off x="4343400" y="1691640"/>
            <a:ext cx="3651840" cy="456624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5" name="Rectangle 19"/>
          <p:cNvSpPr/>
          <p:nvPr/>
        </p:nvSpPr>
        <p:spPr>
          <a:xfrm>
            <a:off x="4343400" y="1691640"/>
            <a:ext cx="3651840" cy="85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2840" rIns="9000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6" name="TextBox 20"/>
          <p:cNvSpPr/>
          <p:nvPr/>
        </p:nvSpPr>
        <p:spPr>
          <a:xfrm>
            <a:off x="4526280" y="1965960"/>
            <a:ext cx="72576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▣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7" name="TextBox 21"/>
          <p:cNvSpPr/>
          <p:nvPr/>
        </p:nvSpPr>
        <p:spPr>
          <a:xfrm>
            <a:off x="5303520" y="1965960"/>
            <a:ext cx="2508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Profil prod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8" name="TextBox 22"/>
          <p:cNvSpPr/>
          <p:nvPr/>
        </p:nvSpPr>
        <p:spPr>
          <a:xfrm>
            <a:off x="5303520" y="2331720"/>
            <a:ext cx="2508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Image Docker multi-stage optimisée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9" name="Rectangle 23"/>
          <p:cNvSpPr/>
          <p:nvPr/>
        </p:nvSpPr>
        <p:spPr>
          <a:xfrm>
            <a:off x="4526280" y="2788920"/>
            <a:ext cx="3286080" cy="45144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0" name="TextBox 24"/>
          <p:cNvSpPr/>
          <p:nvPr/>
        </p:nvSpPr>
        <p:spPr>
          <a:xfrm>
            <a:off x="4617720" y="2853000"/>
            <a:ext cx="31032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Build standalone Next.js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1" name="TextBox 25"/>
          <p:cNvSpPr/>
          <p:nvPr/>
        </p:nvSpPr>
        <p:spPr>
          <a:xfrm>
            <a:off x="4572000" y="3520440"/>
            <a:ext cx="31946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on: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2" name="TextBox 26"/>
          <p:cNvSpPr/>
          <p:nvPr/>
        </p:nvSpPr>
        <p:spPr>
          <a:xfrm>
            <a:off x="4572000" y="3776400"/>
            <a:ext cx="31946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docker-compose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3" name="TextBox 27"/>
          <p:cNvSpPr/>
          <p:nvPr/>
        </p:nvSpPr>
        <p:spPr>
          <a:xfrm>
            <a:off x="4572000" y="4032360"/>
            <a:ext cx="31946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--profile prod up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4" name="TextBox 28"/>
          <p:cNvSpPr/>
          <p:nvPr/>
        </p:nvSpPr>
        <p:spPr>
          <a:xfrm>
            <a:off x="4572000" y="4288680"/>
            <a:ext cx="31946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5" name="TextBox 29"/>
          <p:cNvSpPr/>
          <p:nvPr/>
        </p:nvSpPr>
        <p:spPr>
          <a:xfrm>
            <a:off x="4526280" y="498348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↓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6" name="TextBox 30"/>
          <p:cNvSpPr/>
          <p:nvPr/>
        </p:nvSpPr>
        <p:spPr>
          <a:xfrm>
            <a:off x="4526280" y="534924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App sur localhost:3000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7" name="TextBox 31"/>
          <p:cNvSpPr/>
          <p:nvPr/>
        </p:nvSpPr>
        <p:spPr>
          <a:xfrm>
            <a:off x="4526280" y="562356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image de production identique au déployé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8" name="Rectangle 32"/>
          <p:cNvSpPr/>
          <p:nvPr/>
        </p:nvSpPr>
        <p:spPr>
          <a:xfrm>
            <a:off x="8138160" y="1691640"/>
            <a:ext cx="3651840" cy="456624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9" name="Rectangle 33"/>
          <p:cNvSpPr/>
          <p:nvPr/>
        </p:nvSpPr>
        <p:spPr>
          <a:xfrm>
            <a:off x="8138160" y="1691640"/>
            <a:ext cx="3651840" cy="8568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2840" rIns="90000" bIns="42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0" name="TextBox 34"/>
          <p:cNvSpPr/>
          <p:nvPr/>
        </p:nvSpPr>
        <p:spPr>
          <a:xfrm>
            <a:off x="8321040" y="1965960"/>
            <a:ext cx="72576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472B6"/>
                </a:solidFill>
                <a:effectLst/>
                <a:uFillTx/>
                <a:latin typeface="Calibri"/>
              </a:rPr>
              <a:t>◉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1" name="TextBox 35"/>
          <p:cNvSpPr/>
          <p:nvPr/>
        </p:nvSpPr>
        <p:spPr>
          <a:xfrm>
            <a:off x="9098280" y="1965960"/>
            <a:ext cx="2508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Variables d'environnement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2" name="TextBox 36"/>
          <p:cNvSpPr/>
          <p:nvPr/>
        </p:nvSpPr>
        <p:spPr>
          <a:xfrm>
            <a:off x="9098280" y="2331720"/>
            <a:ext cx="2508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Fichier .env à la racine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3" name="Rectangle 37"/>
          <p:cNvSpPr/>
          <p:nvPr/>
        </p:nvSpPr>
        <p:spPr>
          <a:xfrm>
            <a:off x="8321040" y="2788920"/>
            <a:ext cx="3286080" cy="45144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4" name="TextBox 38"/>
          <p:cNvSpPr/>
          <p:nvPr/>
        </p:nvSpPr>
        <p:spPr>
          <a:xfrm>
            <a:off x="8412480" y="2853000"/>
            <a:ext cx="31032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DATABASE_URL, JWT_SECRET, REDIS_URL...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5" name="TextBox 39"/>
          <p:cNvSpPr/>
          <p:nvPr/>
        </p:nvSpPr>
        <p:spPr>
          <a:xfrm>
            <a:off x="8366760" y="3520440"/>
            <a:ext cx="31946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on: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6" name="TextBox 40"/>
          <p:cNvSpPr/>
          <p:nvPr/>
        </p:nvSpPr>
        <p:spPr>
          <a:xfrm>
            <a:off x="8366760" y="3776400"/>
            <a:ext cx="31946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env_file: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7" name="TextBox 41"/>
          <p:cNvSpPr/>
          <p:nvPr/>
        </p:nvSpPr>
        <p:spPr>
          <a:xfrm>
            <a:off x="8366760" y="4032360"/>
            <a:ext cx="31946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- .env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8" name="TextBox 42"/>
          <p:cNvSpPr/>
          <p:nvPr/>
        </p:nvSpPr>
        <p:spPr>
          <a:xfrm>
            <a:off x="8366760" y="4288680"/>
            <a:ext cx="319464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9" name="TextBox 43"/>
          <p:cNvSpPr/>
          <p:nvPr/>
        </p:nvSpPr>
        <p:spPr>
          <a:xfrm>
            <a:off x="8321040" y="498348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F472B6"/>
                </a:solidFill>
                <a:effectLst/>
                <a:uFillTx/>
                <a:latin typeface="Calibri"/>
              </a:rPr>
              <a:t>↓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0" name="TextBox 44"/>
          <p:cNvSpPr/>
          <p:nvPr/>
        </p:nvSpPr>
        <p:spPr>
          <a:xfrm>
            <a:off x="8321040" y="534924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Secrets jamais committés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1" name="TextBox 45"/>
          <p:cNvSpPr/>
          <p:nvPr/>
        </p:nvSpPr>
        <p:spPr>
          <a:xfrm>
            <a:off x="8321040" y="5623560"/>
            <a:ext cx="32860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via .gitignore + .env.example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2" name="TextBox 46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3" name="TextBox 47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48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54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05 · DÉPLOIEMENT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6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Dockerfile — image applicative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7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8" name="Shape 3"/>
          <p:cNvSpPr/>
          <p:nvPr/>
        </p:nvSpPr>
        <p:spPr>
          <a:xfrm>
            <a:off x="548640" y="1691640"/>
            <a:ext cx="7309440" cy="456624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9" name="Shape 4"/>
          <p:cNvSpPr/>
          <p:nvPr/>
        </p:nvSpPr>
        <p:spPr>
          <a:xfrm>
            <a:off x="777240" y="1874520"/>
            <a:ext cx="131400" cy="13140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0" name="Shape 5"/>
          <p:cNvSpPr/>
          <p:nvPr/>
        </p:nvSpPr>
        <p:spPr>
          <a:xfrm>
            <a:off x="960120" y="1874520"/>
            <a:ext cx="131400" cy="13140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1" name="Shape 6"/>
          <p:cNvSpPr/>
          <p:nvPr/>
        </p:nvSpPr>
        <p:spPr>
          <a:xfrm>
            <a:off x="1143000" y="1874520"/>
            <a:ext cx="131400" cy="13140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2" name="Text 7"/>
          <p:cNvSpPr/>
          <p:nvPr/>
        </p:nvSpPr>
        <p:spPr>
          <a:xfrm>
            <a:off x="1371600" y="1783080"/>
            <a:ext cx="54806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Dockerfile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3" name="Text 8"/>
          <p:cNvSpPr/>
          <p:nvPr/>
        </p:nvSpPr>
        <p:spPr>
          <a:xfrm>
            <a:off x="777240" y="224028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717A"/>
                </a:solidFill>
                <a:effectLst/>
                <a:uFillTx/>
                <a:latin typeface="Consolas"/>
                <a:ea typeface="Consolas"/>
              </a:rPr>
              <a:t># Stage 1 — deps (cache layer)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4" name="Text 9"/>
          <p:cNvSpPr/>
          <p:nvPr/>
        </p:nvSpPr>
        <p:spPr>
          <a:xfrm>
            <a:off x="777240" y="241416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FROM oven/bun:1 AS deps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5" name="Text 10"/>
          <p:cNvSpPr/>
          <p:nvPr/>
        </p:nvSpPr>
        <p:spPr>
          <a:xfrm>
            <a:off x="777240" y="258768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WORKDIR /app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6" name="Text 11"/>
          <p:cNvSpPr/>
          <p:nvPr/>
        </p:nvSpPr>
        <p:spPr>
          <a:xfrm>
            <a:off x="777240" y="276156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COPY package.json bun.lock ./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7" name="Text 12"/>
          <p:cNvSpPr/>
          <p:nvPr/>
        </p:nvSpPr>
        <p:spPr>
          <a:xfrm>
            <a:off x="777240" y="293508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RUN bun install --frozen-lockfile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8" name="Text 13"/>
          <p:cNvSpPr/>
          <p:nvPr/>
        </p:nvSpPr>
        <p:spPr>
          <a:xfrm>
            <a:off x="777240" y="310896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9" name="Text 14"/>
          <p:cNvSpPr/>
          <p:nvPr/>
        </p:nvSpPr>
        <p:spPr>
          <a:xfrm>
            <a:off x="777240" y="328284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717A"/>
                </a:solidFill>
                <a:effectLst/>
                <a:uFillTx/>
                <a:latin typeface="Consolas"/>
                <a:ea typeface="Consolas"/>
              </a:rPr>
              <a:t># Stage 2 — builder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0" name="Text 15"/>
          <p:cNvSpPr/>
          <p:nvPr/>
        </p:nvSpPr>
        <p:spPr>
          <a:xfrm>
            <a:off x="777240" y="345636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FROM oven/bun:1 AS builder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1" name="Text 16"/>
          <p:cNvSpPr/>
          <p:nvPr/>
        </p:nvSpPr>
        <p:spPr>
          <a:xfrm>
            <a:off x="777240" y="363024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WORKDIR /app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2" name="Text 17"/>
          <p:cNvSpPr/>
          <p:nvPr/>
        </p:nvSpPr>
        <p:spPr>
          <a:xfrm>
            <a:off x="777240" y="380376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COPY --from=deps /app/node_modules ./node_modules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3" name="Text 18"/>
          <p:cNvSpPr/>
          <p:nvPr/>
        </p:nvSpPr>
        <p:spPr>
          <a:xfrm>
            <a:off x="777240" y="397764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COPY . 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4" name="Text 19"/>
          <p:cNvSpPr/>
          <p:nvPr/>
        </p:nvSpPr>
        <p:spPr>
          <a:xfrm>
            <a:off x="777240" y="415152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RUN bunx prisma generate &amp;&amp; bun run build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5" name="Text 20"/>
          <p:cNvSpPr/>
          <p:nvPr/>
        </p:nvSpPr>
        <p:spPr>
          <a:xfrm>
            <a:off x="777240" y="432504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6" name="Text 21"/>
          <p:cNvSpPr/>
          <p:nvPr/>
        </p:nvSpPr>
        <p:spPr>
          <a:xfrm>
            <a:off x="777240" y="449892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717A"/>
                </a:solidFill>
                <a:effectLst/>
                <a:uFillTx/>
                <a:latin typeface="Consolas"/>
                <a:ea typeface="Consolas"/>
              </a:rPr>
              <a:t># Stage 3 — runner (image légère)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7" name="Text 22"/>
          <p:cNvSpPr/>
          <p:nvPr/>
        </p:nvSpPr>
        <p:spPr>
          <a:xfrm>
            <a:off x="777240" y="467244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FROM oven/bun:1-slim AS runner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8" name="Text 23"/>
          <p:cNvSpPr/>
          <p:nvPr/>
        </p:nvSpPr>
        <p:spPr>
          <a:xfrm>
            <a:off x="777240" y="484632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WORKDIR /app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9" name="Text 24"/>
          <p:cNvSpPr/>
          <p:nvPr/>
        </p:nvSpPr>
        <p:spPr>
          <a:xfrm>
            <a:off x="777240" y="502020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B5CF6"/>
                </a:solidFill>
                <a:effectLst/>
                <a:uFillTx/>
                <a:latin typeface="Consolas"/>
                <a:ea typeface="Consolas"/>
              </a:rPr>
              <a:t>ENV NODE_ENV=production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0" name="Text 25"/>
          <p:cNvSpPr/>
          <p:nvPr/>
        </p:nvSpPr>
        <p:spPr>
          <a:xfrm>
            <a:off x="777240" y="519372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COPY --from=builder /app/.next ./.next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1" name="Text 26"/>
          <p:cNvSpPr/>
          <p:nvPr/>
        </p:nvSpPr>
        <p:spPr>
          <a:xfrm>
            <a:off x="777240" y="536760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COPY --from=builder /app/node_modules ./node_modules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2" name="Text 27"/>
          <p:cNvSpPr/>
          <p:nvPr/>
        </p:nvSpPr>
        <p:spPr>
          <a:xfrm>
            <a:off x="777240" y="554112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COPY --from=builder /app/package.json ./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3" name="Text 28"/>
          <p:cNvSpPr/>
          <p:nvPr/>
        </p:nvSpPr>
        <p:spPr>
          <a:xfrm>
            <a:off x="777240" y="571500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EXPOSE 3000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4" name="Text 29"/>
          <p:cNvSpPr/>
          <p:nvPr/>
        </p:nvSpPr>
        <p:spPr>
          <a:xfrm>
            <a:off x="777240" y="588888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CMD ["bun", "run", "start"]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5" name="Shape 30"/>
          <p:cNvSpPr/>
          <p:nvPr/>
        </p:nvSpPr>
        <p:spPr>
          <a:xfrm>
            <a:off x="8092440" y="1691640"/>
            <a:ext cx="3514680" cy="456624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86" name="Text 31"/>
          <p:cNvSpPr/>
          <p:nvPr/>
        </p:nvSpPr>
        <p:spPr>
          <a:xfrm>
            <a:off x="8275320" y="1783080"/>
            <a:ext cx="31946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Choix techniques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7" name="Shape 32"/>
          <p:cNvSpPr/>
          <p:nvPr/>
        </p:nvSpPr>
        <p:spPr>
          <a:xfrm>
            <a:off x="8275320" y="2240280"/>
            <a:ext cx="405720" cy="40572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88" name="Text 33"/>
          <p:cNvSpPr/>
          <p:nvPr/>
        </p:nvSpPr>
        <p:spPr>
          <a:xfrm>
            <a:off x="8275320" y="2136240"/>
            <a:ext cx="40572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▤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9" name="Text 34"/>
          <p:cNvSpPr/>
          <p:nvPr/>
        </p:nvSpPr>
        <p:spPr>
          <a:xfrm>
            <a:off x="8814240" y="219456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Multi-stage : cache deps séparé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0" name="Shape 35"/>
          <p:cNvSpPr/>
          <p:nvPr/>
        </p:nvSpPr>
        <p:spPr>
          <a:xfrm>
            <a:off x="8275320" y="2880360"/>
            <a:ext cx="405720" cy="40572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1" name="Text 36"/>
          <p:cNvSpPr/>
          <p:nvPr/>
        </p:nvSpPr>
        <p:spPr>
          <a:xfrm>
            <a:off x="8275320" y="288036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⚡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2" name="Text 37"/>
          <p:cNvSpPr/>
          <p:nvPr/>
        </p:nvSpPr>
        <p:spPr>
          <a:xfrm>
            <a:off x="8814240" y="283464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Bun runtime (build &amp; run)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3" name="Shape 38"/>
          <p:cNvSpPr/>
          <p:nvPr/>
        </p:nvSpPr>
        <p:spPr>
          <a:xfrm>
            <a:off x="8275320" y="3520440"/>
            <a:ext cx="405720" cy="40572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4" name="Text 39"/>
          <p:cNvSpPr/>
          <p:nvPr/>
        </p:nvSpPr>
        <p:spPr>
          <a:xfrm>
            <a:off x="8275320" y="3484440"/>
            <a:ext cx="405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⊕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5" name="Text 40"/>
          <p:cNvSpPr/>
          <p:nvPr/>
        </p:nvSpPr>
        <p:spPr>
          <a:xfrm>
            <a:off x="8814240" y="347472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Prisma generate avant build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6" name="Shape 41"/>
          <p:cNvSpPr/>
          <p:nvPr/>
        </p:nvSpPr>
        <p:spPr>
          <a:xfrm>
            <a:off x="8275320" y="4160520"/>
            <a:ext cx="405720" cy="40572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7" name="Text 42"/>
          <p:cNvSpPr/>
          <p:nvPr/>
        </p:nvSpPr>
        <p:spPr>
          <a:xfrm>
            <a:off x="8275320" y="4124520"/>
            <a:ext cx="405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◯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8" name="Text 43"/>
          <p:cNvSpPr/>
          <p:nvPr/>
        </p:nvSpPr>
        <p:spPr>
          <a:xfrm>
            <a:off x="8814240" y="411480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Image slim finale (~150 Mo)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9" name="Shape 44"/>
          <p:cNvSpPr/>
          <p:nvPr/>
        </p:nvSpPr>
        <p:spPr>
          <a:xfrm>
            <a:off x="8275320" y="4800600"/>
            <a:ext cx="405720" cy="40572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0" name="Text 45"/>
          <p:cNvSpPr/>
          <p:nvPr/>
        </p:nvSpPr>
        <p:spPr>
          <a:xfrm>
            <a:off x="8275320" y="4728600"/>
            <a:ext cx="4057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▣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1" name="Text 46"/>
          <p:cNvSpPr/>
          <p:nvPr/>
        </p:nvSpPr>
        <p:spPr>
          <a:xfrm>
            <a:off x="8814240" y="475488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Pas de secret dans l'image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2" name="Shape 47"/>
          <p:cNvSpPr/>
          <p:nvPr/>
        </p:nvSpPr>
        <p:spPr>
          <a:xfrm>
            <a:off x="8275320" y="5440680"/>
            <a:ext cx="405720" cy="40572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3" name="Text 48"/>
          <p:cNvSpPr/>
          <p:nvPr/>
        </p:nvSpPr>
        <p:spPr>
          <a:xfrm>
            <a:off x="8275320" y="544068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↗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4" name="Text 49"/>
          <p:cNvSpPr/>
          <p:nvPr/>
        </p:nvSpPr>
        <p:spPr>
          <a:xfrm>
            <a:off x="8814240" y="539496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Port 3000 explicite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05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6" name="Text 50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7" name="Text 51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49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05 · DÉPLOIEMENT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9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docker-compose.yml — env local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0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1" name="Shape 3"/>
          <p:cNvSpPr/>
          <p:nvPr/>
        </p:nvSpPr>
        <p:spPr>
          <a:xfrm>
            <a:off x="548640" y="1691640"/>
            <a:ext cx="7309440" cy="456624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2" name="Shape 4"/>
          <p:cNvSpPr/>
          <p:nvPr/>
        </p:nvSpPr>
        <p:spPr>
          <a:xfrm>
            <a:off x="777240" y="1874520"/>
            <a:ext cx="131400" cy="13140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3" name="Shape 5"/>
          <p:cNvSpPr/>
          <p:nvPr/>
        </p:nvSpPr>
        <p:spPr>
          <a:xfrm>
            <a:off x="960120" y="1874520"/>
            <a:ext cx="131400" cy="13140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4" name="Shape 6"/>
          <p:cNvSpPr/>
          <p:nvPr/>
        </p:nvSpPr>
        <p:spPr>
          <a:xfrm>
            <a:off x="1143000" y="1874520"/>
            <a:ext cx="131400" cy="13140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5" name="Text 7"/>
          <p:cNvSpPr/>
          <p:nvPr/>
        </p:nvSpPr>
        <p:spPr>
          <a:xfrm>
            <a:off x="1371600" y="1783080"/>
            <a:ext cx="54806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docker-compose.yml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6" name="Text 8"/>
          <p:cNvSpPr/>
          <p:nvPr/>
        </p:nvSpPr>
        <p:spPr>
          <a:xfrm>
            <a:off x="777240" y="224028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services: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7" name="Text 9"/>
          <p:cNvSpPr/>
          <p:nvPr/>
        </p:nvSpPr>
        <p:spPr>
          <a:xfrm>
            <a:off x="777240" y="241416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app: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8" name="Text 10"/>
          <p:cNvSpPr/>
          <p:nvPr/>
        </p:nvSpPr>
        <p:spPr>
          <a:xfrm>
            <a:off x="777240" y="258768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build: 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9" name="Text 11"/>
          <p:cNvSpPr/>
          <p:nvPr/>
        </p:nvSpPr>
        <p:spPr>
          <a:xfrm>
            <a:off x="777240" y="276156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  ports: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0" name="Text 12"/>
          <p:cNvSpPr/>
          <p:nvPr/>
        </p:nvSpPr>
        <p:spPr>
          <a:xfrm>
            <a:off x="777240" y="293508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  - "3000:3000"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1" name="Text 13"/>
          <p:cNvSpPr/>
          <p:nvPr/>
        </p:nvSpPr>
        <p:spPr>
          <a:xfrm>
            <a:off x="777240" y="310896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  environment: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2" name="Text 14"/>
          <p:cNvSpPr/>
          <p:nvPr/>
        </p:nvSpPr>
        <p:spPr>
          <a:xfrm>
            <a:off x="777240" y="328284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B5CF6"/>
                </a:solidFill>
                <a:effectLst/>
                <a:uFillTx/>
                <a:latin typeface="Consolas"/>
                <a:ea typeface="Consolas"/>
              </a:rPr>
              <a:t>      DATABASE_URL: ${DATABASE_URL}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3" name="Text 15"/>
          <p:cNvSpPr/>
          <p:nvPr/>
        </p:nvSpPr>
        <p:spPr>
          <a:xfrm>
            <a:off x="777240" y="345636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B5CF6"/>
                </a:solidFill>
                <a:effectLst/>
                <a:uFillTx/>
                <a:latin typeface="Consolas"/>
                <a:ea typeface="Consolas"/>
              </a:rPr>
              <a:t>      UPSTASH_REDIS_REST_URL: ${UPSTASH_REDIS_REST_URL}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4" name="Text 16"/>
          <p:cNvSpPr/>
          <p:nvPr/>
        </p:nvSpPr>
        <p:spPr>
          <a:xfrm>
            <a:off x="777240" y="363024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      JWT_SECRET: ${JWT_SECRET}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5" name="Text 17"/>
          <p:cNvSpPr/>
          <p:nvPr/>
        </p:nvSpPr>
        <p:spPr>
          <a:xfrm>
            <a:off x="777240" y="380376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  env_file: [ .env 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6" name="Text 18"/>
          <p:cNvSpPr/>
          <p:nvPr/>
        </p:nvSpPr>
        <p:spPr>
          <a:xfrm>
            <a:off x="777240" y="397764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7" name="Text 19"/>
          <p:cNvSpPr/>
          <p:nvPr/>
        </p:nvSpPr>
        <p:spPr>
          <a:xfrm>
            <a:off x="777240" y="415152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# DB → Neon (externe)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8" name="Text 20"/>
          <p:cNvSpPr/>
          <p:nvPr/>
        </p:nvSpPr>
        <p:spPr>
          <a:xfrm>
            <a:off x="777240" y="432504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#   PostgreSQL managé — aucun container local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9" name="Text 21"/>
          <p:cNvSpPr/>
          <p:nvPr/>
        </p:nvSpPr>
        <p:spPr>
          <a:xfrm>
            <a:off x="777240" y="449892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0" name="Text 22"/>
          <p:cNvSpPr/>
          <p:nvPr/>
        </p:nvSpPr>
        <p:spPr>
          <a:xfrm>
            <a:off x="777240" y="467244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1" name="Text 23"/>
          <p:cNvSpPr/>
          <p:nvPr/>
        </p:nvSpPr>
        <p:spPr>
          <a:xfrm>
            <a:off x="777240" y="484632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2" name="Text 24"/>
          <p:cNvSpPr/>
          <p:nvPr/>
        </p:nvSpPr>
        <p:spPr>
          <a:xfrm>
            <a:off x="777240" y="502020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3" name="Text 25"/>
          <p:cNvSpPr/>
          <p:nvPr/>
        </p:nvSpPr>
        <p:spPr>
          <a:xfrm>
            <a:off x="777240" y="519372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4" name="Text 26"/>
          <p:cNvSpPr/>
          <p:nvPr/>
        </p:nvSpPr>
        <p:spPr>
          <a:xfrm>
            <a:off x="777240" y="536760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5" name="Text 27"/>
          <p:cNvSpPr/>
          <p:nvPr/>
        </p:nvSpPr>
        <p:spPr>
          <a:xfrm>
            <a:off x="777240" y="554112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# Redis → Upstash (externe)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6" name="Text 28"/>
          <p:cNvSpPr/>
          <p:nvPr/>
        </p:nvSpPr>
        <p:spPr>
          <a:xfrm>
            <a:off x="777240" y="571500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#   Redis REST managé — aucun container local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7" name="Text 29"/>
          <p:cNvSpPr/>
          <p:nvPr/>
        </p:nvSpPr>
        <p:spPr>
          <a:xfrm>
            <a:off x="777240" y="5888880"/>
            <a:ext cx="6943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8" name="Shape 30"/>
          <p:cNvSpPr/>
          <p:nvPr/>
        </p:nvSpPr>
        <p:spPr>
          <a:xfrm>
            <a:off x="8128440" y="1691640"/>
            <a:ext cx="3514680" cy="456624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9" name="Text 31"/>
          <p:cNvSpPr/>
          <p:nvPr/>
        </p:nvSpPr>
        <p:spPr>
          <a:xfrm>
            <a:off x="8275320" y="1783080"/>
            <a:ext cx="31946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Pourquoi compose ?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0" name="Shape 32"/>
          <p:cNvSpPr/>
          <p:nvPr/>
        </p:nvSpPr>
        <p:spPr>
          <a:xfrm>
            <a:off x="8275320" y="2240280"/>
            <a:ext cx="405720" cy="40572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1" name="Text 33"/>
          <p:cNvSpPr/>
          <p:nvPr/>
        </p:nvSpPr>
        <p:spPr>
          <a:xfrm>
            <a:off x="8275320" y="224028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2" name="Text 34"/>
          <p:cNvSpPr/>
          <p:nvPr/>
        </p:nvSpPr>
        <p:spPr>
          <a:xfrm>
            <a:off x="8814240" y="219456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Reproduit prod en local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3" name="Shape 35"/>
          <p:cNvSpPr/>
          <p:nvPr/>
        </p:nvSpPr>
        <p:spPr>
          <a:xfrm>
            <a:off x="8275320" y="2880360"/>
            <a:ext cx="405720" cy="40572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4" name="Text 36"/>
          <p:cNvSpPr/>
          <p:nvPr/>
        </p:nvSpPr>
        <p:spPr>
          <a:xfrm>
            <a:off x="8275320" y="2844360"/>
            <a:ext cx="405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▤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5" name="Text 37"/>
          <p:cNvSpPr/>
          <p:nvPr/>
        </p:nvSpPr>
        <p:spPr>
          <a:xfrm>
            <a:off x="8814240" y="283464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+ services cloud (Neon · Upstash)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6" name="Shape 38"/>
          <p:cNvSpPr/>
          <p:nvPr/>
        </p:nvSpPr>
        <p:spPr>
          <a:xfrm>
            <a:off x="8275320" y="3520440"/>
            <a:ext cx="405720" cy="40572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7" name="Text 39"/>
          <p:cNvSpPr/>
          <p:nvPr/>
        </p:nvSpPr>
        <p:spPr>
          <a:xfrm>
            <a:off x="8275320" y="352044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↻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8" name="Text 40"/>
          <p:cNvSpPr/>
          <p:nvPr/>
        </p:nvSpPr>
        <p:spPr>
          <a:xfrm>
            <a:off x="8814240" y="347472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Depends_on respecté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9" name="Shape 41"/>
          <p:cNvSpPr/>
          <p:nvPr/>
        </p:nvSpPr>
        <p:spPr>
          <a:xfrm>
            <a:off x="8275320" y="4160520"/>
            <a:ext cx="405720" cy="40572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0" name="Text 42"/>
          <p:cNvSpPr/>
          <p:nvPr/>
        </p:nvSpPr>
        <p:spPr>
          <a:xfrm>
            <a:off x="8275320" y="416052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✦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1" name="Text 43"/>
          <p:cNvSpPr/>
          <p:nvPr/>
        </p:nvSpPr>
        <p:spPr>
          <a:xfrm>
            <a:off x="8814240" y="411480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Variables d'env via .env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2" name="Shape 44"/>
          <p:cNvSpPr/>
          <p:nvPr/>
        </p:nvSpPr>
        <p:spPr>
          <a:xfrm>
            <a:off x="8275320" y="4800600"/>
            <a:ext cx="405720" cy="40572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3" name="Text 45"/>
          <p:cNvSpPr/>
          <p:nvPr/>
        </p:nvSpPr>
        <p:spPr>
          <a:xfrm>
            <a:off x="8275320" y="4764600"/>
            <a:ext cx="44172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▷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4" name="Text 46"/>
          <p:cNvSpPr/>
          <p:nvPr/>
        </p:nvSpPr>
        <p:spPr>
          <a:xfrm>
            <a:off x="8814240" y="475488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 compose up = ready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5" name="Shape 47"/>
          <p:cNvSpPr/>
          <p:nvPr/>
        </p:nvSpPr>
        <p:spPr>
          <a:xfrm>
            <a:off x="8275320" y="5440680"/>
            <a:ext cx="405720" cy="40572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6" name="Text 48"/>
          <p:cNvSpPr/>
          <p:nvPr/>
        </p:nvSpPr>
        <p:spPr>
          <a:xfrm>
            <a:off x="8275320" y="5440680"/>
            <a:ext cx="4057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⊕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7" name="Text 49"/>
          <p:cNvSpPr/>
          <p:nvPr/>
        </p:nvSpPr>
        <p:spPr>
          <a:xfrm>
            <a:off x="8814240" y="5394960"/>
            <a:ext cx="2737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Profil dev (hot reload)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58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9" name="Text 50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0" name="Text 51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50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05 · DÉPLOIEMENT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2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Production · Vercel + Neon + Upstash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3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4" name="Shape 3"/>
          <p:cNvSpPr/>
          <p:nvPr/>
        </p:nvSpPr>
        <p:spPr>
          <a:xfrm>
            <a:off x="480240" y="1691640"/>
            <a:ext cx="3697560" cy="420048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5" name="Shape 4"/>
          <p:cNvSpPr/>
          <p:nvPr/>
        </p:nvSpPr>
        <p:spPr>
          <a:xfrm>
            <a:off x="480240" y="1691640"/>
            <a:ext cx="3697560" cy="451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6" name="Text 5"/>
          <p:cNvSpPr/>
          <p:nvPr/>
        </p:nvSpPr>
        <p:spPr>
          <a:xfrm>
            <a:off x="480240" y="1691640"/>
            <a:ext cx="36975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DÉVELOPPEMENT LOCAL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7" name="Shape 6"/>
          <p:cNvSpPr/>
          <p:nvPr/>
        </p:nvSpPr>
        <p:spPr>
          <a:xfrm>
            <a:off x="708840" y="2331720"/>
            <a:ext cx="542880" cy="54288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8" name="Text 7"/>
          <p:cNvSpPr/>
          <p:nvPr/>
        </p:nvSpPr>
        <p:spPr>
          <a:xfrm>
            <a:off x="708840" y="2331720"/>
            <a:ext cx="5428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⚓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9" name="Text 8"/>
          <p:cNvSpPr/>
          <p:nvPr/>
        </p:nvSpPr>
        <p:spPr>
          <a:xfrm>
            <a:off x="1348920" y="2331720"/>
            <a:ext cx="26917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docker-compose.yml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0" name="Text 9"/>
          <p:cNvSpPr/>
          <p:nvPr/>
        </p:nvSpPr>
        <p:spPr>
          <a:xfrm>
            <a:off x="1348920" y="2651760"/>
            <a:ext cx="26917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App (Neon + Upstash externes)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1" name="Shape 10"/>
          <p:cNvSpPr/>
          <p:nvPr/>
        </p:nvSpPr>
        <p:spPr>
          <a:xfrm>
            <a:off x="708840" y="3474720"/>
            <a:ext cx="542880" cy="54288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2" name="Text 11"/>
          <p:cNvSpPr/>
          <p:nvPr/>
        </p:nvSpPr>
        <p:spPr>
          <a:xfrm>
            <a:off x="708840" y="3474720"/>
            <a:ext cx="5428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3" name="Text 12"/>
          <p:cNvSpPr/>
          <p:nvPr/>
        </p:nvSpPr>
        <p:spPr>
          <a:xfrm>
            <a:off x="1348920" y="3474720"/>
            <a:ext cx="26917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Bun + hot reload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4" name="Text 13"/>
          <p:cNvSpPr/>
          <p:nvPr/>
        </p:nvSpPr>
        <p:spPr>
          <a:xfrm>
            <a:off x="1348920" y="3794760"/>
            <a:ext cx="26917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bun dev profil dev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5" name="Shape 14"/>
          <p:cNvSpPr/>
          <p:nvPr/>
        </p:nvSpPr>
        <p:spPr>
          <a:xfrm>
            <a:off x="708840" y="4617720"/>
            <a:ext cx="542880" cy="54288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6" name="Text 15"/>
          <p:cNvSpPr/>
          <p:nvPr/>
        </p:nvSpPr>
        <p:spPr>
          <a:xfrm>
            <a:off x="708840" y="4617720"/>
            <a:ext cx="5428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↻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7" name="Text 16"/>
          <p:cNvSpPr/>
          <p:nvPr/>
        </p:nvSpPr>
        <p:spPr>
          <a:xfrm>
            <a:off x="1348920" y="4617720"/>
            <a:ext cx="26917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Migrations auto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8" name="Text 17"/>
          <p:cNvSpPr/>
          <p:nvPr/>
        </p:nvSpPr>
        <p:spPr>
          <a:xfrm>
            <a:off x="1348920" y="4937760"/>
            <a:ext cx="26917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prisma migrate dev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9" name="Shape 18"/>
          <p:cNvSpPr/>
          <p:nvPr/>
        </p:nvSpPr>
        <p:spPr>
          <a:xfrm>
            <a:off x="4155840" y="3794760"/>
            <a:ext cx="91440" cy="360"/>
          </a:xfrm>
          <a:prstGeom prst="line">
            <a:avLst/>
          </a:prstGeom>
          <a:ln w="2540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5720" tIns="-44640" rIns="4572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0" name="Shape 19"/>
          <p:cNvSpPr/>
          <p:nvPr/>
        </p:nvSpPr>
        <p:spPr>
          <a:xfrm>
            <a:off x="4229280" y="1691640"/>
            <a:ext cx="3697560" cy="420048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1" name="Shape 20"/>
          <p:cNvSpPr/>
          <p:nvPr/>
        </p:nvSpPr>
        <p:spPr>
          <a:xfrm>
            <a:off x="4229280" y="1691640"/>
            <a:ext cx="3697560" cy="45144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2" name="Text 21"/>
          <p:cNvSpPr/>
          <p:nvPr/>
        </p:nvSpPr>
        <p:spPr>
          <a:xfrm>
            <a:off x="4229280" y="1691640"/>
            <a:ext cx="36975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PRÉ-PROD / CI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3" name="Shape 22"/>
          <p:cNvSpPr/>
          <p:nvPr/>
        </p:nvSpPr>
        <p:spPr>
          <a:xfrm>
            <a:off x="4457880" y="2331720"/>
            <a:ext cx="542880" cy="54288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4" name="Text 23"/>
          <p:cNvSpPr/>
          <p:nvPr/>
        </p:nvSpPr>
        <p:spPr>
          <a:xfrm>
            <a:off x="4457880" y="2259720"/>
            <a:ext cx="54288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◉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5" name="Text 24"/>
          <p:cNvSpPr/>
          <p:nvPr/>
        </p:nvSpPr>
        <p:spPr>
          <a:xfrm>
            <a:off x="5097960" y="2331720"/>
            <a:ext cx="26917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Build auto sur push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6" name="Text 25"/>
          <p:cNvSpPr/>
          <p:nvPr/>
        </p:nvSpPr>
        <p:spPr>
          <a:xfrm>
            <a:off x="5097960" y="2651760"/>
            <a:ext cx="26917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Lint · Test · Build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7" name="Shape 26"/>
          <p:cNvSpPr/>
          <p:nvPr/>
        </p:nvSpPr>
        <p:spPr>
          <a:xfrm>
            <a:off x="4457880" y="3474720"/>
            <a:ext cx="542880" cy="54288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8" name="Text 27"/>
          <p:cNvSpPr/>
          <p:nvPr/>
        </p:nvSpPr>
        <p:spPr>
          <a:xfrm>
            <a:off x="4457880" y="3474720"/>
            <a:ext cx="5428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❀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9" name="Text 28"/>
          <p:cNvSpPr/>
          <p:nvPr/>
        </p:nvSpPr>
        <p:spPr>
          <a:xfrm>
            <a:off x="5097960" y="3474720"/>
            <a:ext cx="26917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Preview Vercel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0" name="Text 29"/>
          <p:cNvSpPr/>
          <p:nvPr/>
        </p:nvSpPr>
        <p:spPr>
          <a:xfrm>
            <a:off x="5097960" y="3794760"/>
            <a:ext cx="26917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URL unique par PR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1" name="Shape 30"/>
          <p:cNvSpPr/>
          <p:nvPr/>
        </p:nvSpPr>
        <p:spPr>
          <a:xfrm>
            <a:off x="4457880" y="4617720"/>
            <a:ext cx="542880" cy="54288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2" name="Text 31"/>
          <p:cNvSpPr/>
          <p:nvPr/>
        </p:nvSpPr>
        <p:spPr>
          <a:xfrm>
            <a:off x="4457880" y="4617720"/>
            <a:ext cx="5428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⊕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3" name="Text 32"/>
          <p:cNvSpPr/>
          <p:nvPr/>
        </p:nvSpPr>
        <p:spPr>
          <a:xfrm>
            <a:off x="5097960" y="4617720"/>
            <a:ext cx="26917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Neon Branching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4" name="Text 33"/>
          <p:cNvSpPr/>
          <p:nvPr/>
        </p:nvSpPr>
        <p:spPr>
          <a:xfrm>
            <a:off x="5097960" y="4937760"/>
            <a:ext cx="26917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BDD isolée par PR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5" name="Shape 34"/>
          <p:cNvSpPr/>
          <p:nvPr/>
        </p:nvSpPr>
        <p:spPr>
          <a:xfrm>
            <a:off x="7904880" y="3794760"/>
            <a:ext cx="91440" cy="360"/>
          </a:xfrm>
          <a:prstGeom prst="line">
            <a:avLst/>
          </a:prstGeom>
          <a:ln w="2540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5720" tIns="-44640" rIns="4572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6" name="Shape 35"/>
          <p:cNvSpPr/>
          <p:nvPr/>
        </p:nvSpPr>
        <p:spPr>
          <a:xfrm>
            <a:off x="7978320" y="1691640"/>
            <a:ext cx="3697560" cy="420048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7" name="Shape 36"/>
          <p:cNvSpPr/>
          <p:nvPr/>
        </p:nvSpPr>
        <p:spPr>
          <a:xfrm>
            <a:off x="7978320" y="1691640"/>
            <a:ext cx="3697560" cy="4514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8" name="Text 37"/>
          <p:cNvSpPr/>
          <p:nvPr/>
        </p:nvSpPr>
        <p:spPr>
          <a:xfrm>
            <a:off x="7978320" y="1691640"/>
            <a:ext cx="36975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9" name="Shape 38"/>
          <p:cNvSpPr/>
          <p:nvPr/>
        </p:nvSpPr>
        <p:spPr>
          <a:xfrm>
            <a:off x="8206920" y="2331720"/>
            <a:ext cx="542880" cy="54288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0" name="Text 39"/>
          <p:cNvSpPr/>
          <p:nvPr/>
        </p:nvSpPr>
        <p:spPr>
          <a:xfrm>
            <a:off x="8206920" y="2259720"/>
            <a:ext cx="542880" cy="63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1" name="Text 40"/>
          <p:cNvSpPr/>
          <p:nvPr/>
        </p:nvSpPr>
        <p:spPr>
          <a:xfrm>
            <a:off x="8847000" y="2331720"/>
            <a:ext cx="26917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Vercel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2" name="Text 41"/>
          <p:cNvSpPr/>
          <p:nvPr/>
        </p:nvSpPr>
        <p:spPr>
          <a:xfrm>
            <a:off x="8847000" y="2651760"/>
            <a:ext cx="26917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Next.js + edge functions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3" name="Shape 42"/>
          <p:cNvSpPr/>
          <p:nvPr/>
        </p:nvSpPr>
        <p:spPr>
          <a:xfrm>
            <a:off x="8206920" y="3474720"/>
            <a:ext cx="542880" cy="54288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4" name="Text 43"/>
          <p:cNvSpPr/>
          <p:nvPr/>
        </p:nvSpPr>
        <p:spPr>
          <a:xfrm>
            <a:off x="8206920" y="3402720"/>
            <a:ext cx="542880" cy="63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▤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5" name="Text 44"/>
          <p:cNvSpPr/>
          <p:nvPr/>
        </p:nvSpPr>
        <p:spPr>
          <a:xfrm>
            <a:off x="8847000" y="3474720"/>
            <a:ext cx="26917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Neon PostgreSQL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6" name="Text 45"/>
          <p:cNvSpPr/>
          <p:nvPr/>
        </p:nvSpPr>
        <p:spPr>
          <a:xfrm>
            <a:off x="8847000" y="3794760"/>
            <a:ext cx="26917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Branches main + prod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7" name="Shape 46"/>
          <p:cNvSpPr/>
          <p:nvPr/>
        </p:nvSpPr>
        <p:spPr>
          <a:xfrm>
            <a:off x="8206920" y="4617720"/>
            <a:ext cx="542880" cy="54288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8" name="Text 47"/>
          <p:cNvSpPr/>
          <p:nvPr/>
        </p:nvSpPr>
        <p:spPr>
          <a:xfrm>
            <a:off x="8206920" y="4617720"/>
            <a:ext cx="54288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9" name="Text 48"/>
          <p:cNvSpPr/>
          <p:nvPr/>
        </p:nvSpPr>
        <p:spPr>
          <a:xfrm>
            <a:off x="8847000" y="4617720"/>
            <a:ext cx="26917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Upstash Redis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0" name="Text 49"/>
          <p:cNvSpPr/>
          <p:nvPr/>
        </p:nvSpPr>
        <p:spPr>
          <a:xfrm>
            <a:off x="8847000" y="4937760"/>
            <a:ext cx="26917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REST · pay-as-you-go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1" name="Shape 50"/>
          <p:cNvSpPr/>
          <p:nvPr/>
        </p:nvSpPr>
        <p:spPr>
          <a:xfrm>
            <a:off x="548640" y="6035040"/>
            <a:ext cx="11058480" cy="268560"/>
          </a:xfrm>
          <a:prstGeom prst="roundRect">
            <a:avLst>
              <a:gd name="adj" fmla="val 26667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2" name="Text 51"/>
          <p:cNvSpPr/>
          <p:nvPr/>
        </p:nvSpPr>
        <p:spPr>
          <a:xfrm>
            <a:off x="777240" y="6035040"/>
            <a:ext cx="106012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Rollback Vercel one-click · Healthcheck applicatif · Secrets via env vars (jamais committés) · SSL automatique.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1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4" name="Text 52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5" name="Text 53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51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7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Veille technique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8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9" name="Shape 3"/>
          <p:cNvSpPr/>
          <p:nvPr/>
        </p:nvSpPr>
        <p:spPr>
          <a:xfrm>
            <a:off x="548640" y="1691640"/>
            <a:ext cx="5526360" cy="456624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0" name="Text 4"/>
          <p:cNvSpPr/>
          <p:nvPr/>
        </p:nvSpPr>
        <p:spPr>
          <a:xfrm>
            <a:off x="731520" y="1783080"/>
            <a:ext cx="5023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Sources suivies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1" name="Text 5"/>
          <p:cNvSpPr/>
          <p:nvPr/>
        </p:nvSpPr>
        <p:spPr>
          <a:xfrm>
            <a:off x="777240" y="2240280"/>
            <a:ext cx="451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▤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2" name="Text 6"/>
          <p:cNvSpPr/>
          <p:nvPr/>
        </p:nvSpPr>
        <p:spPr>
          <a:xfrm>
            <a:off x="1280160" y="2240280"/>
            <a:ext cx="4566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Vercel Blog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3" name="Text 7"/>
          <p:cNvSpPr/>
          <p:nvPr/>
        </p:nvSpPr>
        <p:spPr>
          <a:xfrm>
            <a:off x="1280160" y="2514600"/>
            <a:ext cx="45662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Annonces Next.js, App Router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4" name="Text 8"/>
          <p:cNvSpPr/>
          <p:nvPr/>
        </p:nvSpPr>
        <p:spPr>
          <a:xfrm>
            <a:off x="813240" y="2880360"/>
            <a:ext cx="451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5" name="Text 9"/>
          <p:cNvSpPr/>
          <p:nvPr/>
        </p:nvSpPr>
        <p:spPr>
          <a:xfrm>
            <a:off x="1280160" y="2880360"/>
            <a:ext cx="4566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 Docs (canary)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6" name="Text 10"/>
          <p:cNvSpPr/>
          <p:nvPr/>
        </p:nvSpPr>
        <p:spPr>
          <a:xfrm>
            <a:off x="1280160" y="3154680"/>
            <a:ext cx="45662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Server Components, Actions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7" name="Text 11"/>
          <p:cNvSpPr/>
          <p:nvPr/>
        </p:nvSpPr>
        <p:spPr>
          <a:xfrm>
            <a:off x="777240" y="3520440"/>
            <a:ext cx="451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◉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8" name="Text 12"/>
          <p:cNvSpPr/>
          <p:nvPr/>
        </p:nvSpPr>
        <p:spPr>
          <a:xfrm>
            <a:off x="1280160" y="3520440"/>
            <a:ext cx="4566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OWASP Cheat Sheets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9" name="Text 13"/>
          <p:cNvSpPr/>
          <p:nvPr/>
        </p:nvSpPr>
        <p:spPr>
          <a:xfrm>
            <a:off x="1280160" y="3794760"/>
            <a:ext cx="45662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Sécurité applicative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0" name="Text 14"/>
          <p:cNvSpPr/>
          <p:nvPr/>
        </p:nvSpPr>
        <p:spPr>
          <a:xfrm>
            <a:off x="813240" y="4160520"/>
            <a:ext cx="451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1" name="Text 15"/>
          <p:cNvSpPr/>
          <p:nvPr/>
        </p:nvSpPr>
        <p:spPr>
          <a:xfrm>
            <a:off x="1280160" y="4160520"/>
            <a:ext cx="4566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RFC / WHATWG specs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2" name="Text 16"/>
          <p:cNvSpPr/>
          <p:nvPr/>
        </p:nvSpPr>
        <p:spPr>
          <a:xfrm>
            <a:off x="1280160" y="4434840"/>
            <a:ext cx="45662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HTTP, cookies, fetch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3" name="Text 17"/>
          <p:cNvSpPr/>
          <p:nvPr/>
        </p:nvSpPr>
        <p:spPr>
          <a:xfrm>
            <a:off x="777240" y="4800600"/>
            <a:ext cx="451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✦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4" name="Text 18"/>
          <p:cNvSpPr/>
          <p:nvPr/>
        </p:nvSpPr>
        <p:spPr>
          <a:xfrm>
            <a:off x="1280160" y="4800600"/>
            <a:ext cx="4566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Twitter dev community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5" name="Text 19"/>
          <p:cNvSpPr/>
          <p:nvPr/>
        </p:nvSpPr>
        <p:spPr>
          <a:xfrm>
            <a:off x="1280160" y="5074920"/>
            <a:ext cx="45662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Theo, Lee Robinson, Dan Abramov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6" name="Text 20"/>
          <p:cNvSpPr/>
          <p:nvPr/>
        </p:nvSpPr>
        <p:spPr>
          <a:xfrm>
            <a:off x="813240" y="5440680"/>
            <a:ext cx="4514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▷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7" name="Text 21"/>
          <p:cNvSpPr/>
          <p:nvPr/>
        </p:nvSpPr>
        <p:spPr>
          <a:xfrm>
            <a:off x="1280160" y="5440680"/>
            <a:ext cx="4566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YouTube — Theo, Fireship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8" name="Text 22"/>
          <p:cNvSpPr/>
          <p:nvPr/>
        </p:nvSpPr>
        <p:spPr>
          <a:xfrm>
            <a:off x="1280160" y="5715000"/>
            <a:ext cx="456624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Synthèses &amp; démos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9" name="Shape 23"/>
          <p:cNvSpPr/>
          <p:nvPr/>
        </p:nvSpPr>
        <p:spPr>
          <a:xfrm>
            <a:off x="6263640" y="1691640"/>
            <a:ext cx="5526360" cy="456624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0" name="Text 24"/>
          <p:cNvSpPr/>
          <p:nvPr/>
        </p:nvSpPr>
        <p:spPr>
          <a:xfrm>
            <a:off x="6446520" y="1783080"/>
            <a:ext cx="5023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Méthode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1" name="Shape 25"/>
          <p:cNvSpPr/>
          <p:nvPr/>
        </p:nvSpPr>
        <p:spPr>
          <a:xfrm>
            <a:off x="6446520" y="2240280"/>
            <a:ext cx="497160" cy="49716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2" name="Text 26"/>
          <p:cNvSpPr/>
          <p:nvPr/>
        </p:nvSpPr>
        <p:spPr>
          <a:xfrm>
            <a:off x="6446520" y="2240280"/>
            <a:ext cx="49716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3" name="Text 27"/>
          <p:cNvSpPr/>
          <p:nvPr/>
        </p:nvSpPr>
        <p:spPr>
          <a:xfrm>
            <a:off x="7040880" y="2312280"/>
            <a:ext cx="4566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Filtrer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4" name="Text 28"/>
          <p:cNvSpPr/>
          <p:nvPr/>
        </p:nvSpPr>
        <p:spPr>
          <a:xfrm>
            <a:off x="7040880" y="2478600"/>
            <a:ext cx="45662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Critère : signal-to-noise élevé, sources primaires d'abord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5" name="Shape 29"/>
          <p:cNvSpPr/>
          <p:nvPr/>
        </p:nvSpPr>
        <p:spPr>
          <a:xfrm>
            <a:off x="6446520" y="3017520"/>
            <a:ext cx="497160" cy="49716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6" name="Text 30"/>
          <p:cNvSpPr/>
          <p:nvPr/>
        </p:nvSpPr>
        <p:spPr>
          <a:xfrm>
            <a:off x="6446520" y="3017520"/>
            <a:ext cx="49716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7" name="Text 31"/>
          <p:cNvSpPr/>
          <p:nvPr/>
        </p:nvSpPr>
        <p:spPr>
          <a:xfrm>
            <a:off x="7040880" y="3089520"/>
            <a:ext cx="4566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8" name="Text 32"/>
          <p:cNvSpPr/>
          <p:nvPr/>
        </p:nvSpPr>
        <p:spPr>
          <a:xfrm>
            <a:off x="7040880" y="3255840"/>
            <a:ext cx="45662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30 min / matin, Pocket pour le offline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9" name="Shape 33"/>
          <p:cNvSpPr/>
          <p:nvPr/>
        </p:nvSpPr>
        <p:spPr>
          <a:xfrm>
            <a:off x="6446520" y="3794760"/>
            <a:ext cx="497160" cy="49716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0" name="Text 34"/>
          <p:cNvSpPr/>
          <p:nvPr/>
        </p:nvSpPr>
        <p:spPr>
          <a:xfrm>
            <a:off x="6446520" y="3794760"/>
            <a:ext cx="49716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1" name="Text 35"/>
          <p:cNvSpPr/>
          <p:nvPr/>
        </p:nvSpPr>
        <p:spPr>
          <a:xfrm>
            <a:off x="7040880" y="3830760"/>
            <a:ext cx="4566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2" name="Text 36"/>
          <p:cNvSpPr/>
          <p:nvPr/>
        </p:nvSpPr>
        <p:spPr>
          <a:xfrm>
            <a:off x="7040880" y="4033080"/>
            <a:ext cx="45662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Petite preuve de concept si la techno entre dans le projet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3" name="Shape 37"/>
          <p:cNvSpPr/>
          <p:nvPr/>
        </p:nvSpPr>
        <p:spPr>
          <a:xfrm>
            <a:off x="6446520" y="4572000"/>
            <a:ext cx="497160" cy="49716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4" name="Text 38"/>
          <p:cNvSpPr/>
          <p:nvPr/>
        </p:nvSpPr>
        <p:spPr>
          <a:xfrm>
            <a:off x="6446520" y="4572000"/>
            <a:ext cx="49716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5" name="Text 39"/>
          <p:cNvSpPr/>
          <p:nvPr/>
        </p:nvSpPr>
        <p:spPr>
          <a:xfrm>
            <a:off x="7040880" y="4644000"/>
            <a:ext cx="4566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Documenter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6" name="Text 40"/>
          <p:cNvSpPr/>
          <p:nvPr/>
        </p:nvSpPr>
        <p:spPr>
          <a:xfrm>
            <a:off x="7040880" y="4810320"/>
            <a:ext cx="45662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Notes dans Obsidian, lien vers la source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7" name="Shape 41"/>
          <p:cNvSpPr/>
          <p:nvPr/>
        </p:nvSpPr>
        <p:spPr>
          <a:xfrm>
            <a:off x="6446520" y="5349240"/>
            <a:ext cx="497160" cy="49716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8" name="Text 42"/>
          <p:cNvSpPr/>
          <p:nvPr/>
        </p:nvSpPr>
        <p:spPr>
          <a:xfrm>
            <a:off x="6446520" y="5349240"/>
            <a:ext cx="49716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9" name="Text 43"/>
          <p:cNvSpPr/>
          <p:nvPr/>
        </p:nvSpPr>
        <p:spPr>
          <a:xfrm>
            <a:off x="7040880" y="5421240"/>
            <a:ext cx="4566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Partager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0" name="Text 44"/>
          <p:cNvSpPr/>
          <p:nvPr/>
        </p:nvSpPr>
        <p:spPr>
          <a:xfrm>
            <a:off x="7040880" y="5587560"/>
            <a:ext cx="45662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Discussion équipe sur les choix structurants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61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2" name="Text 45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3" name="Text 46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52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5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Métriques du projet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6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7" name="Shape 3"/>
          <p:cNvSpPr/>
          <p:nvPr/>
        </p:nvSpPr>
        <p:spPr>
          <a:xfrm>
            <a:off x="548640" y="1691640"/>
            <a:ext cx="2691720" cy="164016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8" name="Text 4"/>
          <p:cNvSpPr/>
          <p:nvPr/>
        </p:nvSpPr>
        <p:spPr>
          <a:xfrm>
            <a:off x="548640" y="1783080"/>
            <a:ext cx="269172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9" name="Text 5"/>
          <p:cNvSpPr/>
          <p:nvPr/>
        </p:nvSpPr>
        <p:spPr>
          <a:xfrm>
            <a:off x="548640" y="2697480"/>
            <a:ext cx="269172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modèles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Prisma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0" name="Shape 6"/>
          <p:cNvSpPr/>
          <p:nvPr/>
        </p:nvSpPr>
        <p:spPr>
          <a:xfrm>
            <a:off x="3383280" y="1691640"/>
            <a:ext cx="2691720" cy="164016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1" name="Text 7"/>
          <p:cNvSpPr/>
          <p:nvPr/>
        </p:nvSpPr>
        <p:spPr>
          <a:xfrm>
            <a:off x="3383280" y="1783080"/>
            <a:ext cx="269172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60+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2" name="Text 8"/>
          <p:cNvSpPr/>
          <p:nvPr/>
        </p:nvSpPr>
        <p:spPr>
          <a:xfrm>
            <a:off x="3383280" y="2697480"/>
            <a:ext cx="269172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endpoints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3" name="Shape 9"/>
          <p:cNvSpPr/>
          <p:nvPr/>
        </p:nvSpPr>
        <p:spPr>
          <a:xfrm>
            <a:off x="6217920" y="1691640"/>
            <a:ext cx="2691720" cy="164016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4" name="Text 10"/>
          <p:cNvSpPr/>
          <p:nvPr/>
        </p:nvSpPr>
        <p:spPr>
          <a:xfrm>
            <a:off x="6217920" y="1783080"/>
            <a:ext cx="269172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12+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5" name="Text 11"/>
          <p:cNvSpPr/>
          <p:nvPr/>
        </p:nvSpPr>
        <p:spPr>
          <a:xfrm>
            <a:off x="6217920" y="2697480"/>
            <a:ext cx="269172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principales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6" name="Shape 12"/>
          <p:cNvSpPr/>
          <p:nvPr/>
        </p:nvSpPr>
        <p:spPr>
          <a:xfrm>
            <a:off x="9052560" y="1691640"/>
            <a:ext cx="2691720" cy="164016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7" name="Text 13"/>
          <p:cNvSpPr/>
          <p:nvPr/>
        </p:nvSpPr>
        <p:spPr>
          <a:xfrm>
            <a:off x="9052560" y="1783080"/>
            <a:ext cx="269172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8" name="Text 14"/>
          <p:cNvSpPr/>
          <p:nvPr/>
        </p:nvSpPr>
        <p:spPr>
          <a:xfrm>
            <a:off x="9052560" y="2697480"/>
            <a:ext cx="269172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user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stories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9" name="Text 15"/>
          <p:cNvSpPr/>
          <p:nvPr/>
        </p:nvSpPr>
        <p:spPr>
          <a:xfrm>
            <a:off x="548640" y="3611880"/>
            <a:ext cx="109670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Répartition des features livrées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0" name="Shape 16"/>
          <p:cNvSpPr/>
          <p:nvPr/>
        </p:nvSpPr>
        <p:spPr>
          <a:xfrm>
            <a:off x="548640" y="3977640"/>
            <a:ext cx="5526360" cy="2325960"/>
          </a:xfrm>
          <a:prstGeom prst="roundRect">
            <a:avLst>
              <a:gd name="adj" fmla="val 313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381" name="Chart 0"/>
          <p:cNvGraphicFramePr/>
          <p:nvPr/>
        </p:nvGraphicFramePr>
        <p:xfrm>
          <a:off x="640080" y="4069080"/>
          <a:ext cx="5343480" cy="214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82" name="Shape 17"/>
          <p:cNvSpPr/>
          <p:nvPr/>
        </p:nvSpPr>
        <p:spPr>
          <a:xfrm>
            <a:off x="6263640" y="3977640"/>
            <a:ext cx="5526360" cy="2325960"/>
          </a:xfrm>
          <a:prstGeom prst="roundRect">
            <a:avLst>
              <a:gd name="adj" fmla="val 313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3" name="Text 18"/>
          <p:cNvSpPr/>
          <p:nvPr/>
        </p:nvSpPr>
        <p:spPr>
          <a:xfrm>
            <a:off x="6400800" y="4069080"/>
            <a:ext cx="53434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Charge de travail par phase (jours)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84" name="Chart 1"/>
          <p:cNvGraphicFramePr/>
          <p:nvPr/>
        </p:nvGraphicFramePr>
        <p:xfrm>
          <a:off x="6400800" y="4343400"/>
          <a:ext cx="5206320" cy="186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385" name="Image 0" descr="/sessions/sweet-funny-newton/mnt/outputs/build/assets/konekt-logo.png"/>
          <p:cNvPicPr/>
          <p:nvPr/>
        </p:nvPicPr>
        <p:blipFill>
          <a:blip r:embed="rId3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6" name="Text 19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7" name="Text 20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53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 · BC01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9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Développer une application sécurisée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0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1" name="Shape 3"/>
          <p:cNvSpPr/>
          <p:nvPr/>
        </p:nvSpPr>
        <p:spPr>
          <a:xfrm>
            <a:off x="548640" y="1691640"/>
            <a:ext cx="3651840" cy="1548720"/>
          </a:xfrm>
          <a:prstGeom prst="roundRect">
            <a:avLst>
              <a:gd name="adj" fmla="val 7059"/>
            </a:avLst>
          </a:prstGeom>
          <a:solidFill>
            <a:srgbClr val="EC4899">
              <a:alpha val="35000"/>
            </a:srgbClr>
          </a:solidFill>
          <a:ln w="254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2" name="Text 4"/>
          <p:cNvSpPr/>
          <p:nvPr/>
        </p:nvSpPr>
        <p:spPr>
          <a:xfrm>
            <a:off x="548640" y="1691640"/>
            <a:ext cx="365184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BC01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3" name="Text 5"/>
          <p:cNvSpPr/>
          <p:nvPr/>
        </p:nvSpPr>
        <p:spPr>
          <a:xfrm>
            <a:off x="548640" y="2606040"/>
            <a:ext cx="3651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Bloc de compétences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4" name="Text 6"/>
          <p:cNvSpPr/>
          <p:nvPr/>
        </p:nvSpPr>
        <p:spPr>
          <a:xfrm>
            <a:off x="548640" y="288036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RNCP 37873  ·  CDA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5" name="Shape 7"/>
          <p:cNvSpPr/>
          <p:nvPr/>
        </p:nvSpPr>
        <p:spPr>
          <a:xfrm>
            <a:off x="4389120" y="1691640"/>
            <a:ext cx="7218000" cy="154872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6" name="Text 8"/>
          <p:cNvSpPr/>
          <p:nvPr/>
        </p:nvSpPr>
        <p:spPr>
          <a:xfrm>
            <a:off x="4572000" y="1783080"/>
            <a:ext cx="6852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En quoi le bloc consiste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7" name="Text 9"/>
          <p:cNvSpPr/>
          <p:nvPr/>
        </p:nvSpPr>
        <p:spPr>
          <a:xfrm>
            <a:off x="4572000" y="2103120"/>
            <a:ext cx="6852240" cy="10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Concevoir, développer et tester une application en intégrant les principes de sécurité dès la phase de conception.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8" name="Text 10"/>
          <p:cNvSpPr/>
          <p:nvPr/>
        </p:nvSpPr>
        <p:spPr>
          <a:xfrm>
            <a:off x="548640" y="3383280"/>
            <a:ext cx="109670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Compétences couvertes par Konekt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9" name="Shape 11"/>
          <p:cNvSpPr/>
          <p:nvPr/>
        </p:nvSpPr>
        <p:spPr>
          <a:xfrm>
            <a:off x="548640" y="3703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0" name="Shape 12"/>
          <p:cNvSpPr/>
          <p:nvPr/>
        </p:nvSpPr>
        <p:spPr>
          <a:xfrm>
            <a:off x="548640" y="3703320"/>
            <a:ext cx="85680" cy="10458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1" name="Text 13"/>
          <p:cNvSpPr/>
          <p:nvPr/>
        </p:nvSpPr>
        <p:spPr>
          <a:xfrm>
            <a:off x="777240" y="3840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Maquetter une application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2" name="Text 14"/>
          <p:cNvSpPr/>
          <p:nvPr/>
        </p:nvSpPr>
        <p:spPr>
          <a:xfrm>
            <a:off x="777240" y="4160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Wireframes + mockups 6 pages principales, design system Konekt dédié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3" name="Shape 15"/>
          <p:cNvSpPr/>
          <p:nvPr/>
        </p:nvSpPr>
        <p:spPr>
          <a:xfrm>
            <a:off x="6217920" y="3703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4" name="Shape 16"/>
          <p:cNvSpPr/>
          <p:nvPr/>
        </p:nvSpPr>
        <p:spPr>
          <a:xfrm>
            <a:off x="6217920" y="3703320"/>
            <a:ext cx="85680" cy="10458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5" name="Text 17"/>
          <p:cNvSpPr/>
          <p:nvPr/>
        </p:nvSpPr>
        <p:spPr>
          <a:xfrm>
            <a:off x="6446520" y="3840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Développer une interface utilisateur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6" name="Text 18"/>
          <p:cNvSpPr/>
          <p:nvPr/>
        </p:nvSpPr>
        <p:spPr>
          <a:xfrm>
            <a:off x="6446520" y="4160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Next.js App Router, React Server Components, Tailwind + shadcn/ui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7" name="Shape 19"/>
          <p:cNvSpPr/>
          <p:nvPr/>
        </p:nvSpPr>
        <p:spPr>
          <a:xfrm>
            <a:off x="548640" y="4846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8" name="Shape 20"/>
          <p:cNvSpPr/>
          <p:nvPr/>
        </p:nvSpPr>
        <p:spPr>
          <a:xfrm>
            <a:off x="548640" y="4846320"/>
            <a:ext cx="85680" cy="10458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9" name="Text 21"/>
          <p:cNvSpPr/>
          <p:nvPr/>
        </p:nvSpPr>
        <p:spPr>
          <a:xfrm>
            <a:off x="777240" y="4983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Développer des composants réutilisables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0" name="Text 22"/>
          <p:cNvSpPr/>
          <p:nvPr/>
        </p:nvSpPr>
        <p:spPr>
          <a:xfrm>
            <a:off x="777240" y="5303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Button, Avatar, Card, Dialog, Input — bibliothèque cohérente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1" name="Shape 23"/>
          <p:cNvSpPr/>
          <p:nvPr/>
        </p:nvSpPr>
        <p:spPr>
          <a:xfrm>
            <a:off x="6217920" y="4846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2" name="Shape 24"/>
          <p:cNvSpPr/>
          <p:nvPr/>
        </p:nvSpPr>
        <p:spPr>
          <a:xfrm>
            <a:off x="6217920" y="4846320"/>
            <a:ext cx="85680" cy="10458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3" name="Text 25"/>
          <p:cNvSpPr/>
          <p:nvPr/>
        </p:nvSpPr>
        <p:spPr>
          <a:xfrm>
            <a:off x="6446520" y="4983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Intégrer la sécurité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4" name="Text 26"/>
          <p:cNvSpPr/>
          <p:nvPr/>
        </p:nvSpPr>
        <p:spPr>
          <a:xfrm>
            <a:off x="6446520" y="5303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JWT signé (jose), bcrypt cost 12, cookies HttpOnly, validation Zod, OWASP Top 10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5" name="Text 27"/>
          <p:cNvSpPr/>
          <p:nvPr/>
        </p:nvSpPr>
        <p:spPr>
          <a:xfrm>
            <a:off x="692640" y="598932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Preuves du dossier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6" name="Shape 28"/>
          <p:cNvSpPr/>
          <p:nvPr/>
        </p:nvSpPr>
        <p:spPr>
          <a:xfrm>
            <a:off x="2599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7" name="Text 29"/>
          <p:cNvSpPr/>
          <p:nvPr/>
        </p:nvSpPr>
        <p:spPr>
          <a:xfrm>
            <a:off x="2599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Sécurité applicative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8" name="Shape 30"/>
          <p:cNvSpPr/>
          <p:nvPr/>
        </p:nvSpPr>
        <p:spPr>
          <a:xfrm>
            <a:off x="4885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9" name="Text 31"/>
          <p:cNvSpPr/>
          <p:nvPr/>
        </p:nvSpPr>
        <p:spPr>
          <a:xfrm>
            <a:off x="4885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Validation Zod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0" name="Shape 32"/>
          <p:cNvSpPr/>
          <p:nvPr/>
        </p:nvSpPr>
        <p:spPr>
          <a:xfrm>
            <a:off x="7171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1" name="Text 33"/>
          <p:cNvSpPr/>
          <p:nvPr/>
        </p:nvSpPr>
        <p:spPr>
          <a:xfrm>
            <a:off x="7171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Middleware JWT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2" name="Shape 34"/>
          <p:cNvSpPr/>
          <p:nvPr/>
        </p:nvSpPr>
        <p:spPr>
          <a:xfrm>
            <a:off x="9457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3" name="Text 35"/>
          <p:cNvSpPr/>
          <p:nvPr/>
        </p:nvSpPr>
        <p:spPr>
          <a:xfrm>
            <a:off x="9457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Audit RGPD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24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5" name="Text 36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6" name="Text 37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54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 · BC02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8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Concevoir et développer la persistance des données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9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0" name="Shape 3"/>
          <p:cNvSpPr/>
          <p:nvPr/>
        </p:nvSpPr>
        <p:spPr>
          <a:xfrm>
            <a:off x="548640" y="1691640"/>
            <a:ext cx="3651840" cy="1548720"/>
          </a:xfrm>
          <a:prstGeom prst="roundRect">
            <a:avLst>
              <a:gd name="adj" fmla="val 7059"/>
            </a:avLst>
          </a:prstGeom>
          <a:solidFill>
            <a:srgbClr val="06B6D4">
              <a:alpha val="35000"/>
            </a:srgbClr>
          </a:solidFill>
          <a:ln w="254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1" name="Text 4"/>
          <p:cNvSpPr/>
          <p:nvPr/>
        </p:nvSpPr>
        <p:spPr>
          <a:xfrm>
            <a:off x="548640" y="1691640"/>
            <a:ext cx="365184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BC02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2" name="Text 5"/>
          <p:cNvSpPr/>
          <p:nvPr/>
        </p:nvSpPr>
        <p:spPr>
          <a:xfrm>
            <a:off x="548640" y="2606040"/>
            <a:ext cx="3651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Bloc de compétences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3" name="Text 6"/>
          <p:cNvSpPr/>
          <p:nvPr/>
        </p:nvSpPr>
        <p:spPr>
          <a:xfrm>
            <a:off x="548640" y="288036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RNCP 37873  ·  CDA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4" name="Shape 7"/>
          <p:cNvSpPr/>
          <p:nvPr/>
        </p:nvSpPr>
        <p:spPr>
          <a:xfrm>
            <a:off x="4389120" y="1691640"/>
            <a:ext cx="7218000" cy="154872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5" name="Text 8"/>
          <p:cNvSpPr/>
          <p:nvPr/>
        </p:nvSpPr>
        <p:spPr>
          <a:xfrm>
            <a:off x="4572000" y="1783080"/>
            <a:ext cx="6852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En quoi le bloc consiste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6" name="Text 9"/>
          <p:cNvSpPr/>
          <p:nvPr/>
        </p:nvSpPr>
        <p:spPr>
          <a:xfrm>
            <a:off x="4572000" y="2103120"/>
            <a:ext cx="6852240" cy="10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Modéliser une base de données relationnelle, écrire les requêtes optimisées et garantir l'intégrité.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7" name="Text 10"/>
          <p:cNvSpPr/>
          <p:nvPr/>
        </p:nvSpPr>
        <p:spPr>
          <a:xfrm>
            <a:off x="548640" y="3383280"/>
            <a:ext cx="109670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Compétences couvertes par Konekt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8" name="Shape 11"/>
          <p:cNvSpPr/>
          <p:nvPr/>
        </p:nvSpPr>
        <p:spPr>
          <a:xfrm>
            <a:off x="548640" y="3703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9" name="Shape 12"/>
          <p:cNvSpPr/>
          <p:nvPr/>
        </p:nvSpPr>
        <p:spPr>
          <a:xfrm>
            <a:off x="548640" y="3703320"/>
            <a:ext cx="85680" cy="10458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0" name="Text 13"/>
          <p:cNvSpPr/>
          <p:nvPr/>
        </p:nvSpPr>
        <p:spPr>
          <a:xfrm>
            <a:off x="777240" y="3840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Analyser le besoin et concevoir un MCD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1" name="Text 14"/>
          <p:cNvSpPr/>
          <p:nvPr/>
        </p:nvSpPr>
        <p:spPr>
          <a:xfrm>
            <a:off x="777240" y="4160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38 user stories → 18 entités identifiées, cardinalités explicites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2" name="Shape 15"/>
          <p:cNvSpPr/>
          <p:nvPr/>
        </p:nvSpPr>
        <p:spPr>
          <a:xfrm>
            <a:off x="6217920" y="3703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3" name="Shape 16"/>
          <p:cNvSpPr/>
          <p:nvPr/>
        </p:nvSpPr>
        <p:spPr>
          <a:xfrm>
            <a:off x="6217920" y="3703320"/>
            <a:ext cx="85680" cy="10458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4" name="Text 17"/>
          <p:cNvSpPr/>
          <p:nvPr/>
        </p:nvSpPr>
        <p:spPr>
          <a:xfrm>
            <a:off x="6446520" y="3840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Mettre en place une base relationnelle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5" name="Text 18"/>
          <p:cNvSpPr/>
          <p:nvPr/>
        </p:nvSpPr>
        <p:spPr>
          <a:xfrm>
            <a:off x="6446520" y="4160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PostgreSQL Neon, migrations versionnées prisma/migrations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6" name="Shape 19"/>
          <p:cNvSpPr/>
          <p:nvPr/>
        </p:nvSpPr>
        <p:spPr>
          <a:xfrm>
            <a:off x="548640" y="4846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7" name="Shape 20"/>
          <p:cNvSpPr/>
          <p:nvPr/>
        </p:nvSpPr>
        <p:spPr>
          <a:xfrm>
            <a:off x="548640" y="4846320"/>
            <a:ext cx="85680" cy="10458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8" name="Text 21"/>
          <p:cNvSpPr/>
          <p:nvPr/>
        </p:nvSpPr>
        <p:spPr>
          <a:xfrm>
            <a:off x="777240" y="4983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Développer des composants d'accès aux données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9" name="Text 22"/>
          <p:cNvSpPr/>
          <p:nvPr/>
        </p:nvSpPr>
        <p:spPr>
          <a:xfrm>
            <a:off x="777240" y="5303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Prisma ORM type-safe, helpers src/lib/server/&lt;domaine&gt;/&lt;entité&gt;.ts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0" name="Shape 23"/>
          <p:cNvSpPr/>
          <p:nvPr/>
        </p:nvSpPr>
        <p:spPr>
          <a:xfrm>
            <a:off x="6217920" y="4846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1" name="Shape 24"/>
          <p:cNvSpPr/>
          <p:nvPr/>
        </p:nvSpPr>
        <p:spPr>
          <a:xfrm>
            <a:off x="6217920" y="4846320"/>
            <a:ext cx="85680" cy="10458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2" name="Text 25"/>
          <p:cNvSpPr/>
          <p:nvPr/>
        </p:nvSpPr>
        <p:spPr>
          <a:xfrm>
            <a:off x="6446520" y="4983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Garantir l'intégrité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3" name="Text 26"/>
          <p:cNvSpPr/>
          <p:nvPr/>
        </p:nvSpPr>
        <p:spPr>
          <a:xfrm>
            <a:off x="6446520" y="5303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PK, FK, UNIQUE composées (réactions), ENUM métier, cascades maîtrisées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4" name="Text 27"/>
          <p:cNvSpPr/>
          <p:nvPr/>
        </p:nvSpPr>
        <p:spPr>
          <a:xfrm>
            <a:off x="692640" y="598932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Preuves du dossier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5" name="Shape 28"/>
          <p:cNvSpPr/>
          <p:nvPr/>
        </p:nvSpPr>
        <p:spPr>
          <a:xfrm>
            <a:off x="2599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6" name="Text 29"/>
          <p:cNvSpPr/>
          <p:nvPr/>
        </p:nvSpPr>
        <p:spPr>
          <a:xfrm>
            <a:off x="2599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MCD / MLD / MPD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7" name="Shape 30"/>
          <p:cNvSpPr/>
          <p:nvPr/>
        </p:nvSpPr>
        <p:spPr>
          <a:xfrm>
            <a:off x="4885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8" name="Text 31"/>
          <p:cNvSpPr/>
          <p:nvPr/>
        </p:nvSpPr>
        <p:spPr>
          <a:xfrm>
            <a:off x="4885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18 modèles Prisma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9" name="Shape 32"/>
          <p:cNvSpPr/>
          <p:nvPr/>
        </p:nvSpPr>
        <p:spPr>
          <a:xfrm>
            <a:off x="7171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0" name="Text 33"/>
          <p:cNvSpPr/>
          <p:nvPr/>
        </p:nvSpPr>
        <p:spPr>
          <a:xfrm>
            <a:off x="7171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40+ relations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1" name="Shape 34"/>
          <p:cNvSpPr/>
          <p:nvPr/>
        </p:nvSpPr>
        <p:spPr>
          <a:xfrm>
            <a:off x="9457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2" name="Text 35"/>
          <p:cNvSpPr/>
          <p:nvPr/>
        </p:nvSpPr>
        <p:spPr>
          <a:xfrm>
            <a:off x="9457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7 enums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6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4" name="Text 36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5" name="Text 37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55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 · BC03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7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Concevoir et développer une application multicouche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8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9" name="Shape 3"/>
          <p:cNvSpPr/>
          <p:nvPr/>
        </p:nvSpPr>
        <p:spPr>
          <a:xfrm>
            <a:off x="548640" y="1691640"/>
            <a:ext cx="3651840" cy="1548720"/>
          </a:xfrm>
          <a:prstGeom prst="roundRect">
            <a:avLst>
              <a:gd name="adj" fmla="val 7059"/>
            </a:avLst>
          </a:prstGeom>
          <a:solidFill>
            <a:srgbClr val="8B5CF6">
              <a:alpha val="35000"/>
            </a:srgbClr>
          </a:solidFill>
          <a:ln w="254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0" name="Text 4"/>
          <p:cNvSpPr/>
          <p:nvPr/>
        </p:nvSpPr>
        <p:spPr>
          <a:xfrm>
            <a:off x="548640" y="1691640"/>
            <a:ext cx="365184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BC03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1" name="Text 5"/>
          <p:cNvSpPr/>
          <p:nvPr/>
        </p:nvSpPr>
        <p:spPr>
          <a:xfrm>
            <a:off x="548640" y="2606040"/>
            <a:ext cx="3651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Bloc de compétences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2" name="Text 6"/>
          <p:cNvSpPr/>
          <p:nvPr/>
        </p:nvSpPr>
        <p:spPr>
          <a:xfrm>
            <a:off x="548640" y="288036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RNCP 37873  ·  CDA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3" name="Shape 7"/>
          <p:cNvSpPr/>
          <p:nvPr/>
        </p:nvSpPr>
        <p:spPr>
          <a:xfrm>
            <a:off x="4389120" y="1691640"/>
            <a:ext cx="7218000" cy="154872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4" name="Text 8"/>
          <p:cNvSpPr/>
          <p:nvPr/>
        </p:nvSpPr>
        <p:spPr>
          <a:xfrm>
            <a:off x="4572000" y="1783080"/>
            <a:ext cx="6852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En quoi le bloc consiste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5" name="Text 9"/>
          <p:cNvSpPr/>
          <p:nvPr/>
        </p:nvSpPr>
        <p:spPr>
          <a:xfrm>
            <a:off x="4572000" y="2103120"/>
            <a:ext cx="6852240" cy="10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Construire une application répartie front + back avec une logique métier propre, des API et du temps réel.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6" name="Text 10"/>
          <p:cNvSpPr/>
          <p:nvPr/>
        </p:nvSpPr>
        <p:spPr>
          <a:xfrm>
            <a:off x="548640" y="3383280"/>
            <a:ext cx="109670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Compétences couvertes par Konekt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7" name="Shape 11"/>
          <p:cNvSpPr/>
          <p:nvPr/>
        </p:nvSpPr>
        <p:spPr>
          <a:xfrm>
            <a:off x="548640" y="3703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8" name="Shape 12"/>
          <p:cNvSpPr/>
          <p:nvPr/>
        </p:nvSpPr>
        <p:spPr>
          <a:xfrm>
            <a:off x="548640" y="3703320"/>
            <a:ext cx="85680" cy="10458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9" name="Text 13"/>
          <p:cNvSpPr/>
          <p:nvPr/>
        </p:nvSpPr>
        <p:spPr>
          <a:xfrm>
            <a:off x="777240" y="3840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Architecture multicouche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0" name="Text 14"/>
          <p:cNvSpPr/>
          <p:nvPr/>
        </p:nvSpPr>
        <p:spPr>
          <a:xfrm>
            <a:off x="777240" y="4160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Présentation → Métier → Persistance → Infrastructure, frontières claires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1" name="Shape 15"/>
          <p:cNvSpPr/>
          <p:nvPr/>
        </p:nvSpPr>
        <p:spPr>
          <a:xfrm>
            <a:off x="6217920" y="3703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2" name="Shape 16"/>
          <p:cNvSpPr/>
          <p:nvPr/>
        </p:nvSpPr>
        <p:spPr>
          <a:xfrm>
            <a:off x="6217920" y="3703320"/>
            <a:ext cx="85680" cy="10458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3" name="Text 17"/>
          <p:cNvSpPr/>
          <p:nvPr/>
        </p:nvSpPr>
        <p:spPr>
          <a:xfrm>
            <a:off x="6446520" y="3840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Développer la partie front-end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4" name="Text 18"/>
          <p:cNvSpPr/>
          <p:nvPr/>
        </p:nvSpPr>
        <p:spPr>
          <a:xfrm>
            <a:off x="6446520" y="4160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App Router, Server Components, hooks personnalisés (use-real-time-chat…)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5" name="Shape 19"/>
          <p:cNvSpPr/>
          <p:nvPr/>
        </p:nvSpPr>
        <p:spPr>
          <a:xfrm>
            <a:off x="548640" y="4846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6" name="Shape 20"/>
          <p:cNvSpPr/>
          <p:nvPr/>
        </p:nvSpPr>
        <p:spPr>
          <a:xfrm>
            <a:off x="548640" y="4846320"/>
            <a:ext cx="85680" cy="10458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7" name="Text 21"/>
          <p:cNvSpPr/>
          <p:nvPr/>
        </p:nvSpPr>
        <p:spPr>
          <a:xfrm>
            <a:off x="777240" y="4983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Développer la partie back-end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8" name="Text 22"/>
          <p:cNvSpPr/>
          <p:nvPr/>
        </p:nvSpPr>
        <p:spPr>
          <a:xfrm>
            <a:off x="777240" y="5303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Route Handlers REST + SSE, Server Actions, validation Zod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9" name="Shape 23"/>
          <p:cNvSpPr/>
          <p:nvPr/>
        </p:nvSpPr>
        <p:spPr>
          <a:xfrm>
            <a:off x="6217920" y="4846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0" name="Shape 24"/>
          <p:cNvSpPr/>
          <p:nvPr/>
        </p:nvSpPr>
        <p:spPr>
          <a:xfrm>
            <a:off x="6217920" y="4846320"/>
            <a:ext cx="85680" cy="10458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1" name="Text 25"/>
          <p:cNvSpPr/>
          <p:nvPr/>
        </p:nvSpPr>
        <p:spPr>
          <a:xfrm>
            <a:off x="6446520" y="4983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Temps réel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2" name="Text 26"/>
          <p:cNvSpPr/>
          <p:nvPr/>
        </p:nvSpPr>
        <p:spPr>
          <a:xfrm>
            <a:off x="6446520" y="5303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Server-Sent Events + Upstash Redis (compatible serverless Vercel)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3" name="Text 27"/>
          <p:cNvSpPr/>
          <p:nvPr/>
        </p:nvSpPr>
        <p:spPr>
          <a:xfrm>
            <a:off x="692640" y="598932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Preuves du dossier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4" name="Shape 28"/>
          <p:cNvSpPr/>
          <p:nvPr/>
        </p:nvSpPr>
        <p:spPr>
          <a:xfrm>
            <a:off x="2599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5" name="Text 29"/>
          <p:cNvSpPr/>
          <p:nvPr/>
        </p:nvSpPr>
        <p:spPr>
          <a:xfrm>
            <a:off x="2599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60+ endpoints API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6" name="Shape 30"/>
          <p:cNvSpPr/>
          <p:nvPr/>
        </p:nvSpPr>
        <p:spPr>
          <a:xfrm>
            <a:off x="4885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7" name="Text 31"/>
          <p:cNvSpPr/>
          <p:nvPr/>
        </p:nvSpPr>
        <p:spPr>
          <a:xfrm>
            <a:off x="4885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Architecture 4 couches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8" name="Shape 32"/>
          <p:cNvSpPr/>
          <p:nvPr/>
        </p:nvSpPr>
        <p:spPr>
          <a:xfrm>
            <a:off x="7171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9" name="Text 33"/>
          <p:cNvSpPr/>
          <p:nvPr/>
        </p:nvSpPr>
        <p:spPr>
          <a:xfrm>
            <a:off x="7171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Push SSE temps réel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0" name="Shape 34"/>
          <p:cNvSpPr/>
          <p:nvPr/>
        </p:nvSpPr>
        <p:spPr>
          <a:xfrm>
            <a:off x="9457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1" name="Text 35"/>
          <p:cNvSpPr/>
          <p:nvPr/>
        </p:nvSpPr>
        <p:spPr>
          <a:xfrm>
            <a:off x="9457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Server Actions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02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3" name="Text 36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4" name="Text 37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56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 · BC03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6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Préparer le déploiement d'une application sécurisée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7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8" name="Shape 3"/>
          <p:cNvSpPr/>
          <p:nvPr/>
        </p:nvSpPr>
        <p:spPr>
          <a:xfrm>
            <a:off x="548640" y="1691640"/>
            <a:ext cx="3651840" cy="1548720"/>
          </a:xfrm>
          <a:prstGeom prst="roundRect">
            <a:avLst>
              <a:gd name="adj" fmla="val 7059"/>
            </a:avLst>
          </a:prstGeom>
          <a:solidFill>
            <a:srgbClr val="10B981">
              <a:alpha val="35000"/>
            </a:srgbClr>
          </a:solidFill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9" name="Text 4"/>
          <p:cNvSpPr/>
          <p:nvPr/>
        </p:nvSpPr>
        <p:spPr>
          <a:xfrm>
            <a:off x="548640" y="1691640"/>
            <a:ext cx="365184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BC03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0" name="Text 5"/>
          <p:cNvSpPr/>
          <p:nvPr/>
        </p:nvSpPr>
        <p:spPr>
          <a:xfrm>
            <a:off x="548640" y="2606040"/>
            <a:ext cx="3651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Bloc de compétences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1" name="Text 6"/>
          <p:cNvSpPr/>
          <p:nvPr/>
        </p:nvSpPr>
        <p:spPr>
          <a:xfrm>
            <a:off x="548640" y="288036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RNCP 37873  ·  CDA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2" name="Shape 7"/>
          <p:cNvSpPr/>
          <p:nvPr/>
        </p:nvSpPr>
        <p:spPr>
          <a:xfrm>
            <a:off x="4389120" y="1691640"/>
            <a:ext cx="7218000" cy="154872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3" name="Text 8"/>
          <p:cNvSpPr/>
          <p:nvPr/>
        </p:nvSpPr>
        <p:spPr>
          <a:xfrm>
            <a:off x="4572000" y="1783080"/>
            <a:ext cx="68522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En quoi le bloc consiste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4" name="Text 9"/>
          <p:cNvSpPr/>
          <p:nvPr/>
        </p:nvSpPr>
        <p:spPr>
          <a:xfrm>
            <a:off x="4572000" y="2103120"/>
            <a:ext cx="6852240" cy="10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Conteneuriser et déployer une application en environnement de production sécurisé, avec monitoring et capacité de rollback.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5" name="Text 10"/>
          <p:cNvSpPr/>
          <p:nvPr/>
        </p:nvSpPr>
        <p:spPr>
          <a:xfrm>
            <a:off x="548640" y="3383280"/>
            <a:ext cx="109670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Compétences couvertes par Konekt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6" name="Shape 11"/>
          <p:cNvSpPr/>
          <p:nvPr/>
        </p:nvSpPr>
        <p:spPr>
          <a:xfrm>
            <a:off x="548640" y="3703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7" name="Shape 12"/>
          <p:cNvSpPr/>
          <p:nvPr/>
        </p:nvSpPr>
        <p:spPr>
          <a:xfrm>
            <a:off x="548640" y="3703320"/>
            <a:ext cx="85680" cy="10458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8" name="Text 13"/>
          <p:cNvSpPr/>
          <p:nvPr/>
        </p:nvSpPr>
        <p:spPr>
          <a:xfrm>
            <a:off x="777240" y="3840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Préparer et documenter le déploiement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9" name="Text 14"/>
          <p:cNvSpPr/>
          <p:nvPr/>
        </p:nvSpPr>
        <p:spPr>
          <a:xfrm>
            <a:off x="777240" y="4160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Dockerfile multi-stage, docker-compose, variables d'env documentées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0" name="Shape 15"/>
          <p:cNvSpPr/>
          <p:nvPr/>
        </p:nvSpPr>
        <p:spPr>
          <a:xfrm>
            <a:off x="6217920" y="3703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1" name="Shape 16"/>
          <p:cNvSpPr/>
          <p:nvPr/>
        </p:nvSpPr>
        <p:spPr>
          <a:xfrm>
            <a:off x="6217920" y="3703320"/>
            <a:ext cx="85680" cy="10458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2" name="Text 17"/>
          <p:cNvSpPr/>
          <p:nvPr/>
        </p:nvSpPr>
        <p:spPr>
          <a:xfrm>
            <a:off x="6446520" y="3840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Contribuer à la mise en production DevOps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3" name="Text 18"/>
          <p:cNvSpPr/>
          <p:nvPr/>
        </p:nvSpPr>
        <p:spPr>
          <a:xfrm>
            <a:off x="6446520" y="4160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Vercel : déploiement continu par intégration Git native, secrets via env vars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4" name="Shape 19"/>
          <p:cNvSpPr/>
          <p:nvPr/>
        </p:nvSpPr>
        <p:spPr>
          <a:xfrm>
            <a:off x="548640" y="4846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5" name="Shape 20"/>
          <p:cNvSpPr/>
          <p:nvPr/>
        </p:nvSpPr>
        <p:spPr>
          <a:xfrm>
            <a:off x="548640" y="4846320"/>
            <a:ext cx="85680" cy="10458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6" name="Text 21"/>
          <p:cNvSpPr/>
          <p:nvPr/>
        </p:nvSpPr>
        <p:spPr>
          <a:xfrm>
            <a:off x="777240" y="4983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Industrialiser la livraison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7" name="Text 22"/>
          <p:cNvSpPr/>
          <p:nvPr/>
        </p:nvSpPr>
        <p:spPr>
          <a:xfrm>
            <a:off x="777240" y="5303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Vercel (preview par PR + prod), Neon branching pour BDD isolée par PR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8" name="Shape 23"/>
          <p:cNvSpPr/>
          <p:nvPr/>
        </p:nvSpPr>
        <p:spPr>
          <a:xfrm>
            <a:off x="6217920" y="4846320"/>
            <a:ext cx="5526360" cy="104580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9" name="Shape 24"/>
          <p:cNvSpPr/>
          <p:nvPr/>
        </p:nvSpPr>
        <p:spPr>
          <a:xfrm>
            <a:off x="6217920" y="4846320"/>
            <a:ext cx="85680" cy="10458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0" name="Text 25"/>
          <p:cNvSpPr/>
          <p:nvPr/>
        </p:nvSpPr>
        <p:spPr>
          <a:xfrm>
            <a:off x="6446520" y="4983480"/>
            <a:ext cx="51606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Garantir l'exploitabilité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1" name="Text 26"/>
          <p:cNvSpPr/>
          <p:nvPr/>
        </p:nvSpPr>
        <p:spPr>
          <a:xfrm>
            <a:off x="6446520" y="5303520"/>
            <a:ext cx="516060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Healthcheck, rollback Vercel one-click, logs structurés, monitoring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2" name="Text 27"/>
          <p:cNvSpPr/>
          <p:nvPr/>
        </p:nvSpPr>
        <p:spPr>
          <a:xfrm>
            <a:off x="692640" y="5989320"/>
            <a:ext cx="36518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Preuves du dossier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3" name="Shape 28"/>
          <p:cNvSpPr/>
          <p:nvPr/>
        </p:nvSpPr>
        <p:spPr>
          <a:xfrm>
            <a:off x="2599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4" name="Text 29"/>
          <p:cNvSpPr/>
          <p:nvPr/>
        </p:nvSpPr>
        <p:spPr>
          <a:xfrm>
            <a:off x="2599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Docker multi-stage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5" name="Shape 30"/>
          <p:cNvSpPr/>
          <p:nvPr/>
        </p:nvSpPr>
        <p:spPr>
          <a:xfrm>
            <a:off x="4885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6" name="Text 31"/>
          <p:cNvSpPr/>
          <p:nvPr/>
        </p:nvSpPr>
        <p:spPr>
          <a:xfrm>
            <a:off x="4885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Vercel + Docker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7" name="Shape 32"/>
          <p:cNvSpPr/>
          <p:nvPr/>
        </p:nvSpPr>
        <p:spPr>
          <a:xfrm>
            <a:off x="7171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8" name="Text 33"/>
          <p:cNvSpPr/>
          <p:nvPr/>
        </p:nvSpPr>
        <p:spPr>
          <a:xfrm>
            <a:off x="7171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Vercel + Neon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9" name="Shape 34"/>
          <p:cNvSpPr/>
          <p:nvPr/>
        </p:nvSpPr>
        <p:spPr>
          <a:xfrm>
            <a:off x="9457200" y="5989320"/>
            <a:ext cx="2188800" cy="26856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0" name="Text 35"/>
          <p:cNvSpPr/>
          <p:nvPr/>
        </p:nvSpPr>
        <p:spPr>
          <a:xfrm>
            <a:off x="9457200" y="5989320"/>
            <a:ext cx="2188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Rollback + monitoring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41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2" name="Text 36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3" name="Text 37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57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5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Difficultés rencontrées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6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7" name="Shape 3"/>
          <p:cNvSpPr/>
          <p:nvPr/>
        </p:nvSpPr>
        <p:spPr>
          <a:xfrm>
            <a:off x="548640" y="1691640"/>
            <a:ext cx="5526360" cy="218880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8" name="Shape 4"/>
          <p:cNvSpPr/>
          <p:nvPr/>
        </p:nvSpPr>
        <p:spPr>
          <a:xfrm>
            <a:off x="777240" y="1920240"/>
            <a:ext cx="862920" cy="86292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9" name="Text 5"/>
          <p:cNvSpPr/>
          <p:nvPr/>
        </p:nvSpPr>
        <p:spPr>
          <a:xfrm>
            <a:off x="777240" y="1920240"/>
            <a:ext cx="86292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↻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0" name="Text 6"/>
          <p:cNvSpPr/>
          <p:nvPr/>
        </p:nvSpPr>
        <p:spPr>
          <a:xfrm>
            <a:off x="1783080" y="2073960"/>
            <a:ext cx="42004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Temps réel sans WebSocket persistant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1" name="Text 7"/>
          <p:cNvSpPr/>
          <p:nvPr/>
        </p:nvSpPr>
        <p:spPr>
          <a:xfrm>
            <a:off x="777240" y="2880360"/>
            <a:ext cx="516060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Vercel serverless + Upstash Redis REST = pas de pub/sub TCP. J'ai construit un mécanisme SSE + polling Redis qui reste compatible serverless tout en garantissant l'ordre d'arrivée et la persistance Prisma avant push.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2" name="Shape 8"/>
          <p:cNvSpPr/>
          <p:nvPr/>
        </p:nvSpPr>
        <p:spPr>
          <a:xfrm>
            <a:off x="6217920" y="1691640"/>
            <a:ext cx="5526360" cy="218880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53" name="Shape 9"/>
          <p:cNvSpPr/>
          <p:nvPr/>
        </p:nvSpPr>
        <p:spPr>
          <a:xfrm>
            <a:off x="6446520" y="1920240"/>
            <a:ext cx="862920" cy="86292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54" name="Text 10"/>
          <p:cNvSpPr/>
          <p:nvPr/>
        </p:nvSpPr>
        <p:spPr>
          <a:xfrm>
            <a:off x="6446520" y="1776240"/>
            <a:ext cx="862920" cy="11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⊕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5" name="Text 11"/>
          <p:cNvSpPr/>
          <p:nvPr/>
        </p:nvSpPr>
        <p:spPr>
          <a:xfrm>
            <a:off x="7452360" y="2073960"/>
            <a:ext cx="42004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Modélisation Prisma de bout en bout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6" name="Text 12"/>
          <p:cNvSpPr/>
          <p:nvPr/>
        </p:nvSpPr>
        <p:spPr>
          <a:xfrm>
            <a:off x="6446520" y="2880360"/>
            <a:ext cx="516060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18 modèles avec des contraintes d'unicité, des cascades à choisir avec soin et des enums métier. J'ai itéré sur le MCD plusieurs fois avant d'arriver à un schéma équilibré.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7" name="Shape 13"/>
          <p:cNvSpPr/>
          <p:nvPr/>
        </p:nvSpPr>
        <p:spPr>
          <a:xfrm>
            <a:off x="548640" y="4023360"/>
            <a:ext cx="5526360" cy="218880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58" name="Shape 14"/>
          <p:cNvSpPr/>
          <p:nvPr/>
        </p:nvSpPr>
        <p:spPr>
          <a:xfrm>
            <a:off x="777240" y="4251960"/>
            <a:ext cx="862920" cy="86292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59" name="Text 15"/>
          <p:cNvSpPr/>
          <p:nvPr/>
        </p:nvSpPr>
        <p:spPr>
          <a:xfrm>
            <a:off x="777240" y="4215960"/>
            <a:ext cx="86292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◉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0" name="Text 16"/>
          <p:cNvSpPr/>
          <p:nvPr/>
        </p:nvSpPr>
        <p:spPr>
          <a:xfrm>
            <a:off x="1783080" y="4441680"/>
            <a:ext cx="42004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Auth custom sans NextAuth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1" name="Text 17"/>
          <p:cNvSpPr/>
          <p:nvPr/>
        </p:nvSpPr>
        <p:spPr>
          <a:xfrm>
            <a:off x="777240" y="5212080"/>
            <a:ext cx="516060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Choix assumé pour comprendre le fonctionnement du JWT. Il a fallu gérer le middleware, le state OAuth, l'injection de headers et l'éventuelle révocation — toujours en roadmap.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2" name="Shape 18"/>
          <p:cNvSpPr/>
          <p:nvPr/>
        </p:nvSpPr>
        <p:spPr>
          <a:xfrm>
            <a:off x="6217920" y="4023360"/>
            <a:ext cx="5526360" cy="218880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63" name="Shape 19"/>
          <p:cNvSpPr/>
          <p:nvPr/>
        </p:nvSpPr>
        <p:spPr>
          <a:xfrm>
            <a:off x="6446520" y="4251960"/>
            <a:ext cx="862920" cy="86292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64" name="Text 20"/>
          <p:cNvSpPr/>
          <p:nvPr/>
        </p:nvSpPr>
        <p:spPr>
          <a:xfrm>
            <a:off x="6446520" y="4143960"/>
            <a:ext cx="862920" cy="100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▤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5" name="Text 21"/>
          <p:cNvSpPr/>
          <p:nvPr/>
        </p:nvSpPr>
        <p:spPr>
          <a:xfrm>
            <a:off x="7452360" y="4441680"/>
            <a:ext cx="42004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Documentation jury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6" name="Text 22"/>
          <p:cNvSpPr/>
          <p:nvPr/>
        </p:nvSpPr>
        <p:spPr>
          <a:xfrm>
            <a:off x="6446520" y="5212080"/>
            <a:ext cx="516060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Structurer le dossier de certification pour qu'il reste lisible par un jury non technique tout en étant suffisamment précis pour la partie technique. Beaucoup d'allers-retours sur la table des matières.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67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8" name="Text 23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9" name="Text 24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58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1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Ce que j'ai appris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2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3" name="Shape 3"/>
          <p:cNvSpPr/>
          <p:nvPr/>
        </p:nvSpPr>
        <p:spPr>
          <a:xfrm>
            <a:off x="476640" y="1691640"/>
            <a:ext cx="5526360" cy="456624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4" name="Text 4"/>
          <p:cNvSpPr/>
          <p:nvPr/>
        </p:nvSpPr>
        <p:spPr>
          <a:xfrm>
            <a:off x="659520" y="1783080"/>
            <a:ext cx="5023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Compétences techniques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5" name="Shape 5"/>
          <p:cNvSpPr/>
          <p:nvPr/>
        </p:nvSpPr>
        <p:spPr>
          <a:xfrm>
            <a:off x="705240" y="235008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6" name="Text 6"/>
          <p:cNvSpPr/>
          <p:nvPr/>
        </p:nvSpPr>
        <p:spPr>
          <a:xfrm>
            <a:off x="933840" y="22402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TypeScript strict, génériques, schémas Zod partagés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7" name="Shape 7"/>
          <p:cNvSpPr/>
          <p:nvPr/>
        </p:nvSpPr>
        <p:spPr>
          <a:xfrm>
            <a:off x="705240" y="280728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8" name="Text 8"/>
          <p:cNvSpPr/>
          <p:nvPr/>
        </p:nvSpPr>
        <p:spPr>
          <a:xfrm>
            <a:off x="933840" y="26974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Next.js 15 — App Router, Server Components, Actions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9" name="Shape 9"/>
          <p:cNvSpPr/>
          <p:nvPr/>
        </p:nvSpPr>
        <p:spPr>
          <a:xfrm>
            <a:off x="705240" y="326448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0" name="Text 10"/>
          <p:cNvSpPr/>
          <p:nvPr/>
        </p:nvSpPr>
        <p:spPr>
          <a:xfrm>
            <a:off x="933840" y="31546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Prisma — modélisation, migrations, requêtes complexes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1" name="Shape 11"/>
          <p:cNvSpPr/>
          <p:nvPr/>
        </p:nvSpPr>
        <p:spPr>
          <a:xfrm>
            <a:off x="705240" y="372168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2" name="Text 12"/>
          <p:cNvSpPr/>
          <p:nvPr/>
        </p:nvSpPr>
        <p:spPr>
          <a:xfrm>
            <a:off x="933840" y="36118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PostgreSQL — relations riches, contraintes, indexation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3" name="Shape 13"/>
          <p:cNvSpPr/>
          <p:nvPr/>
        </p:nvSpPr>
        <p:spPr>
          <a:xfrm>
            <a:off x="705240" y="417888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4" name="Text 14"/>
          <p:cNvSpPr/>
          <p:nvPr/>
        </p:nvSpPr>
        <p:spPr>
          <a:xfrm>
            <a:off x="933840" y="40690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Redis — cache + buffer SSE serverless-compatible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5" name="Shape 15"/>
          <p:cNvSpPr/>
          <p:nvPr/>
        </p:nvSpPr>
        <p:spPr>
          <a:xfrm>
            <a:off x="705240" y="463608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6" name="Text 16"/>
          <p:cNvSpPr/>
          <p:nvPr/>
        </p:nvSpPr>
        <p:spPr>
          <a:xfrm>
            <a:off x="933840" y="45262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Sécurité applicative — OWASP, RGPD, JWT, bcrypt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7" name="Shape 17"/>
          <p:cNvSpPr/>
          <p:nvPr/>
        </p:nvSpPr>
        <p:spPr>
          <a:xfrm>
            <a:off x="705240" y="509328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8" name="Text 18"/>
          <p:cNvSpPr/>
          <p:nvPr/>
        </p:nvSpPr>
        <p:spPr>
          <a:xfrm>
            <a:off x="933840" y="49834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 — multi-stage, compose, healthcheck, secrets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9" name="Shape 19"/>
          <p:cNvSpPr/>
          <p:nvPr/>
        </p:nvSpPr>
        <p:spPr>
          <a:xfrm>
            <a:off x="705240" y="555048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0" name="Text 20"/>
          <p:cNvSpPr/>
          <p:nvPr/>
        </p:nvSpPr>
        <p:spPr>
          <a:xfrm>
            <a:off x="933840" y="54406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Déploiement Vercel — intégration Git, preview PR, rollback one-click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1" name="Shape 21"/>
          <p:cNvSpPr/>
          <p:nvPr/>
        </p:nvSpPr>
        <p:spPr>
          <a:xfrm>
            <a:off x="6191640" y="1691640"/>
            <a:ext cx="5526360" cy="456624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2" name="Text 22"/>
          <p:cNvSpPr/>
          <p:nvPr/>
        </p:nvSpPr>
        <p:spPr>
          <a:xfrm>
            <a:off x="6374520" y="1783080"/>
            <a:ext cx="5023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Compétences transverses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3" name="Shape 23"/>
          <p:cNvSpPr/>
          <p:nvPr/>
        </p:nvSpPr>
        <p:spPr>
          <a:xfrm>
            <a:off x="6420240" y="235008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4" name="Text 24"/>
          <p:cNvSpPr/>
          <p:nvPr/>
        </p:nvSpPr>
        <p:spPr>
          <a:xfrm>
            <a:off x="6648840" y="22402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Découpe d'un gros projet en phases + user stories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5" name="Shape 25"/>
          <p:cNvSpPr/>
          <p:nvPr/>
        </p:nvSpPr>
        <p:spPr>
          <a:xfrm>
            <a:off x="6420240" y="280728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6" name="Text 26"/>
          <p:cNvSpPr/>
          <p:nvPr/>
        </p:nvSpPr>
        <p:spPr>
          <a:xfrm>
            <a:off x="6648840" y="26974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Documentation technique adressée à des développeurs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7" name="Shape 27"/>
          <p:cNvSpPr/>
          <p:nvPr/>
        </p:nvSpPr>
        <p:spPr>
          <a:xfrm>
            <a:off x="6420240" y="326448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8" name="Text 28"/>
          <p:cNvSpPr/>
          <p:nvPr/>
        </p:nvSpPr>
        <p:spPr>
          <a:xfrm>
            <a:off x="6648840" y="31546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Lecture critique du code des coéquipiers (code review)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9" name="Shape 29"/>
          <p:cNvSpPr/>
          <p:nvPr/>
        </p:nvSpPr>
        <p:spPr>
          <a:xfrm>
            <a:off x="6420240" y="372168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0" name="Text 30"/>
          <p:cNvSpPr/>
          <p:nvPr/>
        </p:nvSpPr>
        <p:spPr>
          <a:xfrm>
            <a:off x="6648840" y="36118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Veille technique organisée et soutenable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1" name="Shape 31"/>
          <p:cNvSpPr/>
          <p:nvPr/>
        </p:nvSpPr>
        <p:spPr>
          <a:xfrm>
            <a:off x="6420240" y="417888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2" name="Text 32"/>
          <p:cNvSpPr/>
          <p:nvPr/>
        </p:nvSpPr>
        <p:spPr>
          <a:xfrm>
            <a:off x="6648840" y="40690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Estimation et priorisation pragmatique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3" name="Shape 33"/>
          <p:cNvSpPr/>
          <p:nvPr/>
        </p:nvSpPr>
        <p:spPr>
          <a:xfrm>
            <a:off x="6420240" y="463608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4" name="Text 34"/>
          <p:cNvSpPr/>
          <p:nvPr/>
        </p:nvSpPr>
        <p:spPr>
          <a:xfrm>
            <a:off x="6648840" y="45262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Justification de choix d'architecture face à un jury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5" name="Shape 35"/>
          <p:cNvSpPr/>
          <p:nvPr/>
        </p:nvSpPr>
        <p:spPr>
          <a:xfrm>
            <a:off x="6420240" y="509328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6" name="Text 36"/>
          <p:cNvSpPr/>
          <p:nvPr/>
        </p:nvSpPr>
        <p:spPr>
          <a:xfrm>
            <a:off x="6648840" y="49834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Communication métier ↔ technique (atout de reconversion)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7" name="Shape 37"/>
          <p:cNvSpPr/>
          <p:nvPr/>
        </p:nvSpPr>
        <p:spPr>
          <a:xfrm>
            <a:off x="6420240" y="5550480"/>
            <a:ext cx="140400" cy="140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8" name="Text 38"/>
          <p:cNvSpPr/>
          <p:nvPr/>
        </p:nvSpPr>
        <p:spPr>
          <a:xfrm>
            <a:off x="6648840" y="5440680"/>
            <a:ext cx="4840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Endurance sur un projet long de plusieurs mois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09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0" name="Text 39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1" name="Text 40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59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2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3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Axes d'amélioration &amp; roadmap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4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5" name="Shape 3"/>
          <p:cNvSpPr/>
          <p:nvPr/>
        </p:nvSpPr>
        <p:spPr>
          <a:xfrm>
            <a:off x="480240" y="1691640"/>
            <a:ext cx="3697560" cy="456624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6" name="Shape 4"/>
          <p:cNvSpPr/>
          <p:nvPr/>
        </p:nvSpPr>
        <p:spPr>
          <a:xfrm>
            <a:off x="480240" y="1691640"/>
            <a:ext cx="3697560" cy="451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7" name="Text 5"/>
          <p:cNvSpPr/>
          <p:nvPr/>
        </p:nvSpPr>
        <p:spPr>
          <a:xfrm>
            <a:off x="480240" y="1691640"/>
            <a:ext cx="36975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COURT TERME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8" name="Shape 6"/>
          <p:cNvSpPr/>
          <p:nvPr/>
        </p:nvSpPr>
        <p:spPr>
          <a:xfrm>
            <a:off x="708840" y="246888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9" name="Text 7"/>
          <p:cNvSpPr/>
          <p:nvPr/>
        </p:nvSpPr>
        <p:spPr>
          <a:xfrm>
            <a:off x="983160" y="2377440"/>
            <a:ext cx="301176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Sanitization markdown (DOMPurify) — XSS résiduelle ChatMessage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0" name="Shape 8"/>
          <p:cNvSpPr/>
          <p:nvPr/>
        </p:nvSpPr>
        <p:spPr>
          <a:xfrm>
            <a:off x="708840" y="342900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1" name="Text 9"/>
          <p:cNvSpPr/>
          <p:nvPr/>
        </p:nvSpPr>
        <p:spPr>
          <a:xfrm>
            <a:off x="983160" y="3337560"/>
            <a:ext cx="301176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Rate limit /chat/send et endpoints création (déjà actif sur /login et /register)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2" name="Shape 10"/>
          <p:cNvSpPr/>
          <p:nvPr/>
        </p:nvSpPr>
        <p:spPr>
          <a:xfrm>
            <a:off x="708840" y="438912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3" name="Text 11"/>
          <p:cNvSpPr/>
          <p:nvPr/>
        </p:nvSpPr>
        <p:spPr>
          <a:xfrm>
            <a:off x="983160" y="4297680"/>
            <a:ext cx="301176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Headers HTTP de sécurité (CSP, X-Frame, Referrer)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4" name="Shape 12"/>
          <p:cNvSpPr/>
          <p:nvPr/>
        </p:nvSpPr>
        <p:spPr>
          <a:xfrm>
            <a:off x="708840" y="5349240"/>
            <a:ext cx="140400" cy="14040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5" name="Text 13"/>
          <p:cNvSpPr/>
          <p:nvPr/>
        </p:nvSpPr>
        <p:spPr>
          <a:xfrm>
            <a:off x="983160" y="5257800"/>
            <a:ext cx="301176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Sentry + alertes prod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6" name="Shape 14"/>
          <p:cNvSpPr/>
          <p:nvPr/>
        </p:nvSpPr>
        <p:spPr>
          <a:xfrm>
            <a:off x="4229280" y="1691640"/>
            <a:ext cx="3697560" cy="456624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7" name="Shape 15"/>
          <p:cNvSpPr/>
          <p:nvPr/>
        </p:nvSpPr>
        <p:spPr>
          <a:xfrm>
            <a:off x="4229280" y="1691640"/>
            <a:ext cx="3697560" cy="45144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8" name="Text 16"/>
          <p:cNvSpPr/>
          <p:nvPr/>
        </p:nvSpPr>
        <p:spPr>
          <a:xfrm>
            <a:off x="4229280" y="1691640"/>
            <a:ext cx="36975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MOYEN TERME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9" name="Shape 17"/>
          <p:cNvSpPr/>
          <p:nvPr/>
        </p:nvSpPr>
        <p:spPr>
          <a:xfrm>
            <a:off x="4457880" y="2468880"/>
            <a:ext cx="140400" cy="140400"/>
          </a:xfrm>
          <a:prstGeom prst="ellipse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0" name="Text 18"/>
          <p:cNvSpPr/>
          <p:nvPr/>
        </p:nvSpPr>
        <p:spPr>
          <a:xfrm>
            <a:off x="4732200" y="2377440"/>
            <a:ext cx="301176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Tests E2E Playwright sur les parcours critiques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1" name="Shape 19"/>
          <p:cNvSpPr/>
          <p:nvPr/>
        </p:nvSpPr>
        <p:spPr>
          <a:xfrm>
            <a:off x="4457880" y="3429000"/>
            <a:ext cx="140400" cy="140400"/>
          </a:xfrm>
          <a:prstGeom prst="ellipse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2" name="Text 20"/>
          <p:cNvSpPr/>
          <p:nvPr/>
        </p:nvSpPr>
        <p:spPr>
          <a:xfrm>
            <a:off x="4732200" y="3337560"/>
            <a:ext cx="301176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Droit RGPD : suppression compte + export JSON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3" name="Shape 21"/>
          <p:cNvSpPr/>
          <p:nvPr/>
        </p:nvSpPr>
        <p:spPr>
          <a:xfrm>
            <a:off x="4457880" y="4389120"/>
            <a:ext cx="140400" cy="140400"/>
          </a:xfrm>
          <a:prstGeom prst="ellipse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4" name="Text 22"/>
          <p:cNvSpPr/>
          <p:nvPr/>
        </p:nvSpPr>
        <p:spPr>
          <a:xfrm>
            <a:off x="4732200" y="4297680"/>
            <a:ext cx="301176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Notifications push natives (Web Push)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5" name="Shape 23"/>
          <p:cNvSpPr/>
          <p:nvPr/>
        </p:nvSpPr>
        <p:spPr>
          <a:xfrm>
            <a:off x="4457880" y="5349240"/>
            <a:ext cx="140400" cy="140400"/>
          </a:xfrm>
          <a:prstGeom prst="ellipse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6" name="Text 24"/>
          <p:cNvSpPr/>
          <p:nvPr/>
        </p:nvSpPr>
        <p:spPr>
          <a:xfrm>
            <a:off x="4732200" y="5257800"/>
            <a:ext cx="301176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Modération &amp; signalement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7" name="Shape 25"/>
          <p:cNvSpPr/>
          <p:nvPr/>
        </p:nvSpPr>
        <p:spPr>
          <a:xfrm>
            <a:off x="7978320" y="1691640"/>
            <a:ext cx="3697560" cy="456624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8" name="Shape 26"/>
          <p:cNvSpPr/>
          <p:nvPr/>
        </p:nvSpPr>
        <p:spPr>
          <a:xfrm>
            <a:off x="7978320" y="1691640"/>
            <a:ext cx="3697560" cy="45144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9" name="Text 27"/>
          <p:cNvSpPr/>
          <p:nvPr/>
        </p:nvSpPr>
        <p:spPr>
          <a:xfrm>
            <a:off x="7978320" y="1691640"/>
            <a:ext cx="36975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LONG TERME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0" name="Shape 28"/>
          <p:cNvSpPr/>
          <p:nvPr/>
        </p:nvSpPr>
        <p:spPr>
          <a:xfrm>
            <a:off x="8206920" y="2468880"/>
            <a:ext cx="140400" cy="1404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1" name="Text 29"/>
          <p:cNvSpPr/>
          <p:nvPr/>
        </p:nvSpPr>
        <p:spPr>
          <a:xfrm>
            <a:off x="8481240" y="2377440"/>
            <a:ext cx="301176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Décomposer en services (chat → ws dédié)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2" name="Shape 30"/>
          <p:cNvSpPr/>
          <p:nvPr/>
        </p:nvSpPr>
        <p:spPr>
          <a:xfrm>
            <a:off x="8206920" y="3429000"/>
            <a:ext cx="140400" cy="1404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3" name="Text 31"/>
          <p:cNvSpPr/>
          <p:nvPr/>
        </p:nvSpPr>
        <p:spPr>
          <a:xfrm>
            <a:off x="8481240" y="3337560"/>
            <a:ext cx="301176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Recommandations contenu personnalisées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4" name="Shape 32"/>
          <p:cNvSpPr/>
          <p:nvPr/>
        </p:nvSpPr>
        <p:spPr>
          <a:xfrm>
            <a:off x="8206920" y="4389120"/>
            <a:ext cx="140400" cy="1404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5" name="Text 33"/>
          <p:cNvSpPr/>
          <p:nvPr/>
        </p:nvSpPr>
        <p:spPr>
          <a:xfrm>
            <a:off x="8481240" y="4297680"/>
            <a:ext cx="301176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mobile dédiée (React Native ?)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6" name="Shape 34"/>
          <p:cNvSpPr/>
          <p:nvPr/>
        </p:nvSpPr>
        <p:spPr>
          <a:xfrm>
            <a:off x="8206920" y="5349240"/>
            <a:ext cx="140400" cy="1404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7" name="Text 35"/>
          <p:cNvSpPr/>
          <p:nvPr/>
        </p:nvSpPr>
        <p:spPr>
          <a:xfrm>
            <a:off x="8481240" y="5257800"/>
            <a:ext cx="301176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Métriques produit + analytics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48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9" name="Text 36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0" name="Text 37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60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1" name="Text 0"/>
          <p:cNvSpPr/>
          <p:nvPr/>
        </p:nvSpPr>
        <p:spPr>
          <a:xfrm>
            <a:off x="548640" y="411480"/>
            <a:ext cx="7309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2" name="Text 1"/>
          <p:cNvSpPr/>
          <p:nvPr/>
        </p:nvSpPr>
        <p:spPr>
          <a:xfrm>
            <a:off x="548640" y="685800"/>
            <a:ext cx="109670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Conclusion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3" name="Shape 2"/>
          <p:cNvSpPr/>
          <p:nvPr/>
        </p:nvSpPr>
        <p:spPr>
          <a:xfrm>
            <a:off x="365760" y="457200"/>
            <a:ext cx="67320" cy="771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840" tIns="45000" rIns="33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4" name="Shape 3"/>
          <p:cNvSpPr/>
          <p:nvPr/>
        </p:nvSpPr>
        <p:spPr>
          <a:xfrm>
            <a:off x="548640" y="1828800"/>
            <a:ext cx="85680" cy="164016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840" tIns="45000" rIns="428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5" name="Text 4"/>
          <p:cNvSpPr/>
          <p:nvPr/>
        </p:nvSpPr>
        <p:spPr>
          <a:xfrm>
            <a:off x="822960" y="1783080"/>
            <a:ext cx="1078416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Konekt m'a permis de mettre en pratique l'ensemble du cycle de développement d'une application moderne — de la modélisation à la mise en production — tout en faisant des choix techniques justifiés et documentés.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6" name="Text 5"/>
          <p:cNvSpPr/>
          <p:nvPr/>
        </p:nvSpPr>
        <p:spPr>
          <a:xfrm>
            <a:off x="822960" y="2697480"/>
            <a:ext cx="1078416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Au-delà de la certification, ce projet matérialise ma transition concrète vers le métier de Concepteur Développeur d'Applications.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7" name="Shape 6"/>
          <p:cNvSpPr/>
          <p:nvPr/>
        </p:nvSpPr>
        <p:spPr>
          <a:xfrm>
            <a:off x="548640" y="3657600"/>
            <a:ext cx="2691720" cy="182304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8" name="Shape 7"/>
          <p:cNvSpPr/>
          <p:nvPr/>
        </p:nvSpPr>
        <p:spPr>
          <a:xfrm>
            <a:off x="1600200" y="3886200"/>
            <a:ext cx="588600" cy="58860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9" name="Text 8"/>
          <p:cNvSpPr/>
          <p:nvPr/>
        </p:nvSpPr>
        <p:spPr>
          <a:xfrm>
            <a:off x="1600200" y="3886200"/>
            <a:ext cx="58860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0" name="Text 9"/>
          <p:cNvSpPr/>
          <p:nvPr/>
        </p:nvSpPr>
        <p:spPr>
          <a:xfrm>
            <a:off x="640080" y="4572000"/>
            <a:ext cx="2508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Cycle complet maîtrisé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1" name="Text 10"/>
          <p:cNvSpPr/>
          <p:nvPr/>
        </p:nvSpPr>
        <p:spPr>
          <a:xfrm>
            <a:off x="640080" y="4937760"/>
            <a:ext cx="25088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De la conception à la production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2" name="Shape 11"/>
          <p:cNvSpPr/>
          <p:nvPr/>
        </p:nvSpPr>
        <p:spPr>
          <a:xfrm>
            <a:off x="3383280" y="3657600"/>
            <a:ext cx="2691720" cy="182304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3" name="Shape 12"/>
          <p:cNvSpPr/>
          <p:nvPr/>
        </p:nvSpPr>
        <p:spPr>
          <a:xfrm>
            <a:off x="4434840" y="3886200"/>
            <a:ext cx="588600" cy="58860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4" name="Text 13"/>
          <p:cNvSpPr/>
          <p:nvPr/>
        </p:nvSpPr>
        <p:spPr>
          <a:xfrm>
            <a:off x="4434840" y="3814200"/>
            <a:ext cx="58860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▣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5" name="Text 14"/>
          <p:cNvSpPr/>
          <p:nvPr/>
        </p:nvSpPr>
        <p:spPr>
          <a:xfrm>
            <a:off x="3474720" y="4572000"/>
            <a:ext cx="2508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Sécurité &amp; RGPD pris au sérieux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6" name="Text 15"/>
          <p:cNvSpPr/>
          <p:nvPr/>
        </p:nvSpPr>
        <p:spPr>
          <a:xfrm>
            <a:off x="3474720" y="4937760"/>
            <a:ext cx="25088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Audit + roadmap durcissement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7" name="Shape 16"/>
          <p:cNvSpPr/>
          <p:nvPr/>
        </p:nvSpPr>
        <p:spPr>
          <a:xfrm>
            <a:off x="6217920" y="3657600"/>
            <a:ext cx="2691720" cy="182304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8" name="Shape 17"/>
          <p:cNvSpPr/>
          <p:nvPr/>
        </p:nvSpPr>
        <p:spPr>
          <a:xfrm>
            <a:off x="7269480" y="3886200"/>
            <a:ext cx="588600" cy="58860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9" name="Text 18"/>
          <p:cNvSpPr/>
          <p:nvPr/>
        </p:nvSpPr>
        <p:spPr>
          <a:xfrm>
            <a:off x="7269480" y="3814200"/>
            <a:ext cx="58860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◉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0" name="Text 19"/>
          <p:cNvSpPr/>
          <p:nvPr/>
        </p:nvSpPr>
        <p:spPr>
          <a:xfrm>
            <a:off x="6309360" y="4572000"/>
            <a:ext cx="2508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Choix techniques justifiés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1" name="Text 20"/>
          <p:cNvSpPr/>
          <p:nvPr/>
        </p:nvSpPr>
        <p:spPr>
          <a:xfrm>
            <a:off x="6309360" y="4937760"/>
            <a:ext cx="25088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Trade-offs assumés et documentés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2" name="Shape 21"/>
          <p:cNvSpPr/>
          <p:nvPr/>
        </p:nvSpPr>
        <p:spPr>
          <a:xfrm>
            <a:off x="9052560" y="3657600"/>
            <a:ext cx="2691720" cy="182304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73" name="Shape 22"/>
          <p:cNvSpPr/>
          <p:nvPr/>
        </p:nvSpPr>
        <p:spPr>
          <a:xfrm>
            <a:off x="10104120" y="3886200"/>
            <a:ext cx="588600" cy="58860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74" name="Text 23"/>
          <p:cNvSpPr/>
          <p:nvPr/>
        </p:nvSpPr>
        <p:spPr>
          <a:xfrm>
            <a:off x="10104120" y="3814200"/>
            <a:ext cx="58860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◎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5" name="Text 24"/>
          <p:cNvSpPr/>
          <p:nvPr/>
        </p:nvSpPr>
        <p:spPr>
          <a:xfrm>
            <a:off x="9144000" y="4572000"/>
            <a:ext cx="25088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Recul critique acquis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6" name="Text 25"/>
          <p:cNvSpPr/>
          <p:nvPr/>
        </p:nvSpPr>
        <p:spPr>
          <a:xfrm>
            <a:off x="9144000" y="4937760"/>
            <a:ext cx="25088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Limites identifiées, plan d'évolution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77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68560" cy="2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8" name="Text 27"/>
          <p:cNvSpPr/>
          <p:nvPr/>
        </p:nvSpPr>
        <p:spPr>
          <a:xfrm>
            <a:off x="731520" y="6446520"/>
            <a:ext cx="7309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9" name="Text 28"/>
          <p:cNvSpPr/>
          <p:nvPr/>
        </p:nvSpPr>
        <p:spPr>
          <a:xfrm>
            <a:off x="11064240" y="6446520"/>
            <a:ext cx="63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61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Shape 0"/>
          <p:cNvSpPr/>
          <p:nvPr/>
        </p:nvSpPr>
        <p:spPr>
          <a:xfrm>
            <a:off x="-2743200" y="3200400"/>
            <a:ext cx="7309440" cy="7309440"/>
          </a:xfrm>
          <a:prstGeom prst="ellipse">
            <a:avLst/>
          </a:prstGeom>
          <a:solidFill>
            <a:srgbClr val="EC4899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1" name="Shape 1"/>
          <p:cNvSpPr/>
          <p:nvPr/>
        </p:nvSpPr>
        <p:spPr>
          <a:xfrm>
            <a:off x="7589520" y="-2743200"/>
            <a:ext cx="7309440" cy="7309440"/>
          </a:xfrm>
          <a:prstGeom prst="ellipse">
            <a:avLst/>
          </a:prstGeom>
          <a:solidFill>
            <a:srgbClr val="8B5CF6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2" name="Text 2"/>
          <p:cNvSpPr/>
          <p:nvPr/>
        </p:nvSpPr>
        <p:spPr>
          <a:xfrm>
            <a:off x="457200" y="3108960"/>
            <a:ext cx="11241360" cy="81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Merci pour votre attention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3" name="Text 3"/>
          <p:cNvSpPr/>
          <p:nvPr/>
        </p:nvSpPr>
        <p:spPr>
          <a:xfrm>
            <a:off x="474120" y="4343400"/>
            <a:ext cx="112413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Place aux questions</a:t>
            </a:r>
            <a:br>
              <a:rPr sz="2200"/>
            </a:br>
            <a:br>
              <a:rPr sz="2200"/>
            </a:br>
            <a:r>
              <a:rPr lang="en-US" sz="22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^^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4" name="Text 8"/>
          <p:cNvSpPr/>
          <p:nvPr/>
        </p:nvSpPr>
        <p:spPr>
          <a:xfrm>
            <a:off x="3657600" y="5212080"/>
            <a:ext cx="36000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5" name="Text 16"/>
          <p:cNvSpPr/>
          <p:nvPr/>
        </p:nvSpPr>
        <p:spPr>
          <a:xfrm>
            <a:off x="457200" y="6172200"/>
            <a:ext cx="112413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RNCP 37873 — Concepteur Développeur d'Applications · Zone01 Rouen Normandie · 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86" name=""/>
          <p:cNvPicPr/>
          <p:nvPr/>
        </p:nvPicPr>
        <p:blipFill>
          <a:blip r:embed="rId1"/>
          <a:stretch/>
        </p:blipFill>
        <p:spPr>
          <a:xfrm>
            <a:off x="9601200" y="5029200"/>
            <a:ext cx="3423960" cy="195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7" name=""/>
          <p:cNvPicPr/>
          <p:nvPr/>
        </p:nvPicPr>
        <p:blipFill>
          <a:blip r:embed="rId2"/>
          <a:stretch/>
        </p:blipFill>
        <p:spPr>
          <a:xfrm>
            <a:off x="448200" y="-685800"/>
            <a:ext cx="5490360" cy="411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</TotalTime>
  <Application>LibreOffice/26.2.3.2$Linux_X86_64 LibreOffice_project/d4d5ed47b6084125f28d269a5650105d54dde034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2026-05-19T10:21:42Z</dcterms:created>
  <dc:creator>Christophe Lecart</dc:creator>
  <dc:description/>
  <dc:language>en-US</dc:language>
  <cp:lastModifiedBy/>
  <cp:lastPrinted>2026-05-24T17:18:18Z</cp:lastPrinted>
  <dcterms:modified xsi:type="dcterms:W3CDTF">2026-05-28T06:14:25Z</dcterms:modified>
  <cp:revision>53</cp:revision>
  <dc:subject>PptxGenJS Presentation</dc:subject>
  <dc:title>Konekt - Support Visuel RNCP 37873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47</vt:i4>
  </property>
  <property fmtid="{D5CDD505-2E9C-101B-9397-08002B2CF9AE}" pid="3" name="PresentationFormat">
    <vt:lpwstr>On-screen Show (16:9)</vt:lpwstr>
  </property>
  <property fmtid="{D5CDD505-2E9C-101B-9397-08002B2CF9AE}" pid="4" name="Slides">
    <vt:i4>47</vt:i4>
  </property>
</Properties>
</file>