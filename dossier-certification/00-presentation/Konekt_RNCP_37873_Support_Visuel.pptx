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309" r:id="rId60"/>
    <p:sldId id="310" r:id="rId61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11" r:id="rId62"/>
    <p:sldId id="281" r:id="rId27"/>
    <p:sldId id="282" r:id="rId28"/>
    <p:sldId id="283" r:id="rId29"/>
    <p:sldId id="284" r:id="rId30"/>
    <p:sldId id="285" r:id="rId31"/>
    <p:sldId id="286" r:id="rId32"/>
    <p:sldId id="303" r:id="rId54"/>
    <p:sldId id="304" r:id="rId55"/>
    <p:sldId id="305" r:id="rId56"/>
    <p:sldId id="287" r:id="rId33"/>
    <p:sldId id="288" r:id="rId34"/>
    <p:sldId id="306" r:id="rId57"/>
    <p:sldId id="307" r:id="rId58"/>
    <p:sldId id="308" r:id="rId59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40.xml"/><Relationship Id="rId36" Type="http://schemas.openxmlformats.org/officeDocument/2006/relationships/slide" Target="slides/slide41.xml"/><Relationship Id="rId37" Type="http://schemas.openxmlformats.org/officeDocument/2006/relationships/slide" Target="slides/slide42.xml"/><Relationship Id="rId38" Type="http://schemas.openxmlformats.org/officeDocument/2006/relationships/slide" Target="slides/slide43.xml"/><Relationship Id="rId39" Type="http://schemas.openxmlformats.org/officeDocument/2006/relationships/slide" Target="slides/slide44.xml"/><Relationship Id="rId40" Type="http://schemas.openxmlformats.org/officeDocument/2006/relationships/slide" Target="slides/slide45.xml"/><Relationship Id="rId41" Type="http://schemas.openxmlformats.org/officeDocument/2006/relationships/slide" Target="slides/slide46.xml"/><Relationship Id="rId42" Type="http://schemas.openxmlformats.org/officeDocument/2006/relationships/slide" Target="slides/slide47.xml"/><Relationship Id="rId43" Type="http://schemas.openxmlformats.org/officeDocument/2006/relationships/slide" Target="slides/slide48.xml"/><Relationship Id="rId44" Type="http://schemas.openxmlformats.org/officeDocument/2006/relationships/slide" Target="slides/slide49.xml"/><Relationship Id="rId45" Type="http://schemas.openxmlformats.org/officeDocument/2006/relationships/slide" Target="slides/slide50.xml"/><Relationship Id="rId46" Type="http://schemas.openxmlformats.org/officeDocument/2006/relationships/slide" Target="slides/slide51.xml"/><Relationship Id="rId47" Type="http://schemas.openxmlformats.org/officeDocument/2006/relationships/slide" Target="slides/slide52.xml"/><Relationship Id="rId48" Type="http://schemas.openxmlformats.org/officeDocument/2006/relationships/slide" Target="slides/slide53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32.xml"/><Relationship Id="rId55" Type="http://schemas.openxmlformats.org/officeDocument/2006/relationships/slide" Target="slides/slide33.xml"/><Relationship Id="rId56" Type="http://schemas.openxmlformats.org/officeDocument/2006/relationships/slide" Target="slides/slide34.xml"/><Relationship Id="rId57" Type="http://schemas.openxmlformats.org/officeDocument/2006/relationships/slide" Target="slides/slide37.xml"/><Relationship Id="rId58" Type="http://schemas.openxmlformats.org/officeDocument/2006/relationships/slide" Target="slides/slide38.xml"/><Relationship Id="rId59" Type="http://schemas.openxmlformats.org/officeDocument/2006/relationships/slide" Target="slides/slide39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C4899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8B5CF6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5"/>
      </c:doughnutChart>
      <c:spPr>
        <a:solidFill>
          <a:srgbClr val="27273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FFFFF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2727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Conception</c:v>
                  </c:pt>
                  <c:pt idx="1">
                    <c:v>Développement</c:v>
                  </c:pt>
                  <c:pt idx="2">
                    <c:v>Tests</c:v>
                  </c:pt>
                  <c:pt idx="3">
                    <c:v>Déploiement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1A1A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F3F4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1A1A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72730"/>
        </a:solidFill>
        <a:ln>
          <a:noFill/>
        </a:ln>
        <a:effectLst/>
      </c:spPr>
    </c:plotArea>
    <c:plotVisOnly val="1"/>
    <c:dispBlanksAs val="span"/>
  </c:chart>
  <c:spPr>
    <a:solidFill>
      <a:srgbClr val="272730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-3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EC4899">
              <a:alpha val="1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418320" y="4114800"/>
            <a:ext cx="6400800" cy="64008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0" y="914400"/>
            <a:ext cx="2743200" cy="27432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  <p:txBody>
          <a:bodyPr/>
          <a:p/>
        </p:txBody>
      </p:sp>
      <p:pic>
        <p:nvPicPr>
          <p:cNvPr id="5" name="Image 0" descr="/sessions/sweet-funny-newton/mnt/outputs/build/assets/konekt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3200400" cy="1097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2468880"/>
            <a:ext cx="2377440" cy="41148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914400" y="2468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  ·  Niveau 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de soutenance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3611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social Konekt</a:t>
            </a:r>
            <a:endParaRPr lang="en-US" sz="5600" dirty="0"/>
          </a:p>
        </p:txBody>
      </p:sp>
      <p:sp>
        <p:nvSpPr>
          <p:cNvPr id="10" name="Text 7"/>
          <p:cNvSpPr/>
          <p:nvPr/>
        </p:nvSpPr>
        <p:spPr>
          <a:xfrm>
            <a:off x="914400" y="4526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sociale full-stack temps réel — Next.js 15, Prisma, PostgreSQL, SSE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914400" y="5212080"/>
            <a:ext cx="1097280" cy="36576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14400" y="5349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Christophe Lecart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Concepteur Développeur d'Applications  ·  Promotion 2024-2026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046720" y="6217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Zone01 Rouen Normandie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3657600" cy="3657600"/>
          </a:xfrm>
          <a:prstGeom prst="ellipse">
            <a:avLst/>
          </a:prstGeom>
          <a:solidFill>
            <a:srgbClr val="EC4899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1247120" y="-457200"/>
            <a:ext cx="1645920" cy="1645920"/>
          </a:xfrm>
          <a:prstGeom prst="ellipse">
            <a:avLst/>
          </a:prstGeom>
          <a:solidFill>
            <a:srgbClr val="8B5CF6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6916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554480" y="1828800"/>
            <a:ext cx="18288" cy="36576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737360" y="16916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candidat &amp; le contexte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16916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Parcours, reconversion, formation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404872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40487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1554480" y="2542032"/>
            <a:ext cx="18288" cy="36576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737360" y="240487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Konekt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40487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Problématique, périmètre, équipe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118104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3118104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1554480" y="3255264"/>
            <a:ext cx="18288" cy="36576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737360" y="311810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modélisation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0" y="3118104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stories, MCD, design system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831336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83133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1554480" y="3968496"/>
            <a:ext cx="18288" cy="36576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737360" y="3831336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développement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00800" y="383133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Stack, API, temps réel, sécurité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544568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5800" y="45445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54480" y="4681728"/>
            <a:ext cx="18288" cy="36576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737360" y="454456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CI/CD &amp; déploiement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00800" y="454456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Qualité, automatisation, production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85800" y="52578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34" name="Shape 32"/>
          <p:cNvSpPr/>
          <p:nvPr/>
        </p:nvSpPr>
        <p:spPr>
          <a:xfrm>
            <a:off x="1554480" y="5394960"/>
            <a:ext cx="18288" cy="36576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737360" y="5257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&amp; compétences RNCP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400800" y="52578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Apprentissages, mapping des blocs</a:t>
            </a:r>
            <a:endParaRPr lang="en-US" sz="1200" dirty="0"/>
          </a:p>
        </p:txBody>
      </p:sp>
      <p:pic>
        <p:nvPicPr>
          <p:cNvPr id="3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 CANDIDAT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Christophe Lecart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691640"/>
            <a:ext cx="2926080" cy="292608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6916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endParaRPr lang="en-US" sz="9000" dirty="0"/>
          </a:p>
        </p:txBody>
      </p:sp>
      <p:sp>
        <p:nvSpPr>
          <p:cNvPr id="7" name="Shape 5"/>
          <p:cNvSpPr/>
          <p:nvPr/>
        </p:nvSpPr>
        <p:spPr>
          <a:xfrm>
            <a:off x="731520" y="4846320"/>
            <a:ext cx="2926080" cy="36576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4846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RECONVERSION DEV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0" y="1691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terrain industriel au code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114800" y="224028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0" y="361188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114800" y="3703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ans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11480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Expérience</a:t>
            </a:r>
            <a:endParaRPr lang="en-US" sz="1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industrielle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361188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080760" y="3703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08076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</a:t>
            </a:r>
            <a:endParaRPr lang="en-US" sz="1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361188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046720" y="3703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6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04672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visée (RNCP)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012680" y="361188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12680" y="3703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01268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Appétence</a:t>
            </a:r>
            <a:endParaRPr lang="en-US" sz="1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0" y="5074920"/>
            <a:ext cx="7680960" cy="118872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297680" y="5120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clés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0" y="5413248"/>
            <a:ext cx="502920" cy="502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29768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84632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Rigueur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172200" y="5413248"/>
            <a:ext cx="502920" cy="502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17220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72084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Pragmatisme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046720" y="5413248"/>
            <a:ext cx="502920" cy="502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4672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59536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Autodidacte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921240" y="5413248"/>
            <a:ext cx="502920" cy="502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992124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046988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Métier ↔ Tech</a:t>
            </a:r>
            <a:endParaRPr lang="en-US" sz="1400" dirty="0"/>
          </a:p>
        </p:txBody>
      </p:sp>
      <p:pic>
        <p:nvPicPr>
          <p:cNvPr id="3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PARCOURS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ans de terrain, puis le code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828800" y="1645920"/>
            <a:ext cx="54864" cy="457200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691640" y="1801368"/>
            <a:ext cx="329184" cy="329184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6916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8600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 PRO MSMA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286000" y="1965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Systèmes Mécaniques Automatisés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91640" y="2578608"/>
            <a:ext cx="329184" cy="329184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2423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BTS MAI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28600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Mécanique et Automatismes Industriels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691640" y="3355848"/>
            <a:ext cx="329184" cy="329184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3246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2004-2010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28600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 Ascenseurs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86000" y="35204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Technicien régleur et mise en service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691640" y="4133088"/>
            <a:ext cx="329184" cy="329184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4023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2010-2024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860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SOCOTEC Équipements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286000" y="4297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vérifications générales périodiques (14 ans)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691640" y="4910328"/>
            <a:ext cx="329184" cy="329184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4800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→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2860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Zone01 Rouen Normandie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286000" y="5074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CDA — peer learning, projets, stack moderne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691640" y="5687568"/>
            <a:ext cx="329184" cy="329184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5577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286000" y="5532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RNCP 37873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286000" y="58521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+ Dossier professionnel + alternance visée</a:t>
            </a:r>
            <a:endParaRPr lang="en-US" sz="1100" dirty="0"/>
          </a:p>
        </p:txBody>
      </p:sp>
      <p:pic>
        <p:nvPicPr>
          <p:cNvPr id="30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MÉTHODE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en mode agile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691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 développement adopté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21208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344168" y="2240280"/>
            <a:ext cx="548640" cy="5486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344168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priorisées HIGH/MED/LOW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15768" y="2926080"/>
            <a:ext cx="36576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752344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75304" y="2240280"/>
            <a:ext cx="548640" cy="54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75304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843784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planning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43784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GitHub assignées, points estimés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46904" y="2926080"/>
            <a:ext cx="36576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983480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806440" y="2240280"/>
            <a:ext cx="548640" cy="54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064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◯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74920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standup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74920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— avancement, blocages, plan du jour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178040" y="2926080"/>
            <a:ext cx="36576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214616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037576" y="2240280"/>
            <a:ext cx="548640" cy="54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037576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▷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306056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demo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06056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de fin de sprint en équipe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409176" y="2926080"/>
            <a:ext cx="36576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9445752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0268712" y="2240280"/>
            <a:ext cx="548640" cy="54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0268712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37192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Rétrospective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537192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a marché / ce qu'on change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4023360"/>
            <a:ext cx="553212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31520" y="4114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&amp; rituels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77240" y="46360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005840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46120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vivant, labels, milestones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77240" y="504748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1005840" y="4937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Projects (Kanban)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46120" y="4937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 Todo / Doing / Review / Done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7240" y="545896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1005840" y="5349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246120" y="5349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obligatoire avant merge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77240" y="587044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005840" y="5760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46120" y="5760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bloquante : lint + test + build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263640" y="4023360"/>
            <a:ext cx="553212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446520" y="4114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 du projet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446520" y="45262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7178040" y="4526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(MVP / Features / Polish)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446520" y="4937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7178040" y="4937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d'environ 10 jours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446520" y="53492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7178040" y="5349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réparties par sprint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46520" y="57607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7178040" y="5760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+ rétro par sprint</a:t>
            </a:r>
            <a:endParaRPr lang="en-US" sz="1100" dirty="0"/>
          </a:p>
        </p:txBody>
      </p:sp>
      <p:pic>
        <p:nvPicPr>
          <p:cNvPr id="5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60" name="Text 5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LE PROJET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— contexte &amp; vision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5074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92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proposée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5074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0080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Réseautage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Stories, Reels, Reactions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98064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575304" y="4389120"/>
            <a:ext cx="640080" cy="6400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57530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◐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889504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889504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DM, Group Chat, SSE temps réel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47488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824728" y="4389120"/>
            <a:ext cx="640080" cy="6400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2472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❖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138928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Communautés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138928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Groupes, Événements, RSVP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296912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74152" y="4389120"/>
            <a:ext cx="640080" cy="6400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74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⌕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88352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88352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Trending, Recommandations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546336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0323576" y="4389120"/>
            <a:ext cx="640080" cy="6400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32357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637776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Personnalisation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637776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Thème, langue, confidentialité</a:t>
            </a:r>
            <a:endParaRPr lang="en-US" sz="1000" dirty="0"/>
          </a:p>
        </p:txBody>
      </p:sp>
      <p:pic>
        <p:nvPicPr>
          <p:cNvPr id="36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56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CAHIER DES CHARGES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&amp; périmètre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98064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98064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798064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principales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47488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47488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5047488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Prisma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96912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296912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7296912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API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546336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46336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546336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337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stories prioritaires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64240" cy="265176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Critère d'acceptation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S'inscrire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validé, compte créé, JWT émis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Utilisateur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Créer un post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visible immédiatement dans le feed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Utilisateur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Envoyer un message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persisté + push SSE au destinataire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Utilisateur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Réagir / commenter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Compteur incrémenté, doublon impossible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Modérateur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Supprimer un contenu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 retiré, log d'action conservé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22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56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multicouche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691640"/>
            <a:ext cx="109728" cy="10972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UX — ce que l'utilisateur voit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0" y="1828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Next.js (React Server Components)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0" y="21214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UI (shadcn/ui, Tailwind)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241401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de données (use-api, use-real-time-chat)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2788920"/>
            <a:ext cx="0" cy="73152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2862072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2862072"/>
            <a:ext cx="109728" cy="10972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2953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/ MÉTIER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applicative et règles métier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0" y="29992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Handlers /api/private/* /api/public/*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0" y="3291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 (mutations) · Middleware JWT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0" y="35844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Zod, schémas partagés client/serveur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3959352"/>
            <a:ext cx="0" cy="73152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48640" y="4032504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4032504"/>
            <a:ext cx="109728" cy="10972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41239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PERSISTANCE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48970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aux données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0" y="416966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 (18 modèles, requêtes type-safe)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0" y="446227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versionnées prisma/migrations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 src/lib/server/&lt;domaine&gt;/&lt;entité&gt;.ts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80760" y="5129784"/>
            <a:ext cx="0" cy="73152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48640" y="5202936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548640" y="5202936"/>
            <a:ext cx="109728" cy="10972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77240" y="529437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" y="56601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et services externes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57600" y="53400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Neon (DB relationnelle)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0" y="56327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Redis (cache + buffer SSE)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657600" y="59253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 (médias) · Vercel (runtime)</a:t>
            </a:r>
            <a:endParaRPr lang="en-US" sz="1100" dirty="0"/>
          </a:p>
        </p:txBody>
      </p:sp>
      <p:pic>
        <p:nvPicPr>
          <p:cNvPr id="36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56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691640"/>
            <a:ext cx="73152" cy="22402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8013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194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 · SSR/CSR hybride · Server Actions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743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typés, hooks personnalisés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+ shadcn/ui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system, dark theme natif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251960" y="1691640"/>
            <a:ext cx="73152" cy="22402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480560" y="18013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API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80560" y="2194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Route Handlers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8056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Server-Sent Events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80560" y="2743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8056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type-safe, migrations, 18 modèles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8056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payloads, schémas partagés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04672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046720" y="1691640"/>
            <a:ext cx="73152" cy="22402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275320" y="18013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&amp; Temps réel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75320" y="2194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(Neon)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7532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relationnelle managée, branches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75320" y="2743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Redis (REST)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7532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+ buffer SSE compatible serverless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7532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images / vidéos, transformations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457200" y="4069080"/>
            <a:ext cx="73152" cy="22402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85800" y="4178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Sécurité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85800" y="45720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custom (jose)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580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· SameSite · Secret applicatif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85800" y="51206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cost 12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85800" y="5349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mots de passe, comparison constante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85800" y="56692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Google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5800" y="5897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googleapis + state cookie anti-CSRF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25196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4251960" y="4069080"/>
            <a:ext cx="73152" cy="22402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480560" y="4178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&amp; CI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480560" y="45720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multi-stage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8056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légère oven/bun:1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480560" y="51206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480560" y="5349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· Test · Build · Deploy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480560" y="56692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Neon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480560" y="5897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préview par PR + prod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04672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8046720" y="4069080"/>
            <a:ext cx="73152" cy="22402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8275320" y="4178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275320" y="45720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ts-jest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27532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 API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275320" y="51206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 + TypeScript strict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275320" y="5349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style + typage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275320" y="56692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Playwright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75320" y="5897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parcours critiques</a:t>
            </a:r>
            <a:endParaRPr lang="en-US" sz="900" dirty="0"/>
          </a:p>
        </p:txBody>
      </p:sp>
      <p:pic>
        <p:nvPicPr>
          <p:cNvPr id="5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60" name="Text 5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56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système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2194560"/>
            <a:ext cx="2194560" cy="27432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194560"/>
            <a:ext cx="2194560" cy="3657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743200"/>
            <a:ext cx="1965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App Router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EventSource (SSE)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/ forms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authToken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017520" y="21945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017520" y="2194560"/>
            <a:ext cx="1645920" cy="3657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017520" y="2194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CDN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108960" y="2743200"/>
            <a:ext cx="1463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4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HTML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937760" y="2194560"/>
            <a:ext cx="2377440" cy="274320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937760" y="2194560"/>
            <a:ext cx="2377440" cy="3657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37760" y="2194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274320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Route Handlers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JWT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/api/private/...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/api/public/...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Client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1783080"/>
            <a:ext cx="3931920" cy="10058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680960" y="1783080"/>
            <a:ext cx="91440" cy="10058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86384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Neon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863840" y="2194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relationnelle, 18 modèles Prisma, migrations versionnées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680960" y="2926080"/>
            <a:ext cx="3931920" cy="10058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680960" y="2926080"/>
            <a:ext cx="91440" cy="10058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86384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Redis (REST)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863840" y="3337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+ buffer SSE — clés latest:chat:* polling REST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680960" y="4069080"/>
            <a:ext cx="3931920" cy="10058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680960" y="4069080"/>
            <a:ext cx="91440" cy="10058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8638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63840" y="4480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médias, transformations à la volée, CDN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0" y="3657600"/>
            <a:ext cx="27432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663440" y="3657600"/>
            <a:ext cx="27432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315200" y="2286000"/>
            <a:ext cx="36576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315200" y="3429000"/>
            <a:ext cx="36576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7315200" y="4572000"/>
            <a:ext cx="36576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est serverless-ready : la stack tourne nativement sur Vercel et reste reproductible en local via docker-compose.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85800" y="5120640"/>
            <a:ext cx="192024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85800" y="5120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bidirectionnel</a:t>
            </a:r>
            <a:endParaRPr lang="en-US" sz="1000" dirty="0"/>
          </a:p>
        </p:txBody>
      </p:sp>
      <p:pic>
        <p:nvPicPr>
          <p:cNvPr id="3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56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de modélisation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691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des termes que l'on rencontrera dans MCD / MLD / MPD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31520" y="2286000"/>
            <a:ext cx="502920" cy="502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 / Table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880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 métier matérialisé en table SQL. Une ligne = une instance.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User, Post, Comment, Reaction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210312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72000" y="2286000"/>
            <a:ext cx="502920" cy="502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663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 / Colonne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880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 d'une entité, typée. Devient une colonne en base.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User.email (varchar) · Post.message (text)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29600" y="210312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412480" y="2286000"/>
            <a:ext cx="502920" cy="502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124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0684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primaire (PK)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12480" y="2880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Identifiant unique non-null d'une ligne. Une seule par table.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41248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1248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User.id (uuid) · Post.id (cuid)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25196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31520" y="4434840"/>
            <a:ext cx="502920" cy="5029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3152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⌬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2588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étrangère (FK)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31520" y="50292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 la PK d'une autre table. Maintient l'intégrité référentielle.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1520" y="5623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1520" y="5806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Post.userId → User.id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89120" y="425196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572000" y="4434840"/>
            <a:ext cx="502920" cy="502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57200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16636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72000" y="50292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d'instances liées : 1-1, 1-N, N-N. Détermine la structure relationnelle.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0" y="5623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72000" y="5806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1—N Post  ·  User N—N User via Friendship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229600" y="425196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412480" y="4434840"/>
            <a:ext cx="502920" cy="50292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41248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▩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900684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412480" y="50292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d'accès accélérant les lectures sur certaines colonnes.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412480" y="5623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412480" y="5806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@@index([userId, createdAt]) sur Post</a:t>
            </a:r>
            <a:endParaRPr lang="en-US" sz="1000" dirty="0"/>
          </a:p>
        </p:txBody>
      </p:sp>
      <p:pic>
        <p:nvPicPr>
          <p:cNvPr id="4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56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MERISE · MCD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Conceptuel de Données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30175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456432"/>
            <a:ext cx="2377440" cy="18288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0584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0" y="30175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3456432"/>
            <a:ext cx="237744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12064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0" y="30175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14400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0" y="3456432"/>
            <a:ext cx="2377440" cy="18288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23544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createdAt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0" y="3749040"/>
            <a:ext cx="173736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29184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 1,N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3749040"/>
            <a:ext cx="173736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0664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contient 1,N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77240" y="4937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MCD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77240" y="5257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 </a:t>
            </a:r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publie 0..N </a:t>
            </a:r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 Post a exactement 1 auteur (cardinalité 1,1 côté Post)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 </a:t>
            </a:r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contient 0..N </a:t>
            </a:r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chaque Comment référence exactement 1 Post (parent)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MCD n'expose </a:t>
            </a:r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clés étrangères, ni types techniques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uniquement le sens métier</a:t>
            </a:r>
            <a:endParaRPr lang="en-US" sz="1200" dirty="0"/>
          </a:p>
        </p:txBody>
      </p:sp>
      <p:pic>
        <p:nvPicPr>
          <p:cNvPr id="2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56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MERISE · MLD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Logique de Données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288036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60120" y="288036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143000" y="288036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71600" y="2788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MLD — extrait (notation Prisma)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1546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 (id PK, email UNIQUE, username UNIQUE, password, birthDate, createdAt)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342900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 (id PK, userId FK → USER.id, message, image?, visibility, createdAt)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37033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COMMENT (id PK, postId FK → POST.id, userId FK → USER.id, message, createdAt)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39776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REACTION (id PK, userId FK → USER.id, postId FK? → POST.id, type, createdAt)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UNIQUE (userId, postId, type)   ← un user ne peut pas dupliquer une réaction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5262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STORY (id PK, userId FK → USER.id, image, expiresAt, createdAt)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480060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FRIENDSHIP (id PK, requesterId FK → USER.id, addresseeId FK → USER.id, status)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50749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UNIQUE (requesterId, addresseeId)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557784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77240" y="56235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relation N-1 du MCD devient une </a:t>
            </a:r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côté "plusieurs". Les relations N-N (ex. Friendship) deviennent une table d'association avec ses propres attributs.</a:t>
            </a:r>
            <a:endParaRPr lang="en-US" sz="1100" dirty="0"/>
          </a:p>
        </p:txBody>
      </p:sp>
      <p:pic>
        <p:nvPicPr>
          <p:cNvPr id="23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56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MERISE · MPD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Physique de Données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324612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288036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60120" y="288036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143000" y="288036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71600" y="2788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MPD — extrait DDL PostgreSQL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154680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"User" 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31927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     TEXT        PRIMARY KEY DEFAULT cuid(),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48386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email         VARCHAR(255) NOT NULL UNIQUE,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648456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username      VARCHAR(50)  NOT NULL UNIQUE,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813048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password      VARCHAR(255) NOT NULL,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977640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visibility    "ProfileVisibility" NOT NULL DEFAULT 'PUBLIC',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14223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createdAt     TIMESTAMPTZ  NOT NULL DEFAULT NOW()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30682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471416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636008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"Post" (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800600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   TEXT PRIMARY KEY DEFAULT cuid(),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96519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userId      TEXT NOT NULL REFERENCES "User"(id) ON DELETE CASCADE,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512978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message     TEXT NOT NULL CHECK (length(message) &lt;= 5000),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294376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visibility  "Visibility" NOT NULL DEFAULT 'PUBLIC',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458968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createdAt   TIMESTAMPTZ NOT NULL DEFAULT NOW()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623560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77240" y="578815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INDEX idx_post_user_created ON "Post"(userId, createdAt DESC);</a:t>
            </a:r>
            <a:endParaRPr lang="en-US" sz="1000" dirty="0"/>
          </a:p>
        </p:txBody>
      </p:sp>
      <p:pic>
        <p:nvPicPr>
          <p:cNvPr id="30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56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données — 18 entités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pic>
        <p:nvPicPr>
          <p:cNvPr id="5" name="Image 0" descr="/sessions/sweet-funny-newton/mnt/outputs/build/assets/e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786384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91640"/>
            <a:ext cx="3017520" cy="457200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73252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Faits saillants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32520" y="21488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646920" y="2148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Prisma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732520" y="26517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646920" y="26517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732520" y="31546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646920" y="3154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Enums métier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732520" y="3657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35+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9646920" y="36576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Attributs User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32520" y="4297680"/>
            <a:ext cx="2743200" cy="18288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73252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centrales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732520" y="4663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732520" y="4919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 / Comment / Reaction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732520" y="517550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Story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32520" y="543153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Conversation / Message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732520" y="56875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Group / Event / Rsvp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732520" y="5943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</a:t>
            </a:r>
            <a:endParaRPr lang="en-US" sz="1000" dirty="0"/>
          </a:p>
        </p:txBody>
      </p:sp>
      <p:pic>
        <p:nvPicPr>
          <p:cNvPr id="24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56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 cœur du domaine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212080" y="3017520"/>
            <a:ext cx="1737360" cy="173736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212080" y="301752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212080" y="40690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entités</a:t>
            </a:r>
            <a:endParaRPr lang="en-US" sz="9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relations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6080760" y="2258568"/>
            <a:ext cx="914" cy="740664"/>
          </a:xfrm>
          <a:prstGeom prst="line">
            <a:avLst/>
          </a:prstGeom>
          <a:noFill/>
          <a:ln w="19050">
            <a:solidFill>
              <a:srgbClr val="06B6D4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577840" y="1234440"/>
            <a:ext cx="1005840" cy="10058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577840" y="12344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577840" y="1737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577840" y="20116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6707941" y="2735290"/>
            <a:ext cx="523729" cy="523729"/>
          </a:xfrm>
          <a:prstGeom prst="line">
            <a:avLst/>
          </a:prstGeom>
          <a:noFill/>
          <a:ln w="19050">
            <a:solidFill>
              <a:srgbClr val="8B5CF6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097299" y="1863821"/>
            <a:ext cx="1005840" cy="10058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097299" y="1863821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097299" y="2366741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97299" y="2641061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67728" y="3886200"/>
            <a:ext cx="740664" cy="914"/>
          </a:xfrm>
          <a:prstGeom prst="line">
            <a:avLst/>
          </a:prstGeom>
          <a:noFill/>
          <a:ln w="19050">
            <a:solidFill>
              <a:srgbClr val="F59E0B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26680" y="3383280"/>
            <a:ext cx="1005840" cy="100584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726680" y="33832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♥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726680" y="38862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26680" y="41605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réagit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07941" y="4513381"/>
            <a:ext cx="523729" cy="523729"/>
          </a:xfrm>
          <a:prstGeom prst="line">
            <a:avLst/>
          </a:prstGeom>
          <a:noFill/>
          <a:ln w="19050">
            <a:solidFill>
              <a:srgbClr val="10B981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097299" y="4902739"/>
            <a:ext cx="1005840" cy="100584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097299" y="4902739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097299" y="5405659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97299" y="5679979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080760" y="4773168"/>
            <a:ext cx="914" cy="740664"/>
          </a:xfrm>
          <a:prstGeom prst="line">
            <a:avLst/>
          </a:prstGeom>
          <a:noFill/>
          <a:ln w="19050">
            <a:solidFill>
              <a:srgbClr val="F472B6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577840" y="5532120"/>
            <a:ext cx="1005840" cy="100584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577840" y="5532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577840" y="6035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577840" y="630936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 flipH="1">
            <a:off x="4929850" y="4513381"/>
            <a:ext cx="523729" cy="523729"/>
          </a:xfrm>
          <a:prstGeom prst="line">
            <a:avLst/>
          </a:prstGeom>
          <a:noFill/>
          <a:ln w="19050">
            <a:solidFill>
              <a:srgbClr val="EF4444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058381" y="4902739"/>
            <a:ext cx="1005840" cy="100584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058381" y="4902739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◷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058381" y="5405659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58381" y="5679979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 flipH="1">
            <a:off x="4453128" y="3886200"/>
            <a:ext cx="740664" cy="914"/>
          </a:xfrm>
          <a:prstGeom prst="line">
            <a:avLst/>
          </a:prstGeom>
          <a:noFill/>
          <a:ln w="19050">
            <a:solidFill>
              <a:srgbClr val="06B6D4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429000" y="3383280"/>
            <a:ext cx="1005840" cy="10058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429000" y="33832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3429000" y="38862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429000" y="41605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 flipH="1" flipV="1">
            <a:off x="4929850" y="2735290"/>
            <a:ext cx="523729" cy="523729"/>
          </a:xfrm>
          <a:prstGeom prst="line">
            <a:avLst/>
          </a:prstGeom>
          <a:noFill/>
          <a:ln w="19050">
            <a:solidFill>
              <a:srgbClr val="8B5CF6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4058381" y="1863821"/>
            <a:ext cx="1005840" cy="10058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058381" y="1863821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4058381" y="2366741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058381" y="2641061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reçoit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conceptuel simplifié — toutes les entités du domaine gravitent autour de l'utilisateur, avec des cardinalités explicites côté Prisma.</a:t>
            </a:r>
            <a:endParaRPr lang="en-US" sz="1100" dirty="0"/>
          </a:p>
        </p:txBody>
      </p:sp>
      <p:pic>
        <p:nvPicPr>
          <p:cNvPr id="4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56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 Konekt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#EC4899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377440" y="20116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68880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#1A1B23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6240" y="20116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297680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29768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#272730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B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#FFFFFF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77440" y="32918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46888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6888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#10B981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06240" y="32918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29768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9768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#8B5CF6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Typographie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2011680"/>
            <a:ext cx="5577840" cy="265176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35508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6400" dirty="0"/>
          </a:p>
        </p:txBody>
      </p:sp>
      <p:sp>
        <p:nvSpPr>
          <p:cNvPr id="27" name="Text 25"/>
          <p:cNvSpPr/>
          <p:nvPr/>
        </p:nvSpPr>
        <p:spPr>
          <a:xfrm>
            <a:off x="777240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Geist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77240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 family — Next.js next/font · variable, optimisée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5508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0" y="3246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px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5508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px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5508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22960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px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5508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9600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px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4864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50876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150876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Avatar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46888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246888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2900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342900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8912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38912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8640" y="555040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48640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508760" y="555040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1508760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468880" y="555040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2468880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29000" y="555040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3429000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21792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217920" y="5120640"/>
            <a:ext cx="5577840" cy="10058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55080" y="5257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▢ Mobile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355080" y="5577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640px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183880" y="5257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 Tablet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183880" y="5577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640 – 1024px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0012680" y="5257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 Desktop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10012680" y="5577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1024px</a:t>
            </a:r>
            <a:endParaRPr lang="en-US" sz="1100" dirty="0"/>
          </a:p>
        </p:txBody>
      </p:sp>
      <p:pic>
        <p:nvPicPr>
          <p:cNvPr id="64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65" name="Text 62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6" name="Text 63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56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AUTHENTIFICATION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Login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sessions/sweet-funny-newton/mnt/outputs/build/assets/Mockups_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03289" y="1874520"/>
            <a:ext cx="3102782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 + secret applicatif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SameSite=Lax · pas d'accès JS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Google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cookie anti-CSRF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partagé client / serveur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56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VUE PRINCIPALE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Home Feed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sessions/sweet-funny-newton/mnt/outputs/build/assets/Mockups_Home_Fe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825172"/>
            <a:ext cx="4846320" cy="23506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Feed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PRINCIPALE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scroll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 cursor-based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ephemeral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24h, polling SSE pour le statut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 inline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UI · doublon impossible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optimisée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Next/Image + Cloudinary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56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IDENTITÉ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Profil utilisateur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sessions/sweet-funny-newton/mnt/outputs/build/assets/Mockups_Us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825172"/>
            <a:ext cx="4846320" cy="23506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utilisateur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IDENTITÉ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Visibilité PUBLIC/PRIVATE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 Prisma respecté côté API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/ Following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Friendship 2-way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dynamiques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/ Photos / Vidéos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profile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 + Cloudinary upload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56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PUBLICATION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Création de post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sessions/sweet-funny-newton/mnt/outputs/build/assets/Mockups_Create_P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825172"/>
            <a:ext cx="4846320" cy="23506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de post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Cloudinary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upload signé côté serveur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Visibilité granulaire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niveaux + check au fetch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taille, type MIME, longueur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type-safe Next.js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56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CONTENU ÉPHÉMÈRE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Story Viewer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sessions/sweet-funny-newton/mnt/outputs/build/assets/Mockups_Story_View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825172"/>
            <a:ext cx="4846320" cy="23506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Viewer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 ÉPHÉMÈRE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24h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cron · cleanup expirés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segmentée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Multi-stories par utilisateur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Vues uniques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Compteur stocké en relation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 emoji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reply au créateur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56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PERSONNALISATION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Paramètres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sessions/sweet-funny-newton/mnt/outputs/build/assets/Mockups_Setting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825172"/>
            <a:ext cx="4846320" cy="23506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UserSettings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Prisma 1-to-1 dédié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toggle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Stocké côté serveur · cohérent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 EN / FR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next-intl, dictionnaires lazy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controls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ProfileVisibility, notification opt-in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56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implémentées · 14 routes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17830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691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1691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31920" y="1691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des posts du réseau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55080" y="17830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83680" y="1691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321040" y="1691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0" y="1691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email + OAuth Google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05740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85800" y="21488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14400" y="20574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/register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51760" y="20574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0" y="2057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 avec vérification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920" y="205740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355080" y="21488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583680" y="20574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/onboarding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21040" y="20574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0" y="2057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Complétion du profil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242316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85800" y="251460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242316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/profile/[id]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651760" y="24231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931920" y="24231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public/privé, posts, abonnés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217920" y="242316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355080" y="251460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583680" y="242316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/chat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21040" y="24231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601200" y="24231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des messages 1-to-1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278892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85800" y="288036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14400" y="27889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/chat/[id]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651760" y="27889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DM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931920" y="27889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privée temps réel (SSE)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278892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6355080" y="288036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83680" y="27889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/reels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321040" y="27889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601200" y="27889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Vidéos courtes verticales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8640" y="315468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85800" y="324612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914400" y="31546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/search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651760" y="31546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931920" y="31546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+ posts avec historique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217920" y="315468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6355080" y="324612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6583680" y="31546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/groups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21040" y="31546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601200" y="31546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Liste, recherche, création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48640" y="352044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85800" y="36118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914400" y="35204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/groups/[id]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651760" y="3520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931920" y="35204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+ chat + membres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217920" y="352044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6355080" y="36118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6583680" y="35204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/events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321040" y="3520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9601200" y="35204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+ RSVP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48640" y="388620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685800" y="3977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914400" y="38862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/settings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2651760" y="38862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3931920" y="38862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Profil, sécurité, langue, thème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217920" y="388620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355080" y="3977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583680" y="38862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/invitations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8321040" y="38862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Invitations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9601200" y="38862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d'amitié et de groupe</a:t>
            </a:r>
            <a:endParaRPr lang="en-US" sz="900" dirty="0"/>
          </a:p>
        </p:txBody>
      </p:sp>
      <p:pic>
        <p:nvPicPr>
          <p:cNvPr id="75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76" name="Text 73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56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 · DIAGRAMME DE SÉQUENCE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d'authentification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7830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783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280160" y="2286000"/>
            <a:ext cx="0" cy="37490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480560" y="17830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80560" y="1783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03520" y="2286000"/>
            <a:ext cx="0" cy="37490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503920" y="17830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503920" y="1783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(Prisma)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326880" y="2286000"/>
            <a:ext cx="0" cy="37490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280160" y="2743200"/>
            <a:ext cx="402336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80160" y="24505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/api/public/auth/login  { email, password }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03520" y="3246120"/>
            <a:ext cx="402336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30352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user WHERE email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H="1">
            <a:off x="5303520" y="3749040"/>
            <a:ext cx="4023360" cy="0"/>
          </a:xfrm>
          <a:prstGeom prst="line">
            <a:avLst/>
          </a:prstGeom>
          <a:noFill/>
          <a:ln w="25400">
            <a:solidFill>
              <a:srgbClr val="8B5CF6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303520" y="3456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row (hashed pwd)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9240" y="4023360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94960" y="40690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bcrypt.compare(password, user.password)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jose.SignJWT({ userId }) ➜ JWT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280160" y="5074920"/>
            <a:ext cx="402336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280160" y="47823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OK  ·  Set-Cookie: authToken HttpOnly SameSite=Lax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7724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—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 avec </a:t>
            </a:r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secret applicatif · Cookie </a:t>
            </a:r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(pas accessible JS) · </a:t>
            </a:r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cost 12 · </a:t>
            </a:r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Google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via state cookie anti-CSRF · Middleware Next.js qui valide le JWT pour chaque route privée.</a:t>
            </a:r>
            <a:endParaRPr lang="en-US" sz="1100" dirty="0"/>
          </a:p>
        </p:txBody>
      </p:sp>
      <p:pic>
        <p:nvPicPr>
          <p:cNvPr id="26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56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— signature JWT (jose)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src/lib/server/user/login.ts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SignJWT } from 'jose';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4144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bcrypt from 'bcrypt';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64261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84378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async function login(email: string, password: string) {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04495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user = await db.user.findUnique({ where: { email } });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(!user) throw new AuthError('INVALID_CREDENTIALS');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44728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64845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ok = await bcrypt.compare(password, user.password);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84962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(!ok)  throw new AuthError('INVALID_CREDENTIALS');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05079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25196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secret = new TextEncoder().encode(process.env.JWT_SECRET);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45312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token  = await new SignJWT({ userId: user.id })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65429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.setProtectedHeader({ alg: 'HS256' })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85546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.setIssuedAt()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50566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.setExpirationTime('7d')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.sign(secret);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45896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66013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 token, user };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86130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clés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bcrypt.compare en temps constant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message si user inconnu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 HS256 (jose)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◷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Expiration explicite 7 jours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env var jamais commité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Erreurs typées (AuthError)</a:t>
            </a:r>
            <a:endParaRPr lang="en-US" sz="1100" dirty="0"/>
          </a:p>
        </p:txBody>
      </p:sp>
      <p:pic>
        <p:nvPicPr>
          <p:cNvPr id="4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56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 — Server-Sent Events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432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38328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38328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2336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2648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2648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6656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50392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50392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088136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88136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(SSE)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2144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14400" y="2651760"/>
            <a:ext cx="310896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2359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/api/private/chat/send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023360" y="3063240"/>
            <a:ext cx="274320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023360" y="2770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message (Prisma)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023360" y="3474720"/>
            <a:ext cx="512064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023360" y="3182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latest:chat:{from}:{to}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 flipH="1">
            <a:off x="914400" y="3886200"/>
            <a:ext cx="310896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35935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OK status SENT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 flipH="1">
            <a:off x="9144000" y="4343400"/>
            <a:ext cx="237744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144000" y="4050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latest:chat:* (polling REST)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144000" y="4754880"/>
            <a:ext cx="237744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144000" y="4462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SSE  data: {...}\n\n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7724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100" dirty="0"/>
          </a:p>
        </p:txBody>
      </p:sp>
      <p:pic>
        <p:nvPicPr>
          <p:cNvPr id="34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56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— endpoint /chat/listen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src/app/api/private/chat/listen/route.ts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async function GET(req: NextRequest) {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38201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userId = await getUserIdFromRequest(req);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252374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(!userId) return new Response('Unauthorized', { status: 401 });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266547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280720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{ conversationId, type } = parseParams(req.url);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294894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309067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stream = new ReadableStream({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323240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start(controller) {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7240" y="337413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enc = new TextEncoder();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7240" y="351586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controller.enqueue(enc.encode('data: {"type":"connected"}\n\n'));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" y="365760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379933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let active = true, lastId = '';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394106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(async function poll() {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7240" y="408279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(active) {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77240" y="422452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const key = `latest:chat:${userId}:${conversationId}`;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" y="436626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const data = await redis.get(key);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" y="450799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if (data &amp;&amp; data.id !== lastId) {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" y="464972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lastId = data.id;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7240" y="479145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controller.enqueue(enc.encode(`data: ${JSON.stringify(data)}\n\n`));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7240" y="493318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}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7240" y="507492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await sleep(1000);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7240" y="521665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7240" y="535838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})();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77240" y="550011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req.signal.addEventListener('abort', () =&gt; { active = false; controller.close(); });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7240" y="564184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77240" y="578358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});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77240" y="592531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new Response(stream, { headers: { 'Content-Type': 'text/event-stream' } });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77240" y="606704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Mécanique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ReadableStream Web standard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Redis 1s (REST)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latest:chat:&lt;from&gt;:&lt;to&gt;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Déduplication par lastId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⊘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abort → cleanup poll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injecté par middleware</a:t>
            </a:r>
            <a:endParaRPr lang="en-US" sz="1100" dirty="0"/>
          </a:p>
        </p:txBody>
      </p:sp>
      <p:pic>
        <p:nvPicPr>
          <p:cNvPr id="5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9" name="Text 5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0" name="Text 5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56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· 60+ endpoints REST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691640"/>
            <a:ext cx="73152" cy="22402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1945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21945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25880" y="21945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/api/public/auth/register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26060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26060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606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/api/public/auth/login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301752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301752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25880" y="30175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/api/public/auth/logout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3429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3429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325880" y="3429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/api/public/auth/callback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251960" y="1691640"/>
            <a:ext cx="73152" cy="22402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4805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&amp; Profil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480560" y="21945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480560" y="21945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20640" y="21945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/api/private/me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480560" y="26060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480560" y="26060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0640" y="2606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/api/private/me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80560" y="301752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480560" y="301752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120640" y="30175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/api/private/friend-requests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480560" y="3429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480560" y="3429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20640" y="3429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/api/private/friend-requests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4672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046720" y="1691640"/>
            <a:ext cx="73152" cy="22402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27532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275320" y="21945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275320" y="21945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915400" y="21945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/api/private/post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275320" y="26060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8275320" y="26060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915400" y="2606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/api/private/post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275320" y="301752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275320" y="301752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915400" y="30175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/api/private/stories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275320" y="3429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275320" y="3429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915400" y="3429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/api/private/stories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720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457200" y="4069080"/>
            <a:ext cx="73152" cy="22402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68580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&amp; Temps réel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85800" y="4572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685800" y="4572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32588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/api/private/conversations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5800" y="498348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685800" y="498348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325880" y="4983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/api/private/chat/send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85800" y="53949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685800" y="53949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325880" y="5394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/api/private/chat/listen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85800" y="58064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685800" y="58064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32588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/api/private/chat/typing/listen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25196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4251960" y="4069080"/>
            <a:ext cx="73152" cy="22402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448056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Communautés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4480560" y="4572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4480560" y="4572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512064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/api/private/groups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4480560" y="498348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4480560" y="498348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5120640" y="4983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/api/private/groups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4480560" y="53949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4480560" y="53949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5120640" y="5394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/api/private/events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4480560" y="58064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4480560" y="58064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12064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/api/private/events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804672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8046720" y="4069080"/>
            <a:ext cx="73152" cy="22402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827532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&amp; Notif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75320" y="4572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8275320" y="4572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891540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/api/private/search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8275320" y="498348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8275320" y="498348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8915400" y="4983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/api/private/invitations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8275320" y="53949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8275320" y="53949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8915400" y="5394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/api/private/notifications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8275320" y="58064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8275320" y="58064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891540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/api/private/notifications/:id/read</a:t>
            </a:r>
            <a:endParaRPr lang="en-US" sz="900" dirty="0"/>
          </a:p>
        </p:txBody>
      </p:sp>
      <p:pic>
        <p:nvPicPr>
          <p:cNvPr id="95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96" name="Text 93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97" name="Text 94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56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d'authentification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src/middleware.ts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async function middleware(req: NextRequest) {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5059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{ pathname } = req.nextUrl;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66090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isPublic = pathname.startsWith('/api/public')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87121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|| ['/login', '/register'].some(r =&gt; pathname.startsWith(r));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08152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(isPublic) return NextResponse.next();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29184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50215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token = req.cookies.get('authToken')?.value;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71246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(!token) return NextResponse.redirect('/login');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92277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13308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try {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34340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{ userId } = await verifyJwt(token);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55371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headers = new Headers(req.headers);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76402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headers.set('x-user-id', userId);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97433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NextResponse.next({ request: { headers } });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518464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catch {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539496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NextResponse.redirect('/login');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60527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81558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clés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◉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pour routes publiques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◉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authToken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✓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JWT via jose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↩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 /login si invalide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✉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x-user-id header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▣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par défaut</a:t>
            </a:r>
            <a:endParaRPr lang="en-US" sz="1100" dirty="0"/>
          </a:p>
        </p:txBody>
      </p:sp>
      <p:pic>
        <p:nvPicPr>
          <p:cNvPr id="4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56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applicative &amp; RGPD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en place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 (jose) · cookies HttpOnly · SameSite=Lax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74320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✦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743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cost 12 sur tous les mots de passe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2918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 systématique des payloads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8404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▣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840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Google avec state cookie anti-CSRF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43891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89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bloquée par Prisma (paramétrage)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49377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⌕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937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audité — voir securite-rgpd.md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548640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◌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88720" y="5486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forcé en production via Vercel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46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2194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collectées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2468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nom, date de naissance, contenus publiés. Aucun traitement marketing ; aucune donnée sensible au sens art. 9.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46520" y="3108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la personne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4652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&amp; consultation profil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058400" y="341071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058400" y="34107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4652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Rectification (settings)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058400" y="377647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058400" y="37764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Effacement / droit à l'oubli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058400" y="414223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0058400" y="41422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4652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Portabilité (export JSON)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058400" y="450799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0058400" y="45079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46520" y="4846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Opposition / consentement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058400" y="487375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0058400" y="48737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46520" y="534924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durcissement : rate-limit, headers CSP, sanitization markdown (DOMPurify).</a:t>
            </a:r>
            <a:endParaRPr lang="en-US" sz="1000" dirty="0"/>
          </a:p>
        </p:txBody>
      </p:sp>
      <p:pic>
        <p:nvPicPr>
          <p:cNvPr id="42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56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04 · DÉVELOPPEMENT ·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Cheminement d'une requête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731520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src/app/api/private/post/[id]/route.ts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4028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import { db } from '@/lib/db';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41448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import { getUserIdFromRequest } from '@/lib/server/api/getUserId';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42616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export async function GET(req: NextRequest, ctx)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43784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const userId = await getUserIdFromRequest(req);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44952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onsolas"/>
              </a:rPr>
              <a:t>  if (!userId) return respondError('Unauthorized', 401);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const { id } = await ctx.params;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47288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// 1. Validation entrée — Zod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  const params = z.object({ id: z.string().cuid() }).parse({ id });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49624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// 2. Query Prisma type-safe → SQL paramétré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050791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  const post = await db.post.findUnique({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25196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where: { id: params.id },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453128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include: {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654296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  user:     { select: { id, username, avatar } },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855464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  comments: { select: { id, message, datetime } },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056632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  reactions: true,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5780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},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458968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  });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60136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// 3. Retour structuré + types inférés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861304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return respondSuccess(post);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062472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1691640"/>
            <a:ext cx="3520440" cy="45720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19" y="17830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Pipeline en 5 étapes</a:t>
            </a:r>
          </a:p>
        </p:txBody>
      </p:sp>
      <p:sp>
        <p:nvSpPr>
          <p:cNvPr id="37" name="Oval 36"/>
          <p:cNvSpPr/>
          <p:nvPr/>
        </p:nvSpPr>
        <p:spPr>
          <a:xfrm>
            <a:off x="8275319" y="2240280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19" y="224028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B6D4"/>
                </a:solidFill>
                <a:latin typeface="Calibr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219456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Middleware → x-user-id</a:t>
            </a:r>
          </a:p>
        </p:txBody>
      </p:sp>
      <p:sp>
        <p:nvSpPr>
          <p:cNvPr id="40" name="Oval 39"/>
          <p:cNvSpPr/>
          <p:nvPr/>
        </p:nvSpPr>
        <p:spPr>
          <a:xfrm>
            <a:off x="8275319" y="28803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19" y="28803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59E0B"/>
                </a:solidFill>
                <a:latin typeface="Calibr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283464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Zod valide l'entrée</a:t>
            </a:r>
          </a:p>
        </p:txBody>
      </p:sp>
      <p:sp>
        <p:nvSpPr>
          <p:cNvPr id="43" name="Oval 42"/>
          <p:cNvSpPr/>
          <p:nvPr/>
        </p:nvSpPr>
        <p:spPr>
          <a:xfrm>
            <a:off x="8275319" y="352044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5319" y="3520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C4899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34747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Prisma compose le SQL</a:t>
            </a:r>
          </a:p>
        </p:txBody>
      </p:sp>
      <p:sp>
        <p:nvSpPr>
          <p:cNvPr id="46" name="Oval 45"/>
          <p:cNvSpPr/>
          <p:nvPr/>
        </p:nvSpPr>
        <p:spPr>
          <a:xfrm>
            <a:off x="8275319" y="416052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19" y="41605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11480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pg envoie SQL paramétré</a:t>
            </a:r>
          </a:p>
        </p:txBody>
      </p:sp>
      <p:sp>
        <p:nvSpPr>
          <p:cNvPr id="49" name="Oval 48"/>
          <p:cNvSpPr/>
          <p:nvPr/>
        </p:nvSpPr>
        <p:spPr>
          <a:xfrm>
            <a:off x="8275319" y="4800600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75319" y="48006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8B5CF6"/>
                </a:solidFill>
                <a:latin typeface="Calibr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475488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Réponse typée TypeScript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35 / 56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04 · DÉVELOPPEMENT ·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Requête préparée : pourquoi c'est sûr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534924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34924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5564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❌  Requête naïve — VULNÉRABLE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// ⚠️ N'EST PAS dans notre code, illustration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const email = req.body.email;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onsolas"/>
              </a:rPr>
              <a:t>const result = await db.$queryRawUnsafe(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118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onsolas"/>
              </a:rPr>
              <a:t>  `SELECT * FROM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onsolas"/>
              </a:rPr>
              <a:t>   WHERE email = '${email}'`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6052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onsolas"/>
              </a:rPr>
              <a:t>);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0916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// Si email = "x' OR '1'='1"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// → SELECT * FROM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5780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//   WHERE email = 'x' OR '1'='1'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3212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onsolas"/>
              </a:rPr>
              <a:t>// → renvoie TOUS les utilisateurs 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1691640"/>
            <a:ext cx="534924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1691640"/>
            <a:ext cx="5349240" cy="365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75564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✓  Prisma — PROTÉGÉ par défaut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// ✅ Le pattern utilisé partout dans le projet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51460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78892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const email = req.body.email;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06324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33756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const user = await db.user.findUnique({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6118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where: { email },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88620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});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16052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43484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// Prisma envoie au driver pg 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470916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//   SELECT * FROM users WHERE email = $1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9834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//   avec params = ['x' OR ''1''=''1']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525780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//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553212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// PostgreSQL traite $1 comme STRING littérale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580644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// → 0 ligne renvoyée 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36 / 56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04 · DÉVELOPPEMENT ·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Anti-SQLi : défense en profondeur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7315200" cy="86868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09728" cy="868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83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ZOD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057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1A1AA"/>
                </a:solidFill>
                <a:latin typeface="Calibri"/>
              </a:rPr>
              <a:t>Validation type + format avant tout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194560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z.string().email().min(6)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7315200" cy="86868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109728" cy="86868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8346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C4899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28346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PRISMA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108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1A1AA"/>
                </a:solidFill>
                <a:latin typeface="Calibri"/>
              </a:rPr>
              <a:t>Compose un SQL paramétré (jamais de concat)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246120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db.user.findUnique({ where: { email } })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94760"/>
            <a:ext cx="7315200" cy="86868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794760"/>
            <a:ext cx="109728" cy="8686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8862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B6D4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886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DRIVER PG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1605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1A1AA"/>
                </a:solidFill>
                <a:latin typeface="Calibri"/>
              </a:rPr>
              <a:t>Sépare query texte + array de params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4297680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PREPARE → EXECUTE($1, $2, ...)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46320"/>
            <a:ext cx="7315200" cy="86868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846320"/>
            <a:ext cx="109728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4937759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0B981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19" y="493775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POSTGRES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19" y="5212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1A1AA"/>
                </a:solidFill>
                <a:latin typeface="Calibri"/>
              </a:rPr>
              <a:t>Traite chaque param comme littéral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5349240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WHERE email = $1   (binding)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1691640"/>
            <a:ext cx="3520440" cy="45720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19" y="17830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Payload attaque</a:t>
            </a:r>
          </a:p>
        </p:txBody>
      </p:sp>
      <p:sp>
        <p:nvSpPr>
          <p:cNvPr id="31" name="Oval 30"/>
          <p:cNvSpPr/>
          <p:nvPr/>
        </p:nvSpPr>
        <p:spPr>
          <a:xfrm>
            <a:off x="8275319" y="224028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19" y="224028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F4444"/>
                </a:solidFill>
                <a:latin typeface="Calibri"/>
              </a:rP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219456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' OR 1=1-- envoyé</a:t>
            </a:r>
          </a:p>
        </p:txBody>
      </p:sp>
      <p:sp>
        <p:nvSpPr>
          <p:cNvPr id="34" name="Oval 33"/>
          <p:cNvSpPr/>
          <p:nvPr/>
        </p:nvSpPr>
        <p:spPr>
          <a:xfrm>
            <a:off x="8275319" y="28803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19" y="28803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283464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Zod : pas un email</a:t>
            </a:r>
          </a:p>
        </p:txBody>
      </p:sp>
      <p:sp>
        <p:nvSpPr>
          <p:cNvPr id="37" name="Oval 36"/>
          <p:cNvSpPr/>
          <p:nvPr/>
        </p:nvSpPr>
        <p:spPr>
          <a:xfrm>
            <a:off x="8275319" y="352044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19" y="3520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C4899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34747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Prisma : paramètre</a:t>
            </a:r>
          </a:p>
        </p:txBody>
      </p:sp>
      <p:sp>
        <p:nvSpPr>
          <p:cNvPr id="40" name="Oval 39"/>
          <p:cNvSpPr/>
          <p:nvPr/>
        </p:nvSpPr>
        <p:spPr>
          <a:xfrm>
            <a:off x="8275319" y="4160520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19" y="41605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B6D4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411480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Driver : binding</a:t>
            </a:r>
          </a:p>
        </p:txBody>
      </p:sp>
      <p:sp>
        <p:nvSpPr>
          <p:cNvPr id="43" name="Oval 42"/>
          <p:cNvSpPr/>
          <p:nvPr/>
        </p:nvSpPr>
        <p:spPr>
          <a:xfrm>
            <a:off x="8275319" y="480060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5319" y="48006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75488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PG : 0 résultat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A1A1AA"/>
                </a:solidFill>
                <a:latin typeface="Calibri"/>
              </a:rPr>
              <a:t>OWASP Top 10 — A03:2021 Injection · neutralisée structurellement par Prisma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37 / 56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QUALITÉ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 de tests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000500" y="1828800"/>
            <a:ext cx="1234440" cy="91440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000500" y="18288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83280" y="2743200"/>
            <a:ext cx="2468880" cy="128016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383280" y="27432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60320" y="4023360"/>
            <a:ext cx="4114800" cy="146304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560320" y="402336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1783080"/>
            <a:ext cx="4480560" cy="448056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498080" y="1874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Pyramide adoptée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0" y="2331720"/>
            <a:ext cx="91440" cy="8229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(Playwright)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469880" y="237744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469880" y="2377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0" y="26974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critiques : inscription, post, chat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98080" y="3246120"/>
            <a:ext cx="91440" cy="8229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68096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API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469880" y="329184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469880" y="3291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place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80960" y="36118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ts-jest sur /api/*  (auth, posts, chat)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0" y="4160520"/>
            <a:ext cx="91440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68096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Unitaires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469880" y="420624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0469880" y="42062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place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6809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Helpers, validators Zod, hashing, JWT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498080" y="5074920"/>
            <a:ext cx="91440" cy="8229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680960" y="5074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&amp; types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469880" y="512064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469880" y="5120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bloquant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680960" y="5440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 + TypeScript strict, prisma generate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7724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cible 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sur les modules critiques (auth, chat, persistence). </a:t>
            </a:r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Jeux d'essai documentés dans tests-strategy.md.</a:t>
            </a:r>
            <a:endParaRPr lang="en-US" sz="1100" dirty="0"/>
          </a:p>
        </p:txBody>
      </p:sp>
      <p:pic>
        <p:nvPicPr>
          <p:cNvPr id="35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56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QUALITÉ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CI/CD GitHub Actions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3434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0100" y="2423160"/>
            <a:ext cx="640080" cy="64008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001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↗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006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PR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006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· feature-*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0594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85166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217420" y="2423160"/>
            <a:ext cx="640080" cy="6400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2174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↓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9738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&amp; Setup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9738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actions/checkout · setup-bun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2326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26898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634740" y="2423160"/>
            <a:ext cx="640080" cy="6400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63474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▤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31470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1470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install --frozen-lockfile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4058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68630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052060" y="2423160"/>
            <a:ext cx="640080" cy="6400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05206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3202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generate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3202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bunx prisma generate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5790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10362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469380" y="2423160"/>
            <a:ext cx="640080" cy="6400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4693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≡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14934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4934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run lint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47522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752094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7886700" y="2423160"/>
            <a:ext cx="640080" cy="6400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8867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✓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56666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56666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run test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89254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893826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304020" y="2423160"/>
            <a:ext cx="640080" cy="64008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93040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◧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898398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Next.js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98398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run build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030986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035558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0721340" y="2423160"/>
            <a:ext cx="640080" cy="6400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072134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▲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040130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Vercel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040130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ou prod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48640" y="475488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31520" y="4846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31520" y="5120640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31520" y="5312664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[push, pull_request]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31520" y="5504688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31520" y="5696712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build: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1520" y="5888736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31520" y="6080760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 [checkout, setup-bun, install, prisma:generate, lint, test, build]</a:t>
            </a:r>
            <a:endParaRPr lang="en-US" sz="1000" dirty="0"/>
          </a:p>
        </p:txBody>
      </p:sp>
      <p:pic>
        <p:nvPicPr>
          <p:cNvPr id="60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61" name="Text 58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56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05 · DÉPLOIEMENT ·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Du commit à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1508760" cy="118872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1508760" cy="7315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8B5CF6"/>
                </a:solidFill>
                <a:latin typeface="Calibri"/>
              </a:rPr>
              <a:t>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git push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Consolas"/>
              </a:rPr>
              <a:t>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251460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A1A1AA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0" y="2011680"/>
            <a:ext cx="1508760" cy="118872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94560" y="2011680"/>
            <a:ext cx="1508760" cy="7315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219456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6B6D4"/>
                </a:solidFill>
                <a:latin typeface="Calibri"/>
              </a:rPr>
              <a:t>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74320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GitHub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9718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Consolas"/>
              </a:rPr>
              <a:t>ci.yml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7" y="251460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A1A1AA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0" y="2011680"/>
            <a:ext cx="1508760" cy="118872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0" y="2011680"/>
            <a:ext cx="150876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219456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74320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Lint +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29718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Consolas"/>
              </a:rPr>
              <a:t>Jest passe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7528" y="251460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A1A1AA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0" y="2011680"/>
            <a:ext cx="1508760" cy="118872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0" y="2011680"/>
            <a:ext cx="150876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0" y="219456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F59E0B"/>
                </a:solidFill>
                <a:latin typeface="Calibri"/>
              </a:rPr>
              <a:t>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274320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29718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Consolas"/>
              </a:rPr>
              <a:t>next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251460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A1A1AA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0" y="2011680"/>
            <a:ext cx="1508760" cy="118872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32320" y="2011680"/>
            <a:ext cx="1508760" cy="73152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0" y="219456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F472B6"/>
                </a:solidFill>
                <a:latin typeface="Calibri"/>
              </a:rPr>
              <a:t>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274320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Vercel deploy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29718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Consolas"/>
              </a:rPr>
              <a:t>Edge runtime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9367" y="251460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A1A1AA"/>
                </a:solidFill>
                <a:latin typeface="Calibri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78240" y="2011680"/>
            <a:ext cx="1508760" cy="118872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78240" y="2011680"/>
            <a:ext cx="1508760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219456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EC4899"/>
                </a:solidFill>
                <a:latin typeface="Calibri"/>
              </a:rP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274320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Production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29718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Consolas"/>
              </a:rPr>
              <a:t>URL live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749039"/>
            <a:ext cx="6858000" cy="246888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7240" y="3931920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60120" y="3931920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43000" y="3931920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71600" y="3840479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.github/workflows/ci.yml — déclencheurs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4297679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name: CI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4498847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470001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on: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4901183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push: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102351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branches: [main]              # auto-deploy sur main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5303519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pull_request:                   # check sur PR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50468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branches: [main, develop]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5705855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workflow_dispatch:              # bouton manuel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92440" y="3749039"/>
            <a:ext cx="3520440" cy="246888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75319" y="3840479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Chiffres clés</a:t>
            </a:r>
          </a:p>
        </p:txBody>
      </p:sp>
      <p:sp>
        <p:nvSpPr>
          <p:cNvPr id="55" name="Oval 54"/>
          <p:cNvSpPr/>
          <p:nvPr/>
        </p:nvSpPr>
        <p:spPr>
          <a:xfrm>
            <a:off x="8275319" y="4297679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75319" y="4297679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4251959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~2 min commit → preview</a:t>
            </a:r>
          </a:p>
        </p:txBody>
      </p:sp>
      <p:sp>
        <p:nvSpPr>
          <p:cNvPr id="58" name="Oval 57"/>
          <p:cNvSpPr/>
          <p:nvPr/>
        </p:nvSpPr>
        <p:spPr>
          <a:xfrm>
            <a:off x="8275319" y="4937759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75319" y="4937759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B6D4"/>
                </a:solidFill>
                <a:latin typeface="Calibri"/>
              </a:rPr>
              <a:t>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0" y="489204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Lint + Test bloquants</a:t>
            </a:r>
          </a:p>
        </p:txBody>
      </p:sp>
      <p:sp>
        <p:nvSpPr>
          <p:cNvPr id="61" name="Oval 60"/>
          <p:cNvSpPr/>
          <p:nvPr/>
        </p:nvSpPr>
        <p:spPr>
          <a:xfrm>
            <a:off x="8275319" y="5577840"/>
            <a:ext cx="411480" cy="411480"/>
          </a:xfrm>
          <a:prstGeom prst="ellips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75319" y="55778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472B6"/>
                </a:solidFill>
                <a:latin typeface="Calibri"/>
              </a:rPr>
              <a:t>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55321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Vercel preview par PR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40 / 56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05 · DÉPLOIEMENT ·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Workflow GitHub Actions — détail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731520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.github/workflows/ci.yml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name: 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6032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push:        { branches: [main]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4320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pull_request: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2608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jobs: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10896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build: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29184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runs-on: ubuntu-latest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7472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timeout-minutes: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65760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  steps: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4048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      - uses: actions/checkout@v4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02336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      - uses: oven-sh/setup-bun@v1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20624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    with: { bun-version: '1' 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8912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      - name: Install deps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7200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      run: bun install --frozen-lockfile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75488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      - name: Prisma generate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3776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      run: bunx prisma generate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12064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      - name: Lint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30352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      run: bun run lint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48640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      - name: Tests d'intégration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66928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      run: bun run test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85216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      - name: Build Next.js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03504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      run: bun run build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2440" y="1691640"/>
            <a:ext cx="3520440" cy="45720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5319" y="17830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Que fait chaque étape ?</a:t>
            </a:r>
          </a:p>
        </p:txBody>
      </p:sp>
      <p:sp>
        <p:nvSpPr>
          <p:cNvPr id="43" name="Oval 42"/>
          <p:cNvSpPr/>
          <p:nvPr/>
        </p:nvSpPr>
        <p:spPr>
          <a:xfrm>
            <a:off x="8275319" y="2240280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5319" y="224028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8B5CF6"/>
                </a:solidFill>
                <a:latin typeface="Calibri"/>
              </a:rPr>
              <a:t>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219456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checkout : clone le repo</a:t>
            </a:r>
          </a:p>
        </p:txBody>
      </p:sp>
      <p:sp>
        <p:nvSpPr>
          <p:cNvPr id="46" name="Oval 45"/>
          <p:cNvSpPr/>
          <p:nvPr/>
        </p:nvSpPr>
        <p:spPr>
          <a:xfrm>
            <a:off x="8275319" y="2880360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19" y="28803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B6D4"/>
                </a:solidFill>
                <a:latin typeface="Calibri"/>
              </a:rPr>
              <a:t>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283464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setup-bun : runtime CI</a:t>
            </a:r>
          </a:p>
        </p:txBody>
      </p:sp>
      <p:sp>
        <p:nvSpPr>
          <p:cNvPr id="49" name="Oval 48"/>
          <p:cNvSpPr/>
          <p:nvPr/>
        </p:nvSpPr>
        <p:spPr>
          <a:xfrm>
            <a:off x="8275319" y="352044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75319" y="3520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59E0B"/>
                </a:solidFill>
                <a:latin typeface="Calibri"/>
              </a:rPr>
              <a:t>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34747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bun install : deps lockées</a:t>
            </a:r>
          </a:p>
        </p:txBody>
      </p:sp>
      <p:sp>
        <p:nvSpPr>
          <p:cNvPr id="52" name="Oval 51"/>
          <p:cNvSpPr/>
          <p:nvPr/>
        </p:nvSpPr>
        <p:spPr>
          <a:xfrm>
            <a:off x="8275319" y="416052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75319" y="41605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C4899"/>
                </a:solidFill>
                <a:latin typeface="Calibri"/>
              </a:rPr>
              <a:t>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411480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prisma generate : types</a:t>
            </a:r>
          </a:p>
        </p:txBody>
      </p:sp>
      <p:sp>
        <p:nvSpPr>
          <p:cNvPr id="55" name="Oval 54"/>
          <p:cNvSpPr/>
          <p:nvPr/>
        </p:nvSpPr>
        <p:spPr>
          <a:xfrm>
            <a:off x="8275319" y="480060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75319" y="48006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475488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lint + test : qualité</a:t>
            </a:r>
          </a:p>
        </p:txBody>
      </p:sp>
      <p:sp>
        <p:nvSpPr>
          <p:cNvPr id="58" name="Oval 57"/>
          <p:cNvSpPr/>
          <p:nvPr/>
        </p:nvSpPr>
        <p:spPr>
          <a:xfrm>
            <a:off x="8275319" y="5440680"/>
            <a:ext cx="411480" cy="411480"/>
          </a:xfrm>
          <a:prstGeom prst="ellips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75319" y="544068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472B6"/>
                </a:solidFill>
                <a:latin typeface="Calibri"/>
              </a:rPr>
              <a:t>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0" y="539496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build : artefact .next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41 / 56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05 · DÉPLOIEMENT ·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Triggers : 3 façons de déclencher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65760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657600" cy="91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6B6D4"/>
                </a:solidFill>
                <a:latin typeface="Calibri"/>
              </a:rPr>
              <a:t>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6596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push sur 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3172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1A1AA"/>
                </a:solidFill>
                <a:latin typeface="Calibri"/>
              </a:rPr>
              <a:t>Merge d'une PR sur main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88920"/>
            <a:ext cx="3291840" cy="4572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8529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CI complet + auto-deploy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044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76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push: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32504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branches: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88536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    - 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6B6D4"/>
                </a:solidFill>
                <a:latin typeface="Calibri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A1A1AA"/>
                </a:solidFill>
                <a:latin typeface="Calibri"/>
              </a:rPr>
              <a:t>Déploiement auto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235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A1A1AA"/>
                </a:solidFill>
                <a:latin typeface="Calibri"/>
              </a:rPr>
              <a:t>en production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1691640"/>
            <a:ext cx="365760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1691640"/>
            <a:ext cx="365760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196596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59E0B"/>
                </a:solidFill>
                <a:latin typeface="Calibri"/>
              </a:rPr>
              <a:t>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196596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pull_request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33172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1A1AA"/>
                </a:solidFill>
                <a:latin typeface="Calibri"/>
              </a:rPr>
              <a:t>Ouverture / update d'une PR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6280" y="2788920"/>
            <a:ext cx="3291840" cy="4572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28529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CI + Preview Vercel + Neon branch isolée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52044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on: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776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pull_request: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032504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branches: [main, develop]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288536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types: [opened, synchronize]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9834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59E0B"/>
                </a:solidFill>
                <a:latin typeface="Calibri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5349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A1A1AA"/>
                </a:solidFill>
                <a:latin typeface="Calibri"/>
              </a:rPr>
              <a:t>Status check obligatoire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56235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A1A1AA"/>
                </a:solidFill>
                <a:latin typeface="Calibri"/>
              </a:rPr>
              <a:t>avant merge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1691640"/>
            <a:ext cx="365760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1691640"/>
            <a:ext cx="3657600" cy="9144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196596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472B6"/>
                </a:solidFill>
                <a:latin typeface="Calibri"/>
              </a:rPr>
              <a:t>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196596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workflow_dispatch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33172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1A1AA"/>
                </a:solidFill>
                <a:latin typeface="Calibri"/>
              </a:rPr>
              <a:t>Bouton manuel dans GitHub UI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21040" y="2788920"/>
            <a:ext cx="3291840" cy="4572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28529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Rejeu d'un déploiement, debug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352044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on: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3776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workflow_dispatch: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032504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inputs: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4288536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  env: { type: choice }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9834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472B6"/>
                </a:solidFill>
                <a:latin typeface="Calibri"/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5349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A1A1AA"/>
                </a:solidFill>
                <a:latin typeface="Calibri"/>
              </a:rPr>
              <a:t>Lancement manuel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56235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A1A1AA"/>
                </a:solidFill>
                <a:latin typeface="Calibri"/>
              </a:rPr>
              <a:t>pour rebuild d'urgence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42 / 56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DÉPLOIEMENT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— image applicative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1 — deps (cache layer)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1401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oven/bun:1 AS deps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58775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76148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package.json bun.lock ./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3522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bun install --frozen-lockfile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10896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28269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2 — builder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45643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oven/bun:1 AS builder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63016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380390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--from=deps /app/node_modules ./node_modules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397764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15137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bunx prisma generate &amp;&amp; bun run build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32511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49884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3 — runner (image légère)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67258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oven/bun:1-slim AS runner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484632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02005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 NODE_ENV=production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19379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--from=builder /app/.next ./.next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36752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--from=builder /app/node_modules ./node_modules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77240" y="554126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--from=builder /app/package.json ./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" y="571500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3000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7240" y="588873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["bun", "run", "start"]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techniques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: cache deps séparé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runtime (build &amp; run)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generate avant build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◯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slim finale (~150 Mo)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secret dans l'image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3000 explicite</a:t>
            </a:r>
            <a:endParaRPr lang="en-US" sz="1100" dirty="0"/>
          </a:p>
        </p:txBody>
      </p:sp>
      <p:pic>
        <p:nvPicPr>
          <p:cNvPr id="52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56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DÉPLOIEMENT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— env local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1401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58775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76148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3522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"3000:3000"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10896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28269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DATABASE_URL: postgresql://postgres:postgres@db:5432/social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45643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REDIS_URL: Upstash Redis REST (UPSTASH_REDIS_REST_URL)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63016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JWT_SECRET: ${JWT_SECRET}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380390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[db, redis]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397764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15137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32511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postgres:16-alpine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49884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["5432:5432"]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67258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484632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POSTGRES_DB: social-network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02005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POSTGRES_USER: postgres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19379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POSTGRES_PASSWORD: postgres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36752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77240" y="554126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redis: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" y="571500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redis:7-alpine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7240" y="588873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["6379:6379"]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compose ?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⚓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Reproduit prod en local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+ Redis + App orchestrés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depends_on respecté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d'env via .env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▷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= ready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dev (hot reload)</a:t>
            </a:r>
            <a:endParaRPr lang="en-US" sz="1100" dirty="0"/>
          </a:p>
        </p:txBody>
      </p:sp>
      <p:pic>
        <p:nvPicPr>
          <p:cNvPr id="52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56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DÉPLOIEMENT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· Vercel + Neon + Upstash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80060" y="1691640"/>
            <a:ext cx="3703320" cy="42062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0060" y="1691640"/>
            <a:ext cx="3703320" cy="45720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8006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LOCAL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08660" y="2331720"/>
            <a:ext cx="548640" cy="54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866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48740" y="2331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48740" y="2651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Redis + App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08660" y="3474720"/>
            <a:ext cx="548640" cy="54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0866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8740" y="3474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+ hot reload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48740" y="3794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dev profil dev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08660" y="4617720"/>
            <a:ext cx="548640" cy="54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08660" y="4617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↻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48740" y="4617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auto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48740" y="4937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migrate dev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55948" y="3794760"/>
            <a:ext cx="9144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229100" y="1691640"/>
            <a:ext cx="3703320" cy="42062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229100" y="1691640"/>
            <a:ext cx="3703320" cy="4572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22910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PRÉ-PROD / CI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57700" y="2331720"/>
            <a:ext cx="548640" cy="54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45770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◉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097780" y="2331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97780" y="2651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· Test · Build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57700" y="3474720"/>
            <a:ext cx="548640" cy="54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45770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❀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097780" y="3474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Vercel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97780" y="3794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unique par PR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57700" y="4617720"/>
            <a:ext cx="548640" cy="54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457700" y="4617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⊕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097780" y="4617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Branching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97780" y="4937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isolée par PR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904988" y="3794760"/>
            <a:ext cx="9144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7978140" y="1691640"/>
            <a:ext cx="3703320" cy="42062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7978140" y="1691640"/>
            <a:ext cx="3703320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97814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06740" y="2331720"/>
            <a:ext cx="548640" cy="54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20674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▲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846820" y="2331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846820" y="2651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edge functions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206740" y="3474720"/>
            <a:ext cx="548640" cy="54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20674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▤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8846820" y="3474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PostgreSQL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846820" y="3794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main + prod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206740" y="4617720"/>
            <a:ext cx="548640" cy="54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8206740" y="4617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8846820" y="4617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Redis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846820" y="4937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· pay-as-you-go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6035040"/>
            <a:ext cx="11064240" cy="27432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77240" y="6035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Vercel one-click · Healthcheck applicatif · Secrets via env vars (jamais committés) · SSL automatique.</a:t>
            </a:r>
            <a:endParaRPr lang="en-US" sz="1000" dirty="0"/>
          </a:p>
        </p:txBody>
      </p:sp>
      <p:pic>
        <p:nvPicPr>
          <p:cNvPr id="54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5" name="Text 52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56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Veille technique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suivies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2240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Blog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2514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Annonces Next.js, App Router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8803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2880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Docs (canary)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31546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Components, Actions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520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80160" y="3520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Cheat Sheets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80160" y="37947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applicative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/ WHATWG specs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44348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HTTP, cookies, fetch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8006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✦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 dev community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5074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Theo, Lee Robinson, Dan Abramov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54406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▷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8016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— Theo, Fireship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5715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Synthèses &amp; démos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63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46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46520" y="224028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446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40880" y="2240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04088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: signal-to-noise élevé, sources primaires d'abord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46520" y="301752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4465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040880" y="3017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04088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 / matin, Pocket pour le offline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46520" y="379476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4652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4088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04088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preuve de concept si la techno entre dans le projet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46520" y="457200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446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04088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040880" y="4846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dans Obsidian, lien vers la source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46520" y="534924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44652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040880" y="5349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Partager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040880" y="5623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équipe sur les choix structurants</a:t>
            </a:r>
            <a:endParaRPr lang="en-US" sz="1000" dirty="0"/>
          </a:p>
        </p:txBody>
      </p:sp>
      <p:pic>
        <p:nvPicPr>
          <p:cNvPr id="4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/ 56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du projet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endParaRPr lang="en-US" sz="11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69164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38328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83280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1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1792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6217920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1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52560" y="169164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5256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9052560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611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features livrées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5532120" cy="23317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graphicFrame>
        <p:nvGraphicFramePr>
          <p:cNvPr id="19" name="Chart 0" descr=""/>
          <p:cNvGraphicFramePr/>
          <p:nvPr/>
        </p:nvGraphicFramePr>
        <p:xfrm>
          <a:off x="640080" y="4069080"/>
          <a:ext cx="534924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6263640" y="3977640"/>
            <a:ext cx="5532120" cy="23317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00800" y="406908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de travail par phase (jours)</a:t>
            </a:r>
            <a:endParaRPr lang="en-US" sz="11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400800" y="4343400"/>
          <a:ext cx="521208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23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56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 · BC01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une application sécurisée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BC01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compétences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7223760" cy="15544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0" y="1783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le bloc consiste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210312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Concevoir, développer et tester une application en intégrant les principes de sécurité dès la phase de conception.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couvertes par Konekt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703320"/>
            <a:ext cx="91440" cy="10515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Maquetter une application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Wireframes + mockups 6 pages principales, design system Konekt dédié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3703320"/>
            <a:ext cx="91440" cy="10515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4652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une interface utilisateur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App Router, React Server Components, Tailwind + shadcn/ui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4846320"/>
            <a:ext cx="91440" cy="10515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des composants réutilisables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Button, Avatar, Card, Dialog, Input — bibliothèque cohérente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217920" y="4846320"/>
            <a:ext cx="91440" cy="10515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4652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Intégrer la sécurité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 (jose), bcrypt cost 12, cookies HttpOnly, validation Zod, OWASP Top 10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du dossier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743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applicative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029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JWT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01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01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RGPD</a:t>
            </a:r>
            <a:endParaRPr lang="en-US" sz="10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/ 56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 · BC02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et développer la persistance des données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BC02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compétences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7223760" cy="15544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0" y="1783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le bloc consiste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210312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Modéliser une base de données relationnelle, écrire les requêtes optimisées et garantir l'intégrité.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couvertes par Konekt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703320"/>
            <a:ext cx="91440" cy="10515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le besoin et concevoir un MCD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user stories → 18 entités identifiées, cardinalités explicites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3703320"/>
            <a:ext cx="91440" cy="10515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4652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place une base relationnelle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Neon, migrations versionnées prisma/migrations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4846320"/>
            <a:ext cx="91440" cy="10515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des composants d'accès aux données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 type-safe, helpers src/lib/server/&lt;domaine&gt;/&lt;entité&gt;.ts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217920" y="4846320"/>
            <a:ext cx="91440" cy="10515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4652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l'intégrité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PK, FK, UNIQUE composées (réactions), ENUM métier, cascades maîtrisées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du dossier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743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 / MLD / MPD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029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modèles Prisma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relations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01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01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enums</a:t>
            </a:r>
            <a:endParaRPr lang="en-US" sz="10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/ 56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 · BC03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et développer une application multicouche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BC03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compétences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7223760" cy="15544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0" y="1783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le bloc consiste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210312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une application répartie front + back avec une logique métier propre, des API et du temps réel.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couvertes par Konekt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703320"/>
            <a:ext cx="91440" cy="10515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multicouche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→ Métier → Persistance → Infrastructure, frontières claires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3703320"/>
            <a:ext cx="91440" cy="10515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4652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la partie front-end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Router, Server Components, hooks personnalisés (use-real-time-chat…)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4846320"/>
            <a:ext cx="91440" cy="10515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la partie back-end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Handlers REST + SSE, Server Actions, validation Zod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217920" y="4846320"/>
            <a:ext cx="91440" cy="10515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4652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Server-Sent Events + Upstash Redis (compatible serverless Vercel)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du dossier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743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endpoints API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029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4 couches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SSE temps réel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01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01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</a:t>
            </a:r>
            <a:endParaRPr lang="en-US" sz="10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56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 · BC03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le déploiement d'une application sécurisée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BC03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compétences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7223760" cy="15544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0" y="1783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le bloc consiste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210312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place une chaîne CI/CD complète, conteneuriser et déployer en environnement de production sécurisé.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couvertes par Konekt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703320"/>
            <a:ext cx="9144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et documenter le déploiement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multi-stage, docker-compose, variables d'env documentées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3703320"/>
            <a:ext cx="9144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4652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Contribuer à la mise en production DevOps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: lint + test + build + deploy, secrets cloisonnés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4846320"/>
            <a:ext cx="9144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Industrialiser la livraison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(preview par PR + prod), Neon branching pour BDD isolée par PR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217920" y="4846320"/>
            <a:ext cx="9144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4652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l'exploitabilité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Healthcheck, rollback Vercel one-click, logs structurés, monitoring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du dossier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743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multi-stage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029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GitHub Actions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Neon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01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01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+ monitoring</a:t>
            </a:r>
            <a:endParaRPr lang="en-US" sz="10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/ 56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Difficultés rencontrées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920240"/>
            <a:ext cx="868680" cy="868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9202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↻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783080" y="1965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 sans WebSocket persistant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88036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46520" y="1920240"/>
            <a:ext cx="868680" cy="868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46520" y="19202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⊕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452360" y="1965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Prisma de bout en bout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88036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77240" y="4251960"/>
            <a:ext cx="868680" cy="868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240" y="42519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◉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783080" y="4297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custom sans NextAuth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521208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402336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446520" y="4251960"/>
            <a:ext cx="868680" cy="868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46520" y="42519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▤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7452360" y="4297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jury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46520" y="521208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000" dirty="0"/>
          </a:p>
        </p:txBody>
      </p:sp>
      <p:pic>
        <p:nvPicPr>
          <p:cNvPr id="25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/ 56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j'ai appris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techniques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23500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22402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strict, génériques, schémas Zod partagés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8072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2697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— App Router, Server Components, Actions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2644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05840" y="3154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— modélisation, migrations, requêtes complexes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37216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relations riches, contraintes, indexation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41788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05840" y="4069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— cache + buffer SSE serverless-compatible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46360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05840" y="45262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applicative — OWASP, RGPD, JWT, bcrypt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" y="50932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05840" y="4983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— multi-stage, compose, healthcheck, secrets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55504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05840" y="5440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GitHub Actions — pipeline lint+test+build+deploy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63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46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transverses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92240" y="23500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20840" y="22402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 d'un gros projet en sprints + user stories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28072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720840" y="2697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technique adressée à des développeurs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32644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720840" y="3154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critique du code des coéquipiers (code review)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92240" y="37216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72084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Veille technique organisée et soutenable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92240" y="41788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720840" y="4069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 et priorisation pragmatique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92240" y="46360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720840" y="45262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 de choix d'architecture face à un jury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92240" y="50932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720840" y="4983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métier ↔ technique (atout de reconversion)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55504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720840" y="5440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Endurance sur un projet long de plusieurs mois</a:t>
            </a:r>
            <a:endParaRPr lang="en-US" sz="1100" dirty="0"/>
          </a:p>
        </p:txBody>
      </p:sp>
      <p:pic>
        <p:nvPicPr>
          <p:cNvPr id="41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/ 56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d'amélioration &amp; roadmap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80060" y="1691640"/>
            <a:ext cx="3703320" cy="45720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0060" y="1691640"/>
            <a:ext cx="3703320" cy="45720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8006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TERME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8660" y="2468880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82980" y="23774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Sanitization markdown (DOMPurify) — XSS résiduelle ChatMessage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8660" y="3429000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82980" y="33375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/login, /register, /chat/send via @upstash/ratelimit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8660" y="4389120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82980" y="4297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HTTP de sécurité (CSP, X-Frame, Referrer)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8660" y="5349240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82980" y="5257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+ alertes prod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29100" y="1691640"/>
            <a:ext cx="3703320" cy="45720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229100" y="1691640"/>
            <a:ext cx="3703320" cy="4572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22910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TERME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57700" y="246888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732020" y="23774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E2E Playwright sur les parcours critiques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57700" y="342900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732020" y="33375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RGPD : suppression compte + export JSON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57700" y="438912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732020" y="4297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push natives (Web Push)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57700" y="534924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732020" y="5257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Modération &amp; signalement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978140" y="1691640"/>
            <a:ext cx="3703320" cy="45720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978140" y="1691640"/>
            <a:ext cx="3703320" cy="4572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97814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TERME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06740" y="246888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481060" y="23774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Décomposer en services (chat → ws dédié)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06740" y="342900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481060" y="33375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contenu personnalisées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06740" y="438912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481060" y="4297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mobile dédiée (React Native ?)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206740" y="53492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481060" y="5257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produit + analytics</a:t>
            </a:r>
            <a:endParaRPr lang="en-US" sz="11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/ 56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828800"/>
            <a:ext cx="91440" cy="164592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830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la certification, ce projet matérialise ma transition concrète vers le métier de Concepteur Développeur d'Applications.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600200" y="3886200"/>
            <a:ext cx="594360" cy="5943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600200" y="3886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4572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complet maîtrisé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937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conception à la production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365760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434840" y="3886200"/>
            <a:ext cx="594360" cy="5943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34840" y="3886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474720" y="4572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&amp; RGPD pris au sérieux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4720" y="4937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roadmap durcissement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365760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269480" y="3886200"/>
            <a:ext cx="594360" cy="5943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269480" y="3886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09360" y="4572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techniques justifiés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09360" y="4937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assumés et documentés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052560" y="365760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0104120" y="3886200"/>
            <a:ext cx="594360" cy="5943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104120" y="3886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144000" y="4572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Recul critique acquis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0" y="4937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identifiées, plan d'évolution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pour une alternance · 12 mois · Normandie / télétravail · CDA RNCP 37873</a:t>
            </a:r>
            <a:endParaRPr lang="en-US" sz="1200" dirty="0"/>
          </a:p>
        </p:txBody>
      </p:sp>
      <p:pic>
        <p:nvPicPr>
          <p:cNvPr id="2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/ 56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200400"/>
            <a:ext cx="7315200" cy="7315200"/>
          </a:xfrm>
          <a:prstGeom prst="ellipse">
            <a:avLst/>
          </a:prstGeom>
          <a:solidFill>
            <a:srgbClr val="EC4899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589520" y="-2743200"/>
            <a:ext cx="7315200" cy="73152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  <p:txBody>
          <a:bodyPr/>
          <a:p/>
        </p:txBody>
      </p:sp>
      <p:pic>
        <p:nvPicPr>
          <p:cNvPr id="4" name="Image 0" descr="/sessions/sweet-funny-newton/mnt/outputs/build/assets/konekt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371600"/>
            <a:ext cx="4114800" cy="1417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108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aux questions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914400" y="521208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272730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51560" y="52120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17320" y="5212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djlike@hotmail.fr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520440" y="521208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272730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657600" y="52120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◌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023360" y="5212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clecart.fr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126480" y="521208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272730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263640" y="52120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629400" y="5212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06 70 02 80 47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732520" y="521208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272730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869680" y="52120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⟨/⟩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235440" y="5212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github.com/arocchet/social-network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— Concepteur Développeur d'Applications · Zone01 Rouen Normandie · 2026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01 · MÉTHODE ·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Workflow Git en équipe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7223760" cy="429768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842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4899"/>
                </a:solidFill>
                <a:latin typeface="Consolas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2103120"/>
            <a:ext cx="5577840" cy="36576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350008" y="2048255"/>
            <a:ext cx="146304" cy="146304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81728" y="2048255"/>
            <a:ext cx="146304" cy="146304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13448" y="2048255"/>
            <a:ext cx="146304" cy="146304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1272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Consolas"/>
              </a:rPr>
              <a:t>develop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65960" y="3246120"/>
            <a:ext cx="5577840" cy="365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350008" y="3191256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15868" y="3191256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81728" y="3191256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47588" y="3191256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13448" y="3191256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2702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onsolas"/>
              </a:rPr>
              <a:t>feature/auth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4389120"/>
            <a:ext cx="557784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50008" y="43342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904488" y="43342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58968" y="43342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13448" y="43342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3218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onsolas"/>
              </a:rPr>
              <a:t>feature/likes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5960" y="5440680"/>
            <a:ext cx="5577840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350008" y="538581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904488" y="538581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58968" y="538581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13448" y="538581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38404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A1A1AA"/>
                </a:solidFill>
                <a:latin typeface="Consolas"/>
              </a:rPr>
              <a:t>PR 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3337560"/>
            <a:ext cx="36576" cy="1051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248656" y="324612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59" y="38404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A1A1AA"/>
                </a:solidFill>
                <a:latin typeface="Consolas"/>
              </a:rPr>
              <a:t>PR 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79" y="3337560"/>
            <a:ext cx="36576" cy="2103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28816" y="324612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49039" y="25146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A1A1AA"/>
                </a:solidFill>
                <a:latin typeface="Consolas"/>
              </a:rPr>
              <a:t>release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31920" y="2194560"/>
            <a:ext cx="36576" cy="105156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877056" y="2103120"/>
            <a:ext cx="146304" cy="146304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669280"/>
            <a:ext cx="685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A1A1AA"/>
                </a:solidFill>
                <a:latin typeface="Calibri"/>
              </a:rPr>
              <a:t>● commit  ↑ Pull Request validée  →  merge  ←  vers branche parente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92440" y="1691640"/>
            <a:ext cx="3520440" cy="429768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19" y="17830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Règles d'équipe</a:t>
            </a:r>
          </a:p>
        </p:txBody>
      </p:sp>
      <p:sp>
        <p:nvSpPr>
          <p:cNvPr id="42" name="Oval 41"/>
          <p:cNvSpPr/>
          <p:nvPr/>
        </p:nvSpPr>
        <p:spPr>
          <a:xfrm>
            <a:off x="8275319" y="21945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19" y="21945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59E0B"/>
                </a:solidFill>
                <a:latin typeface="Calibr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214884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1 feature = 1 branche</a:t>
            </a:r>
          </a:p>
        </p:txBody>
      </p:sp>
      <p:sp>
        <p:nvSpPr>
          <p:cNvPr id="45" name="Oval 44"/>
          <p:cNvSpPr/>
          <p:nvPr/>
        </p:nvSpPr>
        <p:spPr>
          <a:xfrm>
            <a:off x="8275319" y="2971800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75319" y="29718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B6D4"/>
                </a:solidFill>
                <a:latin typeface="Calibri"/>
              </a:rPr>
              <a:t>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292608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PR obligatoire vers develop</a:t>
            </a:r>
          </a:p>
        </p:txBody>
      </p:sp>
      <p:sp>
        <p:nvSpPr>
          <p:cNvPr id="48" name="Oval 47"/>
          <p:cNvSpPr/>
          <p:nvPr/>
        </p:nvSpPr>
        <p:spPr>
          <a:xfrm>
            <a:off x="8275319" y="374904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75319" y="37490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70332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CI verte avant merge</a:t>
            </a:r>
          </a:p>
        </p:txBody>
      </p:sp>
      <p:sp>
        <p:nvSpPr>
          <p:cNvPr id="51" name="Oval 50"/>
          <p:cNvSpPr/>
          <p:nvPr/>
        </p:nvSpPr>
        <p:spPr>
          <a:xfrm>
            <a:off x="8275319" y="452628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75319" y="452628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C4899"/>
                </a:solidFill>
                <a:latin typeface="Calibri"/>
              </a:rPr>
              <a:t>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78240" y="448056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develop → main = release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A1A1AA"/>
                </a:solidFill>
                <a:latin typeface="Calibri"/>
              </a:rPr>
              <a:t>6 contributeurs · 12+ issues majeures · PR #118 stabilisation Docker/Neon/Prisma/Redis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6 / 56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01 · MÉTHODE ·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Anatomie d'une Pull Request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731520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7315200" cy="41148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685800" cy="228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685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78308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#118  Stabilisation Docker/Neon/Prisma/Redis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arocchet  wants to merge  18 commits  into  main  ← from  fix/docker-stabilisation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Commits (Conventional Commits)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2926079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8036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feat(docker):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880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multi-stage build avec image Bun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200399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154679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fix(prisma):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154679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openssl + migrate deploy au boot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474720"/>
            <a:ext cx="109728" cy="109728"/>
          </a:xfrm>
          <a:prstGeom prst="ellipse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4290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chore(deps):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42900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bump @upstash/redis to 1.35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3749039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7033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B5CF6"/>
                </a:solidFill>
                <a:latin typeface="Consolas"/>
              </a:rPr>
              <a:t>test(auth):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70332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add register integration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519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Checks CI · GitHub Actions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457200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572000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553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lint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55371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passed in 22s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48463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846320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82803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482803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passed in 1m 14s</a:t>
            </a:r>
          </a:p>
        </p:txBody>
      </p:sp>
      <p:sp>
        <p:nvSpPr>
          <p:cNvPr id="33" name="Oval 32"/>
          <p:cNvSpPr/>
          <p:nvPr/>
        </p:nvSpPr>
        <p:spPr>
          <a:xfrm>
            <a:off x="777240" y="512064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120640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10235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build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510235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passed in 2m 03s</a:t>
            </a:r>
          </a:p>
        </p:txBody>
      </p:sp>
      <p:sp>
        <p:nvSpPr>
          <p:cNvPr id="37" name="Oval 36"/>
          <p:cNvSpPr/>
          <p:nvPr/>
        </p:nvSpPr>
        <p:spPr>
          <a:xfrm>
            <a:off x="777240" y="5394960"/>
            <a:ext cx="182880" cy="1828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394960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37667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vercel preview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537667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deployed · pr-118.konekt.vercel.app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5760720"/>
            <a:ext cx="1645920" cy="365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5760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 Merge pull request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0320" y="5806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A1A1AA"/>
                </a:solidFill>
                <a:latin typeface="Calibri"/>
              </a:rPr>
              <a:t>2 reviewers ✓ approved · all checks passed · no conflicts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92440" y="1691640"/>
            <a:ext cx="3520440" cy="45720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5319" y="17830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Pratiques équipe</a:t>
            </a:r>
          </a:p>
        </p:txBody>
      </p:sp>
      <p:sp>
        <p:nvSpPr>
          <p:cNvPr id="46" name="Oval 45"/>
          <p:cNvSpPr/>
          <p:nvPr/>
        </p:nvSpPr>
        <p:spPr>
          <a:xfrm>
            <a:off x="8275319" y="2194560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19" y="21945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B6D4"/>
                </a:solidFill>
                <a:latin typeface="Calibri"/>
              </a:rPr>
              <a:t>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214884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Conventional Commits</a:t>
            </a:r>
          </a:p>
        </p:txBody>
      </p:sp>
      <p:sp>
        <p:nvSpPr>
          <p:cNvPr id="49" name="Oval 48"/>
          <p:cNvSpPr/>
          <p:nvPr/>
        </p:nvSpPr>
        <p:spPr>
          <a:xfrm>
            <a:off x="8275319" y="297180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75319" y="29718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59E0B"/>
                </a:solidFill>
                <a:latin typeface="Calibri"/>
              </a:rPr>
              <a:t>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292608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1 PR = 1 feature ou fix</a:t>
            </a:r>
          </a:p>
        </p:txBody>
      </p:sp>
      <p:sp>
        <p:nvSpPr>
          <p:cNvPr id="52" name="Oval 51"/>
          <p:cNvSpPr/>
          <p:nvPr/>
        </p:nvSpPr>
        <p:spPr>
          <a:xfrm>
            <a:off x="8275319" y="374904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75319" y="37490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370332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CI verte = pré-requis</a:t>
            </a:r>
          </a:p>
        </p:txBody>
      </p:sp>
      <p:sp>
        <p:nvSpPr>
          <p:cNvPr id="55" name="Oval 54"/>
          <p:cNvSpPr/>
          <p:nvPr/>
        </p:nvSpPr>
        <p:spPr>
          <a:xfrm>
            <a:off x="8275319" y="452628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75319" y="452628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C4899"/>
                </a:solidFill>
                <a:latin typeface="Calibri"/>
              </a:rPr>
              <a:t>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448056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Review par ≥ 1 pair</a:t>
            </a:r>
          </a:p>
        </p:txBody>
      </p:sp>
      <p:sp>
        <p:nvSpPr>
          <p:cNvPr id="58" name="Oval 57"/>
          <p:cNvSpPr/>
          <p:nvPr/>
        </p:nvSpPr>
        <p:spPr>
          <a:xfrm>
            <a:off x="8275319" y="5303520"/>
            <a:ext cx="411480" cy="411480"/>
          </a:xfrm>
          <a:prstGeom prst="ellips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75319" y="53035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472B6"/>
                </a:solidFill>
                <a:latin typeface="Calibri"/>
              </a:rPr>
              <a:t>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0" y="525780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Squash &amp; merge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7 / 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04 · DÉVELOPPEMENT · DIAGRAMME DE SÉQUENCE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Temps réel — envoi message en 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" y="1691640"/>
            <a:ext cx="1554480" cy="50292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173736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Client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94767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onsolas"/>
              </a:rPr>
              <a:t>Browser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219456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" y="235915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" y="252374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268833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" y="285292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" y="301752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" y="318211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" y="334670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" y="351129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" y="367588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" y="384048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" y="400507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" y="416966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" y="433425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" y="449884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" y="466344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" y="482803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2" y="499262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" y="515721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532180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" y="548640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" y="565099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423160" y="1691640"/>
            <a:ext cx="1554480" cy="5029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23160" y="173736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API send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194767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onsolas"/>
              </a:rPr>
              <a:t>/chat/send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82112" y="219456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82112" y="235915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82112" y="252374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82112" y="268833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82112" y="285292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82112" y="301752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182112" y="318211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82112" y="334670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82112" y="351129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82112" y="367588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82112" y="384048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82112" y="400507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82112" y="416966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82112" y="433425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82112" y="449884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82112" y="466344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82112" y="482803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82112" y="499262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82112" y="515721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82112" y="532180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82112" y="548640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82112" y="565099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00600" y="1691640"/>
            <a:ext cx="1554480" cy="5029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00600" y="173736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00600" y="194767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onsolas"/>
              </a:rPr>
              <a:t>Prisma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59552" y="219456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559552" y="235915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559552" y="252374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559552" y="268833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559552" y="285292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59552" y="301752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559552" y="318211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559552" y="334670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559552" y="351129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559552" y="367588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559552" y="384048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59552" y="400507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559552" y="416966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559552" y="433425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559552" y="449884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559552" y="466344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559552" y="482803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559552" y="499262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559552" y="515721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559552" y="532180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559552" y="548640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559552" y="565099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78040" y="1691640"/>
            <a:ext cx="155448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78040" y="173736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Upstash Redis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194767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onsolas"/>
              </a:rPr>
              <a:t>REST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936992" y="219456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36992" y="235915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936992" y="252374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36992" y="268833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936992" y="285292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936992" y="301752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936992" y="318211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936992" y="334670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936992" y="351129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36992" y="367588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36992" y="384048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936992" y="400507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936992" y="416966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936992" y="433425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936992" y="449884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936992" y="466344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936992" y="482803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936992" y="499262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936992" y="515721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936992" y="532180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936992" y="548640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936992" y="565099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555480" y="1691640"/>
            <a:ext cx="1554480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55480" y="173736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Client 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555480" y="194767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onsolas"/>
              </a:rPr>
              <a:t>SSE listener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314432" y="219456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314432" y="235915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314432" y="252374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314432" y="268833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314432" y="285292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314432" y="301752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314432" y="318211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314432" y="334670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14432" y="351129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14432" y="367588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314432" y="384048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314432" y="400507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314432" y="416966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14432" y="433425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14432" y="449884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14432" y="466344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314432" y="482803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314432" y="499262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314432" y="515721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314432" y="532180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314432" y="548640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314432" y="565099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22960" y="2606040"/>
            <a:ext cx="2377440" cy="2286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108960" y="2571292"/>
            <a:ext cx="91440" cy="9144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231343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EC4899"/>
                </a:solidFill>
                <a:latin typeface="Consolas"/>
              </a:rPr>
              <a:t>POST /chat/send  { to, message }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200400" y="3063240"/>
            <a:ext cx="2377439" cy="2286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5486400" y="3028492"/>
            <a:ext cx="91440" cy="9144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291840" y="2770632"/>
            <a:ext cx="228599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B6D4"/>
                </a:solidFill>
                <a:latin typeface="Consolas"/>
              </a:rPr>
              <a:t>INSERT INTO Message (via Prisma)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200400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364992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529584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694176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858768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023359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187951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352543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517135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681727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846319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010911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175503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340095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504687" y="3520440"/>
            <a:ext cx="73152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200400" y="3485692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91840" y="3227832"/>
            <a:ext cx="228599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8B5CF6"/>
                </a:solidFill>
                <a:latin typeface="Consolas"/>
              </a:rPr>
              <a:t>saved message  { id }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200400" y="3977639"/>
            <a:ext cx="4754879" cy="2286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7863840" y="3942892"/>
            <a:ext cx="91440" cy="9144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291840" y="3685031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B6D4"/>
                </a:solidFill>
                <a:latin typeface="Consolas"/>
              </a:rPr>
              <a:t>SET latest:chat:&lt;from&gt;:&lt;to&gt; = msg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22960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987552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52144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316736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481328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645919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810511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975103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139696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304288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468880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633472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798064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962656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127248" y="4434840"/>
            <a:ext cx="73151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822960" y="44000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14400" y="448055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Consolas"/>
              </a:rPr>
              <a:t>200 OK { status: SENT }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7498079" y="4754879"/>
            <a:ext cx="3291840" cy="868680"/>
          </a:xfrm>
          <a:prstGeom prst="rect">
            <a:avLst/>
          </a:prstGeom>
          <a:noFill/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498079" y="4754879"/>
            <a:ext cx="594360" cy="228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498079" y="475487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loop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138159" y="47548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59E0B"/>
                </a:solidFill>
                <a:latin typeface="Calibri"/>
              </a:rPr>
              <a:t>[polling 1s]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955279" y="5120640"/>
            <a:ext cx="2377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955279" y="50858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046719" y="4828031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Consolas"/>
              </a:rPr>
              <a:t>GET latest:chat:*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955279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119871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284463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449055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613647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778239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942831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9107423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9272015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9436607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9601199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9765791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9930383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0094975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0259567" y="5440679"/>
            <a:ext cx="73152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0241280" y="5405932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8046719" y="5148071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  <a:latin typeface="Consolas"/>
              </a:rPr>
              <a:t>data { id, message }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28 / 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Konekt - Support Visuel RNCP 37873</dc:title>
  <dc:subject>PptxGenJS Presentation</dc:subject>
  <dc:creator>Christophe Lecart</dc:creator>
  <cp:lastModifiedBy>Christophe Lecart</cp:lastModifiedBy>
  <cp:revision>1</cp:revision>
  <dcterms:created xsi:type="dcterms:W3CDTF">2026-05-19T10:21:42Z</dcterms:created>
  <dcterms:modified xsi:type="dcterms:W3CDTF">2026-05-19T10:21:42Z</dcterms:modified>
</cp:coreProperties>
</file>