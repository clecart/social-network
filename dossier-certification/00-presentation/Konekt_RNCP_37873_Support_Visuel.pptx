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hart2.xml" ContentType="application/vnd.openxmlformats-officedocument.drawingml.chart+xml"/>
  <Override PartName="/ppt/charts/colors2.xml" ContentType="application/vnd.ms-office.chartcolorstyle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44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38.xml" ContentType="application/vnd.openxmlformats-officedocument.presentationml.slide+xml"/>
  <Override PartName="/ppt/slides/slide35.xml" ContentType="application/vnd.openxmlformats-officedocument.presentationml.slide+xml"/>
  <Override PartName="/ppt/slides/slide50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52.xml" ContentType="application/vnd.openxmlformats-officedocument.presentationml.slide+xml"/>
  <Override PartName="/ppt/slides/slide14.xml" ContentType="application/vnd.openxmlformats-officedocument.presentationml.slide+xml"/>
  <Override PartName="/ppt/slides/slide5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42.xml" ContentType="application/vnd.openxmlformats-officedocument.presentationml.slide+xml"/>
  <Override PartName="/ppt/slides/slide53.xml" ContentType="application/vnd.openxmlformats-officedocument.presentationml.slide+xml"/>
  <Override PartName="/ppt/slides/slide56.xml" ContentType="application/vnd.openxmlformats-officedocument.presentationml.slide+xml"/>
  <Override PartName="/ppt/slides/slide24.xml" ContentType="application/vnd.openxmlformats-officedocument.presentationml.slide+xml"/>
  <Override PartName="/ppt/slides/slide55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54.xml" ContentType="application/vnd.openxmlformats-officedocument.presentationml.slide+xml"/>
  <Override PartName="/ppt/slides/slide36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C48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6B6D4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3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0B981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solidFill>
          <a:srgbClr val="272730"/>
        </a:solidFill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FFFFF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solidFill>
      <a:srgbClr val="27273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FFFFF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Conception</c:v>
                </c:pt>
                <c:pt idx="1">
                  <c:v>Développement</c:v>
                </c:pt>
                <c:pt idx="2">
                  <c:v>Tests</c:v>
                </c:pt>
                <c:pt idx="3">
                  <c:v>Déploiement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gapWidth val="150"/>
        <c:overlap val="0"/>
        <c:axId val="19676854"/>
        <c:axId val="47459759"/>
      </c:barChart>
      <c:catAx>
        <c:axId val="196768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47459759"/>
        <c:crosses val="autoZero"/>
        <c:auto val="1"/>
        <c:lblAlgn val="ctr"/>
        <c:lblOffset val="100"/>
        <c:noMultiLvlLbl val="0"/>
      </c:catAx>
      <c:valAx>
        <c:axId val="47459759"/>
        <c:scaling>
          <c:orientation val="minMax"/>
        </c:scaling>
        <c:delete val="0"/>
        <c:axPos val="l"/>
        <c:majorGridlines>
          <c:spPr>
            <a:ln w="6480">
              <a:solidFill>
                <a:srgbClr val="3F3F4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19676854"/>
        <c:crosses val="autoZero"/>
        <c:crossBetween val="between"/>
      </c:valAx>
      <c:spPr>
        <a:solidFill>
          <a:srgbClr val="272730"/>
        </a:solidFill>
        <a:ln w="0">
          <a:noFill/>
        </a:ln>
      </c:spPr>
    </c:plotArea>
    <c:plotVisOnly val="1"/>
    <c:dispBlanksAs val="span"/>
  </c:chart>
  <c:spPr>
    <a:solidFill>
      <a:srgbClr val="272730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9F34411-6254-447F-9D92-692BB2E7CB7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CE5512-B474-4C90-B6B9-C4A74CB8C1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437D931-CD76-4815-87A4-7195696578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7B143B-EB32-4991-B127-BE594F3E004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8CBF14A-FDCF-44A6-98FA-DE190D9673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259E36B-7F45-4576-8DD8-31D9E49BBE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5E2B17-FCB5-41B1-86C7-7D57E42306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6F99B3-EC9D-4777-A6AF-5C99DFC7C2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58E718-6477-4118-BD02-BC88399F260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0F43F19-EF38-45D0-86A9-50135D82DE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59D256-1934-4B07-8526-D2F30F4044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CCFBE6-1DB3-4D47-A251-6918238B79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8482FD-2397-4359-A873-93B7CFD13C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69BE34-A487-49B3-8C7D-40A8EB27C8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BD1E16-702B-4AC2-AAB0-76CFF79700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13A8E0-FFAB-47E6-855A-7EBD6DA3C9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8E2FC3-C263-4EC9-9717-90F3F0B481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519FC0E-374C-461D-A41A-ACB1FC5769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392DD8-455C-4A54-A020-23D43BF6F7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E482CD9-FC3A-4FD6-9D5C-9486374A54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4C88B5-7B2D-4C75-A5E6-685568AC9C7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7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DD2110D-F8EA-45B2-B3C1-4942A2C770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0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F0911A-832F-4646-9DC3-D3B16C0034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3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DD4B6B-0064-400F-A30F-58F615A1B5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6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A014B44-45F7-41E5-9D20-4611A0AEB0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9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BAF6F7-1960-4A71-828F-1340F06E8A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2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959D3B-C0C5-48F9-8E5B-0FD127B4FD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5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1ACD94-F0E8-46F5-B83D-9E9162A61A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8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107D85-8157-433E-838B-F56B607A1B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1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93377D-E0A3-4F6A-A08F-354EAF476E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4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25C08D-7AB9-4E39-9B51-0E03E22E77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7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29E240-B094-4424-B646-9A94B8711F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0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DE5ACD-9505-4809-813F-10DBBB01D3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3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AE32AF-7A36-4A5E-BA4B-0B48E4163D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4C7DAF-E892-4F57-8C8B-4E7805F9D7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9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86EAAD4-D7A3-48B4-96DB-AC80BE938F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2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8099D4-E60A-499D-9FB2-F4A5675C37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5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A0EEDDB-CA7C-4EE7-8B6D-EF15306493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8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B154BA-0076-4F50-ADFE-099E38909E3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1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2DE69D-2F0C-4B0A-8764-98922E8FC3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4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9792EE-2695-4787-BC16-248E79490F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7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0C8ABA-1F77-4838-A6B1-E8A20A4235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0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B31E420-AD64-4FC7-9752-06F4A72C54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3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6F0BAE-8ED6-4467-A18D-D2D77B2DF11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6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62F9AE0-B979-4877-8CD3-21DD64B4A3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9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C46A13-C922-4CF9-894E-151215FCD5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2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7CF606-8543-4641-BE17-995DB325E1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5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15DBB2-4873-4667-BDE6-F1BCFF2145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743200" y="-2743200"/>
            <a:ext cx="7313760" cy="7313760"/>
          </a:xfrm>
          <a:prstGeom prst="ellipse">
            <a:avLst/>
          </a:prstGeom>
          <a:solidFill>
            <a:srgbClr val="EC4899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6399360" cy="639936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0" y="914400"/>
            <a:ext cx="2741760" cy="2741760"/>
          </a:xfrm>
          <a:prstGeom prst="ellipse">
            <a:avLst/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914400" y="2468880"/>
            <a:ext cx="2376000" cy="41004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468880"/>
            <a:ext cx="23760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  ·  CDA  ·  Niveau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3108960"/>
            <a:ext cx="100569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Support de soutenance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611880"/>
            <a:ext cx="100569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 social Konekt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4526280"/>
            <a:ext cx="10056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Une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plate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form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social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e full-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stack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temp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 réel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—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Next.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js 15,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Prism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a,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Postg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reSQ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L,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914400" y="5212080"/>
            <a:ext cx="1095840" cy="35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14400" y="5349240"/>
            <a:ext cx="731376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Concepteur Développeur d'Applications  ·  Promotion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2024-2026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046720" y="62179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046720" y="649224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Soutenance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-457200" y="-685800"/>
            <a:ext cx="5494320" cy="412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9875520" y="-1371600"/>
            <a:ext cx="3656160" cy="3656160"/>
          </a:xfrm>
          <a:prstGeom prst="ellipse">
            <a:avLst/>
          </a:prstGeom>
          <a:solidFill>
            <a:srgbClr val="EC4899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11247120" y="-457200"/>
            <a:ext cx="1644480" cy="164448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PLAN DE LA PRÉSENTATION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Sommaire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169164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85800" y="169164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1554480" y="182880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8"/>
          <p:cNvSpPr/>
          <p:nvPr/>
        </p:nvSpPr>
        <p:spPr>
          <a:xfrm>
            <a:off x="1737360" y="169164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candidat &amp; le contexte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169164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Parcours, reconversion, formation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240480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685800" y="240480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1554480" y="254196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1737360" y="240480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projet Konekt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6400800" y="240480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Problématique, périmètre,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548640" y="311796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85800" y="311796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</a:t>
            </a: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1554480" y="325512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1737360" y="311796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Conception &amp; modélisation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6400800" y="311796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stories, MCD, design system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548640" y="383148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685800" y="383148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1554480" y="396864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1737360" y="383148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rc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hi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ct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el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6400800" y="383148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Stack, API, temps réel, sécurité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5"/>
          <p:cNvSpPr/>
          <p:nvPr/>
        </p:nvSpPr>
        <p:spPr>
          <a:xfrm>
            <a:off x="548640" y="454464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685800" y="454464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1554480" y="468180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1737360" y="454464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Tests,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déplo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ieme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9"/>
          <p:cNvSpPr/>
          <p:nvPr/>
        </p:nvSpPr>
        <p:spPr>
          <a:xfrm>
            <a:off x="6400800" y="454464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od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0"/>
          <p:cNvSpPr/>
          <p:nvPr/>
        </p:nvSpPr>
        <p:spPr>
          <a:xfrm>
            <a:off x="548640" y="525780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685800" y="525780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1554480" y="539496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33"/>
          <p:cNvSpPr/>
          <p:nvPr/>
        </p:nvSpPr>
        <p:spPr>
          <a:xfrm>
            <a:off x="1737360" y="525780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Bilan &amp; compétences RNCP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6400800" y="525780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Apprentiss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ages,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mapping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 blocs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3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LE CANDIDAT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731520" y="1691640"/>
            <a:ext cx="2924640" cy="292464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731520" y="4846320"/>
            <a:ext cx="2924640" cy="36432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6"/>
          <p:cNvSpPr/>
          <p:nvPr/>
        </p:nvSpPr>
        <p:spPr>
          <a:xfrm>
            <a:off x="731520" y="484632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RECONVERSION DEV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4114800" y="1691640"/>
            <a:ext cx="7770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terrain industriel au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14800" y="2240280"/>
            <a:ext cx="7770960" cy="12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industriel pendant 20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ans (KONE Ascenseurs, SOCOTEC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Équipements), j'ai entamé en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2024 une transition complète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vers le développement full-stack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via la formation Zone01 Rouen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Normandie.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411480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11480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 ans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11480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Expérience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industrielle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608076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608076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2024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608076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04672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804672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804672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Certification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visée (RNCP)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1001268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1001268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Full-stack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1001268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Appétence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114800" y="5074920"/>
            <a:ext cx="7679520" cy="118728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4297680" y="512064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Forces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4297680" y="5413320"/>
            <a:ext cx="501480" cy="50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4304880" y="5342040"/>
            <a:ext cx="501480" cy="56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84632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Rigueur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6"/>
          <p:cNvSpPr/>
          <p:nvPr/>
        </p:nvSpPr>
        <p:spPr>
          <a:xfrm>
            <a:off x="6172200" y="5413320"/>
            <a:ext cx="501480" cy="50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6172200" y="5377320"/>
            <a:ext cx="501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72084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Pragmatisme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8046720" y="5413320"/>
            <a:ext cx="501480" cy="50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046720" y="5377320"/>
            <a:ext cx="501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859536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Autodidacte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9921240" y="5413320"/>
            <a:ext cx="501480" cy="50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9921240" y="541332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★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046988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Métier ↔ Tech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3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2"/>
          <a:stretch/>
        </p:blipFill>
        <p:spPr>
          <a:xfrm>
            <a:off x="1284840" y="2266560"/>
            <a:ext cx="1827720" cy="1827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PARCOURS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20 ans de terrain, puis le 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1828800" y="1645920"/>
            <a:ext cx="53280" cy="45705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1691640" y="1801440"/>
            <a:ext cx="327600" cy="32760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48640" y="169164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286000" y="164592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 PRO MSMA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2286000" y="196596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Maintenance Systèmes Mécaniques Automatisés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691640" y="2578680"/>
            <a:ext cx="327600" cy="32760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246888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286000" y="242316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BTS MAI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286000" y="274320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Mécanique et Automatismes Industriels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1691640" y="3355920"/>
            <a:ext cx="327600" cy="327600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324612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2004-2010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2286000" y="320040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 Ascenseurs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286000" y="352044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régleur et mise en service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1691640" y="4133160"/>
            <a:ext cx="327600" cy="327600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548640" y="402336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2010-2024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286000" y="397764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SOCOTEC Équipements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2286000" y="429768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Expert vérifications générales périodiques (14 ans)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1691640" y="4910400"/>
            <a:ext cx="327600" cy="32760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548640" y="480060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2024 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2286000" y="475488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2286000" y="507492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 CDA — peer learning, projets, stack moderne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4"/>
          <p:cNvSpPr/>
          <p:nvPr/>
        </p:nvSpPr>
        <p:spPr>
          <a:xfrm>
            <a:off x="1691640" y="5687640"/>
            <a:ext cx="327600" cy="32760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548640" y="557784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286000" y="553212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Soutenance RNCP 37873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2286000" y="585216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Konekt + Dossier professionnel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28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Travail en mode agile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91640"/>
            <a:ext cx="10971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Cycle de développement adopté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2128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344240" y="2240280"/>
            <a:ext cx="547200" cy="54720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344240" y="2168280"/>
            <a:ext cx="54720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61272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61272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 priorisées HIGH/MED/LOW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71548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275220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575160" y="224028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575160" y="2096280"/>
            <a:ext cx="547200" cy="80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284364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 planning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284364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Issues GitHub assignées, points estimés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49467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498348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5806440" y="2240280"/>
            <a:ext cx="547200" cy="5472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5806440" y="2132280"/>
            <a:ext cx="547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07492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Daily standup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07492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10 min — avancement, blocages, plan du jour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178040" y="2926080"/>
            <a:ext cx="3636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000" tIns="-44640" rIns="18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721476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037720" y="2240280"/>
            <a:ext cx="547200" cy="54720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8073720" y="2132280"/>
            <a:ext cx="547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30620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&amp; 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730620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Démo de fin de sprint en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94089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944568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268640" y="224028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30"/>
          <p:cNvSpPr/>
          <p:nvPr/>
        </p:nvSpPr>
        <p:spPr>
          <a:xfrm>
            <a:off x="10268640" y="224028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953712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Rétrospective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953712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 qui a marché / ce qu'on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3"/>
          <p:cNvSpPr/>
          <p:nvPr/>
        </p:nvSpPr>
        <p:spPr>
          <a:xfrm>
            <a:off x="548640" y="4023360"/>
            <a:ext cx="553068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1520" y="4114800"/>
            <a:ext cx="50277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Outils &amp; rituels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5"/>
          <p:cNvSpPr/>
          <p:nvPr/>
        </p:nvSpPr>
        <p:spPr>
          <a:xfrm>
            <a:off x="777240" y="46360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1005840" y="452628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Issues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3246120" y="452628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Backlog vivant, labels, milestones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8"/>
          <p:cNvSpPr/>
          <p:nvPr/>
        </p:nvSpPr>
        <p:spPr>
          <a:xfrm>
            <a:off x="777240" y="504756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1005840" y="493776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Projects (Kanban)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3246120" y="493776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Colonnes Todo / Doing / Review / Done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1"/>
          <p:cNvSpPr/>
          <p:nvPr/>
        </p:nvSpPr>
        <p:spPr>
          <a:xfrm>
            <a:off x="777240" y="545904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1005840" y="534924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Pull 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3246120" y="534924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review obligatoire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4"/>
          <p:cNvSpPr/>
          <p:nvPr/>
        </p:nvSpPr>
        <p:spPr>
          <a:xfrm>
            <a:off x="777240" y="587052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45"/>
          <p:cNvSpPr/>
          <p:nvPr/>
        </p:nvSpPr>
        <p:spPr>
          <a:xfrm>
            <a:off x="1005840" y="576072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6"/>
          <p:cNvSpPr/>
          <p:nvPr/>
        </p:nvSpPr>
        <p:spPr>
          <a:xfrm>
            <a:off x="3246120" y="57607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CI bloquante : lint + test +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7"/>
          <p:cNvSpPr/>
          <p:nvPr/>
        </p:nvSpPr>
        <p:spPr>
          <a:xfrm>
            <a:off x="6263640" y="4023360"/>
            <a:ext cx="553068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6446520" y="4114800"/>
            <a:ext cx="50277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Découpe du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9"/>
          <p:cNvSpPr/>
          <p:nvPr/>
        </p:nvSpPr>
        <p:spPr>
          <a:xfrm>
            <a:off x="6446520" y="452628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0"/>
          <p:cNvSpPr/>
          <p:nvPr/>
        </p:nvSpPr>
        <p:spPr>
          <a:xfrm>
            <a:off x="7178040" y="452628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(MVP / Features / Polish)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1"/>
          <p:cNvSpPr/>
          <p:nvPr/>
        </p:nvSpPr>
        <p:spPr>
          <a:xfrm>
            <a:off x="6446520" y="493776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2"/>
          <p:cNvSpPr/>
          <p:nvPr/>
        </p:nvSpPr>
        <p:spPr>
          <a:xfrm>
            <a:off x="7178040" y="493776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sprints d'environ 10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3"/>
          <p:cNvSpPr/>
          <p:nvPr/>
        </p:nvSpPr>
        <p:spPr>
          <a:xfrm>
            <a:off x="6446520" y="534924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4"/>
          <p:cNvSpPr/>
          <p:nvPr/>
        </p:nvSpPr>
        <p:spPr>
          <a:xfrm>
            <a:off x="7178040" y="534924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réparties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5"/>
          <p:cNvSpPr/>
          <p:nvPr/>
        </p:nvSpPr>
        <p:spPr>
          <a:xfrm>
            <a:off x="6446520" y="576072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6"/>
          <p:cNvSpPr/>
          <p:nvPr/>
        </p:nvSpPr>
        <p:spPr>
          <a:xfrm>
            <a:off x="7178040" y="576072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+ rétro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5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411480"/>
            <a:ext cx="10056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 en équipe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8"/>
          <p:cNvSpPr/>
          <p:nvPr/>
        </p:nvSpPr>
        <p:spPr>
          <a:xfrm>
            <a:off x="731520" y="5669280"/>
            <a:ext cx="6856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53"/>
          <p:cNvSpPr/>
          <p:nvPr/>
        </p:nvSpPr>
        <p:spPr>
          <a:xfrm>
            <a:off x="548640" y="608076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6 contributeurs · 12+ issues majeures · PR #118 stabilisation Docker/Neon/Prisma/Redis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2"/>
          <p:cNvSpPr/>
          <p:nvPr/>
        </p:nvSpPr>
        <p:spPr>
          <a:xfrm>
            <a:off x="549000" y="1692000"/>
            <a:ext cx="7223040" cy="42969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"/>
          <p:cNvSpPr/>
          <p:nvPr/>
        </p:nvSpPr>
        <p:spPr>
          <a:xfrm>
            <a:off x="731880" y="198468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"/>
          <p:cNvSpPr/>
          <p:nvPr/>
        </p:nvSpPr>
        <p:spPr>
          <a:xfrm>
            <a:off x="1966320" y="2103480"/>
            <a:ext cx="5577120" cy="360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1"/>
          <p:cNvSpPr/>
          <p:nvPr/>
        </p:nvSpPr>
        <p:spPr>
          <a:xfrm>
            <a:off x="2350440" y="204876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4682160" y="204876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9"/>
          <p:cNvSpPr/>
          <p:nvPr/>
        </p:nvSpPr>
        <p:spPr>
          <a:xfrm>
            <a:off x="7013880" y="204876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731880" y="312768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develop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1966320" y="3246480"/>
            <a:ext cx="5577120" cy="36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Oval 12"/>
          <p:cNvSpPr/>
          <p:nvPr/>
        </p:nvSpPr>
        <p:spPr>
          <a:xfrm>
            <a:off x="235044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Oval 13"/>
          <p:cNvSpPr/>
          <p:nvPr/>
        </p:nvSpPr>
        <p:spPr>
          <a:xfrm>
            <a:off x="351612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2"/>
          <p:cNvSpPr/>
          <p:nvPr/>
        </p:nvSpPr>
        <p:spPr>
          <a:xfrm>
            <a:off x="468216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584784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16"/>
          <p:cNvSpPr/>
          <p:nvPr/>
        </p:nvSpPr>
        <p:spPr>
          <a:xfrm>
            <a:off x="701388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57"/>
          <p:cNvSpPr/>
          <p:nvPr/>
        </p:nvSpPr>
        <p:spPr>
          <a:xfrm>
            <a:off x="731880" y="427068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feature/auth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1"/>
          <p:cNvSpPr/>
          <p:nvPr/>
        </p:nvSpPr>
        <p:spPr>
          <a:xfrm>
            <a:off x="1966320" y="4389480"/>
            <a:ext cx="5577120" cy="3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19"/>
          <p:cNvSpPr/>
          <p:nvPr/>
        </p:nvSpPr>
        <p:spPr>
          <a:xfrm>
            <a:off x="235044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Oval 3"/>
          <p:cNvSpPr/>
          <p:nvPr/>
        </p:nvSpPr>
        <p:spPr>
          <a:xfrm>
            <a:off x="390492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21"/>
          <p:cNvSpPr/>
          <p:nvPr/>
        </p:nvSpPr>
        <p:spPr>
          <a:xfrm>
            <a:off x="545940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Oval 22"/>
          <p:cNvSpPr/>
          <p:nvPr/>
        </p:nvSpPr>
        <p:spPr>
          <a:xfrm>
            <a:off x="701388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65"/>
          <p:cNvSpPr/>
          <p:nvPr/>
        </p:nvSpPr>
        <p:spPr>
          <a:xfrm>
            <a:off x="731880" y="532224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feature/likes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55"/>
          <p:cNvSpPr/>
          <p:nvPr/>
        </p:nvSpPr>
        <p:spPr>
          <a:xfrm>
            <a:off x="1966320" y="5441040"/>
            <a:ext cx="5577120" cy="36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Oval 25"/>
          <p:cNvSpPr/>
          <p:nvPr/>
        </p:nvSpPr>
        <p:spPr>
          <a:xfrm>
            <a:off x="235044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Oval 26"/>
          <p:cNvSpPr/>
          <p:nvPr/>
        </p:nvSpPr>
        <p:spPr>
          <a:xfrm>
            <a:off x="390492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Oval 27"/>
          <p:cNvSpPr/>
          <p:nvPr/>
        </p:nvSpPr>
        <p:spPr>
          <a:xfrm>
            <a:off x="545940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4"/>
          <p:cNvSpPr/>
          <p:nvPr/>
        </p:nvSpPr>
        <p:spPr>
          <a:xfrm>
            <a:off x="701388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6"/>
          <p:cNvSpPr/>
          <p:nvPr/>
        </p:nvSpPr>
        <p:spPr>
          <a:xfrm>
            <a:off x="5029560" y="3840840"/>
            <a:ext cx="7308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5303880" y="3337920"/>
            <a:ext cx="36000" cy="1050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Oval 31"/>
          <p:cNvSpPr/>
          <p:nvPr/>
        </p:nvSpPr>
        <p:spPr>
          <a:xfrm>
            <a:off x="5249160" y="324648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67"/>
          <p:cNvSpPr/>
          <p:nvPr/>
        </p:nvSpPr>
        <p:spPr>
          <a:xfrm>
            <a:off x="6309720" y="3840840"/>
            <a:ext cx="7308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80"/>
          <p:cNvSpPr/>
          <p:nvPr/>
        </p:nvSpPr>
        <p:spPr>
          <a:xfrm>
            <a:off x="6584040" y="3337920"/>
            <a:ext cx="36000" cy="2102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34"/>
          <p:cNvSpPr/>
          <p:nvPr/>
        </p:nvSpPr>
        <p:spPr>
          <a:xfrm>
            <a:off x="6529320" y="324648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68"/>
          <p:cNvSpPr/>
          <p:nvPr/>
        </p:nvSpPr>
        <p:spPr>
          <a:xfrm>
            <a:off x="3968640" y="2590200"/>
            <a:ext cx="91368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release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81"/>
          <p:cNvSpPr/>
          <p:nvPr/>
        </p:nvSpPr>
        <p:spPr>
          <a:xfrm>
            <a:off x="3932280" y="2194920"/>
            <a:ext cx="36000" cy="1050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37"/>
          <p:cNvSpPr/>
          <p:nvPr/>
        </p:nvSpPr>
        <p:spPr>
          <a:xfrm>
            <a:off x="3877560" y="210348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9"/>
          <p:cNvSpPr/>
          <p:nvPr/>
        </p:nvSpPr>
        <p:spPr>
          <a:xfrm>
            <a:off x="731880" y="5669640"/>
            <a:ext cx="685728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105"/>
          <p:cNvSpPr/>
          <p:nvPr/>
        </p:nvSpPr>
        <p:spPr>
          <a:xfrm>
            <a:off x="8092440" y="1692000"/>
            <a:ext cx="3519720" cy="42969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70"/>
          <p:cNvSpPr/>
          <p:nvPr/>
        </p:nvSpPr>
        <p:spPr>
          <a:xfrm>
            <a:off x="8275320" y="1783440"/>
            <a:ext cx="31539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Règles d'équipe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10"/>
          <p:cNvSpPr/>
          <p:nvPr/>
        </p:nvSpPr>
        <p:spPr>
          <a:xfrm>
            <a:off x="8275320" y="2194920"/>
            <a:ext cx="410760" cy="410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71"/>
          <p:cNvSpPr/>
          <p:nvPr/>
        </p:nvSpPr>
        <p:spPr>
          <a:xfrm>
            <a:off x="8275320" y="219492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72"/>
          <p:cNvSpPr/>
          <p:nvPr/>
        </p:nvSpPr>
        <p:spPr>
          <a:xfrm>
            <a:off x="8778240" y="229320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feature = 1 branche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Oval 44"/>
          <p:cNvSpPr/>
          <p:nvPr/>
        </p:nvSpPr>
        <p:spPr>
          <a:xfrm>
            <a:off x="8275320" y="2972160"/>
            <a:ext cx="410760" cy="410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73"/>
          <p:cNvSpPr/>
          <p:nvPr/>
        </p:nvSpPr>
        <p:spPr>
          <a:xfrm>
            <a:off x="8275320" y="297216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74"/>
          <p:cNvSpPr/>
          <p:nvPr/>
        </p:nvSpPr>
        <p:spPr>
          <a:xfrm>
            <a:off x="8778240" y="307044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 obligatoire vers develop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47"/>
          <p:cNvSpPr/>
          <p:nvPr/>
        </p:nvSpPr>
        <p:spPr>
          <a:xfrm>
            <a:off x="8275320" y="3749400"/>
            <a:ext cx="410760" cy="410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75"/>
          <p:cNvSpPr/>
          <p:nvPr/>
        </p:nvSpPr>
        <p:spPr>
          <a:xfrm>
            <a:off x="8275320" y="374940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6"/>
          <p:cNvSpPr/>
          <p:nvPr/>
        </p:nvSpPr>
        <p:spPr>
          <a:xfrm>
            <a:off x="8778240" y="384768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Oval 50"/>
          <p:cNvSpPr/>
          <p:nvPr/>
        </p:nvSpPr>
        <p:spPr>
          <a:xfrm>
            <a:off x="8275320" y="4526640"/>
            <a:ext cx="410760" cy="4107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77"/>
          <p:cNvSpPr/>
          <p:nvPr/>
        </p:nvSpPr>
        <p:spPr>
          <a:xfrm>
            <a:off x="8275320" y="452664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8"/>
          <p:cNvSpPr/>
          <p:nvPr/>
        </p:nvSpPr>
        <p:spPr>
          <a:xfrm>
            <a:off x="8778240" y="462492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develop → main = release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548640" y="411480"/>
            <a:ext cx="10056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Anatomie d'une Pull Request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4"/>
          <p:cNvSpPr/>
          <p:nvPr/>
        </p:nvSpPr>
        <p:spPr>
          <a:xfrm>
            <a:off x="548640" y="1691640"/>
            <a:ext cx="73137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548640" y="1691640"/>
            <a:ext cx="7313760" cy="410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ectangle 6"/>
          <p:cNvSpPr/>
          <p:nvPr/>
        </p:nvSpPr>
        <p:spPr>
          <a:xfrm>
            <a:off x="731520" y="1783080"/>
            <a:ext cx="684360" cy="22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731520" y="1783080"/>
            <a:ext cx="6843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1554480" y="1783080"/>
            <a:ext cx="6216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#118  Stabilisation Docker/Neon/Prisma/Redis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9"/>
          <p:cNvSpPr/>
          <p:nvPr/>
        </p:nvSpPr>
        <p:spPr>
          <a:xfrm>
            <a:off x="731520" y="2194560"/>
            <a:ext cx="6948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arocchet  wants to merge  18 commits  into  main  ← from  fix/docker-stabilisation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731520" y="2560320"/>
            <a:ext cx="6948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Commits (Conventional Commits)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Oval 11"/>
          <p:cNvSpPr/>
          <p:nvPr/>
        </p:nvSpPr>
        <p:spPr>
          <a:xfrm>
            <a:off x="777240" y="2926080"/>
            <a:ext cx="108360" cy="108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960120" y="288036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feat(docker):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651760" y="288036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multi-stage build avec image Bun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Oval 14"/>
          <p:cNvSpPr/>
          <p:nvPr/>
        </p:nvSpPr>
        <p:spPr>
          <a:xfrm>
            <a:off x="777240" y="3200400"/>
            <a:ext cx="108360" cy="1083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960120" y="315468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fix(prisma):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2651760" y="315468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openssl + migrate deploy au boot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Oval 17"/>
          <p:cNvSpPr/>
          <p:nvPr/>
        </p:nvSpPr>
        <p:spPr>
          <a:xfrm>
            <a:off x="777240" y="3474720"/>
            <a:ext cx="108360" cy="108360"/>
          </a:xfrm>
          <a:prstGeom prst="ellipse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8"/>
          <p:cNvSpPr/>
          <p:nvPr/>
        </p:nvSpPr>
        <p:spPr>
          <a:xfrm>
            <a:off x="960120" y="342900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chore(deps):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2651760" y="342900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bump @upstash/redis to 1.35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Oval 20"/>
          <p:cNvSpPr/>
          <p:nvPr/>
        </p:nvSpPr>
        <p:spPr>
          <a:xfrm>
            <a:off x="777240" y="3749040"/>
            <a:ext cx="108360" cy="108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960120" y="370332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test(auth):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2"/>
          <p:cNvSpPr/>
          <p:nvPr/>
        </p:nvSpPr>
        <p:spPr>
          <a:xfrm>
            <a:off x="2651760" y="370332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add register integration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731520" y="4251960"/>
            <a:ext cx="6948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Checks CI · 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Oval 24"/>
          <p:cNvSpPr/>
          <p:nvPr/>
        </p:nvSpPr>
        <p:spPr>
          <a:xfrm>
            <a:off x="777240" y="4572000"/>
            <a:ext cx="181440" cy="18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777240" y="457200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6"/>
          <p:cNvSpPr/>
          <p:nvPr/>
        </p:nvSpPr>
        <p:spPr>
          <a:xfrm>
            <a:off x="1051560" y="455364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2743200" y="455364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22s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Oval 28"/>
          <p:cNvSpPr/>
          <p:nvPr/>
        </p:nvSpPr>
        <p:spPr>
          <a:xfrm>
            <a:off x="777240" y="4846320"/>
            <a:ext cx="181440" cy="18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777240" y="484632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1051560" y="482796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31"/>
          <p:cNvSpPr/>
          <p:nvPr/>
        </p:nvSpPr>
        <p:spPr>
          <a:xfrm>
            <a:off x="2743200" y="482796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1m 14s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Oval 32"/>
          <p:cNvSpPr/>
          <p:nvPr/>
        </p:nvSpPr>
        <p:spPr>
          <a:xfrm>
            <a:off x="777240" y="5120640"/>
            <a:ext cx="181440" cy="18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33"/>
          <p:cNvSpPr/>
          <p:nvPr/>
        </p:nvSpPr>
        <p:spPr>
          <a:xfrm>
            <a:off x="777240" y="512064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4"/>
          <p:cNvSpPr/>
          <p:nvPr/>
        </p:nvSpPr>
        <p:spPr>
          <a:xfrm>
            <a:off x="1051560" y="510228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5"/>
          <p:cNvSpPr/>
          <p:nvPr/>
        </p:nvSpPr>
        <p:spPr>
          <a:xfrm>
            <a:off x="2743200" y="510228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2m 03s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Oval 36"/>
          <p:cNvSpPr/>
          <p:nvPr/>
        </p:nvSpPr>
        <p:spPr>
          <a:xfrm>
            <a:off x="777240" y="5394960"/>
            <a:ext cx="181440" cy="181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37"/>
          <p:cNvSpPr/>
          <p:nvPr/>
        </p:nvSpPr>
        <p:spPr>
          <a:xfrm>
            <a:off x="777240" y="539496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8"/>
          <p:cNvSpPr/>
          <p:nvPr/>
        </p:nvSpPr>
        <p:spPr>
          <a:xfrm>
            <a:off x="1051560" y="537660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vercel preview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39"/>
          <p:cNvSpPr/>
          <p:nvPr/>
        </p:nvSpPr>
        <p:spPr>
          <a:xfrm>
            <a:off x="2743200" y="537660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deployed · pr-118.konekt.vercel.app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0"/>
          <p:cNvSpPr/>
          <p:nvPr/>
        </p:nvSpPr>
        <p:spPr>
          <a:xfrm>
            <a:off x="731520" y="5760720"/>
            <a:ext cx="1644480" cy="36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41"/>
          <p:cNvSpPr/>
          <p:nvPr/>
        </p:nvSpPr>
        <p:spPr>
          <a:xfrm>
            <a:off x="731520" y="5760720"/>
            <a:ext cx="1644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Merge pull 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42"/>
          <p:cNvSpPr/>
          <p:nvPr/>
        </p:nvSpPr>
        <p:spPr>
          <a:xfrm>
            <a:off x="2560320" y="580644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2 reviewers ✓ approved · all checks passed · no conflicts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43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44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Pratiques 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Oval 45"/>
          <p:cNvSpPr/>
          <p:nvPr/>
        </p:nvSpPr>
        <p:spPr>
          <a:xfrm>
            <a:off x="8275320" y="219456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46"/>
          <p:cNvSpPr/>
          <p:nvPr/>
        </p:nvSpPr>
        <p:spPr>
          <a:xfrm>
            <a:off x="8275320" y="21945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47"/>
          <p:cNvSpPr/>
          <p:nvPr/>
        </p:nvSpPr>
        <p:spPr>
          <a:xfrm>
            <a:off x="8778240" y="225684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Conventional Commits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Oval 48"/>
          <p:cNvSpPr/>
          <p:nvPr/>
        </p:nvSpPr>
        <p:spPr>
          <a:xfrm>
            <a:off x="8275320" y="297180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49"/>
          <p:cNvSpPr/>
          <p:nvPr/>
        </p:nvSpPr>
        <p:spPr>
          <a:xfrm>
            <a:off x="8275320" y="29718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50"/>
          <p:cNvSpPr/>
          <p:nvPr/>
        </p:nvSpPr>
        <p:spPr>
          <a:xfrm>
            <a:off x="8778240" y="303408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PR = 1 feature ou fix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Oval 51"/>
          <p:cNvSpPr/>
          <p:nvPr/>
        </p:nvSpPr>
        <p:spPr>
          <a:xfrm>
            <a:off x="8275320" y="374904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52"/>
          <p:cNvSpPr/>
          <p:nvPr/>
        </p:nvSpPr>
        <p:spPr>
          <a:xfrm>
            <a:off x="8275320" y="37490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3"/>
          <p:cNvSpPr/>
          <p:nvPr/>
        </p:nvSpPr>
        <p:spPr>
          <a:xfrm>
            <a:off x="8778240" y="384732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= pré-requis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Oval 54"/>
          <p:cNvSpPr/>
          <p:nvPr/>
        </p:nvSpPr>
        <p:spPr>
          <a:xfrm>
            <a:off x="8275320" y="452628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55"/>
          <p:cNvSpPr/>
          <p:nvPr/>
        </p:nvSpPr>
        <p:spPr>
          <a:xfrm>
            <a:off x="8275320" y="4526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6"/>
          <p:cNvSpPr/>
          <p:nvPr/>
        </p:nvSpPr>
        <p:spPr>
          <a:xfrm>
            <a:off x="8778240" y="462456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par ≥ 1 pair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Oval 57"/>
          <p:cNvSpPr/>
          <p:nvPr/>
        </p:nvSpPr>
        <p:spPr>
          <a:xfrm>
            <a:off x="8275320" y="5303520"/>
            <a:ext cx="410040" cy="4100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58"/>
          <p:cNvSpPr/>
          <p:nvPr/>
        </p:nvSpPr>
        <p:spPr>
          <a:xfrm>
            <a:off x="8275320" y="5303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59"/>
          <p:cNvSpPr/>
          <p:nvPr/>
        </p:nvSpPr>
        <p:spPr>
          <a:xfrm>
            <a:off x="8778240" y="540180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Squash &amp;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6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6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— contexte &amp; vision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54864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 4"/>
          <p:cNvSpPr/>
          <p:nvPr/>
        </p:nvSpPr>
        <p:spPr>
          <a:xfrm>
            <a:off x="777240" y="182880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Problématique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777240" y="2194560"/>
            <a:ext cx="5073480" cy="15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626364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6492240" y="182880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Solution proposée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6492240" y="2194560"/>
            <a:ext cx="5073480" cy="15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54864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1325880" y="4389120"/>
            <a:ext cx="638640" cy="63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1"/>
          <p:cNvSpPr/>
          <p:nvPr/>
        </p:nvSpPr>
        <p:spPr>
          <a:xfrm>
            <a:off x="1325880" y="4281120"/>
            <a:ext cx="638640" cy="88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2"/>
          <p:cNvSpPr/>
          <p:nvPr/>
        </p:nvSpPr>
        <p:spPr>
          <a:xfrm>
            <a:off x="64008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64008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Stories, Reels, Reactions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4"/>
          <p:cNvSpPr/>
          <p:nvPr/>
        </p:nvSpPr>
        <p:spPr>
          <a:xfrm>
            <a:off x="279792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Shape 15"/>
          <p:cNvSpPr/>
          <p:nvPr/>
        </p:nvSpPr>
        <p:spPr>
          <a:xfrm>
            <a:off x="3575160" y="4389120"/>
            <a:ext cx="638640" cy="63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3575160" y="435312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288936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Messagerie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288936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DM, Group Chat, SSE temps réel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9"/>
          <p:cNvSpPr/>
          <p:nvPr/>
        </p:nvSpPr>
        <p:spPr>
          <a:xfrm>
            <a:off x="504756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Shape 20"/>
          <p:cNvSpPr/>
          <p:nvPr/>
        </p:nvSpPr>
        <p:spPr>
          <a:xfrm>
            <a:off x="5824800" y="4389120"/>
            <a:ext cx="638640" cy="6386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5824800" y="4245120"/>
            <a:ext cx="638640" cy="90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❖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513900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3"/>
          <p:cNvSpPr/>
          <p:nvPr/>
        </p:nvSpPr>
        <p:spPr>
          <a:xfrm>
            <a:off x="513900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Groupes, Événements,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4"/>
          <p:cNvSpPr/>
          <p:nvPr/>
        </p:nvSpPr>
        <p:spPr>
          <a:xfrm>
            <a:off x="729684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8074080" y="4389120"/>
            <a:ext cx="638640" cy="6386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8002080" y="4281120"/>
            <a:ext cx="8409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7"/>
          <p:cNvSpPr/>
          <p:nvPr/>
        </p:nvSpPr>
        <p:spPr>
          <a:xfrm>
            <a:off x="738828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Découverte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8"/>
          <p:cNvSpPr/>
          <p:nvPr/>
        </p:nvSpPr>
        <p:spPr>
          <a:xfrm>
            <a:off x="738828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Search, Trending, Recommandations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9"/>
          <p:cNvSpPr/>
          <p:nvPr/>
        </p:nvSpPr>
        <p:spPr>
          <a:xfrm>
            <a:off x="954648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0"/>
          <p:cNvSpPr/>
          <p:nvPr/>
        </p:nvSpPr>
        <p:spPr>
          <a:xfrm>
            <a:off x="10323720" y="4389120"/>
            <a:ext cx="638640" cy="63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 31"/>
          <p:cNvSpPr/>
          <p:nvPr/>
        </p:nvSpPr>
        <p:spPr>
          <a:xfrm>
            <a:off x="10323720" y="438912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2"/>
          <p:cNvSpPr/>
          <p:nvPr/>
        </p:nvSpPr>
        <p:spPr>
          <a:xfrm>
            <a:off x="963792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3"/>
          <p:cNvSpPr/>
          <p:nvPr/>
        </p:nvSpPr>
        <p:spPr>
          <a:xfrm>
            <a:off x="963792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Thème, langue, confidentialité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3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CAHIER DES CHARGES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&amp; périmètre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Shape 3"/>
          <p:cNvSpPr/>
          <p:nvPr/>
        </p:nvSpPr>
        <p:spPr>
          <a:xfrm>
            <a:off x="54864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54864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54864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6"/>
          <p:cNvSpPr/>
          <p:nvPr/>
        </p:nvSpPr>
        <p:spPr>
          <a:xfrm>
            <a:off x="279792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279792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16+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8"/>
          <p:cNvSpPr/>
          <p:nvPr/>
        </p:nvSpPr>
        <p:spPr>
          <a:xfrm>
            <a:off x="279792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 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9"/>
          <p:cNvSpPr/>
          <p:nvPr/>
        </p:nvSpPr>
        <p:spPr>
          <a:xfrm>
            <a:off x="504756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6" name="Text 10"/>
          <p:cNvSpPr/>
          <p:nvPr/>
        </p:nvSpPr>
        <p:spPr>
          <a:xfrm>
            <a:off x="504756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1"/>
          <p:cNvSpPr/>
          <p:nvPr/>
        </p:nvSpPr>
        <p:spPr>
          <a:xfrm>
            <a:off x="504756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"/>
          <p:cNvSpPr/>
          <p:nvPr/>
        </p:nvSpPr>
        <p:spPr>
          <a:xfrm>
            <a:off x="729684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 13"/>
          <p:cNvSpPr/>
          <p:nvPr/>
        </p:nvSpPr>
        <p:spPr>
          <a:xfrm>
            <a:off x="729684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4"/>
          <p:cNvSpPr/>
          <p:nvPr/>
        </p:nvSpPr>
        <p:spPr>
          <a:xfrm>
            <a:off x="729684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5"/>
          <p:cNvSpPr/>
          <p:nvPr/>
        </p:nvSpPr>
        <p:spPr>
          <a:xfrm>
            <a:off x="954648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 16"/>
          <p:cNvSpPr/>
          <p:nvPr/>
        </p:nvSpPr>
        <p:spPr>
          <a:xfrm>
            <a:off x="954648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280+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7"/>
          <p:cNvSpPr/>
          <p:nvPr/>
        </p:nvSpPr>
        <p:spPr>
          <a:xfrm>
            <a:off x="954648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Variables CSS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8"/>
          <p:cNvSpPr/>
          <p:nvPr/>
        </p:nvSpPr>
        <p:spPr>
          <a:xfrm>
            <a:off x="548640" y="333756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Top stories prioritaires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5" name="Table 0"/>
          <p:cNvGraphicFramePr/>
          <p:nvPr/>
        </p:nvGraphicFramePr>
        <p:xfrm>
          <a:off x="548640" y="3657600"/>
          <a:ext cx="11063880" cy="24688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Acteur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Priorité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 d'acceptation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Visiteur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S'inscrire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Email validé, compte créé, JWT émis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Créer un 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 visible immédiatement dans le feed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Envoyer un message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Message persisté + push SSE au destinataire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Réagir / commenter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Compteur incrémenté, doublon impossible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Supprimer un contenu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Contenu retiré, log d'action conservé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3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Text 19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3"/>
          <p:cNvSpPr/>
          <p:nvPr/>
        </p:nvSpPr>
        <p:spPr>
          <a:xfrm>
            <a:off x="548640" y="169164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548640" y="1691640"/>
            <a:ext cx="108360" cy="1095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777240" y="178308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777240" y="214884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UI / UX — ce que l'utilisateur voit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3657600" y="182880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Next.js (React Server Components)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3657600" y="212148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Composants UI (shadcn/ui, Tailwind)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3657600" y="241416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Hooks de données (use-api, use-real-time-chat)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6080760" y="278892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1"/>
          <p:cNvSpPr/>
          <p:nvPr/>
        </p:nvSpPr>
        <p:spPr>
          <a:xfrm>
            <a:off x="548640" y="286200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548640" y="2862000"/>
            <a:ext cx="108360" cy="1095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777240" y="295344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APPLICATION / MÉTIER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777240" y="331920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Logique applicative et règles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3657600" y="299916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Route Handlers /api/private/* /api/public/*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3657600" y="329184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Actions (mutations) · 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7"/>
          <p:cNvSpPr/>
          <p:nvPr/>
        </p:nvSpPr>
        <p:spPr>
          <a:xfrm>
            <a:off x="3657600" y="358452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Zod, schémas partagés client/serveur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8"/>
          <p:cNvSpPr/>
          <p:nvPr/>
        </p:nvSpPr>
        <p:spPr>
          <a:xfrm>
            <a:off x="6080760" y="395928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19"/>
          <p:cNvSpPr/>
          <p:nvPr/>
        </p:nvSpPr>
        <p:spPr>
          <a:xfrm>
            <a:off x="548640" y="403236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20"/>
          <p:cNvSpPr/>
          <p:nvPr/>
        </p:nvSpPr>
        <p:spPr>
          <a:xfrm>
            <a:off x="548640" y="4032360"/>
            <a:ext cx="108360" cy="1095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777240" y="412380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PERSISTANCE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777240" y="448956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Accès aux données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3"/>
          <p:cNvSpPr/>
          <p:nvPr/>
        </p:nvSpPr>
        <p:spPr>
          <a:xfrm>
            <a:off x="3657600" y="416952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ORM (18 modèles, requêtes type-safe)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4"/>
          <p:cNvSpPr/>
          <p:nvPr/>
        </p:nvSpPr>
        <p:spPr>
          <a:xfrm>
            <a:off x="3657600" y="446220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3657600" y="475488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6"/>
          <p:cNvSpPr/>
          <p:nvPr/>
        </p:nvSpPr>
        <p:spPr>
          <a:xfrm>
            <a:off x="6080760" y="512964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27"/>
          <p:cNvSpPr/>
          <p:nvPr/>
        </p:nvSpPr>
        <p:spPr>
          <a:xfrm>
            <a:off x="548640" y="520308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28"/>
          <p:cNvSpPr/>
          <p:nvPr/>
        </p:nvSpPr>
        <p:spPr>
          <a:xfrm>
            <a:off x="548640" y="5203080"/>
            <a:ext cx="108360" cy="1095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 29"/>
          <p:cNvSpPr/>
          <p:nvPr/>
        </p:nvSpPr>
        <p:spPr>
          <a:xfrm>
            <a:off x="777240" y="52945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0"/>
          <p:cNvSpPr/>
          <p:nvPr/>
        </p:nvSpPr>
        <p:spPr>
          <a:xfrm>
            <a:off x="777240" y="566028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et services externes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1"/>
          <p:cNvSpPr/>
          <p:nvPr/>
        </p:nvSpPr>
        <p:spPr>
          <a:xfrm>
            <a:off x="3657600" y="534024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Neon (DB relationnelle)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2"/>
          <p:cNvSpPr/>
          <p:nvPr/>
        </p:nvSpPr>
        <p:spPr>
          <a:xfrm>
            <a:off x="3657600" y="563256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(cache + buffer 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33"/>
          <p:cNvSpPr/>
          <p:nvPr/>
        </p:nvSpPr>
        <p:spPr>
          <a:xfrm>
            <a:off x="3657600" y="592524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 (médias) · Vercel (runtime)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3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Stack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45720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457200" y="1691640"/>
            <a:ext cx="71640" cy="2238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685800" y="1801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685800" y="219456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685800" y="24231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 · SSR/CSR hybride · 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685800" y="27432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19 + TypeScript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685800" y="29718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Composants typés, hooks personnalisés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0"/>
          <p:cNvSpPr/>
          <p:nvPr/>
        </p:nvSpPr>
        <p:spPr>
          <a:xfrm>
            <a:off x="685800" y="32918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Tailwind CSS + shadcn/ui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1"/>
          <p:cNvSpPr/>
          <p:nvPr/>
        </p:nvSpPr>
        <p:spPr>
          <a:xfrm>
            <a:off x="685800" y="35204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Design system, dark theme natif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2"/>
          <p:cNvSpPr/>
          <p:nvPr/>
        </p:nvSpPr>
        <p:spPr>
          <a:xfrm>
            <a:off x="425196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13"/>
          <p:cNvSpPr/>
          <p:nvPr/>
        </p:nvSpPr>
        <p:spPr>
          <a:xfrm>
            <a:off x="4251960" y="1691640"/>
            <a:ext cx="71640" cy="2238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4480560" y="1801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Backend &amp;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5"/>
          <p:cNvSpPr/>
          <p:nvPr/>
        </p:nvSpPr>
        <p:spPr>
          <a:xfrm>
            <a:off x="4480560" y="219456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6"/>
          <p:cNvSpPr/>
          <p:nvPr/>
        </p:nvSpPr>
        <p:spPr>
          <a:xfrm>
            <a:off x="4480560" y="24231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+ Server-Sent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7"/>
          <p:cNvSpPr/>
          <p:nvPr/>
        </p:nvSpPr>
        <p:spPr>
          <a:xfrm>
            <a:off x="4480560" y="27432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4480560" y="29718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ORM type-safe, migrations, 18 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4480560" y="32918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4480560" y="35204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Validation des payloads, schémas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1"/>
          <p:cNvSpPr/>
          <p:nvPr/>
        </p:nvSpPr>
        <p:spPr>
          <a:xfrm>
            <a:off x="804672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8" name="Shape 22"/>
          <p:cNvSpPr/>
          <p:nvPr/>
        </p:nvSpPr>
        <p:spPr>
          <a:xfrm>
            <a:off x="8046720" y="1691640"/>
            <a:ext cx="71640" cy="2238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23"/>
          <p:cNvSpPr/>
          <p:nvPr/>
        </p:nvSpPr>
        <p:spPr>
          <a:xfrm>
            <a:off x="8275320" y="1801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Données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8275320" y="219456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(Neon)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8275320" y="24231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 managée, branches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8275320" y="27432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7"/>
          <p:cNvSpPr/>
          <p:nvPr/>
        </p:nvSpPr>
        <p:spPr>
          <a:xfrm>
            <a:off x="8275320" y="29718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compatible serverless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8"/>
          <p:cNvSpPr/>
          <p:nvPr/>
        </p:nvSpPr>
        <p:spPr>
          <a:xfrm>
            <a:off x="8275320" y="32918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8275320" y="35204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images / vidéos, transformations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30"/>
          <p:cNvSpPr/>
          <p:nvPr/>
        </p:nvSpPr>
        <p:spPr>
          <a:xfrm>
            <a:off x="45720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Shape 31"/>
          <p:cNvSpPr/>
          <p:nvPr/>
        </p:nvSpPr>
        <p:spPr>
          <a:xfrm>
            <a:off x="457200" y="4069080"/>
            <a:ext cx="71640" cy="22388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32"/>
          <p:cNvSpPr/>
          <p:nvPr/>
        </p:nvSpPr>
        <p:spPr>
          <a:xfrm>
            <a:off x="685800" y="41788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Auth &amp;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3"/>
          <p:cNvSpPr/>
          <p:nvPr/>
        </p:nvSpPr>
        <p:spPr>
          <a:xfrm>
            <a:off x="685800" y="45720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custom (jose)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4"/>
          <p:cNvSpPr/>
          <p:nvPr/>
        </p:nvSpPr>
        <p:spPr>
          <a:xfrm>
            <a:off x="685800" y="48006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 HttpOnly · SameSite ·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5"/>
          <p:cNvSpPr/>
          <p:nvPr/>
        </p:nvSpPr>
        <p:spPr>
          <a:xfrm>
            <a:off x="685800" y="51206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6"/>
          <p:cNvSpPr/>
          <p:nvPr/>
        </p:nvSpPr>
        <p:spPr>
          <a:xfrm>
            <a:off x="68580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Hash mots de passe, comparison constante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7"/>
          <p:cNvSpPr/>
          <p:nvPr/>
        </p:nvSpPr>
        <p:spPr>
          <a:xfrm>
            <a:off x="685800" y="566928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38"/>
          <p:cNvSpPr/>
          <p:nvPr/>
        </p:nvSpPr>
        <p:spPr>
          <a:xfrm>
            <a:off x="685800" y="58978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googleapis +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39"/>
          <p:cNvSpPr/>
          <p:nvPr/>
        </p:nvSpPr>
        <p:spPr>
          <a:xfrm>
            <a:off x="425196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Shape 40"/>
          <p:cNvSpPr/>
          <p:nvPr/>
        </p:nvSpPr>
        <p:spPr>
          <a:xfrm>
            <a:off x="4251960" y="4069080"/>
            <a:ext cx="71640" cy="2238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41"/>
          <p:cNvSpPr/>
          <p:nvPr/>
        </p:nvSpPr>
        <p:spPr>
          <a:xfrm>
            <a:off x="4480560" y="41788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DevOps &amp; CI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2"/>
          <p:cNvSpPr/>
          <p:nvPr/>
        </p:nvSpPr>
        <p:spPr>
          <a:xfrm>
            <a:off x="4480560" y="45720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43"/>
          <p:cNvSpPr/>
          <p:nvPr/>
        </p:nvSpPr>
        <p:spPr>
          <a:xfrm>
            <a:off x="4480560" y="48006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Image légère oven/bun:1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4"/>
          <p:cNvSpPr/>
          <p:nvPr/>
        </p:nvSpPr>
        <p:spPr>
          <a:xfrm>
            <a:off x="4480560" y="51206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5"/>
          <p:cNvSpPr/>
          <p:nvPr/>
        </p:nvSpPr>
        <p:spPr>
          <a:xfrm>
            <a:off x="448056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 · 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6"/>
          <p:cNvSpPr/>
          <p:nvPr/>
        </p:nvSpPr>
        <p:spPr>
          <a:xfrm>
            <a:off x="4480560" y="566928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4480560" y="58978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Déploiement préview par PR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8"/>
          <p:cNvSpPr/>
          <p:nvPr/>
        </p:nvSpPr>
        <p:spPr>
          <a:xfrm>
            <a:off x="804672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Shape 49"/>
          <p:cNvSpPr/>
          <p:nvPr/>
        </p:nvSpPr>
        <p:spPr>
          <a:xfrm>
            <a:off x="8046720" y="4069080"/>
            <a:ext cx="71640" cy="223884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Text 50"/>
          <p:cNvSpPr/>
          <p:nvPr/>
        </p:nvSpPr>
        <p:spPr>
          <a:xfrm>
            <a:off x="8275320" y="41788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51"/>
          <p:cNvSpPr/>
          <p:nvPr/>
        </p:nvSpPr>
        <p:spPr>
          <a:xfrm>
            <a:off x="8275320" y="45720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Jest + ts-jest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2"/>
          <p:cNvSpPr/>
          <p:nvPr/>
        </p:nvSpPr>
        <p:spPr>
          <a:xfrm>
            <a:off x="8275320" y="48006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Tests d'intégration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53"/>
          <p:cNvSpPr/>
          <p:nvPr/>
        </p:nvSpPr>
        <p:spPr>
          <a:xfrm>
            <a:off x="8275320" y="51206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ESLint + TypeScript strict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4"/>
          <p:cNvSpPr/>
          <p:nvPr/>
        </p:nvSpPr>
        <p:spPr>
          <a:xfrm>
            <a:off x="827532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style + typage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5"/>
          <p:cNvSpPr/>
          <p:nvPr/>
        </p:nvSpPr>
        <p:spPr>
          <a:xfrm>
            <a:off x="8275320" y="566928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Playwright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6"/>
          <p:cNvSpPr/>
          <p:nvPr/>
        </p:nvSpPr>
        <p:spPr>
          <a:xfrm>
            <a:off x="8275320" y="58978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E2E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5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système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194560"/>
            <a:ext cx="2193120" cy="27417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548640" y="2194560"/>
            <a:ext cx="2193120" cy="364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219456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685800" y="2743200"/>
            <a:ext cx="196452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EventSource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fetch / forms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Cookies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7"/>
          <p:cNvSpPr/>
          <p:nvPr/>
        </p:nvSpPr>
        <p:spPr>
          <a:xfrm>
            <a:off x="3017520" y="2194560"/>
            <a:ext cx="1644480" cy="274176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3017520" y="2194560"/>
            <a:ext cx="1644480" cy="364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3017520" y="2194560"/>
            <a:ext cx="1644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EDGE / CDN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3108960" y="2743200"/>
            <a:ext cx="146160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SSL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4937760" y="2194560"/>
            <a:ext cx="2376000" cy="274176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2"/>
          <p:cNvSpPr/>
          <p:nvPr/>
        </p:nvSpPr>
        <p:spPr>
          <a:xfrm>
            <a:off x="4937760" y="2194560"/>
            <a:ext cx="2376000" cy="364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4937760" y="2194560"/>
            <a:ext cx="23760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5074920" y="2743200"/>
            <a:ext cx="210168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/api/private/...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/api/public/...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Prisma Client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5"/>
          <p:cNvSpPr/>
          <p:nvPr/>
        </p:nvSpPr>
        <p:spPr>
          <a:xfrm>
            <a:off x="7680960" y="1783080"/>
            <a:ext cx="3930480" cy="10044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7680960" y="1783080"/>
            <a:ext cx="90000" cy="10044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17"/>
          <p:cNvSpPr/>
          <p:nvPr/>
        </p:nvSpPr>
        <p:spPr>
          <a:xfrm>
            <a:off x="7863840" y="187452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·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"/>
          <p:cNvSpPr/>
          <p:nvPr/>
        </p:nvSpPr>
        <p:spPr>
          <a:xfrm>
            <a:off x="7863840" y="219456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relationnelle, 18 modèles Prisma, migrations versionnées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19"/>
          <p:cNvSpPr/>
          <p:nvPr/>
        </p:nvSpPr>
        <p:spPr>
          <a:xfrm>
            <a:off x="7680960" y="2926080"/>
            <a:ext cx="3930480" cy="10044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7680960" y="2926080"/>
            <a:ext cx="90000" cy="100440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 21"/>
          <p:cNvSpPr/>
          <p:nvPr/>
        </p:nvSpPr>
        <p:spPr>
          <a:xfrm>
            <a:off x="7863840" y="301752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2"/>
          <p:cNvSpPr/>
          <p:nvPr/>
        </p:nvSpPr>
        <p:spPr>
          <a:xfrm>
            <a:off x="7863840" y="333756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— clés latest:chat:* polling REST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23"/>
          <p:cNvSpPr/>
          <p:nvPr/>
        </p:nvSpPr>
        <p:spPr>
          <a:xfrm>
            <a:off x="7680960" y="4069080"/>
            <a:ext cx="3930480" cy="10044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7680960" y="4069080"/>
            <a:ext cx="90000" cy="10044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25"/>
          <p:cNvSpPr/>
          <p:nvPr/>
        </p:nvSpPr>
        <p:spPr>
          <a:xfrm>
            <a:off x="7863840" y="416052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6"/>
          <p:cNvSpPr/>
          <p:nvPr/>
        </p:nvSpPr>
        <p:spPr>
          <a:xfrm>
            <a:off x="7863840" y="448056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médias, transformations à la volée, CDN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27"/>
          <p:cNvSpPr/>
          <p:nvPr/>
        </p:nvSpPr>
        <p:spPr>
          <a:xfrm>
            <a:off x="274320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28"/>
          <p:cNvSpPr/>
          <p:nvPr/>
        </p:nvSpPr>
        <p:spPr>
          <a:xfrm>
            <a:off x="466344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5" name="Shape 29"/>
          <p:cNvSpPr/>
          <p:nvPr/>
        </p:nvSpPr>
        <p:spPr>
          <a:xfrm>
            <a:off x="7315200" y="2286000"/>
            <a:ext cx="3657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30"/>
          <p:cNvSpPr/>
          <p:nvPr/>
        </p:nvSpPr>
        <p:spPr>
          <a:xfrm>
            <a:off x="7315200" y="342900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7315200" y="4572000"/>
            <a:ext cx="365760" cy="360"/>
          </a:xfrm>
          <a:prstGeom prst="line">
            <a:avLst/>
          </a:prstGeom>
          <a:ln w="25400">
            <a:solidFill>
              <a:srgbClr val="10B98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548640" y="5486400"/>
            <a:ext cx="11062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Tout est serverless-ready : la stack tourne nativement sur Vercel et reste reproductible en local via docker-compose.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3"/>
          <p:cNvSpPr/>
          <p:nvPr/>
        </p:nvSpPr>
        <p:spPr>
          <a:xfrm>
            <a:off x="685800" y="5120640"/>
            <a:ext cx="191880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 34"/>
          <p:cNvSpPr/>
          <p:nvPr/>
        </p:nvSpPr>
        <p:spPr>
          <a:xfrm>
            <a:off x="685800" y="5120640"/>
            <a:ext cx="1918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 bidirectionnel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3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3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Concepts de modélisation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 3"/>
          <p:cNvSpPr/>
          <p:nvPr/>
        </p:nvSpPr>
        <p:spPr>
          <a:xfrm>
            <a:off x="548640" y="169164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Rappel des termes que l'on rencontrera dans MCD / MLD /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548640" y="210312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9" name="Shape 5"/>
          <p:cNvSpPr/>
          <p:nvPr/>
        </p:nvSpPr>
        <p:spPr>
          <a:xfrm>
            <a:off x="731520" y="2286000"/>
            <a:ext cx="501480" cy="50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6"/>
          <p:cNvSpPr/>
          <p:nvPr/>
        </p:nvSpPr>
        <p:spPr>
          <a:xfrm>
            <a:off x="731520" y="2178000"/>
            <a:ext cx="50148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1325880" y="22860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 / Table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8"/>
          <p:cNvSpPr/>
          <p:nvPr/>
        </p:nvSpPr>
        <p:spPr>
          <a:xfrm>
            <a:off x="731520" y="288036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Objet métier matérialisé en table SQL. Une ligne = une instance.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9"/>
          <p:cNvSpPr/>
          <p:nvPr/>
        </p:nvSpPr>
        <p:spPr>
          <a:xfrm>
            <a:off x="731520" y="347472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0"/>
          <p:cNvSpPr/>
          <p:nvPr/>
        </p:nvSpPr>
        <p:spPr>
          <a:xfrm>
            <a:off x="731520" y="365760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User, Post, Comment, Reaction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1"/>
          <p:cNvSpPr/>
          <p:nvPr/>
        </p:nvSpPr>
        <p:spPr>
          <a:xfrm>
            <a:off x="4389120" y="210312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Shape 12"/>
          <p:cNvSpPr/>
          <p:nvPr/>
        </p:nvSpPr>
        <p:spPr>
          <a:xfrm>
            <a:off x="4572000" y="2286000"/>
            <a:ext cx="501480" cy="50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13"/>
          <p:cNvSpPr/>
          <p:nvPr/>
        </p:nvSpPr>
        <p:spPr>
          <a:xfrm>
            <a:off x="4572000" y="2178000"/>
            <a:ext cx="501480" cy="70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4"/>
          <p:cNvSpPr/>
          <p:nvPr/>
        </p:nvSpPr>
        <p:spPr>
          <a:xfrm>
            <a:off x="5166360" y="22860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Attribut / Colonne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572000" y="288036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Caractéristique d'une entité, typée. Devient une colonne en base.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6"/>
          <p:cNvSpPr/>
          <p:nvPr/>
        </p:nvSpPr>
        <p:spPr>
          <a:xfrm>
            <a:off x="4572000" y="347472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0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4572000" y="365760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User.email (varchar) · Post.message (text)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8229600" y="210312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9"/>
          <p:cNvSpPr/>
          <p:nvPr/>
        </p:nvSpPr>
        <p:spPr>
          <a:xfrm>
            <a:off x="8412480" y="2286000"/>
            <a:ext cx="501480" cy="50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 20"/>
          <p:cNvSpPr/>
          <p:nvPr/>
        </p:nvSpPr>
        <p:spPr>
          <a:xfrm>
            <a:off x="8412480" y="2106000"/>
            <a:ext cx="573480" cy="82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9006840" y="22860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primaire (PK)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2"/>
          <p:cNvSpPr/>
          <p:nvPr/>
        </p:nvSpPr>
        <p:spPr>
          <a:xfrm>
            <a:off x="8412480" y="288036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Identifiant unique non-null d'une ligne. Une seule par table.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3"/>
          <p:cNvSpPr/>
          <p:nvPr/>
        </p:nvSpPr>
        <p:spPr>
          <a:xfrm>
            <a:off x="8412480" y="347472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0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4"/>
          <p:cNvSpPr/>
          <p:nvPr/>
        </p:nvSpPr>
        <p:spPr>
          <a:xfrm>
            <a:off x="8412480" y="365760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 (uuid) · Post.id (cuid)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5"/>
          <p:cNvSpPr/>
          <p:nvPr/>
        </p:nvSpPr>
        <p:spPr>
          <a:xfrm>
            <a:off x="548640" y="425196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26"/>
          <p:cNvSpPr/>
          <p:nvPr/>
        </p:nvSpPr>
        <p:spPr>
          <a:xfrm>
            <a:off x="731520" y="4434840"/>
            <a:ext cx="501480" cy="501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27"/>
          <p:cNvSpPr/>
          <p:nvPr/>
        </p:nvSpPr>
        <p:spPr>
          <a:xfrm>
            <a:off x="731520" y="4362840"/>
            <a:ext cx="5014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⌬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8"/>
          <p:cNvSpPr/>
          <p:nvPr/>
        </p:nvSpPr>
        <p:spPr>
          <a:xfrm>
            <a:off x="1325880" y="44348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étrangère (FK)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9"/>
          <p:cNvSpPr/>
          <p:nvPr/>
        </p:nvSpPr>
        <p:spPr>
          <a:xfrm>
            <a:off x="731520" y="502920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Référence la PK d'une autre table. Maintient l'intégrité référentielle.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0"/>
          <p:cNvSpPr/>
          <p:nvPr/>
        </p:nvSpPr>
        <p:spPr>
          <a:xfrm>
            <a:off x="731520" y="562356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0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1"/>
          <p:cNvSpPr/>
          <p:nvPr/>
        </p:nvSpPr>
        <p:spPr>
          <a:xfrm>
            <a:off x="731520" y="5806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Post.userId → User.id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32"/>
          <p:cNvSpPr/>
          <p:nvPr/>
        </p:nvSpPr>
        <p:spPr>
          <a:xfrm>
            <a:off x="4389120" y="425196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Shape 33"/>
          <p:cNvSpPr/>
          <p:nvPr/>
        </p:nvSpPr>
        <p:spPr>
          <a:xfrm>
            <a:off x="4572000" y="4434840"/>
            <a:ext cx="501480" cy="50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34"/>
          <p:cNvSpPr/>
          <p:nvPr/>
        </p:nvSpPr>
        <p:spPr>
          <a:xfrm>
            <a:off x="4572000" y="4362840"/>
            <a:ext cx="5014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5"/>
          <p:cNvSpPr/>
          <p:nvPr/>
        </p:nvSpPr>
        <p:spPr>
          <a:xfrm>
            <a:off x="5166360" y="44348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Cardinalité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36"/>
          <p:cNvSpPr/>
          <p:nvPr/>
        </p:nvSpPr>
        <p:spPr>
          <a:xfrm>
            <a:off x="4572000" y="502920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Nombre d'instances liées : 1-1, 1-N, N-N. Détermine la structure relationnelle.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7"/>
          <p:cNvSpPr/>
          <p:nvPr/>
        </p:nvSpPr>
        <p:spPr>
          <a:xfrm>
            <a:off x="4572000" y="562356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8"/>
          <p:cNvSpPr/>
          <p:nvPr/>
        </p:nvSpPr>
        <p:spPr>
          <a:xfrm>
            <a:off x="4572000" y="5806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 1—N Post  ·  User N—N User via Friendship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39"/>
          <p:cNvSpPr/>
          <p:nvPr/>
        </p:nvSpPr>
        <p:spPr>
          <a:xfrm>
            <a:off x="8229600" y="425196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Shape 40"/>
          <p:cNvSpPr/>
          <p:nvPr/>
        </p:nvSpPr>
        <p:spPr>
          <a:xfrm>
            <a:off x="8412480" y="4434840"/>
            <a:ext cx="501480" cy="501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41"/>
          <p:cNvSpPr/>
          <p:nvPr/>
        </p:nvSpPr>
        <p:spPr>
          <a:xfrm>
            <a:off x="8412480" y="4326840"/>
            <a:ext cx="50148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▩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2"/>
          <p:cNvSpPr/>
          <p:nvPr/>
        </p:nvSpPr>
        <p:spPr>
          <a:xfrm>
            <a:off x="9006840" y="44348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43"/>
          <p:cNvSpPr/>
          <p:nvPr/>
        </p:nvSpPr>
        <p:spPr>
          <a:xfrm>
            <a:off x="8412480" y="502920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 d'accès accélérant les lectures sur certaines colonnes.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44"/>
          <p:cNvSpPr/>
          <p:nvPr/>
        </p:nvSpPr>
        <p:spPr>
          <a:xfrm>
            <a:off x="8412480" y="562356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0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45"/>
          <p:cNvSpPr/>
          <p:nvPr/>
        </p:nvSpPr>
        <p:spPr>
          <a:xfrm>
            <a:off x="8412480" y="5806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@@index([userId, createdAt]) sur Post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Shape 3"/>
          <p:cNvSpPr/>
          <p:nvPr/>
        </p:nvSpPr>
        <p:spPr>
          <a:xfrm>
            <a:off x="548640" y="1691640"/>
            <a:ext cx="11062800" cy="8215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Text 4"/>
          <p:cNvSpPr/>
          <p:nvPr/>
        </p:nvSpPr>
        <p:spPr>
          <a:xfrm>
            <a:off x="777240" y="17373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5"/>
          <p:cNvSpPr/>
          <p:nvPr/>
        </p:nvSpPr>
        <p:spPr>
          <a:xfrm>
            <a:off x="777240" y="2011680"/>
            <a:ext cx="10605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6"/>
          <p:cNvSpPr/>
          <p:nvPr/>
        </p:nvSpPr>
        <p:spPr>
          <a:xfrm>
            <a:off x="914400" y="3017520"/>
            <a:ext cx="2376000" cy="146160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0" name="Text 7"/>
          <p:cNvSpPr/>
          <p:nvPr/>
        </p:nvSpPr>
        <p:spPr>
          <a:xfrm>
            <a:off x="914400" y="3108960"/>
            <a:ext cx="23760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"/>
          <p:cNvSpPr/>
          <p:nvPr/>
        </p:nvSpPr>
        <p:spPr>
          <a:xfrm>
            <a:off x="914400" y="3456360"/>
            <a:ext cx="2376000" cy="169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9"/>
          <p:cNvSpPr/>
          <p:nvPr/>
        </p:nvSpPr>
        <p:spPr>
          <a:xfrm>
            <a:off x="1005840" y="3520440"/>
            <a:ext cx="21931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username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birthDate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0"/>
          <p:cNvSpPr/>
          <p:nvPr/>
        </p:nvSpPr>
        <p:spPr>
          <a:xfrm>
            <a:off x="5029200" y="3017520"/>
            <a:ext cx="2376000" cy="146160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 11"/>
          <p:cNvSpPr/>
          <p:nvPr/>
        </p:nvSpPr>
        <p:spPr>
          <a:xfrm>
            <a:off x="5029200" y="3108960"/>
            <a:ext cx="23760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2"/>
          <p:cNvSpPr/>
          <p:nvPr/>
        </p:nvSpPr>
        <p:spPr>
          <a:xfrm>
            <a:off x="5029200" y="3456360"/>
            <a:ext cx="2376000" cy="169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13"/>
          <p:cNvSpPr/>
          <p:nvPr/>
        </p:nvSpPr>
        <p:spPr>
          <a:xfrm>
            <a:off x="5120640" y="3520440"/>
            <a:ext cx="21931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14"/>
          <p:cNvSpPr/>
          <p:nvPr/>
        </p:nvSpPr>
        <p:spPr>
          <a:xfrm>
            <a:off x="9144000" y="3017520"/>
            <a:ext cx="2376000" cy="146160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5"/>
          <p:cNvSpPr/>
          <p:nvPr/>
        </p:nvSpPr>
        <p:spPr>
          <a:xfrm>
            <a:off x="9144000" y="3108960"/>
            <a:ext cx="23760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6"/>
          <p:cNvSpPr/>
          <p:nvPr/>
        </p:nvSpPr>
        <p:spPr>
          <a:xfrm>
            <a:off x="9144000" y="3456360"/>
            <a:ext cx="2376000" cy="169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17"/>
          <p:cNvSpPr/>
          <p:nvPr/>
        </p:nvSpPr>
        <p:spPr>
          <a:xfrm>
            <a:off x="9235440" y="3520440"/>
            <a:ext cx="21931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createdAt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8"/>
          <p:cNvSpPr/>
          <p:nvPr/>
        </p:nvSpPr>
        <p:spPr>
          <a:xfrm>
            <a:off x="3291840" y="3749040"/>
            <a:ext cx="1737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2" name="Text 19"/>
          <p:cNvSpPr/>
          <p:nvPr/>
        </p:nvSpPr>
        <p:spPr>
          <a:xfrm>
            <a:off x="3291840" y="3429000"/>
            <a:ext cx="1735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publie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20"/>
          <p:cNvSpPr/>
          <p:nvPr/>
        </p:nvSpPr>
        <p:spPr>
          <a:xfrm>
            <a:off x="7406640" y="3749040"/>
            <a:ext cx="1737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4" name="Text 21"/>
          <p:cNvSpPr/>
          <p:nvPr/>
        </p:nvSpPr>
        <p:spPr>
          <a:xfrm>
            <a:off x="7406640" y="3429000"/>
            <a:ext cx="1735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contient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22"/>
          <p:cNvSpPr/>
          <p:nvPr/>
        </p:nvSpPr>
        <p:spPr>
          <a:xfrm>
            <a:off x="548640" y="4846320"/>
            <a:ext cx="11062800" cy="141588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 23"/>
          <p:cNvSpPr/>
          <p:nvPr/>
        </p:nvSpPr>
        <p:spPr>
          <a:xfrm>
            <a:off x="777240" y="493776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Lecture du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4"/>
          <p:cNvSpPr/>
          <p:nvPr/>
        </p:nvSpPr>
        <p:spPr>
          <a:xfrm>
            <a:off x="777240" y="5257800"/>
            <a:ext cx="106970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publie 0..N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 Post a exactement 1 auteur (cardinalité 1,1 côté Post)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contient 0..N </a:t>
            </a: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chaque Comment référence exactement 1 Post (parent)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Le MCD n'expose </a:t>
            </a: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ni clés étrangères, ni types techniques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uniquement le sens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Logique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Shape 3"/>
          <p:cNvSpPr/>
          <p:nvPr/>
        </p:nvSpPr>
        <p:spPr>
          <a:xfrm>
            <a:off x="548640" y="1691640"/>
            <a:ext cx="11062800" cy="8215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4"/>
          <p:cNvSpPr/>
          <p:nvPr/>
        </p:nvSpPr>
        <p:spPr>
          <a:xfrm>
            <a:off x="777240" y="17373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777240" y="2011680"/>
            <a:ext cx="10605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>
            <a:off x="548640" y="2697480"/>
            <a:ext cx="11062800" cy="274176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777240" y="288036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9" name="Shape 8"/>
          <p:cNvSpPr/>
          <p:nvPr/>
        </p:nvSpPr>
        <p:spPr>
          <a:xfrm>
            <a:off x="960120" y="288036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1143000" y="288036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0"/>
          <p:cNvSpPr/>
          <p:nvPr/>
        </p:nvSpPr>
        <p:spPr>
          <a:xfrm>
            <a:off x="1371600" y="27889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MLD — extrait (notation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777240" y="315468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USER  (id PK, email UNIQUE, username UNIQUE, password, birthDate,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"/>
          <p:cNvSpPr/>
          <p:nvPr/>
        </p:nvSpPr>
        <p:spPr>
          <a:xfrm>
            <a:off x="777240" y="342900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POST  (id PK, userId FK → USER.id, message, image?, visibility,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3"/>
          <p:cNvSpPr/>
          <p:nvPr/>
        </p:nvSpPr>
        <p:spPr>
          <a:xfrm>
            <a:off x="777240" y="370332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COMMENT (id PK, postId FK → POST.id, userId FK → USER.id, message,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777240" y="397764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REACTION (id PK, userId FK → USER.id, postId FK? → POST.id, type,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5"/>
          <p:cNvSpPr/>
          <p:nvPr/>
        </p:nvSpPr>
        <p:spPr>
          <a:xfrm>
            <a:off x="777240" y="425196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UNIQUE (userId, postId, type)   ← un user ne peut pas dupliquer une réaction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6"/>
          <p:cNvSpPr/>
          <p:nvPr/>
        </p:nvSpPr>
        <p:spPr>
          <a:xfrm>
            <a:off x="777240" y="452628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STORY (id PK, userId FK → USER.id, image, expiresAt,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7"/>
          <p:cNvSpPr/>
          <p:nvPr/>
        </p:nvSpPr>
        <p:spPr>
          <a:xfrm>
            <a:off x="777240" y="480060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FRIENDSHIP (id PK, requesterId FK → USER.id, addresseeId FK → USER.id, status)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8"/>
          <p:cNvSpPr/>
          <p:nvPr/>
        </p:nvSpPr>
        <p:spPr>
          <a:xfrm>
            <a:off x="777240" y="507492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   UNIQUE (requesterId, addresseeId)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9"/>
          <p:cNvSpPr/>
          <p:nvPr/>
        </p:nvSpPr>
        <p:spPr>
          <a:xfrm>
            <a:off x="548640" y="5577840"/>
            <a:ext cx="11062800" cy="711720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20"/>
          <p:cNvSpPr/>
          <p:nvPr/>
        </p:nvSpPr>
        <p:spPr>
          <a:xfrm>
            <a:off x="777240" y="5623560"/>
            <a:ext cx="106970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À retenir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chaque relation N-1 du MCD devient une </a:t>
            </a: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FK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côté "plusieurs". Les relations N-N (ex. Friendship) deviennent une table d'association avec ses propres attributs.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21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Physique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691640"/>
            <a:ext cx="11062800" cy="8215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77240" y="17373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777240" y="2011680"/>
            <a:ext cx="10605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697480"/>
            <a:ext cx="11062800" cy="324468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7"/>
          <p:cNvSpPr/>
          <p:nvPr/>
        </p:nvSpPr>
        <p:spPr>
          <a:xfrm>
            <a:off x="777240" y="288036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8"/>
          <p:cNvSpPr/>
          <p:nvPr/>
        </p:nvSpPr>
        <p:spPr>
          <a:xfrm>
            <a:off x="960120" y="288036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143000" y="288036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71600" y="27889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MPD — extrait DDL 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777240" y="31546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"User"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"/>
          <p:cNvSpPr/>
          <p:nvPr/>
        </p:nvSpPr>
        <p:spPr>
          <a:xfrm>
            <a:off x="777240" y="331920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  TEXT       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777240" y="34837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email         VARCHAR(255)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777240" y="364860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username      VARCHAR(50) 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5"/>
          <p:cNvSpPr/>
          <p:nvPr/>
        </p:nvSpPr>
        <p:spPr>
          <a:xfrm>
            <a:off x="777240" y="38131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password      VARCHAR(255) NOT NULL,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777240" y="397764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visibility    "ProfileVisibility"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777240" y="414216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  TIMESTAMPTZ 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8"/>
          <p:cNvSpPr/>
          <p:nvPr/>
        </p:nvSpPr>
        <p:spPr>
          <a:xfrm>
            <a:off x="777240" y="43066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777240" y="447156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777240" y="46360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"Post"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1"/>
          <p:cNvSpPr/>
          <p:nvPr/>
        </p:nvSpPr>
        <p:spPr>
          <a:xfrm>
            <a:off x="777240" y="480060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TEXT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777240" y="49651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userId      TEXT NOT NULL REFERENCES "User"(id) ON DELETE CASCADE,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777240" y="512964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message     TEXT NOT NULL CHECK (length(message) &lt;= 5000),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777240" y="52945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visibility  "Visibility"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777240" y="545904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TIMESTAMPTZ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6"/>
          <p:cNvSpPr/>
          <p:nvPr/>
        </p:nvSpPr>
        <p:spPr>
          <a:xfrm>
            <a:off x="777240" y="562356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777240" y="57880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CREATE INDEX idx_post_user_created ON "Post"(userId, createdAt DESC);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Text 28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9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de données — 18 entités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9" name="Image 0" descr="/sessions/sweet-funny-newton/mnt/outputs/build/assets/erd.png"/>
          <p:cNvPicPr/>
          <p:nvPr/>
        </p:nvPicPr>
        <p:blipFill>
          <a:blip r:embed="rId1"/>
          <a:stretch/>
        </p:blipFill>
        <p:spPr>
          <a:xfrm>
            <a:off x="548640" y="1691640"/>
            <a:ext cx="7862400" cy="457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0" name="Shape 3"/>
          <p:cNvSpPr/>
          <p:nvPr/>
        </p:nvSpPr>
        <p:spPr>
          <a:xfrm>
            <a:off x="8595360" y="1691640"/>
            <a:ext cx="3016080" cy="457056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1" name="Text 4"/>
          <p:cNvSpPr/>
          <p:nvPr/>
        </p:nvSpPr>
        <p:spPr>
          <a:xfrm>
            <a:off x="8732520" y="178308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Faits saillants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5"/>
          <p:cNvSpPr/>
          <p:nvPr/>
        </p:nvSpPr>
        <p:spPr>
          <a:xfrm>
            <a:off x="8732520" y="214884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6"/>
          <p:cNvSpPr/>
          <p:nvPr/>
        </p:nvSpPr>
        <p:spPr>
          <a:xfrm>
            <a:off x="9646920" y="214884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7"/>
          <p:cNvSpPr/>
          <p:nvPr/>
        </p:nvSpPr>
        <p:spPr>
          <a:xfrm>
            <a:off x="8732520" y="265176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40+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8"/>
          <p:cNvSpPr/>
          <p:nvPr/>
        </p:nvSpPr>
        <p:spPr>
          <a:xfrm>
            <a:off x="9646920" y="265176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9"/>
          <p:cNvSpPr/>
          <p:nvPr/>
        </p:nvSpPr>
        <p:spPr>
          <a:xfrm>
            <a:off x="8732520" y="315468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0"/>
          <p:cNvSpPr/>
          <p:nvPr/>
        </p:nvSpPr>
        <p:spPr>
          <a:xfrm>
            <a:off x="9646920" y="315468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1"/>
          <p:cNvSpPr/>
          <p:nvPr/>
        </p:nvSpPr>
        <p:spPr>
          <a:xfrm>
            <a:off x="8732520" y="365760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35+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12"/>
          <p:cNvSpPr/>
          <p:nvPr/>
        </p:nvSpPr>
        <p:spPr>
          <a:xfrm>
            <a:off x="9646920" y="365760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Attributs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Shape 13"/>
          <p:cNvSpPr/>
          <p:nvPr/>
        </p:nvSpPr>
        <p:spPr>
          <a:xfrm>
            <a:off x="8732520" y="4297680"/>
            <a:ext cx="2741760" cy="169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1" name="Text 14"/>
          <p:cNvSpPr/>
          <p:nvPr/>
        </p:nvSpPr>
        <p:spPr>
          <a:xfrm>
            <a:off x="8732520" y="438912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Entités centrales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5"/>
          <p:cNvSpPr/>
          <p:nvPr/>
        </p:nvSpPr>
        <p:spPr>
          <a:xfrm>
            <a:off x="8732520" y="466344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6"/>
          <p:cNvSpPr/>
          <p:nvPr/>
        </p:nvSpPr>
        <p:spPr>
          <a:xfrm>
            <a:off x="8732520" y="491940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Post / Comment / Reaction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7"/>
          <p:cNvSpPr/>
          <p:nvPr/>
        </p:nvSpPr>
        <p:spPr>
          <a:xfrm>
            <a:off x="8732520" y="517536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Story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8"/>
          <p:cNvSpPr/>
          <p:nvPr/>
        </p:nvSpPr>
        <p:spPr>
          <a:xfrm>
            <a:off x="8732520" y="543168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Conversation / 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19"/>
          <p:cNvSpPr/>
          <p:nvPr/>
        </p:nvSpPr>
        <p:spPr>
          <a:xfrm>
            <a:off x="8732520" y="568764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Group / Event /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20"/>
          <p:cNvSpPr/>
          <p:nvPr/>
        </p:nvSpPr>
        <p:spPr>
          <a:xfrm>
            <a:off x="8732520" y="594360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Notification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9" name="Text 21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22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au cœur du domaine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38680" y="2926800"/>
            <a:ext cx="1735920" cy="173592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 4"/>
          <p:cNvSpPr/>
          <p:nvPr/>
        </p:nvSpPr>
        <p:spPr>
          <a:xfrm>
            <a:off x="6538680" y="2926800"/>
            <a:ext cx="173592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6538680" y="3978360"/>
            <a:ext cx="17359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entités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6"/>
          <p:cNvSpPr/>
          <p:nvPr/>
        </p:nvSpPr>
        <p:spPr>
          <a:xfrm flipV="1">
            <a:off x="7407360" y="2167560"/>
            <a:ext cx="720" cy="74088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6904440" y="1143720"/>
            <a:ext cx="1004400" cy="100440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6904440" y="114372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9"/>
          <p:cNvSpPr/>
          <p:nvPr/>
        </p:nvSpPr>
        <p:spPr>
          <a:xfrm>
            <a:off x="6904440" y="164664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0"/>
          <p:cNvSpPr/>
          <p:nvPr/>
        </p:nvSpPr>
        <p:spPr>
          <a:xfrm>
            <a:off x="6904440" y="192096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11"/>
          <p:cNvSpPr/>
          <p:nvPr/>
        </p:nvSpPr>
        <p:spPr>
          <a:xfrm flipV="1">
            <a:off x="803448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3" name="Shape 12"/>
          <p:cNvSpPr/>
          <p:nvPr/>
        </p:nvSpPr>
        <p:spPr>
          <a:xfrm>
            <a:off x="8424000" y="1773000"/>
            <a:ext cx="1004400" cy="100440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3"/>
          <p:cNvSpPr/>
          <p:nvPr/>
        </p:nvSpPr>
        <p:spPr>
          <a:xfrm>
            <a:off x="8424000" y="177300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4"/>
          <p:cNvSpPr/>
          <p:nvPr/>
        </p:nvSpPr>
        <p:spPr>
          <a:xfrm>
            <a:off x="8424000" y="227592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8424000" y="255024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écrit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6"/>
          <p:cNvSpPr/>
          <p:nvPr/>
        </p:nvSpPr>
        <p:spPr>
          <a:xfrm>
            <a:off x="8294040" y="3795480"/>
            <a:ext cx="740880" cy="720"/>
          </a:xfrm>
          <a:prstGeom prst="line">
            <a:avLst/>
          </a:prstGeom>
          <a:ln w="19050">
            <a:solidFill>
              <a:srgbClr val="F59E0B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9053280" y="3292560"/>
            <a:ext cx="1004400" cy="100440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9" name="Text 18"/>
          <p:cNvSpPr/>
          <p:nvPr/>
        </p:nvSpPr>
        <p:spPr>
          <a:xfrm>
            <a:off x="9053280" y="329256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♥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9053280" y="379548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9053280" y="406980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réagit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1"/>
          <p:cNvSpPr/>
          <p:nvPr/>
        </p:nvSpPr>
        <p:spPr>
          <a:xfrm>
            <a:off x="8034480" y="4422600"/>
            <a:ext cx="523440" cy="523440"/>
          </a:xfrm>
          <a:prstGeom prst="line">
            <a:avLst/>
          </a:prstGeom>
          <a:ln w="19050">
            <a:solidFill>
              <a:srgbClr val="10B981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3" name="Shape 22"/>
          <p:cNvSpPr/>
          <p:nvPr/>
        </p:nvSpPr>
        <p:spPr>
          <a:xfrm>
            <a:off x="8424000" y="4812120"/>
            <a:ext cx="1004400" cy="100440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 23"/>
          <p:cNvSpPr/>
          <p:nvPr/>
        </p:nvSpPr>
        <p:spPr>
          <a:xfrm>
            <a:off x="8424000" y="481212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4"/>
          <p:cNvSpPr/>
          <p:nvPr/>
        </p:nvSpPr>
        <p:spPr>
          <a:xfrm>
            <a:off x="8424000" y="531504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5"/>
          <p:cNvSpPr/>
          <p:nvPr/>
        </p:nvSpPr>
        <p:spPr>
          <a:xfrm>
            <a:off x="8424000" y="558936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envoie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6"/>
          <p:cNvSpPr/>
          <p:nvPr/>
        </p:nvSpPr>
        <p:spPr>
          <a:xfrm>
            <a:off x="7407360" y="4682160"/>
            <a:ext cx="720" cy="740880"/>
          </a:xfrm>
          <a:prstGeom prst="line">
            <a:avLst/>
          </a:prstGeom>
          <a:ln w="19050">
            <a:solidFill>
              <a:srgbClr val="F472B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7"/>
          <p:cNvSpPr/>
          <p:nvPr/>
        </p:nvSpPr>
        <p:spPr>
          <a:xfrm>
            <a:off x="6904440" y="5441400"/>
            <a:ext cx="1004400" cy="100440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 28"/>
          <p:cNvSpPr/>
          <p:nvPr/>
        </p:nvSpPr>
        <p:spPr>
          <a:xfrm>
            <a:off x="6904440" y="544140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❖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9"/>
          <p:cNvSpPr/>
          <p:nvPr/>
        </p:nvSpPr>
        <p:spPr>
          <a:xfrm>
            <a:off x="6904440" y="594432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30"/>
          <p:cNvSpPr/>
          <p:nvPr/>
        </p:nvSpPr>
        <p:spPr>
          <a:xfrm>
            <a:off x="6904440" y="621864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rejoint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31"/>
          <p:cNvSpPr/>
          <p:nvPr/>
        </p:nvSpPr>
        <p:spPr>
          <a:xfrm flipH="1">
            <a:off x="6256440" y="4422600"/>
            <a:ext cx="523440" cy="523440"/>
          </a:xfrm>
          <a:prstGeom prst="line">
            <a:avLst/>
          </a:prstGeom>
          <a:ln w="19050">
            <a:solidFill>
              <a:srgbClr val="EF444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Shape 32"/>
          <p:cNvSpPr/>
          <p:nvPr/>
        </p:nvSpPr>
        <p:spPr>
          <a:xfrm>
            <a:off x="5384880" y="4812120"/>
            <a:ext cx="1004400" cy="100440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4" name="Text 33"/>
          <p:cNvSpPr/>
          <p:nvPr/>
        </p:nvSpPr>
        <p:spPr>
          <a:xfrm>
            <a:off x="5384880" y="481212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4"/>
          <p:cNvSpPr/>
          <p:nvPr/>
        </p:nvSpPr>
        <p:spPr>
          <a:xfrm>
            <a:off x="5384880" y="531504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5"/>
          <p:cNvSpPr/>
          <p:nvPr/>
        </p:nvSpPr>
        <p:spPr>
          <a:xfrm>
            <a:off x="5384880" y="558936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organise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6"/>
          <p:cNvSpPr/>
          <p:nvPr/>
        </p:nvSpPr>
        <p:spPr>
          <a:xfrm flipH="1">
            <a:off x="5779440" y="3795480"/>
            <a:ext cx="740880" cy="72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8" name="Shape 37"/>
          <p:cNvSpPr/>
          <p:nvPr/>
        </p:nvSpPr>
        <p:spPr>
          <a:xfrm>
            <a:off x="4755600" y="3292560"/>
            <a:ext cx="1004400" cy="100440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Text 38"/>
          <p:cNvSpPr/>
          <p:nvPr/>
        </p:nvSpPr>
        <p:spPr>
          <a:xfrm>
            <a:off x="4755600" y="329256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39"/>
          <p:cNvSpPr/>
          <p:nvPr/>
        </p:nvSpPr>
        <p:spPr>
          <a:xfrm>
            <a:off x="4755600" y="379548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40"/>
          <p:cNvSpPr/>
          <p:nvPr/>
        </p:nvSpPr>
        <p:spPr>
          <a:xfrm>
            <a:off x="4755600" y="406980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41"/>
          <p:cNvSpPr/>
          <p:nvPr/>
        </p:nvSpPr>
        <p:spPr>
          <a:xfrm flipH="1" flipV="1">
            <a:off x="625644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2"/>
          <p:cNvSpPr/>
          <p:nvPr/>
        </p:nvSpPr>
        <p:spPr>
          <a:xfrm>
            <a:off x="5384880" y="1773000"/>
            <a:ext cx="1004400" cy="100440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5384880" y="177300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4"/>
          <p:cNvSpPr/>
          <p:nvPr/>
        </p:nvSpPr>
        <p:spPr>
          <a:xfrm>
            <a:off x="5384880" y="227592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45"/>
          <p:cNvSpPr/>
          <p:nvPr/>
        </p:nvSpPr>
        <p:spPr>
          <a:xfrm>
            <a:off x="5384880" y="255024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reçoit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6"/>
          <p:cNvSpPr/>
          <p:nvPr/>
        </p:nvSpPr>
        <p:spPr>
          <a:xfrm>
            <a:off x="-914400" y="2549520"/>
            <a:ext cx="66286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Diagramme conceptuel simplifié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toutes les entités du domaine gravitent autour de l'utilisateur,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avec des cardinalités explicites côté Prisma.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4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Design system Konekt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48640" y="169164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Palette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548640" y="201168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640080" y="24688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Primary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6"/>
          <p:cNvSpPr/>
          <p:nvPr/>
        </p:nvSpPr>
        <p:spPr>
          <a:xfrm>
            <a:off x="640080" y="26974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#EC4899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7"/>
          <p:cNvSpPr/>
          <p:nvPr/>
        </p:nvSpPr>
        <p:spPr>
          <a:xfrm>
            <a:off x="2377440" y="201168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 8"/>
          <p:cNvSpPr/>
          <p:nvPr/>
        </p:nvSpPr>
        <p:spPr>
          <a:xfrm>
            <a:off x="2468880" y="24688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9"/>
          <p:cNvSpPr/>
          <p:nvPr/>
        </p:nvSpPr>
        <p:spPr>
          <a:xfrm>
            <a:off x="2468880" y="26974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#1A1B23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0"/>
          <p:cNvSpPr/>
          <p:nvPr/>
        </p:nvSpPr>
        <p:spPr>
          <a:xfrm>
            <a:off x="4206240" y="201168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2" name="Text 11"/>
          <p:cNvSpPr/>
          <p:nvPr/>
        </p:nvSpPr>
        <p:spPr>
          <a:xfrm>
            <a:off x="4297680" y="24688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Surface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2"/>
          <p:cNvSpPr/>
          <p:nvPr/>
        </p:nvSpPr>
        <p:spPr>
          <a:xfrm>
            <a:off x="4297680" y="26974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#272730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3"/>
          <p:cNvSpPr/>
          <p:nvPr/>
        </p:nvSpPr>
        <p:spPr>
          <a:xfrm>
            <a:off x="548640" y="329184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 14"/>
          <p:cNvSpPr/>
          <p:nvPr/>
        </p:nvSpPr>
        <p:spPr>
          <a:xfrm>
            <a:off x="640080" y="37490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1B23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5"/>
          <p:cNvSpPr/>
          <p:nvPr/>
        </p:nvSpPr>
        <p:spPr>
          <a:xfrm>
            <a:off x="640080" y="39776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#FFFFFF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6"/>
          <p:cNvSpPr/>
          <p:nvPr/>
        </p:nvSpPr>
        <p:spPr>
          <a:xfrm>
            <a:off x="2377440" y="329184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8" name="Text 17"/>
          <p:cNvSpPr/>
          <p:nvPr/>
        </p:nvSpPr>
        <p:spPr>
          <a:xfrm>
            <a:off x="2468880" y="37490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Success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8"/>
          <p:cNvSpPr/>
          <p:nvPr/>
        </p:nvSpPr>
        <p:spPr>
          <a:xfrm>
            <a:off x="2468880" y="39776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#10B981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9"/>
          <p:cNvSpPr/>
          <p:nvPr/>
        </p:nvSpPr>
        <p:spPr>
          <a:xfrm>
            <a:off x="4206240" y="329184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 20"/>
          <p:cNvSpPr/>
          <p:nvPr/>
        </p:nvSpPr>
        <p:spPr>
          <a:xfrm>
            <a:off x="4297680" y="37490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1"/>
          <p:cNvSpPr/>
          <p:nvPr/>
        </p:nvSpPr>
        <p:spPr>
          <a:xfrm>
            <a:off x="4297680" y="39776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#8B5CF6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2"/>
          <p:cNvSpPr/>
          <p:nvPr/>
        </p:nvSpPr>
        <p:spPr>
          <a:xfrm>
            <a:off x="6217920" y="169164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Typographie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3"/>
          <p:cNvSpPr/>
          <p:nvPr/>
        </p:nvSpPr>
        <p:spPr>
          <a:xfrm>
            <a:off x="6217920" y="2011680"/>
            <a:ext cx="5576400" cy="265032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5" name="Text 24"/>
          <p:cNvSpPr/>
          <p:nvPr/>
        </p:nvSpPr>
        <p:spPr>
          <a:xfrm>
            <a:off x="6355080" y="2103120"/>
            <a:ext cx="146160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Aa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5"/>
          <p:cNvSpPr/>
          <p:nvPr/>
        </p:nvSpPr>
        <p:spPr>
          <a:xfrm>
            <a:off x="7772400" y="2194560"/>
            <a:ext cx="3656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Geist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6"/>
          <p:cNvSpPr/>
          <p:nvPr/>
        </p:nvSpPr>
        <p:spPr>
          <a:xfrm>
            <a:off x="777240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Font family — Next.js next/font · variable,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7"/>
          <p:cNvSpPr/>
          <p:nvPr/>
        </p:nvSpPr>
        <p:spPr>
          <a:xfrm>
            <a:off x="6355080" y="324612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8"/>
          <p:cNvSpPr/>
          <p:nvPr/>
        </p:nvSpPr>
        <p:spPr>
          <a:xfrm>
            <a:off x="8229600" y="32461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32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9"/>
          <p:cNvSpPr/>
          <p:nvPr/>
        </p:nvSpPr>
        <p:spPr>
          <a:xfrm>
            <a:off x="6355080" y="356616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0"/>
          <p:cNvSpPr/>
          <p:nvPr/>
        </p:nvSpPr>
        <p:spPr>
          <a:xfrm>
            <a:off x="8229600" y="35661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24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1"/>
          <p:cNvSpPr/>
          <p:nvPr/>
        </p:nvSpPr>
        <p:spPr>
          <a:xfrm>
            <a:off x="6355080" y="388620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Body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2"/>
          <p:cNvSpPr/>
          <p:nvPr/>
        </p:nvSpPr>
        <p:spPr>
          <a:xfrm>
            <a:off x="8229600" y="388620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16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3"/>
          <p:cNvSpPr/>
          <p:nvPr/>
        </p:nvSpPr>
        <p:spPr>
          <a:xfrm>
            <a:off x="6355080" y="420624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Small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4"/>
          <p:cNvSpPr/>
          <p:nvPr/>
        </p:nvSpPr>
        <p:spPr>
          <a:xfrm>
            <a:off x="8229600" y="420624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35"/>
          <p:cNvSpPr/>
          <p:nvPr/>
        </p:nvSpPr>
        <p:spPr>
          <a:xfrm>
            <a:off x="548640" y="480060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Composants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Shape 36"/>
          <p:cNvSpPr/>
          <p:nvPr/>
        </p:nvSpPr>
        <p:spPr>
          <a:xfrm>
            <a:off x="54864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 37"/>
          <p:cNvSpPr/>
          <p:nvPr/>
        </p:nvSpPr>
        <p:spPr>
          <a:xfrm>
            <a:off x="54864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Button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38"/>
          <p:cNvSpPr/>
          <p:nvPr/>
        </p:nvSpPr>
        <p:spPr>
          <a:xfrm>
            <a:off x="150876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0" name="Text 39"/>
          <p:cNvSpPr/>
          <p:nvPr/>
        </p:nvSpPr>
        <p:spPr>
          <a:xfrm>
            <a:off x="150876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Avatar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0"/>
          <p:cNvSpPr/>
          <p:nvPr/>
        </p:nvSpPr>
        <p:spPr>
          <a:xfrm>
            <a:off x="246888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2" name="Text 41"/>
          <p:cNvSpPr/>
          <p:nvPr/>
        </p:nvSpPr>
        <p:spPr>
          <a:xfrm>
            <a:off x="246888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2"/>
          <p:cNvSpPr/>
          <p:nvPr/>
        </p:nvSpPr>
        <p:spPr>
          <a:xfrm>
            <a:off x="342900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4" name="Text 43"/>
          <p:cNvSpPr/>
          <p:nvPr/>
        </p:nvSpPr>
        <p:spPr>
          <a:xfrm>
            <a:off x="342900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44"/>
          <p:cNvSpPr/>
          <p:nvPr/>
        </p:nvSpPr>
        <p:spPr>
          <a:xfrm>
            <a:off x="438912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 45"/>
          <p:cNvSpPr/>
          <p:nvPr/>
        </p:nvSpPr>
        <p:spPr>
          <a:xfrm>
            <a:off x="438912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Dialog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46"/>
          <p:cNvSpPr/>
          <p:nvPr/>
        </p:nvSpPr>
        <p:spPr>
          <a:xfrm>
            <a:off x="54864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8" name="Text 47"/>
          <p:cNvSpPr/>
          <p:nvPr/>
        </p:nvSpPr>
        <p:spPr>
          <a:xfrm>
            <a:off x="54864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48"/>
          <p:cNvSpPr/>
          <p:nvPr/>
        </p:nvSpPr>
        <p:spPr>
          <a:xfrm>
            <a:off x="150876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Text 49"/>
          <p:cNvSpPr/>
          <p:nvPr/>
        </p:nvSpPr>
        <p:spPr>
          <a:xfrm>
            <a:off x="150876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50"/>
          <p:cNvSpPr/>
          <p:nvPr/>
        </p:nvSpPr>
        <p:spPr>
          <a:xfrm>
            <a:off x="246888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Text 51"/>
          <p:cNvSpPr/>
          <p:nvPr/>
        </p:nvSpPr>
        <p:spPr>
          <a:xfrm>
            <a:off x="246888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Switch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2"/>
          <p:cNvSpPr/>
          <p:nvPr/>
        </p:nvSpPr>
        <p:spPr>
          <a:xfrm>
            <a:off x="342900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4" name="Text 53"/>
          <p:cNvSpPr/>
          <p:nvPr/>
        </p:nvSpPr>
        <p:spPr>
          <a:xfrm>
            <a:off x="342900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4"/>
          <p:cNvSpPr/>
          <p:nvPr/>
        </p:nvSpPr>
        <p:spPr>
          <a:xfrm>
            <a:off x="6217920" y="480060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Breakpoints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55"/>
          <p:cNvSpPr/>
          <p:nvPr/>
        </p:nvSpPr>
        <p:spPr>
          <a:xfrm>
            <a:off x="6217920" y="5120640"/>
            <a:ext cx="5576400" cy="100440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 56"/>
          <p:cNvSpPr/>
          <p:nvPr/>
        </p:nvSpPr>
        <p:spPr>
          <a:xfrm>
            <a:off x="6355080" y="5257800"/>
            <a:ext cx="1735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▢ Mobile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57"/>
          <p:cNvSpPr/>
          <p:nvPr/>
        </p:nvSpPr>
        <p:spPr>
          <a:xfrm>
            <a:off x="6355080" y="5577840"/>
            <a:ext cx="1735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&lt; 640px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58"/>
          <p:cNvSpPr/>
          <p:nvPr/>
        </p:nvSpPr>
        <p:spPr>
          <a:xfrm>
            <a:off x="8183880" y="5257800"/>
            <a:ext cx="1735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 Tablet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59"/>
          <p:cNvSpPr/>
          <p:nvPr/>
        </p:nvSpPr>
        <p:spPr>
          <a:xfrm>
            <a:off x="8183880" y="5577840"/>
            <a:ext cx="1735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640 –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60"/>
          <p:cNvSpPr/>
          <p:nvPr/>
        </p:nvSpPr>
        <p:spPr>
          <a:xfrm>
            <a:off x="10012680" y="5257800"/>
            <a:ext cx="1735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 Desktop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61"/>
          <p:cNvSpPr/>
          <p:nvPr/>
        </p:nvSpPr>
        <p:spPr>
          <a:xfrm>
            <a:off x="10012680" y="5577840"/>
            <a:ext cx="1735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&gt;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4" name="Text 62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63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1603440" y="1874520"/>
            <a:ext cx="3101400" cy="425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cursor-based.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cursor-based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implémentées · 14 routes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3" name="Shape 3"/>
          <p:cNvSpPr/>
          <p:nvPr/>
        </p:nvSpPr>
        <p:spPr>
          <a:xfrm>
            <a:off x="548640" y="169164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4" name="Shape 4"/>
          <p:cNvSpPr/>
          <p:nvPr/>
        </p:nvSpPr>
        <p:spPr>
          <a:xfrm>
            <a:off x="685800" y="1783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5" name="Text 5"/>
          <p:cNvSpPr/>
          <p:nvPr/>
        </p:nvSpPr>
        <p:spPr>
          <a:xfrm>
            <a:off x="914400" y="16916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6"/>
          <p:cNvSpPr/>
          <p:nvPr/>
        </p:nvSpPr>
        <p:spPr>
          <a:xfrm>
            <a:off x="2651760" y="16916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7" name="Text 7"/>
          <p:cNvSpPr/>
          <p:nvPr/>
        </p:nvSpPr>
        <p:spPr>
          <a:xfrm>
            <a:off x="3931920" y="16916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Affichage des posts du réseau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Shape 8"/>
          <p:cNvSpPr/>
          <p:nvPr/>
        </p:nvSpPr>
        <p:spPr>
          <a:xfrm>
            <a:off x="6217920" y="169164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9" name="Shape 9"/>
          <p:cNvSpPr/>
          <p:nvPr/>
        </p:nvSpPr>
        <p:spPr>
          <a:xfrm>
            <a:off x="6355080" y="1783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0" name="Text 10"/>
          <p:cNvSpPr/>
          <p:nvPr/>
        </p:nvSpPr>
        <p:spPr>
          <a:xfrm>
            <a:off x="6583680" y="16916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/login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 11"/>
          <p:cNvSpPr/>
          <p:nvPr/>
        </p:nvSpPr>
        <p:spPr>
          <a:xfrm>
            <a:off x="8321040" y="16916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 12"/>
          <p:cNvSpPr/>
          <p:nvPr/>
        </p:nvSpPr>
        <p:spPr>
          <a:xfrm>
            <a:off x="9601200" y="16916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Authentification email + OAuth Google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Shape 13"/>
          <p:cNvSpPr/>
          <p:nvPr/>
        </p:nvSpPr>
        <p:spPr>
          <a:xfrm>
            <a:off x="548640" y="205740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4" name="Shape 14"/>
          <p:cNvSpPr/>
          <p:nvPr/>
        </p:nvSpPr>
        <p:spPr>
          <a:xfrm>
            <a:off x="685800" y="21488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5" name="Text 15"/>
          <p:cNvSpPr/>
          <p:nvPr/>
        </p:nvSpPr>
        <p:spPr>
          <a:xfrm>
            <a:off x="914400" y="20574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/register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16"/>
          <p:cNvSpPr/>
          <p:nvPr/>
        </p:nvSpPr>
        <p:spPr>
          <a:xfrm>
            <a:off x="2651760" y="20574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17"/>
          <p:cNvSpPr/>
          <p:nvPr/>
        </p:nvSpPr>
        <p:spPr>
          <a:xfrm>
            <a:off x="3931920" y="20574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Inscription avec vérification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8"/>
          <p:cNvSpPr/>
          <p:nvPr/>
        </p:nvSpPr>
        <p:spPr>
          <a:xfrm>
            <a:off x="6217920" y="205740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9" name="Shape 19"/>
          <p:cNvSpPr/>
          <p:nvPr/>
        </p:nvSpPr>
        <p:spPr>
          <a:xfrm>
            <a:off x="6355080" y="21488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0" name="Text 20"/>
          <p:cNvSpPr/>
          <p:nvPr/>
        </p:nvSpPr>
        <p:spPr>
          <a:xfrm>
            <a:off x="6583680" y="20574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/onboarding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1"/>
          <p:cNvSpPr/>
          <p:nvPr/>
        </p:nvSpPr>
        <p:spPr>
          <a:xfrm>
            <a:off x="8321040" y="20574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Onboarding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 22"/>
          <p:cNvSpPr/>
          <p:nvPr/>
        </p:nvSpPr>
        <p:spPr>
          <a:xfrm>
            <a:off x="9601200" y="20574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Complétion du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3" name="Shape 23"/>
          <p:cNvSpPr/>
          <p:nvPr/>
        </p:nvSpPr>
        <p:spPr>
          <a:xfrm>
            <a:off x="548640" y="242316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4" name="Shape 24"/>
          <p:cNvSpPr/>
          <p:nvPr/>
        </p:nvSpPr>
        <p:spPr>
          <a:xfrm>
            <a:off x="685800" y="251460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5" name="Text 25"/>
          <p:cNvSpPr/>
          <p:nvPr/>
        </p:nvSpPr>
        <p:spPr>
          <a:xfrm>
            <a:off x="914400" y="242316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/profile/[id]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26"/>
          <p:cNvSpPr/>
          <p:nvPr/>
        </p:nvSpPr>
        <p:spPr>
          <a:xfrm>
            <a:off x="2651760" y="242316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7" name="Text 27"/>
          <p:cNvSpPr/>
          <p:nvPr/>
        </p:nvSpPr>
        <p:spPr>
          <a:xfrm>
            <a:off x="3931920" y="242316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public/privé, posts, abonnés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Shape 28"/>
          <p:cNvSpPr/>
          <p:nvPr/>
        </p:nvSpPr>
        <p:spPr>
          <a:xfrm>
            <a:off x="6217920" y="242316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9" name="Shape 29"/>
          <p:cNvSpPr/>
          <p:nvPr/>
        </p:nvSpPr>
        <p:spPr>
          <a:xfrm>
            <a:off x="6355080" y="251460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0" name="Text 30"/>
          <p:cNvSpPr/>
          <p:nvPr/>
        </p:nvSpPr>
        <p:spPr>
          <a:xfrm>
            <a:off x="6583680" y="242316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31"/>
          <p:cNvSpPr/>
          <p:nvPr/>
        </p:nvSpPr>
        <p:spPr>
          <a:xfrm>
            <a:off x="8321040" y="242316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Conversations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2" name="Text 32"/>
          <p:cNvSpPr/>
          <p:nvPr/>
        </p:nvSpPr>
        <p:spPr>
          <a:xfrm>
            <a:off x="9601200" y="242316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 des messages 1-to-1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3" name="Shape 33"/>
          <p:cNvSpPr/>
          <p:nvPr/>
        </p:nvSpPr>
        <p:spPr>
          <a:xfrm>
            <a:off x="548640" y="278892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4" name="Shape 34"/>
          <p:cNvSpPr/>
          <p:nvPr/>
        </p:nvSpPr>
        <p:spPr>
          <a:xfrm>
            <a:off x="685800" y="288036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5" name="Text 35"/>
          <p:cNvSpPr/>
          <p:nvPr/>
        </p:nvSpPr>
        <p:spPr>
          <a:xfrm>
            <a:off x="914400" y="278892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6" name="Text 36"/>
          <p:cNvSpPr/>
          <p:nvPr/>
        </p:nvSpPr>
        <p:spPr>
          <a:xfrm>
            <a:off x="2651760" y="278892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Chat DM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37"/>
          <p:cNvSpPr/>
          <p:nvPr/>
        </p:nvSpPr>
        <p:spPr>
          <a:xfrm>
            <a:off x="3931920" y="278892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Messagerie privée temps réel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Shape 38"/>
          <p:cNvSpPr/>
          <p:nvPr/>
        </p:nvSpPr>
        <p:spPr>
          <a:xfrm>
            <a:off x="6217920" y="278892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9" name="Shape 39"/>
          <p:cNvSpPr/>
          <p:nvPr/>
        </p:nvSpPr>
        <p:spPr>
          <a:xfrm>
            <a:off x="6355080" y="288036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0" name="Text 40"/>
          <p:cNvSpPr/>
          <p:nvPr/>
        </p:nvSpPr>
        <p:spPr>
          <a:xfrm>
            <a:off x="6583680" y="278892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/reels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1" name="Text 41"/>
          <p:cNvSpPr/>
          <p:nvPr/>
        </p:nvSpPr>
        <p:spPr>
          <a:xfrm>
            <a:off x="8321040" y="278892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42"/>
          <p:cNvSpPr/>
          <p:nvPr/>
        </p:nvSpPr>
        <p:spPr>
          <a:xfrm>
            <a:off x="9601200" y="278892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Vidéos courtes verticales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43"/>
          <p:cNvSpPr/>
          <p:nvPr/>
        </p:nvSpPr>
        <p:spPr>
          <a:xfrm>
            <a:off x="548640" y="315468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4" name="Shape 44"/>
          <p:cNvSpPr/>
          <p:nvPr/>
        </p:nvSpPr>
        <p:spPr>
          <a:xfrm>
            <a:off x="685800" y="324612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5" name="Text 45"/>
          <p:cNvSpPr/>
          <p:nvPr/>
        </p:nvSpPr>
        <p:spPr>
          <a:xfrm>
            <a:off x="914400" y="315468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/search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46"/>
          <p:cNvSpPr/>
          <p:nvPr/>
        </p:nvSpPr>
        <p:spPr>
          <a:xfrm>
            <a:off x="2651760" y="315468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Recherche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Text 47"/>
          <p:cNvSpPr/>
          <p:nvPr/>
        </p:nvSpPr>
        <p:spPr>
          <a:xfrm>
            <a:off x="3931920" y="315468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Users + posts avec historique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8" name="Shape 48"/>
          <p:cNvSpPr/>
          <p:nvPr/>
        </p:nvSpPr>
        <p:spPr>
          <a:xfrm>
            <a:off x="6217920" y="315468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9" name="Shape 49"/>
          <p:cNvSpPr/>
          <p:nvPr/>
        </p:nvSpPr>
        <p:spPr>
          <a:xfrm>
            <a:off x="6355080" y="324612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0" name="Text 50"/>
          <p:cNvSpPr/>
          <p:nvPr/>
        </p:nvSpPr>
        <p:spPr>
          <a:xfrm>
            <a:off x="6583680" y="315468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Text 51"/>
          <p:cNvSpPr/>
          <p:nvPr/>
        </p:nvSpPr>
        <p:spPr>
          <a:xfrm>
            <a:off x="8321040" y="315468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2" name="Text 52"/>
          <p:cNvSpPr/>
          <p:nvPr/>
        </p:nvSpPr>
        <p:spPr>
          <a:xfrm>
            <a:off x="9601200" y="315468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Liste, recherche, création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3" name="Shape 53"/>
          <p:cNvSpPr/>
          <p:nvPr/>
        </p:nvSpPr>
        <p:spPr>
          <a:xfrm>
            <a:off x="548640" y="352044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4" name="Shape 54"/>
          <p:cNvSpPr/>
          <p:nvPr/>
        </p:nvSpPr>
        <p:spPr>
          <a:xfrm>
            <a:off x="685800" y="36118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5" name="Text 55"/>
          <p:cNvSpPr/>
          <p:nvPr/>
        </p:nvSpPr>
        <p:spPr>
          <a:xfrm>
            <a:off x="914400" y="35204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56"/>
          <p:cNvSpPr/>
          <p:nvPr/>
        </p:nvSpPr>
        <p:spPr>
          <a:xfrm>
            <a:off x="2651760" y="35204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57"/>
          <p:cNvSpPr/>
          <p:nvPr/>
        </p:nvSpPr>
        <p:spPr>
          <a:xfrm>
            <a:off x="3931920" y="35204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Feed + chat + membres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8" name="Shape 58"/>
          <p:cNvSpPr/>
          <p:nvPr/>
        </p:nvSpPr>
        <p:spPr>
          <a:xfrm>
            <a:off x="6217920" y="352044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9" name="Shape 59"/>
          <p:cNvSpPr/>
          <p:nvPr/>
        </p:nvSpPr>
        <p:spPr>
          <a:xfrm>
            <a:off x="6355080" y="36118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0" name="Text 60"/>
          <p:cNvSpPr/>
          <p:nvPr/>
        </p:nvSpPr>
        <p:spPr>
          <a:xfrm>
            <a:off x="6583680" y="35204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/events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1" name="Text 61"/>
          <p:cNvSpPr/>
          <p:nvPr/>
        </p:nvSpPr>
        <p:spPr>
          <a:xfrm>
            <a:off x="8321040" y="35204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Événements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2" name="Text 62"/>
          <p:cNvSpPr/>
          <p:nvPr/>
        </p:nvSpPr>
        <p:spPr>
          <a:xfrm>
            <a:off x="9601200" y="35204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Calendrier +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3" name="Shape 63"/>
          <p:cNvSpPr/>
          <p:nvPr/>
        </p:nvSpPr>
        <p:spPr>
          <a:xfrm>
            <a:off x="548640" y="388620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4" name="Shape 64"/>
          <p:cNvSpPr/>
          <p:nvPr/>
        </p:nvSpPr>
        <p:spPr>
          <a:xfrm>
            <a:off x="685800" y="39776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Text 65"/>
          <p:cNvSpPr/>
          <p:nvPr/>
        </p:nvSpPr>
        <p:spPr>
          <a:xfrm>
            <a:off x="914400" y="38862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/settings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66"/>
          <p:cNvSpPr/>
          <p:nvPr/>
        </p:nvSpPr>
        <p:spPr>
          <a:xfrm>
            <a:off x="2651760" y="38862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67"/>
          <p:cNvSpPr/>
          <p:nvPr/>
        </p:nvSpPr>
        <p:spPr>
          <a:xfrm>
            <a:off x="3931920" y="38862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Profil, sécurité, langue, thème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68"/>
          <p:cNvSpPr/>
          <p:nvPr/>
        </p:nvSpPr>
        <p:spPr>
          <a:xfrm>
            <a:off x="6217920" y="388620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Shape 69"/>
          <p:cNvSpPr/>
          <p:nvPr/>
        </p:nvSpPr>
        <p:spPr>
          <a:xfrm>
            <a:off x="6355080" y="39776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0" name="Text 70"/>
          <p:cNvSpPr/>
          <p:nvPr/>
        </p:nvSpPr>
        <p:spPr>
          <a:xfrm>
            <a:off x="6583680" y="38862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/invitations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71"/>
          <p:cNvSpPr/>
          <p:nvPr/>
        </p:nvSpPr>
        <p:spPr>
          <a:xfrm>
            <a:off x="8321040" y="38862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Invitations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Text 72"/>
          <p:cNvSpPr/>
          <p:nvPr/>
        </p:nvSpPr>
        <p:spPr>
          <a:xfrm>
            <a:off x="9601200" y="38862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Demandes d'amitié et de groupe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2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4" name="Text 7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7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SÉQUENCE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Flux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9" name="Shape 3"/>
          <p:cNvSpPr/>
          <p:nvPr/>
        </p:nvSpPr>
        <p:spPr>
          <a:xfrm>
            <a:off x="457200" y="1783080"/>
            <a:ext cx="1644480" cy="50148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0" name="Text 4"/>
          <p:cNvSpPr/>
          <p:nvPr/>
        </p:nvSpPr>
        <p:spPr>
          <a:xfrm>
            <a:off x="457200" y="1783080"/>
            <a:ext cx="1644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Shape 5"/>
          <p:cNvSpPr/>
          <p:nvPr/>
        </p:nvSpPr>
        <p:spPr>
          <a:xfrm>
            <a:off x="128016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Shape 6"/>
          <p:cNvSpPr/>
          <p:nvPr/>
        </p:nvSpPr>
        <p:spPr>
          <a:xfrm>
            <a:off x="4480560" y="1783080"/>
            <a:ext cx="1644480" cy="50148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3" name="Text 7"/>
          <p:cNvSpPr/>
          <p:nvPr/>
        </p:nvSpPr>
        <p:spPr>
          <a:xfrm>
            <a:off x="4480560" y="1783080"/>
            <a:ext cx="1644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4" name="Shape 8"/>
          <p:cNvSpPr/>
          <p:nvPr/>
        </p:nvSpPr>
        <p:spPr>
          <a:xfrm>
            <a:off x="530352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5" name="Shape 9"/>
          <p:cNvSpPr/>
          <p:nvPr/>
        </p:nvSpPr>
        <p:spPr>
          <a:xfrm>
            <a:off x="8503920" y="1783080"/>
            <a:ext cx="1644480" cy="50148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6" name="Text 10"/>
          <p:cNvSpPr/>
          <p:nvPr/>
        </p:nvSpPr>
        <p:spPr>
          <a:xfrm>
            <a:off x="8503920" y="1783080"/>
            <a:ext cx="1644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(Prisma)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7" name="Shape 11"/>
          <p:cNvSpPr/>
          <p:nvPr/>
        </p:nvSpPr>
        <p:spPr>
          <a:xfrm>
            <a:off x="932688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8" name="Shape 12"/>
          <p:cNvSpPr/>
          <p:nvPr/>
        </p:nvSpPr>
        <p:spPr>
          <a:xfrm>
            <a:off x="1280160" y="2743200"/>
            <a:ext cx="4023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9" name="Text 13"/>
          <p:cNvSpPr/>
          <p:nvPr/>
        </p:nvSpPr>
        <p:spPr>
          <a:xfrm>
            <a:off x="1280160" y="245052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/api/public/auth/login  { email, password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0" name="Shape 14"/>
          <p:cNvSpPr/>
          <p:nvPr/>
        </p:nvSpPr>
        <p:spPr>
          <a:xfrm>
            <a:off x="5303520" y="3246120"/>
            <a:ext cx="4023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1" name="Text 15"/>
          <p:cNvSpPr/>
          <p:nvPr/>
        </p:nvSpPr>
        <p:spPr>
          <a:xfrm>
            <a:off x="5303520" y="295344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SELECT user WHERE email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2" name="Shape 16"/>
          <p:cNvSpPr/>
          <p:nvPr/>
        </p:nvSpPr>
        <p:spPr>
          <a:xfrm flipH="1">
            <a:off x="5303520" y="3749040"/>
            <a:ext cx="4023360" cy="360"/>
          </a:xfrm>
          <a:prstGeom prst="line">
            <a:avLst/>
          </a:prstGeom>
          <a:ln w="25400">
            <a:solidFill>
              <a:srgbClr val="8B5CF6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3" name="Text 17"/>
          <p:cNvSpPr/>
          <p:nvPr/>
        </p:nvSpPr>
        <p:spPr>
          <a:xfrm>
            <a:off x="5303520" y="345636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user row (hashed pwd)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4" name="Shape 18"/>
          <p:cNvSpPr/>
          <p:nvPr/>
        </p:nvSpPr>
        <p:spPr>
          <a:xfrm>
            <a:off x="5349240" y="4023360"/>
            <a:ext cx="3656160" cy="77580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5" name="Text 19"/>
          <p:cNvSpPr/>
          <p:nvPr/>
        </p:nvSpPr>
        <p:spPr>
          <a:xfrm>
            <a:off x="5394960" y="4069080"/>
            <a:ext cx="356472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bcrypt.compare(password, user.password)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jose.SignJWT({ userId }) ➜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Shape 20"/>
          <p:cNvSpPr/>
          <p:nvPr/>
        </p:nvSpPr>
        <p:spPr>
          <a:xfrm flipH="1">
            <a:off x="1280160" y="5074920"/>
            <a:ext cx="40233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7" name="Text 21"/>
          <p:cNvSpPr/>
          <p:nvPr/>
        </p:nvSpPr>
        <p:spPr>
          <a:xfrm>
            <a:off x="1280160" y="478224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 ·  Set-Cookie: authToken HttpOnly SameSite=Lax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8" name="Shape 22"/>
          <p:cNvSpPr/>
          <p:nvPr/>
        </p:nvSpPr>
        <p:spPr>
          <a:xfrm>
            <a:off x="548640" y="5486400"/>
            <a:ext cx="11062800" cy="77580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9" name="Text 23"/>
          <p:cNvSpPr/>
          <p:nvPr/>
        </p:nvSpPr>
        <p:spPr>
          <a:xfrm>
            <a:off x="777240" y="5532120"/>
            <a:ext cx="106056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—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avec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jose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+ secret applicatif · Cookie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HttpOnly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(pas accessible JS)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cost 12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OAuth Google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via state cookie anti-CSRF · Middleware Next.js qui valide le JWT pour chaque route privée.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1" name="Text 2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2" name="Text 2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4" name="TextBox 2"/>
          <p:cNvSpPr/>
          <p:nvPr/>
        </p:nvSpPr>
        <p:spPr>
          <a:xfrm>
            <a:off x="548640" y="411480"/>
            <a:ext cx="10056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DIAGRAMME DE SÉQUENCE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Temps réel — envoi message en SSE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6" name="Rectangle 4"/>
          <p:cNvSpPr/>
          <p:nvPr/>
        </p:nvSpPr>
        <p:spPr>
          <a:xfrm>
            <a:off x="45720" y="1691640"/>
            <a:ext cx="1553040" cy="5014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7" name="TextBox 5"/>
          <p:cNvSpPr/>
          <p:nvPr/>
        </p:nvSpPr>
        <p:spPr>
          <a:xfrm>
            <a:off x="4572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Box 6"/>
          <p:cNvSpPr/>
          <p:nvPr/>
        </p:nvSpPr>
        <p:spPr>
          <a:xfrm>
            <a:off x="4572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Browser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Rectangle 7"/>
          <p:cNvSpPr/>
          <p:nvPr/>
        </p:nvSpPr>
        <p:spPr>
          <a:xfrm>
            <a:off x="80460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Rectangle 8"/>
          <p:cNvSpPr/>
          <p:nvPr/>
        </p:nvSpPr>
        <p:spPr>
          <a:xfrm>
            <a:off x="80460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1" name="Rectangle 9"/>
          <p:cNvSpPr/>
          <p:nvPr/>
        </p:nvSpPr>
        <p:spPr>
          <a:xfrm>
            <a:off x="80460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2" name="Rectangle 10"/>
          <p:cNvSpPr/>
          <p:nvPr/>
        </p:nvSpPr>
        <p:spPr>
          <a:xfrm>
            <a:off x="80460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3" name="Rectangle 11"/>
          <p:cNvSpPr/>
          <p:nvPr/>
        </p:nvSpPr>
        <p:spPr>
          <a:xfrm>
            <a:off x="80460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4" name="Rectangle 12"/>
          <p:cNvSpPr/>
          <p:nvPr/>
        </p:nvSpPr>
        <p:spPr>
          <a:xfrm>
            <a:off x="80460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5" name="Rectangle 13"/>
          <p:cNvSpPr/>
          <p:nvPr/>
        </p:nvSpPr>
        <p:spPr>
          <a:xfrm>
            <a:off x="80460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6" name="Rectangle 14"/>
          <p:cNvSpPr/>
          <p:nvPr/>
        </p:nvSpPr>
        <p:spPr>
          <a:xfrm>
            <a:off x="80460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7" name="Rectangle 15"/>
          <p:cNvSpPr/>
          <p:nvPr/>
        </p:nvSpPr>
        <p:spPr>
          <a:xfrm>
            <a:off x="80460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8" name="Rectangle 16"/>
          <p:cNvSpPr/>
          <p:nvPr/>
        </p:nvSpPr>
        <p:spPr>
          <a:xfrm>
            <a:off x="80460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Rectangle 17"/>
          <p:cNvSpPr/>
          <p:nvPr/>
        </p:nvSpPr>
        <p:spPr>
          <a:xfrm>
            <a:off x="80460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0" name="Rectangle 18"/>
          <p:cNvSpPr/>
          <p:nvPr/>
        </p:nvSpPr>
        <p:spPr>
          <a:xfrm>
            <a:off x="80460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1" name="Rectangle 19"/>
          <p:cNvSpPr/>
          <p:nvPr/>
        </p:nvSpPr>
        <p:spPr>
          <a:xfrm>
            <a:off x="80460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2" name="Rectangle 20"/>
          <p:cNvSpPr/>
          <p:nvPr/>
        </p:nvSpPr>
        <p:spPr>
          <a:xfrm>
            <a:off x="80460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Rectangle 21"/>
          <p:cNvSpPr/>
          <p:nvPr/>
        </p:nvSpPr>
        <p:spPr>
          <a:xfrm>
            <a:off x="80460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4" name="Rectangle 22"/>
          <p:cNvSpPr/>
          <p:nvPr/>
        </p:nvSpPr>
        <p:spPr>
          <a:xfrm>
            <a:off x="80460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5" name="Rectangle 23"/>
          <p:cNvSpPr/>
          <p:nvPr/>
        </p:nvSpPr>
        <p:spPr>
          <a:xfrm>
            <a:off x="80460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6" name="Rectangle 24"/>
          <p:cNvSpPr/>
          <p:nvPr/>
        </p:nvSpPr>
        <p:spPr>
          <a:xfrm>
            <a:off x="80460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Rectangle 25"/>
          <p:cNvSpPr/>
          <p:nvPr/>
        </p:nvSpPr>
        <p:spPr>
          <a:xfrm>
            <a:off x="80460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Rectangle 26"/>
          <p:cNvSpPr/>
          <p:nvPr/>
        </p:nvSpPr>
        <p:spPr>
          <a:xfrm>
            <a:off x="80460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9" name="Rectangle 27"/>
          <p:cNvSpPr/>
          <p:nvPr/>
        </p:nvSpPr>
        <p:spPr>
          <a:xfrm>
            <a:off x="80460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0" name="Rectangle 28"/>
          <p:cNvSpPr/>
          <p:nvPr/>
        </p:nvSpPr>
        <p:spPr>
          <a:xfrm>
            <a:off x="80460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1" name="Rectangle 29"/>
          <p:cNvSpPr/>
          <p:nvPr/>
        </p:nvSpPr>
        <p:spPr>
          <a:xfrm>
            <a:off x="2423160" y="1691640"/>
            <a:ext cx="1553040" cy="501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2" name="TextBox 30"/>
          <p:cNvSpPr/>
          <p:nvPr/>
        </p:nvSpPr>
        <p:spPr>
          <a:xfrm>
            <a:off x="242316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 send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Box 31"/>
          <p:cNvSpPr/>
          <p:nvPr/>
        </p:nvSpPr>
        <p:spPr>
          <a:xfrm>
            <a:off x="242316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Rectangle 32"/>
          <p:cNvSpPr/>
          <p:nvPr/>
        </p:nvSpPr>
        <p:spPr>
          <a:xfrm>
            <a:off x="318204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5" name="Rectangle 33"/>
          <p:cNvSpPr/>
          <p:nvPr/>
        </p:nvSpPr>
        <p:spPr>
          <a:xfrm>
            <a:off x="318204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Rectangle 34"/>
          <p:cNvSpPr/>
          <p:nvPr/>
        </p:nvSpPr>
        <p:spPr>
          <a:xfrm>
            <a:off x="318204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7" name="Rectangle 35"/>
          <p:cNvSpPr/>
          <p:nvPr/>
        </p:nvSpPr>
        <p:spPr>
          <a:xfrm>
            <a:off x="318204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8" name="Rectangle 36"/>
          <p:cNvSpPr/>
          <p:nvPr/>
        </p:nvSpPr>
        <p:spPr>
          <a:xfrm>
            <a:off x="318204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9" name="Rectangle 37"/>
          <p:cNvSpPr/>
          <p:nvPr/>
        </p:nvSpPr>
        <p:spPr>
          <a:xfrm>
            <a:off x="318204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Rectangle 38"/>
          <p:cNvSpPr/>
          <p:nvPr/>
        </p:nvSpPr>
        <p:spPr>
          <a:xfrm>
            <a:off x="318204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1" name="Rectangle 39"/>
          <p:cNvSpPr/>
          <p:nvPr/>
        </p:nvSpPr>
        <p:spPr>
          <a:xfrm>
            <a:off x="318204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2" name="Rectangle 40"/>
          <p:cNvSpPr/>
          <p:nvPr/>
        </p:nvSpPr>
        <p:spPr>
          <a:xfrm>
            <a:off x="3200400" y="3485520"/>
            <a:ext cx="9000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3" name="Rectangle 41"/>
          <p:cNvSpPr/>
          <p:nvPr/>
        </p:nvSpPr>
        <p:spPr>
          <a:xfrm>
            <a:off x="318204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4" name="Rectangle 42"/>
          <p:cNvSpPr/>
          <p:nvPr/>
        </p:nvSpPr>
        <p:spPr>
          <a:xfrm>
            <a:off x="318204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5" name="Rectangle 43"/>
          <p:cNvSpPr/>
          <p:nvPr/>
        </p:nvSpPr>
        <p:spPr>
          <a:xfrm>
            <a:off x="318204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6" name="Rectangle 44"/>
          <p:cNvSpPr/>
          <p:nvPr/>
        </p:nvSpPr>
        <p:spPr>
          <a:xfrm>
            <a:off x="318204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7" name="Rectangle 45"/>
          <p:cNvSpPr/>
          <p:nvPr/>
        </p:nvSpPr>
        <p:spPr>
          <a:xfrm>
            <a:off x="318204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8" name="Rectangle 46"/>
          <p:cNvSpPr/>
          <p:nvPr/>
        </p:nvSpPr>
        <p:spPr>
          <a:xfrm>
            <a:off x="318204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9" name="Rectangle 47"/>
          <p:cNvSpPr/>
          <p:nvPr/>
        </p:nvSpPr>
        <p:spPr>
          <a:xfrm>
            <a:off x="318204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0" name="Rectangle 48"/>
          <p:cNvSpPr/>
          <p:nvPr/>
        </p:nvSpPr>
        <p:spPr>
          <a:xfrm>
            <a:off x="318204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1" name="Rectangle 49"/>
          <p:cNvSpPr/>
          <p:nvPr/>
        </p:nvSpPr>
        <p:spPr>
          <a:xfrm>
            <a:off x="318204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2" name="Rectangle 50"/>
          <p:cNvSpPr/>
          <p:nvPr/>
        </p:nvSpPr>
        <p:spPr>
          <a:xfrm>
            <a:off x="318204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3" name="Rectangle 51"/>
          <p:cNvSpPr/>
          <p:nvPr/>
        </p:nvSpPr>
        <p:spPr>
          <a:xfrm>
            <a:off x="318204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4" name="Rectangle 52"/>
          <p:cNvSpPr/>
          <p:nvPr/>
        </p:nvSpPr>
        <p:spPr>
          <a:xfrm>
            <a:off x="318204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5" name="Rectangle 53"/>
          <p:cNvSpPr/>
          <p:nvPr/>
        </p:nvSpPr>
        <p:spPr>
          <a:xfrm>
            <a:off x="318204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6" name="Rectangle 54"/>
          <p:cNvSpPr/>
          <p:nvPr/>
        </p:nvSpPr>
        <p:spPr>
          <a:xfrm>
            <a:off x="4800600" y="1691640"/>
            <a:ext cx="1553040" cy="50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7" name="TextBox 55"/>
          <p:cNvSpPr/>
          <p:nvPr/>
        </p:nvSpPr>
        <p:spPr>
          <a:xfrm>
            <a:off x="480060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Box 56"/>
          <p:cNvSpPr/>
          <p:nvPr/>
        </p:nvSpPr>
        <p:spPr>
          <a:xfrm>
            <a:off x="480060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Prisma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Rectangle 57"/>
          <p:cNvSpPr/>
          <p:nvPr/>
        </p:nvSpPr>
        <p:spPr>
          <a:xfrm>
            <a:off x="555948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0" name="Rectangle 58"/>
          <p:cNvSpPr/>
          <p:nvPr/>
        </p:nvSpPr>
        <p:spPr>
          <a:xfrm>
            <a:off x="555948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Rectangle 59"/>
          <p:cNvSpPr/>
          <p:nvPr/>
        </p:nvSpPr>
        <p:spPr>
          <a:xfrm>
            <a:off x="555948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2" name="Rectangle 60"/>
          <p:cNvSpPr/>
          <p:nvPr/>
        </p:nvSpPr>
        <p:spPr>
          <a:xfrm>
            <a:off x="555948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3" name="Rectangle 61"/>
          <p:cNvSpPr/>
          <p:nvPr/>
        </p:nvSpPr>
        <p:spPr>
          <a:xfrm>
            <a:off x="555948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4" name="Rectangle 62"/>
          <p:cNvSpPr/>
          <p:nvPr/>
        </p:nvSpPr>
        <p:spPr>
          <a:xfrm>
            <a:off x="5486400" y="3028320"/>
            <a:ext cx="9000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Rectangle 63"/>
          <p:cNvSpPr/>
          <p:nvPr/>
        </p:nvSpPr>
        <p:spPr>
          <a:xfrm>
            <a:off x="555948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6" name="Rectangle 64"/>
          <p:cNvSpPr/>
          <p:nvPr/>
        </p:nvSpPr>
        <p:spPr>
          <a:xfrm>
            <a:off x="555948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7" name="Rectangle 65"/>
          <p:cNvSpPr/>
          <p:nvPr/>
        </p:nvSpPr>
        <p:spPr>
          <a:xfrm>
            <a:off x="555948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Rectangle 66"/>
          <p:cNvSpPr/>
          <p:nvPr/>
        </p:nvSpPr>
        <p:spPr>
          <a:xfrm>
            <a:off x="555948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9" name="Rectangle 67"/>
          <p:cNvSpPr/>
          <p:nvPr/>
        </p:nvSpPr>
        <p:spPr>
          <a:xfrm>
            <a:off x="555948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0" name="Rectangle 68"/>
          <p:cNvSpPr/>
          <p:nvPr/>
        </p:nvSpPr>
        <p:spPr>
          <a:xfrm>
            <a:off x="555948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1" name="Rectangle 69"/>
          <p:cNvSpPr/>
          <p:nvPr/>
        </p:nvSpPr>
        <p:spPr>
          <a:xfrm>
            <a:off x="555948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2" name="Rectangle 70"/>
          <p:cNvSpPr/>
          <p:nvPr/>
        </p:nvSpPr>
        <p:spPr>
          <a:xfrm>
            <a:off x="555948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3" name="Rectangle 71"/>
          <p:cNvSpPr/>
          <p:nvPr/>
        </p:nvSpPr>
        <p:spPr>
          <a:xfrm>
            <a:off x="555948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4" name="Rectangle 72"/>
          <p:cNvSpPr/>
          <p:nvPr/>
        </p:nvSpPr>
        <p:spPr>
          <a:xfrm>
            <a:off x="555948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5" name="Rectangle 73"/>
          <p:cNvSpPr/>
          <p:nvPr/>
        </p:nvSpPr>
        <p:spPr>
          <a:xfrm>
            <a:off x="555948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6" name="Rectangle 74"/>
          <p:cNvSpPr/>
          <p:nvPr/>
        </p:nvSpPr>
        <p:spPr>
          <a:xfrm>
            <a:off x="555948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Rectangle 75"/>
          <p:cNvSpPr/>
          <p:nvPr/>
        </p:nvSpPr>
        <p:spPr>
          <a:xfrm>
            <a:off x="555948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8" name="Rectangle 76"/>
          <p:cNvSpPr/>
          <p:nvPr/>
        </p:nvSpPr>
        <p:spPr>
          <a:xfrm>
            <a:off x="555948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Rectangle 77"/>
          <p:cNvSpPr/>
          <p:nvPr/>
        </p:nvSpPr>
        <p:spPr>
          <a:xfrm>
            <a:off x="555948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0" name="Rectangle 78"/>
          <p:cNvSpPr/>
          <p:nvPr/>
        </p:nvSpPr>
        <p:spPr>
          <a:xfrm>
            <a:off x="555948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1" name="Rectangle 79"/>
          <p:cNvSpPr/>
          <p:nvPr/>
        </p:nvSpPr>
        <p:spPr>
          <a:xfrm>
            <a:off x="7178040" y="1691640"/>
            <a:ext cx="1553040" cy="50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2" name="TextBox 80"/>
          <p:cNvSpPr/>
          <p:nvPr/>
        </p:nvSpPr>
        <p:spPr>
          <a:xfrm>
            <a:off x="717804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3" name="TextBox 81"/>
          <p:cNvSpPr/>
          <p:nvPr/>
        </p:nvSpPr>
        <p:spPr>
          <a:xfrm>
            <a:off x="717804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REST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4" name="Rectangle 82"/>
          <p:cNvSpPr/>
          <p:nvPr/>
        </p:nvSpPr>
        <p:spPr>
          <a:xfrm>
            <a:off x="793692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5" name="Rectangle 83"/>
          <p:cNvSpPr/>
          <p:nvPr/>
        </p:nvSpPr>
        <p:spPr>
          <a:xfrm>
            <a:off x="793692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6" name="Rectangle 84"/>
          <p:cNvSpPr/>
          <p:nvPr/>
        </p:nvSpPr>
        <p:spPr>
          <a:xfrm>
            <a:off x="793692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7" name="Rectangle 85"/>
          <p:cNvSpPr/>
          <p:nvPr/>
        </p:nvSpPr>
        <p:spPr>
          <a:xfrm>
            <a:off x="793692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8" name="Rectangle 86"/>
          <p:cNvSpPr/>
          <p:nvPr/>
        </p:nvSpPr>
        <p:spPr>
          <a:xfrm>
            <a:off x="793692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Rectangle 87"/>
          <p:cNvSpPr/>
          <p:nvPr/>
        </p:nvSpPr>
        <p:spPr>
          <a:xfrm>
            <a:off x="793692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0" name="Rectangle 88"/>
          <p:cNvSpPr/>
          <p:nvPr/>
        </p:nvSpPr>
        <p:spPr>
          <a:xfrm>
            <a:off x="793692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1" name="Rectangle 89"/>
          <p:cNvSpPr/>
          <p:nvPr/>
        </p:nvSpPr>
        <p:spPr>
          <a:xfrm>
            <a:off x="793692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2" name="Rectangle 90"/>
          <p:cNvSpPr/>
          <p:nvPr/>
        </p:nvSpPr>
        <p:spPr>
          <a:xfrm>
            <a:off x="793692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Rectangle 91"/>
          <p:cNvSpPr/>
          <p:nvPr/>
        </p:nvSpPr>
        <p:spPr>
          <a:xfrm>
            <a:off x="793692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4" name="Rectangle 92"/>
          <p:cNvSpPr/>
          <p:nvPr/>
        </p:nvSpPr>
        <p:spPr>
          <a:xfrm>
            <a:off x="793692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5" name="Rectangle 93"/>
          <p:cNvSpPr/>
          <p:nvPr/>
        </p:nvSpPr>
        <p:spPr>
          <a:xfrm>
            <a:off x="793692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6" name="Rectangle 94"/>
          <p:cNvSpPr/>
          <p:nvPr/>
        </p:nvSpPr>
        <p:spPr>
          <a:xfrm>
            <a:off x="793692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7" name="Rectangle 95"/>
          <p:cNvSpPr/>
          <p:nvPr/>
        </p:nvSpPr>
        <p:spPr>
          <a:xfrm>
            <a:off x="793692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Rectangle 96"/>
          <p:cNvSpPr/>
          <p:nvPr/>
        </p:nvSpPr>
        <p:spPr>
          <a:xfrm>
            <a:off x="793692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Rectangle 97"/>
          <p:cNvSpPr/>
          <p:nvPr/>
        </p:nvSpPr>
        <p:spPr>
          <a:xfrm>
            <a:off x="793692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0" name="Rectangle 98"/>
          <p:cNvSpPr/>
          <p:nvPr/>
        </p:nvSpPr>
        <p:spPr>
          <a:xfrm>
            <a:off x="793692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1" name="Rectangle 99"/>
          <p:cNvSpPr/>
          <p:nvPr/>
        </p:nvSpPr>
        <p:spPr>
          <a:xfrm>
            <a:off x="793692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2" name="Rectangle 100"/>
          <p:cNvSpPr/>
          <p:nvPr/>
        </p:nvSpPr>
        <p:spPr>
          <a:xfrm>
            <a:off x="793692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3" name="Rectangle 101"/>
          <p:cNvSpPr/>
          <p:nvPr/>
        </p:nvSpPr>
        <p:spPr>
          <a:xfrm>
            <a:off x="793692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Rectangle 102"/>
          <p:cNvSpPr/>
          <p:nvPr/>
        </p:nvSpPr>
        <p:spPr>
          <a:xfrm>
            <a:off x="793692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5" name="Rectangle 103"/>
          <p:cNvSpPr/>
          <p:nvPr/>
        </p:nvSpPr>
        <p:spPr>
          <a:xfrm>
            <a:off x="793692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6" name="Rectangle 104"/>
          <p:cNvSpPr/>
          <p:nvPr/>
        </p:nvSpPr>
        <p:spPr>
          <a:xfrm>
            <a:off x="9555480" y="1691640"/>
            <a:ext cx="1553040" cy="50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7" name="TextBox 105"/>
          <p:cNvSpPr/>
          <p:nvPr/>
        </p:nvSpPr>
        <p:spPr>
          <a:xfrm>
            <a:off x="955548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Box 106"/>
          <p:cNvSpPr/>
          <p:nvPr/>
        </p:nvSpPr>
        <p:spPr>
          <a:xfrm>
            <a:off x="955548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SSE listener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9" name="Rectangle 107"/>
          <p:cNvSpPr/>
          <p:nvPr/>
        </p:nvSpPr>
        <p:spPr>
          <a:xfrm>
            <a:off x="1031436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0" name="Rectangle 108"/>
          <p:cNvSpPr/>
          <p:nvPr/>
        </p:nvSpPr>
        <p:spPr>
          <a:xfrm>
            <a:off x="1031436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1" name="Rectangle 109"/>
          <p:cNvSpPr/>
          <p:nvPr/>
        </p:nvSpPr>
        <p:spPr>
          <a:xfrm>
            <a:off x="1031436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2" name="Rectangle 110"/>
          <p:cNvSpPr/>
          <p:nvPr/>
        </p:nvSpPr>
        <p:spPr>
          <a:xfrm>
            <a:off x="1031436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3" name="Rectangle 111"/>
          <p:cNvSpPr/>
          <p:nvPr/>
        </p:nvSpPr>
        <p:spPr>
          <a:xfrm>
            <a:off x="1031436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Rectangle 112"/>
          <p:cNvSpPr/>
          <p:nvPr/>
        </p:nvSpPr>
        <p:spPr>
          <a:xfrm>
            <a:off x="1031436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5" name="Rectangle 113"/>
          <p:cNvSpPr/>
          <p:nvPr/>
        </p:nvSpPr>
        <p:spPr>
          <a:xfrm>
            <a:off x="1031436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6" name="Rectangle 114"/>
          <p:cNvSpPr/>
          <p:nvPr/>
        </p:nvSpPr>
        <p:spPr>
          <a:xfrm>
            <a:off x="1031436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7" name="Rectangle 115"/>
          <p:cNvSpPr/>
          <p:nvPr/>
        </p:nvSpPr>
        <p:spPr>
          <a:xfrm>
            <a:off x="1031436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Rectangle 116"/>
          <p:cNvSpPr/>
          <p:nvPr/>
        </p:nvSpPr>
        <p:spPr>
          <a:xfrm>
            <a:off x="1031436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Rectangle 117"/>
          <p:cNvSpPr/>
          <p:nvPr/>
        </p:nvSpPr>
        <p:spPr>
          <a:xfrm>
            <a:off x="1031436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0" name="Rectangle 118"/>
          <p:cNvSpPr/>
          <p:nvPr/>
        </p:nvSpPr>
        <p:spPr>
          <a:xfrm>
            <a:off x="1031436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1" name="Rectangle 119"/>
          <p:cNvSpPr/>
          <p:nvPr/>
        </p:nvSpPr>
        <p:spPr>
          <a:xfrm>
            <a:off x="1031436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2" name="Rectangle 120"/>
          <p:cNvSpPr/>
          <p:nvPr/>
        </p:nvSpPr>
        <p:spPr>
          <a:xfrm>
            <a:off x="1031436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3" name="Rectangle 121"/>
          <p:cNvSpPr/>
          <p:nvPr/>
        </p:nvSpPr>
        <p:spPr>
          <a:xfrm>
            <a:off x="1031436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Rectangle 122"/>
          <p:cNvSpPr/>
          <p:nvPr/>
        </p:nvSpPr>
        <p:spPr>
          <a:xfrm>
            <a:off x="1031436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5" name="Rectangle 123"/>
          <p:cNvSpPr/>
          <p:nvPr/>
        </p:nvSpPr>
        <p:spPr>
          <a:xfrm>
            <a:off x="1031436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6" name="Rectangle 124"/>
          <p:cNvSpPr/>
          <p:nvPr/>
        </p:nvSpPr>
        <p:spPr>
          <a:xfrm>
            <a:off x="1031436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7" name="Rectangle 125"/>
          <p:cNvSpPr/>
          <p:nvPr/>
        </p:nvSpPr>
        <p:spPr>
          <a:xfrm>
            <a:off x="1031436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Rectangle 126"/>
          <p:cNvSpPr/>
          <p:nvPr/>
        </p:nvSpPr>
        <p:spPr>
          <a:xfrm>
            <a:off x="1031436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9" name="Rectangle 127"/>
          <p:cNvSpPr/>
          <p:nvPr/>
        </p:nvSpPr>
        <p:spPr>
          <a:xfrm>
            <a:off x="1031436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0" name="Rectangle 128"/>
          <p:cNvSpPr/>
          <p:nvPr/>
        </p:nvSpPr>
        <p:spPr>
          <a:xfrm>
            <a:off x="1031436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1" name="Rectangle 129"/>
          <p:cNvSpPr/>
          <p:nvPr/>
        </p:nvSpPr>
        <p:spPr>
          <a:xfrm>
            <a:off x="822960" y="2606040"/>
            <a:ext cx="2376000" cy="216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2" name="Oval 130"/>
          <p:cNvSpPr/>
          <p:nvPr/>
        </p:nvSpPr>
        <p:spPr>
          <a:xfrm>
            <a:off x="3108960" y="2571120"/>
            <a:ext cx="90000" cy="900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3" name="TextBox 131"/>
          <p:cNvSpPr/>
          <p:nvPr/>
        </p:nvSpPr>
        <p:spPr>
          <a:xfrm>
            <a:off x="914400" y="23133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POST /chat/send  { to,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4" name="Rectangle 132"/>
          <p:cNvSpPr/>
          <p:nvPr/>
        </p:nvSpPr>
        <p:spPr>
          <a:xfrm>
            <a:off x="3200400" y="3063240"/>
            <a:ext cx="2376000" cy="216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5" name="Oval 133"/>
          <p:cNvSpPr/>
          <p:nvPr/>
        </p:nvSpPr>
        <p:spPr>
          <a:xfrm>
            <a:off x="5486400" y="3028320"/>
            <a:ext cx="90000" cy="900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6" name="TextBox 134"/>
          <p:cNvSpPr/>
          <p:nvPr/>
        </p:nvSpPr>
        <p:spPr>
          <a:xfrm>
            <a:off x="3291840" y="27705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INSERT INTO Message (via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Rectangle 135"/>
          <p:cNvSpPr/>
          <p:nvPr/>
        </p:nvSpPr>
        <p:spPr>
          <a:xfrm>
            <a:off x="3200400" y="3485520"/>
            <a:ext cx="90000" cy="90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Rectangle 136"/>
          <p:cNvSpPr/>
          <p:nvPr/>
        </p:nvSpPr>
        <p:spPr>
          <a:xfrm>
            <a:off x="336492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Rectangle 137"/>
          <p:cNvSpPr/>
          <p:nvPr/>
        </p:nvSpPr>
        <p:spPr>
          <a:xfrm>
            <a:off x="35294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0" name="Rectangle 138"/>
          <p:cNvSpPr/>
          <p:nvPr/>
        </p:nvSpPr>
        <p:spPr>
          <a:xfrm>
            <a:off x="369432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1" name="Rectangle 139"/>
          <p:cNvSpPr/>
          <p:nvPr/>
        </p:nvSpPr>
        <p:spPr>
          <a:xfrm>
            <a:off x="38588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2" name="Rectangle 140"/>
          <p:cNvSpPr/>
          <p:nvPr/>
        </p:nvSpPr>
        <p:spPr>
          <a:xfrm>
            <a:off x="402336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3" name="Rectangle 141"/>
          <p:cNvSpPr/>
          <p:nvPr/>
        </p:nvSpPr>
        <p:spPr>
          <a:xfrm>
            <a:off x="418788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4" name="Rectangle 142"/>
          <p:cNvSpPr/>
          <p:nvPr/>
        </p:nvSpPr>
        <p:spPr>
          <a:xfrm>
            <a:off x="435240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5" name="Rectangle 143"/>
          <p:cNvSpPr/>
          <p:nvPr/>
        </p:nvSpPr>
        <p:spPr>
          <a:xfrm>
            <a:off x="451728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6" name="Rectangle 144"/>
          <p:cNvSpPr/>
          <p:nvPr/>
        </p:nvSpPr>
        <p:spPr>
          <a:xfrm>
            <a:off x="468180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7" name="Rectangle 145"/>
          <p:cNvSpPr/>
          <p:nvPr/>
        </p:nvSpPr>
        <p:spPr>
          <a:xfrm>
            <a:off x="484632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8" name="Rectangle 146"/>
          <p:cNvSpPr/>
          <p:nvPr/>
        </p:nvSpPr>
        <p:spPr>
          <a:xfrm>
            <a:off x="50108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9" name="Rectangle 147"/>
          <p:cNvSpPr/>
          <p:nvPr/>
        </p:nvSpPr>
        <p:spPr>
          <a:xfrm>
            <a:off x="517536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0" name="Rectangle 148"/>
          <p:cNvSpPr/>
          <p:nvPr/>
        </p:nvSpPr>
        <p:spPr>
          <a:xfrm>
            <a:off x="53402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1" name="Rectangle 149"/>
          <p:cNvSpPr/>
          <p:nvPr/>
        </p:nvSpPr>
        <p:spPr>
          <a:xfrm>
            <a:off x="5504760" y="3520440"/>
            <a:ext cx="7164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-21960" rIns="36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2" name="Oval 150"/>
          <p:cNvSpPr/>
          <p:nvPr/>
        </p:nvSpPr>
        <p:spPr>
          <a:xfrm>
            <a:off x="3200400" y="3485520"/>
            <a:ext cx="90000" cy="900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3" name="TextBox 151"/>
          <p:cNvSpPr/>
          <p:nvPr/>
        </p:nvSpPr>
        <p:spPr>
          <a:xfrm>
            <a:off x="3291840" y="32277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saved message  { id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4" name="Rectangle 152"/>
          <p:cNvSpPr/>
          <p:nvPr/>
        </p:nvSpPr>
        <p:spPr>
          <a:xfrm>
            <a:off x="3200400" y="3977640"/>
            <a:ext cx="4753440" cy="216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5" name="Oval 153"/>
          <p:cNvSpPr/>
          <p:nvPr/>
        </p:nvSpPr>
        <p:spPr>
          <a:xfrm>
            <a:off x="7863840" y="3942720"/>
            <a:ext cx="90000" cy="900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6" name="TextBox 154"/>
          <p:cNvSpPr/>
          <p:nvPr/>
        </p:nvSpPr>
        <p:spPr>
          <a:xfrm>
            <a:off x="3291840" y="3684960"/>
            <a:ext cx="4662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SET latest:chat:&lt;from&gt;:&lt;to&gt; = msg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7" name="Rectangle 155"/>
          <p:cNvSpPr/>
          <p:nvPr/>
        </p:nvSpPr>
        <p:spPr>
          <a:xfrm>
            <a:off x="822960" y="4399920"/>
            <a:ext cx="90000" cy="9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8" name="Rectangle 156"/>
          <p:cNvSpPr/>
          <p:nvPr/>
        </p:nvSpPr>
        <p:spPr>
          <a:xfrm>
            <a:off x="98748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Rectangle 157"/>
          <p:cNvSpPr/>
          <p:nvPr/>
        </p:nvSpPr>
        <p:spPr>
          <a:xfrm>
            <a:off x="11520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0" name="Rectangle 158"/>
          <p:cNvSpPr/>
          <p:nvPr/>
        </p:nvSpPr>
        <p:spPr>
          <a:xfrm>
            <a:off x="131688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1" name="Rectangle 159"/>
          <p:cNvSpPr/>
          <p:nvPr/>
        </p:nvSpPr>
        <p:spPr>
          <a:xfrm>
            <a:off x="14814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2" name="Rectangle 160"/>
          <p:cNvSpPr/>
          <p:nvPr/>
        </p:nvSpPr>
        <p:spPr>
          <a:xfrm>
            <a:off x="164592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3" name="Rectangle 161"/>
          <p:cNvSpPr/>
          <p:nvPr/>
        </p:nvSpPr>
        <p:spPr>
          <a:xfrm>
            <a:off x="181044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4" name="Rectangle 162"/>
          <p:cNvSpPr/>
          <p:nvPr/>
        </p:nvSpPr>
        <p:spPr>
          <a:xfrm>
            <a:off x="197496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Rectangle 163"/>
          <p:cNvSpPr/>
          <p:nvPr/>
        </p:nvSpPr>
        <p:spPr>
          <a:xfrm>
            <a:off x="213984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6" name="Rectangle 164"/>
          <p:cNvSpPr/>
          <p:nvPr/>
        </p:nvSpPr>
        <p:spPr>
          <a:xfrm>
            <a:off x="230436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7" name="Rectangle 165"/>
          <p:cNvSpPr/>
          <p:nvPr/>
        </p:nvSpPr>
        <p:spPr>
          <a:xfrm>
            <a:off x="246888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8" name="Rectangle 166"/>
          <p:cNvSpPr/>
          <p:nvPr/>
        </p:nvSpPr>
        <p:spPr>
          <a:xfrm>
            <a:off x="26334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Rectangle 167"/>
          <p:cNvSpPr/>
          <p:nvPr/>
        </p:nvSpPr>
        <p:spPr>
          <a:xfrm>
            <a:off x="279792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0" name="Rectangle 168"/>
          <p:cNvSpPr/>
          <p:nvPr/>
        </p:nvSpPr>
        <p:spPr>
          <a:xfrm>
            <a:off x="29628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Rectangle 169"/>
          <p:cNvSpPr/>
          <p:nvPr/>
        </p:nvSpPr>
        <p:spPr>
          <a:xfrm>
            <a:off x="3127320" y="4434840"/>
            <a:ext cx="7164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-21960" rIns="36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2" name="Oval 170"/>
          <p:cNvSpPr/>
          <p:nvPr/>
        </p:nvSpPr>
        <p:spPr>
          <a:xfrm>
            <a:off x="822960" y="4399920"/>
            <a:ext cx="90000" cy="9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3" name="TextBox 171"/>
          <p:cNvSpPr/>
          <p:nvPr/>
        </p:nvSpPr>
        <p:spPr>
          <a:xfrm>
            <a:off x="914400" y="44805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200 OK { status: SENT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4" name="Rectangle 172"/>
          <p:cNvSpPr/>
          <p:nvPr/>
        </p:nvSpPr>
        <p:spPr>
          <a:xfrm>
            <a:off x="7498080" y="4754880"/>
            <a:ext cx="3290400" cy="86724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5" name="Rectangle 173"/>
          <p:cNvSpPr/>
          <p:nvPr/>
        </p:nvSpPr>
        <p:spPr>
          <a:xfrm>
            <a:off x="7498080" y="4754880"/>
            <a:ext cx="592920" cy="227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6" name="TextBox 174"/>
          <p:cNvSpPr/>
          <p:nvPr/>
        </p:nvSpPr>
        <p:spPr>
          <a:xfrm>
            <a:off x="7498080" y="4754880"/>
            <a:ext cx="5929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loop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7" name="TextBox 175"/>
          <p:cNvSpPr/>
          <p:nvPr/>
        </p:nvSpPr>
        <p:spPr>
          <a:xfrm>
            <a:off x="8138160" y="475488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[polling 1s]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8" name="Rectangle 176"/>
          <p:cNvSpPr/>
          <p:nvPr/>
        </p:nvSpPr>
        <p:spPr>
          <a:xfrm>
            <a:off x="7955280" y="5120640"/>
            <a:ext cx="2376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9" name="Oval 177"/>
          <p:cNvSpPr/>
          <p:nvPr/>
        </p:nvSpPr>
        <p:spPr>
          <a:xfrm>
            <a:off x="7955280" y="5085720"/>
            <a:ext cx="90000" cy="9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0" name="TextBox 178"/>
          <p:cNvSpPr/>
          <p:nvPr/>
        </p:nvSpPr>
        <p:spPr>
          <a:xfrm>
            <a:off x="8046720" y="48279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GET latest:chat:*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Rectangle 179"/>
          <p:cNvSpPr/>
          <p:nvPr/>
        </p:nvSpPr>
        <p:spPr>
          <a:xfrm>
            <a:off x="795528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2" name="Rectangle 180"/>
          <p:cNvSpPr/>
          <p:nvPr/>
        </p:nvSpPr>
        <p:spPr>
          <a:xfrm>
            <a:off x="811980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3" name="Rectangle 181"/>
          <p:cNvSpPr/>
          <p:nvPr/>
        </p:nvSpPr>
        <p:spPr>
          <a:xfrm>
            <a:off x="82843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4" name="Rectangle 182"/>
          <p:cNvSpPr/>
          <p:nvPr/>
        </p:nvSpPr>
        <p:spPr>
          <a:xfrm>
            <a:off x="844920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5" name="Rectangle 183"/>
          <p:cNvSpPr/>
          <p:nvPr/>
        </p:nvSpPr>
        <p:spPr>
          <a:xfrm>
            <a:off x="86137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6" name="Rectangle 184"/>
          <p:cNvSpPr/>
          <p:nvPr/>
        </p:nvSpPr>
        <p:spPr>
          <a:xfrm>
            <a:off x="877824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7" name="Rectangle 185"/>
          <p:cNvSpPr/>
          <p:nvPr/>
        </p:nvSpPr>
        <p:spPr>
          <a:xfrm>
            <a:off x="894276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Rectangle 186"/>
          <p:cNvSpPr/>
          <p:nvPr/>
        </p:nvSpPr>
        <p:spPr>
          <a:xfrm>
            <a:off x="910728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9" name="Rectangle 187"/>
          <p:cNvSpPr/>
          <p:nvPr/>
        </p:nvSpPr>
        <p:spPr>
          <a:xfrm>
            <a:off x="927216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0" name="Rectangle 188"/>
          <p:cNvSpPr/>
          <p:nvPr/>
        </p:nvSpPr>
        <p:spPr>
          <a:xfrm>
            <a:off x="943668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1" name="Rectangle 189"/>
          <p:cNvSpPr/>
          <p:nvPr/>
        </p:nvSpPr>
        <p:spPr>
          <a:xfrm>
            <a:off x="960120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2" name="Rectangle 190"/>
          <p:cNvSpPr/>
          <p:nvPr/>
        </p:nvSpPr>
        <p:spPr>
          <a:xfrm>
            <a:off x="97657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3" name="Rectangle 191"/>
          <p:cNvSpPr/>
          <p:nvPr/>
        </p:nvSpPr>
        <p:spPr>
          <a:xfrm>
            <a:off x="993024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4" name="Rectangle 192"/>
          <p:cNvSpPr/>
          <p:nvPr/>
        </p:nvSpPr>
        <p:spPr>
          <a:xfrm>
            <a:off x="100951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5" name="Rectangle 193"/>
          <p:cNvSpPr/>
          <p:nvPr/>
        </p:nvSpPr>
        <p:spPr>
          <a:xfrm>
            <a:off x="10241280" y="5405760"/>
            <a:ext cx="90000" cy="9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6" name="Oval 194"/>
          <p:cNvSpPr/>
          <p:nvPr/>
        </p:nvSpPr>
        <p:spPr>
          <a:xfrm>
            <a:off x="10241280" y="5405760"/>
            <a:ext cx="90000" cy="90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7" name="TextBox 195"/>
          <p:cNvSpPr/>
          <p:nvPr/>
        </p:nvSpPr>
        <p:spPr>
          <a:xfrm>
            <a:off x="8046720" y="514800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data { id,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8" name="TextBox 19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9" name="TextBox 19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28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— signature JWT (jose)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6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7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8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src/lib/server/user/login.ts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9" name="Text 8"/>
          <p:cNvSpPr/>
          <p:nvPr/>
        </p:nvSpPr>
        <p:spPr>
          <a:xfrm>
            <a:off x="777240" y="22402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{ SignJWT } from 'jose';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0" name="Text 9"/>
          <p:cNvSpPr/>
          <p:nvPr/>
        </p:nvSpPr>
        <p:spPr>
          <a:xfrm>
            <a:off x="777240" y="24415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bcrypt from 'bcrypt';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1" name="Text 10"/>
          <p:cNvSpPr/>
          <p:nvPr/>
        </p:nvSpPr>
        <p:spPr>
          <a:xfrm>
            <a:off x="777240" y="26427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2" name="Text 11"/>
          <p:cNvSpPr/>
          <p:nvPr/>
        </p:nvSpPr>
        <p:spPr>
          <a:xfrm>
            <a:off x="777240" y="28436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export async function login(email: string, password: string)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3" name="Text 12"/>
          <p:cNvSpPr/>
          <p:nvPr/>
        </p:nvSpPr>
        <p:spPr>
          <a:xfrm>
            <a:off x="777240" y="30448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user = await db.user.findUnique({ where: { email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4" name="Text 13"/>
          <p:cNvSpPr/>
          <p:nvPr/>
        </p:nvSpPr>
        <p:spPr>
          <a:xfrm>
            <a:off x="777240" y="32461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(!user)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5" name="Text 14"/>
          <p:cNvSpPr/>
          <p:nvPr/>
        </p:nvSpPr>
        <p:spPr>
          <a:xfrm>
            <a:off x="777240" y="34473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6" name="Text 15"/>
          <p:cNvSpPr/>
          <p:nvPr/>
        </p:nvSpPr>
        <p:spPr>
          <a:xfrm>
            <a:off x="777240" y="36486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ok = await bcrypt.compare(password, user.password);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7" name="Text 16"/>
          <p:cNvSpPr/>
          <p:nvPr/>
        </p:nvSpPr>
        <p:spPr>
          <a:xfrm>
            <a:off x="777240" y="38494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(!ok) 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8" name="Text 17"/>
          <p:cNvSpPr/>
          <p:nvPr/>
        </p:nvSpPr>
        <p:spPr>
          <a:xfrm>
            <a:off x="777240" y="40507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9" name="Text 18"/>
          <p:cNvSpPr/>
          <p:nvPr/>
        </p:nvSpPr>
        <p:spPr>
          <a:xfrm>
            <a:off x="777240" y="42519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const secret = new TextEncoder().encode(process.env.JWT_SECRET);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0" name="Text 19"/>
          <p:cNvSpPr/>
          <p:nvPr/>
        </p:nvSpPr>
        <p:spPr>
          <a:xfrm>
            <a:off x="777240" y="44532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token  = await new SignJWT({ userId: user.id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1" name="Text 20"/>
          <p:cNvSpPr/>
          <p:nvPr/>
        </p:nvSpPr>
        <p:spPr>
          <a:xfrm>
            <a:off x="777240" y="46544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.setProtectedHeader({ alg: 'HS256'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2" name="Text 21"/>
          <p:cNvSpPr/>
          <p:nvPr/>
        </p:nvSpPr>
        <p:spPr>
          <a:xfrm>
            <a:off x="777240" y="48553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.setIssuedAt()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3" name="Text 22"/>
          <p:cNvSpPr/>
          <p:nvPr/>
        </p:nvSpPr>
        <p:spPr>
          <a:xfrm>
            <a:off x="777240" y="50565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.setExpirationTime('7d')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4" name="Text 23"/>
          <p:cNvSpPr/>
          <p:nvPr/>
        </p:nvSpPr>
        <p:spPr>
          <a:xfrm>
            <a:off x="777240" y="52578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.sign(secret);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5" name="Text 24"/>
          <p:cNvSpPr/>
          <p:nvPr/>
        </p:nvSpPr>
        <p:spPr>
          <a:xfrm>
            <a:off x="777240" y="54590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 25"/>
          <p:cNvSpPr/>
          <p:nvPr/>
        </p:nvSpPr>
        <p:spPr>
          <a:xfrm>
            <a:off x="777240" y="56602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return { token, user 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7" name="Text 26"/>
          <p:cNvSpPr/>
          <p:nvPr/>
        </p:nvSpPr>
        <p:spPr>
          <a:xfrm>
            <a:off x="777240" y="58611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8" name="Shape 27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9" name="Text 28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0" name="Shape 29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1" name="Text 30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Text 31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bcrypt.compare en temps constant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3" name="Shape 32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4" name="Text 33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5" name="Text 34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message si user inconnu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6" name="Shape 35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7" name="Text 36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8" name="Text 37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HS256 (jose)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9" name="Shape 38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0" name="Text 39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1" name="Text 40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Expiration explicite 7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2" name="Shape 41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3" name="Text 42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4" name="Text 43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env var jamais commité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5" name="Shape 44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6" name="Text 45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7" name="Text 46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Erreurs typées (AuthError)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9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9" name="Text 4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0" name="Text 4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— Server-Sent Events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Shape 3"/>
          <p:cNvSpPr/>
          <p:nvPr/>
        </p:nvSpPr>
        <p:spPr>
          <a:xfrm>
            <a:off x="27432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Text 4"/>
          <p:cNvSpPr/>
          <p:nvPr/>
        </p:nvSpPr>
        <p:spPr>
          <a:xfrm>
            <a:off x="27432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Shape 5"/>
          <p:cNvSpPr/>
          <p:nvPr/>
        </p:nvSpPr>
        <p:spPr>
          <a:xfrm>
            <a:off x="9144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7" name="Shape 6"/>
          <p:cNvSpPr/>
          <p:nvPr/>
        </p:nvSpPr>
        <p:spPr>
          <a:xfrm>
            <a:off x="338328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8" name="Text 7"/>
          <p:cNvSpPr/>
          <p:nvPr/>
        </p:nvSpPr>
        <p:spPr>
          <a:xfrm>
            <a:off x="338328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9" name="Shape 8"/>
          <p:cNvSpPr/>
          <p:nvPr/>
        </p:nvSpPr>
        <p:spPr>
          <a:xfrm>
            <a:off x="40233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Shape 9"/>
          <p:cNvSpPr/>
          <p:nvPr/>
        </p:nvSpPr>
        <p:spPr>
          <a:xfrm>
            <a:off x="612648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1" name="Text 10"/>
          <p:cNvSpPr/>
          <p:nvPr/>
        </p:nvSpPr>
        <p:spPr>
          <a:xfrm>
            <a:off x="612648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2" name="Shape 11"/>
          <p:cNvSpPr/>
          <p:nvPr/>
        </p:nvSpPr>
        <p:spPr>
          <a:xfrm>
            <a:off x="67665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Shape 12"/>
          <p:cNvSpPr/>
          <p:nvPr/>
        </p:nvSpPr>
        <p:spPr>
          <a:xfrm>
            <a:off x="850392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Text 13"/>
          <p:cNvSpPr/>
          <p:nvPr/>
        </p:nvSpPr>
        <p:spPr>
          <a:xfrm>
            <a:off x="850392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5" name="Shape 14"/>
          <p:cNvSpPr/>
          <p:nvPr/>
        </p:nvSpPr>
        <p:spPr>
          <a:xfrm>
            <a:off x="91440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Shape 15"/>
          <p:cNvSpPr/>
          <p:nvPr/>
        </p:nvSpPr>
        <p:spPr>
          <a:xfrm>
            <a:off x="1088136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7" name="Text 16"/>
          <p:cNvSpPr/>
          <p:nvPr/>
        </p:nvSpPr>
        <p:spPr>
          <a:xfrm>
            <a:off x="1088136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(SSE)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8" name="Shape 17"/>
          <p:cNvSpPr/>
          <p:nvPr/>
        </p:nvSpPr>
        <p:spPr>
          <a:xfrm>
            <a:off x="1152144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Shape 18"/>
          <p:cNvSpPr/>
          <p:nvPr/>
        </p:nvSpPr>
        <p:spPr>
          <a:xfrm>
            <a:off x="914400" y="2651760"/>
            <a:ext cx="31089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Text 19"/>
          <p:cNvSpPr/>
          <p:nvPr/>
        </p:nvSpPr>
        <p:spPr>
          <a:xfrm>
            <a:off x="914400" y="2359080"/>
            <a:ext cx="3107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1" name="Shape 20"/>
          <p:cNvSpPr/>
          <p:nvPr/>
        </p:nvSpPr>
        <p:spPr>
          <a:xfrm>
            <a:off x="4023360" y="3063240"/>
            <a:ext cx="274320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2" name="Text 21"/>
          <p:cNvSpPr/>
          <p:nvPr/>
        </p:nvSpPr>
        <p:spPr>
          <a:xfrm>
            <a:off x="4023360" y="27705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INSERT message (Prisma)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3" name="Shape 22"/>
          <p:cNvSpPr/>
          <p:nvPr/>
        </p:nvSpPr>
        <p:spPr>
          <a:xfrm>
            <a:off x="4023360" y="3474720"/>
            <a:ext cx="51206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4" name="Text 23"/>
          <p:cNvSpPr/>
          <p:nvPr/>
        </p:nvSpPr>
        <p:spPr>
          <a:xfrm>
            <a:off x="4023360" y="3182040"/>
            <a:ext cx="5119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SET latest:chat:{from}:{to}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5" name="Shape 24"/>
          <p:cNvSpPr/>
          <p:nvPr/>
        </p:nvSpPr>
        <p:spPr>
          <a:xfrm flipH="1">
            <a:off x="914400" y="3886200"/>
            <a:ext cx="31089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Text 25"/>
          <p:cNvSpPr/>
          <p:nvPr/>
        </p:nvSpPr>
        <p:spPr>
          <a:xfrm>
            <a:off x="914400" y="3593520"/>
            <a:ext cx="3107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status SENT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7" name="Shape 26"/>
          <p:cNvSpPr/>
          <p:nvPr/>
        </p:nvSpPr>
        <p:spPr>
          <a:xfrm flipH="1">
            <a:off x="9144000" y="4343400"/>
            <a:ext cx="237744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8" name="Text 27"/>
          <p:cNvSpPr/>
          <p:nvPr/>
        </p:nvSpPr>
        <p:spPr>
          <a:xfrm>
            <a:off x="9144000" y="4050720"/>
            <a:ext cx="2376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GET latest:chat:* (polling REST)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9" name="Shape 28"/>
          <p:cNvSpPr/>
          <p:nvPr/>
        </p:nvSpPr>
        <p:spPr>
          <a:xfrm>
            <a:off x="9144000" y="4754880"/>
            <a:ext cx="23774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0" name="Text 29"/>
          <p:cNvSpPr/>
          <p:nvPr/>
        </p:nvSpPr>
        <p:spPr>
          <a:xfrm>
            <a:off x="9144000" y="4462200"/>
            <a:ext cx="2376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payload SSE  data: {...}\n\n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Shape 30"/>
          <p:cNvSpPr/>
          <p:nvPr/>
        </p:nvSpPr>
        <p:spPr>
          <a:xfrm>
            <a:off x="548640" y="5349240"/>
            <a:ext cx="11062800" cy="95868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2" name="Text 31"/>
          <p:cNvSpPr/>
          <p:nvPr/>
        </p:nvSpPr>
        <p:spPr>
          <a:xfrm>
            <a:off x="777240" y="5440680"/>
            <a:ext cx="106056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4" name="Text 32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5" name="Text 33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SSE — endpoint /chat/listen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src/app/api/private/chat/listen/route.ts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4" name="Text 8"/>
          <p:cNvSpPr/>
          <p:nvPr/>
        </p:nvSpPr>
        <p:spPr>
          <a:xfrm>
            <a:off x="777240" y="22402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GET(req: NextRequest)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5" name="Text 9"/>
          <p:cNvSpPr/>
          <p:nvPr/>
        </p:nvSpPr>
        <p:spPr>
          <a:xfrm>
            <a:off x="777240" y="23821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userId = await getUserIdFromRequest(req);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6" name="Text 10"/>
          <p:cNvSpPr/>
          <p:nvPr/>
        </p:nvSpPr>
        <p:spPr>
          <a:xfrm>
            <a:off x="777240" y="2523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(!userId) return new Response('Unauthorized', { status: 401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7" name="Text 11"/>
          <p:cNvSpPr/>
          <p:nvPr/>
        </p:nvSpPr>
        <p:spPr>
          <a:xfrm>
            <a:off x="777240" y="2665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8" name="Text 12"/>
          <p:cNvSpPr/>
          <p:nvPr/>
        </p:nvSpPr>
        <p:spPr>
          <a:xfrm>
            <a:off x="777240" y="28072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conversationId, type } = parseParams(req.url);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9" name="Text 13"/>
          <p:cNvSpPr/>
          <p:nvPr/>
        </p:nvSpPr>
        <p:spPr>
          <a:xfrm>
            <a:off x="777240" y="29491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0" name="Text 14"/>
          <p:cNvSpPr/>
          <p:nvPr/>
        </p:nvSpPr>
        <p:spPr>
          <a:xfrm>
            <a:off x="777240" y="3090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stream = new ReadableStream({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1" name="Text 15"/>
          <p:cNvSpPr/>
          <p:nvPr/>
        </p:nvSpPr>
        <p:spPr>
          <a:xfrm>
            <a:off x="777240" y="3232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start(controller)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2" name="Text 16"/>
          <p:cNvSpPr/>
          <p:nvPr/>
        </p:nvSpPr>
        <p:spPr>
          <a:xfrm>
            <a:off x="777240" y="33742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const enc = new TextEncoder();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3" name="Text 17"/>
          <p:cNvSpPr/>
          <p:nvPr/>
        </p:nvSpPr>
        <p:spPr>
          <a:xfrm>
            <a:off x="777240" y="3515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controller.enqueue(enc.encode('data: {"type":"connected"}\n\n'));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4" name="Text 18"/>
          <p:cNvSpPr/>
          <p:nvPr/>
        </p:nvSpPr>
        <p:spPr>
          <a:xfrm>
            <a:off x="777240" y="3657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5" name="Text 19"/>
          <p:cNvSpPr/>
          <p:nvPr/>
        </p:nvSpPr>
        <p:spPr>
          <a:xfrm>
            <a:off x="777240" y="3799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let active = true, lastId = '';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6" name="Text 20"/>
          <p:cNvSpPr/>
          <p:nvPr/>
        </p:nvSpPr>
        <p:spPr>
          <a:xfrm>
            <a:off x="777240" y="3940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(async function poll()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Text 21"/>
          <p:cNvSpPr/>
          <p:nvPr/>
        </p:nvSpPr>
        <p:spPr>
          <a:xfrm>
            <a:off x="777240" y="4082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while (active)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8" name="Text 22"/>
          <p:cNvSpPr/>
          <p:nvPr/>
        </p:nvSpPr>
        <p:spPr>
          <a:xfrm>
            <a:off x="777240" y="4224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    const key = `latest:chat:${userId}:${conversationId}`;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9" name="Text 23"/>
          <p:cNvSpPr/>
          <p:nvPr/>
        </p:nvSpPr>
        <p:spPr>
          <a:xfrm>
            <a:off x="777240" y="4366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const data = await redis.get(key);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Text 24"/>
          <p:cNvSpPr/>
          <p:nvPr/>
        </p:nvSpPr>
        <p:spPr>
          <a:xfrm>
            <a:off x="777240" y="4507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if (data &amp;&amp; data.id !== lastId)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1" name="Text 25"/>
          <p:cNvSpPr/>
          <p:nvPr/>
        </p:nvSpPr>
        <p:spPr>
          <a:xfrm>
            <a:off x="777240" y="4649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      lastId = data.id;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2" name="Text 26"/>
          <p:cNvSpPr/>
          <p:nvPr/>
        </p:nvSpPr>
        <p:spPr>
          <a:xfrm>
            <a:off x="777240" y="4791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  controller.enqueue(enc.encode(`data: ${JSON.stringify(data)}\n\n`));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3" name="Text 27"/>
          <p:cNvSpPr/>
          <p:nvPr/>
        </p:nvSpPr>
        <p:spPr>
          <a:xfrm>
            <a:off x="777240" y="49330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4" name="Text 28"/>
          <p:cNvSpPr/>
          <p:nvPr/>
        </p:nvSpPr>
        <p:spPr>
          <a:xfrm>
            <a:off x="777240" y="5074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await sleep(1000);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5" name="Text 29"/>
          <p:cNvSpPr/>
          <p:nvPr/>
        </p:nvSpPr>
        <p:spPr>
          <a:xfrm>
            <a:off x="777240" y="5216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6" name="Text 30"/>
          <p:cNvSpPr/>
          <p:nvPr/>
        </p:nvSpPr>
        <p:spPr>
          <a:xfrm>
            <a:off x="777240" y="53582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})();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7" name="Text 31"/>
          <p:cNvSpPr/>
          <p:nvPr/>
        </p:nvSpPr>
        <p:spPr>
          <a:xfrm>
            <a:off x="777240" y="55000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req.signal.addEventListener('abort', () =&gt; { active = false; controller.close();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8" name="Text 32"/>
          <p:cNvSpPr/>
          <p:nvPr/>
        </p:nvSpPr>
        <p:spPr>
          <a:xfrm>
            <a:off x="777240" y="5641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},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9" name="Text 33"/>
          <p:cNvSpPr/>
          <p:nvPr/>
        </p:nvSpPr>
        <p:spPr>
          <a:xfrm>
            <a:off x="777240" y="5783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0" name="Text 34"/>
          <p:cNvSpPr/>
          <p:nvPr/>
        </p:nvSpPr>
        <p:spPr>
          <a:xfrm>
            <a:off x="777240" y="59252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return new Response(stream, { headers: { 'Content-Type': 'text/event-stream' }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1" name="Text 35"/>
          <p:cNvSpPr/>
          <p:nvPr/>
        </p:nvSpPr>
        <p:spPr>
          <a:xfrm>
            <a:off x="777240" y="60670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2" name="Shape 36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3" name="Text 37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Mécanique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4" name="Shape 38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5" name="Text 39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6" name="Text 40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ReadableStream Web standard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Shape 41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8" name="Text 42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9" name="Text 43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Polling Redis 1s (REST)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Shape 44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1" name="Text 45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2" name="Text 46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latest:chat:&lt;from&gt;:&lt;to&gt;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3" name="Shape 47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4" name="Text 48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5" name="Text 49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Déduplication par lastId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6" name="Shape 50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7" name="Text 51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⊘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8" name="Text 52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abort → cleanup poll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9" name="Shape 53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0" name="Text 54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1" name="Text 55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userId injecté par middleware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9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3" name="Text 5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4" name="Text 5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· 60+ endpoints REST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8" name="Shape 3"/>
          <p:cNvSpPr/>
          <p:nvPr/>
        </p:nvSpPr>
        <p:spPr>
          <a:xfrm>
            <a:off x="45720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Shape 4"/>
          <p:cNvSpPr/>
          <p:nvPr/>
        </p:nvSpPr>
        <p:spPr>
          <a:xfrm>
            <a:off x="457200" y="1691640"/>
            <a:ext cx="71640" cy="2238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0" name="Text 5"/>
          <p:cNvSpPr/>
          <p:nvPr/>
        </p:nvSpPr>
        <p:spPr>
          <a:xfrm>
            <a:off x="685800" y="17830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Shape 6"/>
          <p:cNvSpPr/>
          <p:nvPr/>
        </p:nvSpPr>
        <p:spPr>
          <a:xfrm>
            <a:off x="685800" y="21945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2" name="Text 7"/>
          <p:cNvSpPr/>
          <p:nvPr/>
        </p:nvSpPr>
        <p:spPr>
          <a:xfrm>
            <a:off x="685800" y="21945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3" name="Text 8"/>
          <p:cNvSpPr/>
          <p:nvPr/>
        </p:nvSpPr>
        <p:spPr>
          <a:xfrm>
            <a:off x="1325880" y="21945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/api/public/auth/register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4" name="Shape 9"/>
          <p:cNvSpPr/>
          <p:nvPr/>
        </p:nvSpPr>
        <p:spPr>
          <a:xfrm>
            <a:off x="685800" y="26060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5" name="Text 10"/>
          <p:cNvSpPr/>
          <p:nvPr/>
        </p:nvSpPr>
        <p:spPr>
          <a:xfrm>
            <a:off x="685800" y="26060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6" name="Text 11"/>
          <p:cNvSpPr/>
          <p:nvPr/>
        </p:nvSpPr>
        <p:spPr>
          <a:xfrm>
            <a:off x="1325880" y="26060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7" name="Shape 12"/>
          <p:cNvSpPr/>
          <p:nvPr/>
        </p:nvSpPr>
        <p:spPr>
          <a:xfrm>
            <a:off x="685800" y="301752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8" name="Text 13"/>
          <p:cNvSpPr/>
          <p:nvPr/>
        </p:nvSpPr>
        <p:spPr>
          <a:xfrm>
            <a:off x="685800" y="301752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9" name="Text 14"/>
          <p:cNvSpPr/>
          <p:nvPr/>
        </p:nvSpPr>
        <p:spPr>
          <a:xfrm>
            <a:off x="1325880" y="301752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/api/public/auth/logout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0" name="Shape 15"/>
          <p:cNvSpPr/>
          <p:nvPr/>
        </p:nvSpPr>
        <p:spPr>
          <a:xfrm>
            <a:off x="685800" y="3429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1" name="Text 16"/>
          <p:cNvSpPr/>
          <p:nvPr/>
        </p:nvSpPr>
        <p:spPr>
          <a:xfrm>
            <a:off x="685800" y="3429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2" name="Text 17"/>
          <p:cNvSpPr/>
          <p:nvPr/>
        </p:nvSpPr>
        <p:spPr>
          <a:xfrm>
            <a:off x="1325880" y="3429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/api/public/auth/callback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3" name="Shape 18"/>
          <p:cNvSpPr/>
          <p:nvPr/>
        </p:nvSpPr>
        <p:spPr>
          <a:xfrm>
            <a:off x="425196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4" name="Shape 19"/>
          <p:cNvSpPr/>
          <p:nvPr/>
        </p:nvSpPr>
        <p:spPr>
          <a:xfrm>
            <a:off x="4251960" y="1691640"/>
            <a:ext cx="71640" cy="2238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5" name="Text 20"/>
          <p:cNvSpPr/>
          <p:nvPr/>
        </p:nvSpPr>
        <p:spPr>
          <a:xfrm>
            <a:off x="4480560" y="17830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 &amp; 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6" name="Shape 21"/>
          <p:cNvSpPr/>
          <p:nvPr/>
        </p:nvSpPr>
        <p:spPr>
          <a:xfrm>
            <a:off x="4480560" y="21945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7" name="Text 22"/>
          <p:cNvSpPr/>
          <p:nvPr/>
        </p:nvSpPr>
        <p:spPr>
          <a:xfrm>
            <a:off x="4480560" y="21945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8" name="Text 23"/>
          <p:cNvSpPr/>
          <p:nvPr/>
        </p:nvSpPr>
        <p:spPr>
          <a:xfrm>
            <a:off x="5120640" y="21945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9" name="Shape 24"/>
          <p:cNvSpPr/>
          <p:nvPr/>
        </p:nvSpPr>
        <p:spPr>
          <a:xfrm>
            <a:off x="4480560" y="26060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0" name="Text 25"/>
          <p:cNvSpPr/>
          <p:nvPr/>
        </p:nvSpPr>
        <p:spPr>
          <a:xfrm>
            <a:off x="4480560" y="26060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1" name="Text 26"/>
          <p:cNvSpPr/>
          <p:nvPr/>
        </p:nvSpPr>
        <p:spPr>
          <a:xfrm>
            <a:off x="5120640" y="26060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2" name="Shape 27"/>
          <p:cNvSpPr/>
          <p:nvPr/>
        </p:nvSpPr>
        <p:spPr>
          <a:xfrm>
            <a:off x="4480560" y="301752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3" name="Text 28"/>
          <p:cNvSpPr/>
          <p:nvPr/>
        </p:nvSpPr>
        <p:spPr>
          <a:xfrm>
            <a:off x="4480560" y="301752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4" name="Text 29"/>
          <p:cNvSpPr/>
          <p:nvPr/>
        </p:nvSpPr>
        <p:spPr>
          <a:xfrm>
            <a:off x="5120640" y="301752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5" name="Shape 30"/>
          <p:cNvSpPr/>
          <p:nvPr/>
        </p:nvSpPr>
        <p:spPr>
          <a:xfrm>
            <a:off x="4480560" y="3429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6" name="Text 31"/>
          <p:cNvSpPr/>
          <p:nvPr/>
        </p:nvSpPr>
        <p:spPr>
          <a:xfrm>
            <a:off x="4480560" y="3429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7" name="Text 32"/>
          <p:cNvSpPr/>
          <p:nvPr/>
        </p:nvSpPr>
        <p:spPr>
          <a:xfrm>
            <a:off x="5120640" y="3429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8" name="Shape 33"/>
          <p:cNvSpPr/>
          <p:nvPr/>
        </p:nvSpPr>
        <p:spPr>
          <a:xfrm>
            <a:off x="804672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9" name="Shape 34"/>
          <p:cNvSpPr/>
          <p:nvPr/>
        </p:nvSpPr>
        <p:spPr>
          <a:xfrm>
            <a:off x="8046720" y="1691640"/>
            <a:ext cx="71640" cy="2238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0" name="Text 35"/>
          <p:cNvSpPr/>
          <p:nvPr/>
        </p:nvSpPr>
        <p:spPr>
          <a:xfrm>
            <a:off x="8275320" y="17830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Contenu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1" name="Shape 36"/>
          <p:cNvSpPr/>
          <p:nvPr/>
        </p:nvSpPr>
        <p:spPr>
          <a:xfrm>
            <a:off x="8275320" y="21945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2" name="Text 37"/>
          <p:cNvSpPr/>
          <p:nvPr/>
        </p:nvSpPr>
        <p:spPr>
          <a:xfrm>
            <a:off x="8275320" y="21945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3" name="Text 38"/>
          <p:cNvSpPr/>
          <p:nvPr/>
        </p:nvSpPr>
        <p:spPr>
          <a:xfrm>
            <a:off x="8915400" y="21945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4" name="Shape 39"/>
          <p:cNvSpPr/>
          <p:nvPr/>
        </p:nvSpPr>
        <p:spPr>
          <a:xfrm>
            <a:off x="8275320" y="26060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5" name="Text 40"/>
          <p:cNvSpPr/>
          <p:nvPr/>
        </p:nvSpPr>
        <p:spPr>
          <a:xfrm>
            <a:off x="8275320" y="26060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6" name="Text 41"/>
          <p:cNvSpPr/>
          <p:nvPr/>
        </p:nvSpPr>
        <p:spPr>
          <a:xfrm>
            <a:off x="8915400" y="26060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7" name="Shape 42"/>
          <p:cNvSpPr/>
          <p:nvPr/>
        </p:nvSpPr>
        <p:spPr>
          <a:xfrm>
            <a:off x="8275320" y="301752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8" name="Text 43"/>
          <p:cNvSpPr/>
          <p:nvPr/>
        </p:nvSpPr>
        <p:spPr>
          <a:xfrm>
            <a:off x="8275320" y="301752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9" name="Text 44"/>
          <p:cNvSpPr/>
          <p:nvPr/>
        </p:nvSpPr>
        <p:spPr>
          <a:xfrm>
            <a:off x="8915400" y="301752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0" name="Shape 45"/>
          <p:cNvSpPr/>
          <p:nvPr/>
        </p:nvSpPr>
        <p:spPr>
          <a:xfrm>
            <a:off x="8275320" y="3429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1" name="Text 46"/>
          <p:cNvSpPr/>
          <p:nvPr/>
        </p:nvSpPr>
        <p:spPr>
          <a:xfrm>
            <a:off x="8275320" y="3429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2" name="Text 47"/>
          <p:cNvSpPr/>
          <p:nvPr/>
        </p:nvSpPr>
        <p:spPr>
          <a:xfrm>
            <a:off x="8915400" y="3429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3" name="Shape 48"/>
          <p:cNvSpPr/>
          <p:nvPr/>
        </p:nvSpPr>
        <p:spPr>
          <a:xfrm>
            <a:off x="45720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4" name="Shape 49"/>
          <p:cNvSpPr/>
          <p:nvPr/>
        </p:nvSpPr>
        <p:spPr>
          <a:xfrm>
            <a:off x="457200" y="4069080"/>
            <a:ext cx="71640" cy="22388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5" name="Text 50"/>
          <p:cNvSpPr/>
          <p:nvPr/>
        </p:nvSpPr>
        <p:spPr>
          <a:xfrm>
            <a:off x="685800" y="416052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Messagerie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6" name="Shape 51"/>
          <p:cNvSpPr/>
          <p:nvPr/>
        </p:nvSpPr>
        <p:spPr>
          <a:xfrm>
            <a:off x="685800" y="4572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7" name="Text 52"/>
          <p:cNvSpPr/>
          <p:nvPr/>
        </p:nvSpPr>
        <p:spPr>
          <a:xfrm>
            <a:off x="685800" y="4572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 53"/>
          <p:cNvSpPr/>
          <p:nvPr/>
        </p:nvSpPr>
        <p:spPr>
          <a:xfrm>
            <a:off x="1325880" y="4572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/api/private/conversations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9" name="Shape 54"/>
          <p:cNvSpPr/>
          <p:nvPr/>
        </p:nvSpPr>
        <p:spPr>
          <a:xfrm>
            <a:off x="685800" y="498348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0" name="Text 55"/>
          <p:cNvSpPr/>
          <p:nvPr/>
        </p:nvSpPr>
        <p:spPr>
          <a:xfrm>
            <a:off x="685800" y="498348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1" name="Text 56"/>
          <p:cNvSpPr/>
          <p:nvPr/>
        </p:nvSpPr>
        <p:spPr>
          <a:xfrm>
            <a:off x="1325880" y="498348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2" name="Shape 57"/>
          <p:cNvSpPr/>
          <p:nvPr/>
        </p:nvSpPr>
        <p:spPr>
          <a:xfrm>
            <a:off x="685800" y="53949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3" name="Text 58"/>
          <p:cNvSpPr/>
          <p:nvPr/>
        </p:nvSpPr>
        <p:spPr>
          <a:xfrm>
            <a:off x="685800" y="53949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4" name="Text 59"/>
          <p:cNvSpPr/>
          <p:nvPr/>
        </p:nvSpPr>
        <p:spPr>
          <a:xfrm>
            <a:off x="1325880" y="53949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5" name="Shape 60"/>
          <p:cNvSpPr/>
          <p:nvPr/>
        </p:nvSpPr>
        <p:spPr>
          <a:xfrm>
            <a:off x="685800" y="58064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6" name="Text 61"/>
          <p:cNvSpPr/>
          <p:nvPr/>
        </p:nvSpPr>
        <p:spPr>
          <a:xfrm>
            <a:off x="685800" y="58064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7" name="Text 62"/>
          <p:cNvSpPr/>
          <p:nvPr/>
        </p:nvSpPr>
        <p:spPr>
          <a:xfrm>
            <a:off x="1325880" y="58064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/api/private/chat/typing/listen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8" name="Shape 63"/>
          <p:cNvSpPr/>
          <p:nvPr/>
        </p:nvSpPr>
        <p:spPr>
          <a:xfrm>
            <a:off x="425196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9" name="Shape 64"/>
          <p:cNvSpPr/>
          <p:nvPr/>
        </p:nvSpPr>
        <p:spPr>
          <a:xfrm>
            <a:off x="4251960" y="4069080"/>
            <a:ext cx="71640" cy="2238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0" name="Text 65"/>
          <p:cNvSpPr/>
          <p:nvPr/>
        </p:nvSpPr>
        <p:spPr>
          <a:xfrm>
            <a:off x="4480560" y="416052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1" name="Shape 66"/>
          <p:cNvSpPr/>
          <p:nvPr/>
        </p:nvSpPr>
        <p:spPr>
          <a:xfrm>
            <a:off x="4480560" y="4572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2" name="Text 67"/>
          <p:cNvSpPr/>
          <p:nvPr/>
        </p:nvSpPr>
        <p:spPr>
          <a:xfrm>
            <a:off x="4480560" y="4572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3" name="Text 68"/>
          <p:cNvSpPr/>
          <p:nvPr/>
        </p:nvSpPr>
        <p:spPr>
          <a:xfrm>
            <a:off x="5120640" y="4572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4" name="Shape 69"/>
          <p:cNvSpPr/>
          <p:nvPr/>
        </p:nvSpPr>
        <p:spPr>
          <a:xfrm>
            <a:off x="4480560" y="498348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5" name="Text 70"/>
          <p:cNvSpPr/>
          <p:nvPr/>
        </p:nvSpPr>
        <p:spPr>
          <a:xfrm>
            <a:off x="4480560" y="498348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6" name="Text 71"/>
          <p:cNvSpPr/>
          <p:nvPr/>
        </p:nvSpPr>
        <p:spPr>
          <a:xfrm>
            <a:off x="5120640" y="498348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7" name="Shape 72"/>
          <p:cNvSpPr/>
          <p:nvPr/>
        </p:nvSpPr>
        <p:spPr>
          <a:xfrm>
            <a:off x="4480560" y="53949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8" name="Text 73"/>
          <p:cNvSpPr/>
          <p:nvPr/>
        </p:nvSpPr>
        <p:spPr>
          <a:xfrm>
            <a:off x="4480560" y="53949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9" name="Text 74"/>
          <p:cNvSpPr/>
          <p:nvPr/>
        </p:nvSpPr>
        <p:spPr>
          <a:xfrm>
            <a:off x="5120640" y="53949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0" name="Shape 75"/>
          <p:cNvSpPr/>
          <p:nvPr/>
        </p:nvSpPr>
        <p:spPr>
          <a:xfrm>
            <a:off x="4480560" y="58064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1" name="Text 76"/>
          <p:cNvSpPr/>
          <p:nvPr/>
        </p:nvSpPr>
        <p:spPr>
          <a:xfrm>
            <a:off x="4480560" y="58064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2" name="Text 77"/>
          <p:cNvSpPr/>
          <p:nvPr/>
        </p:nvSpPr>
        <p:spPr>
          <a:xfrm>
            <a:off x="5120640" y="58064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3" name="Shape 78"/>
          <p:cNvSpPr/>
          <p:nvPr/>
        </p:nvSpPr>
        <p:spPr>
          <a:xfrm>
            <a:off x="804672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4" name="Shape 79"/>
          <p:cNvSpPr/>
          <p:nvPr/>
        </p:nvSpPr>
        <p:spPr>
          <a:xfrm>
            <a:off x="8046720" y="4069080"/>
            <a:ext cx="71640" cy="223884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5" name="Text 80"/>
          <p:cNvSpPr/>
          <p:nvPr/>
        </p:nvSpPr>
        <p:spPr>
          <a:xfrm>
            <a:off x="8275320" y="416052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Recherche &amp; Notif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6" name="Shape 81"/>
          <p:cNvSpPr/>
          <p:nvPr/>
        </p:nvSpPr>
        <p:spPr>
          <a:xfrm>
            <a:off x="8275320" y="4572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7" name="Text 82"/>
          <p:cNvSpPr/>
          <p:nvPr/>
        </p:nvSpPr>
        <p:spPr>
          <a:xfrm>
            <a:off x="8275320" y="4572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8" name="Text 83"/>
          <p:cNvSpPr/>
          <p:nvPr/>
        </p:nvSpPr>
        <p:spPr>
          <a:xfrm>
            <a:off x="8915400" y="4572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/api/private/search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9" name="Shape 84"/>
          <p:cNvSpPr/>
          <p:nvPr/>
        </p:nvSpPr>
        <p:spPr>
          <a:xfrm>
            <a:off x="8275320" y="498348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0" name="Text 85"/>
          <p:cNvSpPr/>
          <p:nvPr/>
        </p:nvSpPr>
        <p:spPr>
          <a:xfrm>
            <a:off x="8275320" y="498348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1" name="Text 86"/>
          <p:cNvSpPr/>
          <p:nvPr/>
        </p:nvSpPr>
        <p:spPr>
          <a:xfrm>
            <a:off x="8915400" y="498348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/api/private/invitations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2" name="Shape 87"/>
          <p:cNvSpPr/>
          <p:nvPr/>
        </p:nvSpPr>
        <p:spPr>
          <a:xfrm>
            <a:off x="8275320" y="53949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3" name="Text 88"/>
          <p:cNvSpPr/>
          <p:nvPr/>
        </p:nvSpPr>
        <p:spPr>
          <a:xfrm>
            <a:off x="8275320" y="53949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4" name="Text 89"/>
          <p:cNvSpPr/>
          <p:nvPr/>
        </p:nvSpPr>
        <p:spPr>
          <a:xfrm>
            <a:off x="8915400" y="53949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5" name="Shape 90"/>
          <p:cNvSpPr/>
          <p:nvPr/>
        </p:nvSpPr>
        <p:spPr>
          <a:xfrm>
            <a:off x="8275320" y="58064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6" name="Text 91"/>
          <p:cNvSpPr/>
          <p:nvPr/>
        </p:nvSpPr>
        <p:spPr>
          <a:xfrm>
            <a:off x="8275320" y="58064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PATCH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7" name="Text 92"/>
          <p:cNvSpPr/>
          <p:nvPr/>
        </p:nvSpPr>
        <p:spPr>
          <a:xfrm>
            <a:off x="8915400" y="58064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/api/private/notifications/:id/read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8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9" name="Text 9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0" name="Text 9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Middleware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4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5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6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7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8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src/middleware.ts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Text 8"/>
          <p:cNvSpPr/>
          <p:nvPr/>
        </p:nvSpPr>
        <p:spPr>
          <a:xfrm>
            <a:off x="777240" y="22402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middleware(req: NextRequest)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0" name="Text 9"/>
          <p:cNvSpPr/>
          <p:nvPr/>
        </p:nvSpPr>
        <p:spPr>
          <a:xfrm>
            <a:off x="777240" y="24505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pathname } = req.nextUrl;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Text 10"/>
          <p:cNvSpPr/>
          <p:nvPr/>
        </p:nvSpPr>
        <p:spPr>
          <a:xfrm>
            <a:off x="777240" y="26607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isPublic = pathname.startsWith('/api/public')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2" name="Text 11"/>
          <p:cNvSpPr/>
          <p:nvPr/>
        </p:nvSpPr>
        <p:spPr>
          <a:xfrm>
            <a:off x="777240" y="28713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|| ['/login', '/register'].some(r =&gt; pathname.startsWith(r));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3" name="Text 12"/>
          <p:cNvSpPr/>
          <p:nvPr/>
        </p:nvSpPr>
        <p:spPr>
          <a:xfrm>
            <a:off x="777240" y="30816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if (isPublic) return NextResponse.next();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4" name="Text 13"/>
          <p:cNvSpPr/>
          <p:nvPr/>
        </p:nvSpPr>
        <p:spPr>
          <a:xfrm>
            <a:off x="777240" y="32918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5" name="Text 14"/>
          <p:cNvSpPr/>
          <p:nvPr/>
        </p:nvSpPr>
        <p:spPr>
          <a:xfrm>
            <a:off x="777240" y="35020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token = req.cookies.get('authToken')?.value;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6" name="Text 15"/>
          <p:cNvSpPr/>
          <p:nvPr/>
        </p:nvSpPr>
        <p:spPr>
          <a:xfrm>
            <a:off x="777240" y="37123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(!token)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7" name="Text 16"/>
          <p:cNvSpPr/>
          <p:nvPr/>
        </p:nvSpPr>
        <p:spPr>
          <a:xfrm>
            <a:off x="777240" y="39229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8" name="Text 17"/>
          <p:cNvSpPr/>
          <p:nvPr/>
        </p:nvSpPr>
        <p:spPr>
          <a:xfrm>
            <a:off x="777240" y="41331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try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 18"/>
          <p:cNvSpPr/>
          <p:nvPr/>
        </p:nvSpPr>
        <p:spPr>
          <a:xfrm>
            <a:off x="777240" y="43434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const { userId } = await verifyJwt(token);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0" name="Text 19"/>
          <p:cNvSpPr/>
          <p:nvPr/>
        </p:nvSpPr>
        <p:spPr>
          <a:xfrm>
            <a:off x="777240" y="45536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const headers = new Headers(req.headers);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1" name="Text 20"/>
          <p:cNvSpPr/>
          <p:nvPr/>
        </p:nvSpPr>
        <p:spPr>
          <a:xfrm>
            <a:off x="777240" y="47638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headers.set('x-user-id', userId);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2" name="Text 21"/>
          <p:cNvSpPr/>
          <p:nvPr/>
        </p:nvSpPr>
        <p:spPr>
          <a:xfrm>
            <a:off x="777240" y="49744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return NextResponse.next({ request: { headers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3" name="Text 22"/>
          <p:cNvSpPr/>
          <p:nvPr/>
        </p:nvSpPr>
        <p:spPr>
          <a:xfrm>
            <a:off x="777240" y="51847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 catch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4" name="Text 23"/>
          <p:cNvSpPr/>
          <p:nvPr/>
        </p:nvSpPr>
        <p:spPr>
          <a:xfrm>
            <a:off x="777240" y="53949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5" name="Text 24"/>
          <p:cNvSpPr/>
          <p:nvPr/>
        </p:nvSpPr>
        <p:spPr>
          <a:xfrm>
            <a:off x="777240" y="56052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6" name="Text 25"/>
          <p:cNvSpPr/>
          <p:nvPr/>
        </p:nvSpPr>
        <p:spPr>
          <a:xfrm>
            <a:off x="777240" y="58154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7" name="Shape 26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8" name="Text 27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9" name="Shape 28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0" name="Text 29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1" name="Text 30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Allow-list pour routes publiques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2" name="Shape 31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3" name="Text 32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 33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5" name="Shape 34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6" name="Text 35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7" name="Text 36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Vérification JWT via jose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8" name="Shape 37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9" name="Text 38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0" name="Text 39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Redirect /login si invalide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1" name="Shape 40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2" name="Text 41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3" name="Text 42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Injection x-user-id header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Shape 43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5" name="Text 44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Text 45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par défaut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3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8" name="Text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9" name="Text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&amp; RGPD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3" name="Shape 3"/>
          <p:cNvSpPr/>
          <p:nvPr/>
        </p:nvSpPr>
        <p:spPr>
          <a:xfrm>
            <a:off x="548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4" name="Text 4"/>
          <p:cNvSpPr/>
          <p:nvPr/>
        </p:nvSpPr>
        <p:spPr>
          <a:xfrm>
            <a:off x="731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Mesures en place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5" name="Text 5"/>
          <p:cNvSpPr/>
          <p:nvPr/>
        </p:nvSpPr>
        <p:spPr>
          <a:xfrm>
            <a:off x="777240" y="219456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6" name="Text 6"/>
          <p:cNvSpPr/>
          <p:nvPr/>
        </p:nvSpPr>
        <p:spPr>
          <a:xfrm>
            <a:off x="1188720" y="219456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(jose) · cookies HttpOnly · SameSite=Lax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7" name="Text 7"/>
          <p:cNvSpPr/>
          <p:nvPr/>
        </p:nvSpPr>
        <p:spPr>
          <a:xfrm>
            <a:off x="777240" y="274320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8" name="Text 8"/>
          <p:cNvSpPr/>
          <p:nvPr/>
        </p:nvSpPr>
        <p:spPr>
          <a:xfrm>
            <a:off x="1188720" y="274320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 sur tous les mots de passe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9" name="Text 9"/>
          <p:cNvSpPr/>
          <p:nvPr/>
        </p:nvSpPr>
        <p:spPr>
          <a:xfrm>
            <a:off x="777240" y="329184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0" name="Text 10"/>
          <p:cNvSpPr/>
          <p:nvPr/>
        </p:nvSpPr>
        <p:spPr>
          <a:xfrm>
            <a:off x="1188720" y="329184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 systématique des payloads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1" name="Text 11"/>
          <p:cNvSpPr/>
          <p:nvPr/>
        </p:nvSpPr>
        <p:spPr>
          <a:xfrm>
            <a:off x="777240" y="384048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2" name="Text 12"/>
          <p:cNvSpPr/>
          <p:nvPr/>
        </p:nvSpPr>
        <p:spPr>
          <a:xfrm>
            <a:off x="1188720" y="3840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 avec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3" name="Text 13"/>
          <p:cNvSpPr/>
          <p:nvPr/>
        </p:nvSpPr>
        <p:spPr>
          <a:xfrm>
            <a:off x="777240" y="438912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4" name="Text 14"/>
          <p:cNvSpPr/>
          <p:nvPr/>
        </p:nvSpPr>
        <p:spPr>
          <a:xfrm>
            <a:off x="1188720" y="438912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SQL injection bloquée par Prisma (paramétrage)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5" name="Text 15"/>
          <p:cNvSpPr/>
          <p:nvPr/>
        </p:nvSpPr>
        <p:spPr>
          <a:xfrm>
            <a:off x="777240" y="493776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6" name="Text 16"/>
          <p:cNvSpPr/>
          <p:nvPr/>
        </p:nvSpPr>
        <p:spPr>
          <a:xfrm>
            <a:off x="1188720" y="493776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Top 10 audité — voir securite-rgpd.md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7" name="Text 17"/>
          <p:cNvSpPr/>
          <p:nvPr/>
        </p:nvSpPr>
        <p:spPr>
          <a:xfrm>
            <a:off x="777240" y="548640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◌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8" name="Text 18"/>
          <p:cNvSpPr/>
          <p:nvPr/>
        </p:nvSpPr>
        <p:spPr>
          <a:xfrm>
            <a:off x="1188720" y="548640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HTTPS forcé en production via Vercel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9" name="Shape 19"/>
          <p:cNvSpPr/>
          <p:nvPr/>
        </p:nvSpPr>
        <p:spPr>
          <a:xfrm>
            <a:off x="6263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0" name="Text 20"/>
          <p:cNvSpPr/>
          <p:nvPr/>
        </p:nvSpPr>
        <p:spPr>
          <a:xfrm>
            <a:off x="6446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Conformité RGPD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1" name="Text 21"/>
          <p:cNvSpPr/>
          <p:nvPr/>
        </p:nvSpPr>
        <p:spPr>
          <a:xfrm>
            <a:off x="6446520" y="219456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Données collectées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2" name="Text 22"/>
          <p:cNvSpPr/>
          <p:nvPr/>
        </p:nvSpPr>
        <p:spPr>
          <a:xfrm>
            <a:off x="6446520" y="2468880"/>
            <a:ext cx="52106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Email, nom, date de naissance, contenus publiés. Aucun traitement marketing ; aucune donnée sensible au sens art. 9.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3" name="Text 23"/>
          <p:cNvSpPr/>
          <p:nvPr/>
        </p:nvSpPr>
        <p:spPr>
          <a:xfrm>
            <a:off x="6446520" y="310896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Droits de la personne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4" name="Text 24"/>
          <p:cNvSpPr/>
          <p:nvPr/>
        </p:nvSpPr>
        <p:spPr>
          <a:xfrm>
            <a:off x="6446520" y="338328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Accès &amp; consultation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5" name="Shape 25"/>
          <p:cNvSpPr/>
          <p:nvPr/>
        </p:nvSpPr>
        <p:spPr>
          <a:xfrm>
            <a:off x="10058400" y="341064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6" name="Text 26"/>
          <p:cNvSpPr/>
          <p:nvPr/>
        </p:nvSpPr>
        <p:spPr>
          <a:xfrm>
            <a:off x="10058400" y="341064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7" name="Text 27"/>
          <p:cNvSpPr/>
          <p:nvPr/>
        </p:nvSpPr>
        <p:spPr>
          <a:xfrm>
            <a:off x="6446520" y="374904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Rectification (settings)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Shape 28"/>
          <p:cNvSpPr/>
          <p:nvPr/>
        </p:nvSpPr>
        <p:spPr>
          <a:xfrm>
            <a:off x="10058400" y="377640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9" name="Text 29"/>
          <p:cNvSpPr/>
          <p:nvPr/>
        </p:nvSpPr>
        <p:spPr>
          <a:xfrm>
            <a:off x="10058400" y="377640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Text 30"/>
          <p:cNvSpPr/>
          <p:nvPr/>
        </p:nvSpPr>
        <p:spPr>
          <a:xfrm>
            <a:off x="6446520" y="411480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Effacement / droit à l'oubli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Shape 31"/>
          <p:cNvSpPr/>
          <p:nvPr/>
        </p:nvSpPr>
        <p:spPr>
          <a:xfrm>
            <a:off x="10058400" y="414216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2" name="Text 32"/>
          <p:cNvSpPr/>
          <p:nvPr/>
        </p:nvSpPr>
        <p:spPr>
          <a:xfrm>
            <a:off x="10058400" y="414216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3" name="Text 33"/>
          <p:cNvSpPr/>
          <p:nvPr/>
        </p:nvSpPr>
        <p:spPr>
          <a:xfrm>
            <a:off x="6446520" y="44805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Portabilité (export JSON)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4" name="Shape 34"/>
          <p:cNvSpPr/>
          <p:nvPr/>
        </p:nvSpPr>
        <p:spPr>
          <a:xfrm>
            <a:off x="10058400" y="450792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5" name="Text 35"/>
          <p:cNvSpPr/>
          <p:nvPr/>
        </p:nvSpPr>
        <p:spPr>
          <a:xfrm>
            <a:off x="10058400" y="450792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6" name="Text 36"/>
          <p:cNvSpPr/>
          <p:nvPr/>
        </p:nvSpPr>
        <p:spPr>
          <a:xfrm>
            <a:off x="6446520" y="4846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Opposition / consentement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7" name="Shape 37"/>
          <p:cNvSpPr/>
          <p:nvPr/>
        </p:nvSpPr>
        <p:spPr>
          <a:xfrm>
            <a:off x="10058400" y="487368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8" name="Text 38"/>
          <p:cNvSpPr/>
          <p:nvPr/>
        </p:nvSpPr>
        <p:spPr>
          <a:xfrm>
            <a:off x="10058400" y="487368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9" name="Text 39"/>
          <p:cNvSpPr/>
          <p:nvPr/>
        </p:nvSpPr>
        <p:spPr>
          <a:xfrm>
            <a:off x="6446520" y="5349240"/>
            <a:ext cx="5210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Roadmap durcissement : rate-limit, headers CSP, sanitization markdown (DOMPurify).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8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1" name="Text 4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2" name="Text 4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4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5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Cheminement d'une requête SQL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6" name="Rectangle 4"/>
          <p:cNvSpPr/>
          <p:nvPr/>
        </p:nvSpPr>
        <p:spPr>
          <a:xfrm>
            <a:off x="548640" y="1691640"/>
            <a:ext cx="73137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7" name="Oval 5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8" name="Oval 6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9" name="Oval 7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0" name="TextBox 8"/>
          <p:cNvSpPr/>
          <p:nvPr/>
        </p:nvSpPr>
        <p:spPr>
          <a:xfrm>
            <a:off x="1371600" y="1783080"/>
            <a:ext cx="6399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src/app/api/private/post/[id]/route.ts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1" name="TextBox 9"/>
          <p:cNvSpPr/>
          <p:nvPr/>
        </p:nvSpPr>
        <p:spPr>
          <a:xfrm>
            <a:off x="777240" y="22402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db } from '@/lib/db';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2" name="TextBox 10"/>
          <p:cNvSpPr/>
          <p:nvPr/>
        </p:nvSpPr>
        <p:spPr>
          <a:xfrm>
            <a:off x="777240" y="24415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getUserIdFromRequest } from '@/lib/server/api/getUserId';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3" name="TextBox 12"/>
          <p:cNvSpPr/>
          <p:nvPr/>
        </p:nvSpPr>
        <p:spPr>
          <a:xfrm>
            <a:off x="777240" y="26427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export async function GET(req: NextRequest, ctx)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4" name="TextBox 13"/>
          <p:cNvSpPr/>
          <p:nvPr/>
        </p:nvSpPr>
        <p:spPr>
          <a:xfrm>
            <a:off x="777240" y="28436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userId = await getUserIdFromRequest(req);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5" name="TextBox 14"/>
          <p:cNvSpPr/>
          <p:nvPr/>
        </p:nvSpPr>
        <p:spPr>
          <a:xfrm>
            <a:off x="777240" y="30448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if (!userId) return respondError('Unauthorized', 401);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6" name="TextBox 16"/>
          <p:cNvSpPr/>
          <p:nvPr/>
        </p:nvSpPr>
        <p:spPr>
          <a:xfrm>
            <a:off x="777240" y="32461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{ id } = await ctx.params;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7" name="TextBox 18"/>
          <p:cNvSpPr/>
          <p:nvPr/>
        </p:nvSpPr>
        <p:spPr>
          <a:xfrm>
            <a:off x="777240" y="34473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1. Validation entrée —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8" name="TextBox 19"/>
          <p:cNvSpPr/>
          <p:nvPr/>
        </p:nvSpPr>
        <p:spPr>
          <a:xfrm>
            <a:off x="777240" y="36486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const params = z.object({ id: z.string().cuid() }).parse({ id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9" name="TextBox 21"/>
          <p:cNvSpPr/>
          <p:nvPr/>
        </p:nvSpPr>
        <p:spPr>
          <a:xfrm>
            <a:off x="777240" y="38494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2. Query Prisma type-safe → SQL paramétré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0" name="TextBox 22"/>
          <p:cNvSpPr/>
          <p:nvPr/>
        </p:nvSpPr>
        <p:spPr>
          <a:xfrm>
            <a:off x="777240" y="40507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const post = await db.post.findUnique({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1" name="TextBox 23"/>
          <p:cNvSpPr/>
          <p:nvPr/>
        </p:nvSpPr>
        <p:spPr>
          <a:xfrm>
            <a:off x="777240" y="42519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where: { id: params.id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2" name="TextBox 24"/>
          <p:cNvSpPr/>
          <p:nvPr/>
        </p:nvSpPr>
        <p:spPr>
          <a:xfrm>
            <a:off x="777240" y="44532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include: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3" name="TextBox 25"/>
          <p:cNvSpPr/>
          <p:nvPr/>
        </p:nvSpPr>
        <p:spPr>
          <a:xfrm>
            <a:off x="777240" y="46544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user:     { select: { id, username, avatar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4" name="TextBox 26"/>
          <p:cNvSpPr/>
          <p:nvPr/>
        </p:nvSpPr>
        <p:spPr>
          <a:xfrm>
            <a:off x="777240" y="48553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comments: { select: { id, message, datetime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5" name="TextBox 27"/>
          <p:cNvSpPr/>
          <p:nvPr/>
        </p:nvSpPr>
        <p:spPr>
          <a:xfrm>
            <a:off x="777240" y="50565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reactions: true,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6" name="TextBox 28"/>
          <p:cNvSpPr/>
          <p:nvPr/>
        </p:nvSpPr>
        <p:spPr>
          <a:xfrm>
            <a:off x="777240" y="52578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7" name="TextBox 29"/>
          <p:cNvSpPr/>
          <p:nvPr/>
        </p:nvSpPr>
        <p:spPr>
          <a:xfrm>
            <a:off x="777240" y="54590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8" name="TextBox 31"/>
          <p:cNvSpPr/>
          <p:nvPr/>
        </p:nvSpPr>
        <p:spPr>
          <a:xfrm>
            <a:off x="777240" y="56602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3. Retour structuré + types inférés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9" name="TextBox 32"/>
          <p:cNvSpPr/>
          <p:nvPr/>
        </p:nvSpPr>
        <p:spPr>
          <a:xfrm>
            <a:off x="777240" y="58611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return respondSuccess(post);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0" name="TextBox 33"/>
          <p:cNvSpPr/>
          <p:nvPr/>
        </p:nvSpPr>
        <p:spPr>
          <a:xfrm>
            <a:off x="777240" y="60624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1" name="Rectangle 34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2" name="TextBox 35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Pipeline en 5 étapes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3" name="Oval 36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4" name="TextBox 37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5" name="TextBox 38"/>
          <p:cNvSpPr/>
          <p:nvPr/>
        </p:nvSpPr>
        <p:spPr>
          <a:xfrm>
            <a:off x="8778240" y="21945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Middleware → x-user-id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6" name="Oval 39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7" name="TextBox 40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8" name="TextBox 41"/>
          <p:cNvSpPr/>
          <p:nvPr/>
        </p:nvSpPr>
        <p:spPr>
          <a:xfrm>
            <a:off x="8778240" y="28346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valide l'entrée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9" name="Oval 42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0" name="TextBox 43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1" name="TextBox 44"/>
          <p:cNvSpPr/>
          <p:nvPr/>
        </p:nvSpPr>
        <p:spPr>
          <a:xfrm>
            <a:off x="8778240" y="34747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compose le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2" name="Oval 45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3" name="TextBox 46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4" name="TextBox 47"/>
          <p:cNvSpPr/>
          <p:nvPr/>
        </p:nvSpPr>
        <p:spPr>
          <a:xfrm>
            <a:off x="8778240" y="41148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envoie SQL paramétré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5" name="Oval 48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6" name="TextBox 49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7" name="TextBox 50"/>
          <p:cNvSpPr/>
          <p:nvPr/>
        </p:nvSpPr>
        <p:spPr>
          <a:xfrm>
            <a:off x="8778240" y="475488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Réponse typée TypeScript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TextBox 51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TextBox 52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3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2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3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Requête préparée : pourquoi c'est sûr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4" name="Rectangle 4"/>
          <p:cNvSpPr/>
          <p:nvPr/>
        </p:nvSpPr>
        <p:spPr>
          <a:xfrm>
            <a:off x="548640" y="1691640"/>
            <a:ext cx="534780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5" name="Rectangle 5"/>
          <p:cNvSpPr/>
          <p:nvPr/>
        </p:nvSpPr>
        <p:spPr>
          <a:xfrm>
            <a:off x="548640" y="1691640"/>
            <a:ext cx="5347800" cy="364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6" name="TextBox 6"/>
          <p:cNvSpPr/>
          <p:nvPr/>
        </p:nvSpPr>
        <p:spPr>
          <a:xfrm>
            <a:off x="685800" y="175572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 Requête naïve — VULNÉRABLE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TextBox 7"/>
          <p:cNvSpPr/>
          <p:nvPr/>
        </p:nvSpPr>
        <p:spPr>
          <a:xfrm>
            <a:off x="731520" y="22402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⚠️ N'EST PAS dans notre code, illustration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TextBox 8"/>
          <p:cNvSpPr/>
          <p:nvPr/>
        </p:nvSpPr>
        <p:spPr>
          <a:xfrm>
            <a:off x="731520" y="25146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9" name="TextBox 9"/>
          <p:cNvSpPr/>
          <p:nvPr/>
        </p:nvSpPr>
        <p:spPr>
          <a:xfrm>
            <a:off x="731520" y="27889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0" name="TextBox 10"/>
          <p:cNvSpPr/>
          <p:nvPr/>
        </p:nvSpPr>
        <p:spPr>
          <a:xfrm>
            <a:off x="731520" y="30632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1" name="TextBox 11"/>
          <p:cNvSpPr/>
          <p:nvPr/>
        </p:nvSpPr>
        <p:spPr>
          <a:xfrm>
            <a:off x="731520" y="33375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const result = await db.$queryRawUnsafe(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2" name="TextBox 12"/>
          <p:cNvSpPr/>
          <p:nvPr/>
        </p:nvSpPr>
        <p:spPr>
          <a:xfrm>
            <a:off x="731520" y="36118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`SELECT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3" name="TextBox 13"/>
          <p:cNvSpPr/>
          <p:nvPr/>
        </p:nvSpPr>
        <p:spPr>
          <a:xfrm>
            <a:off x="731520" y="38862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 WHERE email = '${email}'`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4" name="TextBox 14"/>
          <p:cNvSpPr/>
          <p:nvPr/>
        </p:nvSpPr>
        <p:spPr>
          <a:xfrm>
            <a:off x="731520" y="41605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5" name="TextBox 15"/>
          <p:cNvSpPr/>
          <p:nvPr/>
        </p:nvSpPr>
        <p:spPr>
          <a:xfrm>
            <a:off x="731520" y="44348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6" name="TextBox 16"/>
          <p:cNvSpPr/>
          <p:nvPr/>
        </p:nvSpPr>
        <p:spPr>
          <a:xfrm>
            <a:off x="731520" y="47091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Si email = "x' OR '1'='1"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7" name="TextBox 17"/>
          <p:cNvSpPr/>
          <p:nvPr/>
        </p:nvSpPr>
        <p:spPr>
          <a:xfrm>
            <a:off x="731520" y="49834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→ 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8" name="TextBox 18"/>
          <p:cNvSpPr/>
          <p:nvPr/>
        </p:nvSpPr>
        <p:spPr>
          <a:xfrm>
            <a:off x="731520" y="52578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  WHERE email = 'x' OR '1'='1'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9" name="TextBox 19"/>
          <p:cNvSpPr/>
          <p:nvPr/>
        </p:nvSpPr>
        <p:spPr>
          <a:xfrm>
            <a:off x="731520" y="55321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// → renvoie TOUS les utilisateurs ☠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0" name="Rectangle 20"/>
          <p:cNvSpPr/>
          <p:nvPr/>
        </p:nvSpPr>
        <p:spPr>
          <a:xfrm>
            <a:off x="6080760" y="1691640"/>
            <a:ext cx="534780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1" name="Rectangle 21"/>
          <p:cNvSpPr/>
          <p:nvPr/>
        </p:nvSpPr>
        <p:spPr>
          <a:xfrm>
            <a:off x="6080760" y="1691640"/>
            <a:ext cx="5347800" cy="36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2" name="TextBox 22"/>
          <p:cNvSpPr/>
          <p:nvPr/>
        </p:nvSpPr>
        <p:spPr>
          <a:xfrm>
            <a:off x="6217920" y="175572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Prisma — PROTÉGÉ par défaut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3" name="TextBox 23"/>
          <p:cNvSpPr/>
          <p:nvPr/>
        </p:nvSpPr>
        <p:spPr>
          <a:xfrm>
            <a:off x="6263640" y="22402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✅ Le pattern utilisé partout dans le 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4" name="TextBox 24"/>
          <p:cNvSpPr/>
          <p:nvPr/>
        </p:nvSpPr>
        <p:spPr>
          <a:xfrm>
            <a:off x="6263640" y="25146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5" name="TextBox 25"/>
          <p:cNvSpPr/>
          <p:nvPr/>
        </p:nvSpPr>
        <p:spPr>
          <a:xfrm>
            <a:off x="6263640" y="27889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6" name="TextBox 26"/>
          <p:cNvSpPr/>
          <p:nvPr/>
        </p:nvSpPr>
        <p:spPr>
          <a:xfrm>
            <a:off x="6263640" y="30632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7" name="TextBox 27"/>
          <p:cNvSpPr/>
          <p:nvPr/>
        </p:nvSpPr>
        <p:spPr>
          <a:xfrm>
            <a:off x="6263640" y="33375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const user = await db.user.findUnique({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8" name="TextBox 28"/>
          <p:cNvSpPr/>
          <p:nvPr/>
        </p:nvSpPr>
        <p:spPr>
          <a:xfrm>
            <a:off x="6263640" y="36118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where: { email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9" name="TextBox 29"/>
          <p:cNvSpPr/>
          <p:nvPr/>
        </p:nvSpPr>
        <p:spPr>
          <a:xfrm>
            <a:off x="6263640" y="38862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0" name="TextBox 30"/>
          <p:cNvSpPr/>
          <p:nvPr/>
        </p:nvSpPr>
        <p:spPr>
          <a:xfrm>
            <a:off x="6263640" y="41605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1" name="TextBox 31"/>
          <p:cNvSpPr/>
          <p:nvPr/>
        </p:nvSpPr>
        <p:spPr>
          <a:xfrm>
            <a:off x="6263640" y="44348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Prisma envoie au driver pg 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2" name="TextBox 32"/>
          <p:cNvSpPr/>
          <p:nvPr/>
        </p:nvSpPr>
        <p:spPr>
          <a:xfrm>
            <a:off x="6263640" y="47091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SELECT * FROM users WHERE email = 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3" name="TextBox 33"/>
          <p:cNvSpPr/>
          <p:nvPr/>
        </p:nvSpPr>
        <p:spPr>
          <a:xfrm>
            <a:off x="6263640" y="49834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avec params = ['x' OR ''1''=''1']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4" name="TextBox 34"/>
          <p:cNvSpPr/>
          <p:nvPr/>
        </p:nvSpPr>
        <p:spPr>
          <a:xfrm>
            <a:off x="6263640" y="52578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5" name="TextBox 35"/>
          <p:cNvSpPr/>
          <p:nvPr/>
        </p:nvSpPr>
        <p:spPr>
          <a:xfrm>
            <a:off x="6263640" y="55321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PostgreSQL traite $1 comme STRING littérale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Box 36"/>
          <p:cNvSpPr/>
          <p:nvPr/>
        </p:nvSpPr>
        <p:spPr>
          <a:xfrm>
            <a:off x="6263640" y="58064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→ 0 ligne renvoyée 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7" name="TextBox 3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8" name="TextBox 3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1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2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Anti-SQLi : défense en profondeur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3" name="Rectangle 4"/>
          <p:cNvSpPr/>
          <p:nvPr/>
        </p:nvSpPr>
        <p:spPr>
          <a:xfrm>
            <a:off x="548640" y="169164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4" name="Rectangle 5"/>
          <p:cNvSpPr/>
          <p:nvPr/>
        </p:nvSpPr>
        <p:spPr>
          <a:xfrm>
            <a:off x="548640" y="1691640"/>
            <a:ext cx="108360" cy="86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5" name="TextBox 6"/>
          <p:cNvSpPr/>
          <p:nvPr/>
        </p:nvSpPr>
        <p:spPr>
          <a:xfrm>
            <a:off x="822960" y="178308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6" name="TextBox 7"/>
          <p:cNvSpPr/>
          <p:nvPr/>
        </p:nvSpPr>
        <p:spPr>
          <a:xfrm>
            <a:off x="1417320" y="178308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7" name="TextBox 8"/>
          <p:cNvSpPr/>
          <p:nvPr/>
        </p:nvSpPr>
        <p:spPr>
          <a:xfrm>
            <a:off x="1417320" y="205740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Validation type + format avant tout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8" name="TextBox 9"/>
          <p:cNvSpPr/>
          <p:nvPr/>
        </p:nvSpPr>
        <p:spPr>
          <a:xfrm>
            <a:off x="3749040" y="219456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z.string().email().min(6)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Rectangle 10"/>
          <p:cNvSpPr/>
          <p:nvPr/>
        </p:nvSpPr>
        <p:spPr>
          <a:xfrm>
            <a:off x="548640" y="274320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0" name="Rectangle 11"/>
          <p:cNvSpPr/>
          <p:nvPr/>
        </p:nvSpPr>
        <p:spPr>
          <a:xfrm>
            <a:off x="548640" y="2743200"/>
            <a:ext cx="108360" cy="8672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1" name="TextBox 12"/>
          <p:cNvSpPr/>
          <p:nvPr/>
        </p:nvSpPr>
        <p:spPr>
          <a:xfrm>
            <a:off x="822960" y="283464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2" name="TextBox 13"/>
          <p:cNvSpPr/>
          <p:nvPr/>
        </p:nvSpPr>
        <p:spPr>
          <a:xfrm>
            <a:off x="1417320" y="283464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3" name="TextBox 14"/>
          <p:cNvSpPr/>
          <p:nvPr/>
        </p:nvSpPr>
        <p:spPr>
          <a:xfrm>
            <a:off x="1417320" y="310896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Compose un SQL paramétré (jamais de concat)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4" name="TextBox 15"/>
          <p:cNvSpPr/>
          <p:nvPr/>
        </p:nvSpPr>
        <p:spPr>
          <a:xfrm>
            <a:off x="3749040" y="324612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db.user.findUnique({ where: { email }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Rectangle 16"/>
          <p:cNvSpPr/>
          <p:nvPr/>
        </p:nvSpPr>
        <p:spPr>
          <a:xfrm>
            <a:off x="548640" y="379476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6" name="Rectangle 17"/>
          <p:cNvSpPr/>
          <p:nvPr/>
        </p:nvSpPr>
        <p:spPr>
          <a:xfrm>
            <a:off x="548640" y="3794760"/>
            <a:ext cx="108360" cy="867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7" name="TextBox 18"/>
          <p:cNvSpPr/>
          <p:nvPr/>
        </p:nvSpPr>
        <p:spPr>
          <a:xfrm>
            <a:off x="822960" y="388620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8" name="TextBox 19"/>
          <p:cNvSpPr/>
          <p:nvPr/>
        </p:nvSpPr>
        <p:spPr>
          <a:xfrm>
            <a:off x="1417320" y="388620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PG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9" name="TextBox 20"/>
          <p:cNvSpPr/>
          <p:nvPr/>
        </p:nvSpPr>
        <p:spPr>
          <a:xfrm>
            <a:off x="1417320" y="416052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Sépare query texte + array de params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0" name="TextBox 21"/>
          <p:cNvSpPr/>
          <p:nvPr/>
        </p:nvSpPr>
        <p:spPr>
          <a:xfrm>
            <a:off x="3749040" y="429768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PREPARE → EXECUTE($1, $2, ...)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1" name="Rectangle 22"/>
          <p:cNvSpPr/>
          <p:nvPr/>
        </p:nvSpPr>
        <p:spPr>
          <a:xfrm>
            <a:off x="548640" y="484632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2" name="Rectangle 23"/>
          <p:cNvSpPr/>
          <p:nvPr/>
        </p:nvSpPr>
        <p:spPr>
          <a:xfrm>
            <a:off x="548640" y="4846320"/>
            <a:ext cx="108360" cy="86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3" name="TextBox 24"/>
          <p:cNvSpPr/>
          <p:nvPr/>
        </p:nvSpPr>
        <p:spPr>
          <a:xfrm>
            <a:off x="822960" y="493776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4" name="TextBox 25"/>
          <p:cNvSpPr/>
          <p:nvPr/>
        </p:nvSpPr>
        <p:spPr>
          <a:xfrm>
            <a:off x="1417320" y="493776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TextBox 26"/>
          <p:cNvSpPr/>
          <p:nvPr/>
        </p:nvSpPr>
        <p:spPr>
          <a:xfrm>
            <a:off x="1417320" y="521208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Traite chaque param comme littéral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TextBox 27"/>
          <p:cNvSpPr/>
          <p:nvPr/>
        </p:nvSpPr>
        <p:spPr>
          <a:xfrm>
            <a:off x="3749040" y="534924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WHERE email = $1   (binding)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7" name="Rectangle 28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8" name="TextBox 29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Payload attaque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9" name="Oval 30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0" name="TextBox 31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1" name="TextBox 32"/>
          <p:cNvSpPr/>
          <p:nvPr/>
        </p:nvSpPr>
        <p:spPr>
          <a:xfrm>
            <a:off x="8778240" y="21945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' OR 1=1-- envoyé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2" name="Oval 33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3" name="TextBox 34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4" name="TextBox 35"/>
          <p:cNvSpPr/>
          <p:nvPr/>
        </p:nvSpPr>
        <p:spPr>
          <a:xfrm>
            <a:off x="8778240" y="28346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: pas un 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5" name="Oval 36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6" name="TextBox 37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7" name="TextBox 38"/>
          <p:cNvSpPr/>
          <p:nvPr/>
        </p:nvSpPr>
        <p:spPr>
          <a:xfrm>
            <a:off x="8778240" y="34747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: paramètre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8" name="Oval 39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9" name="TextBox 40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0" name="TextBox 41"/>
          <p:cNvSpPr/>
          <p:nvPr/>
        </p:nvSpPr>
        <p:spPr>
          <a:xfrm>
            <a:off x="8778240" y="41148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: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1" name="Oval 42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2" name="TextBox 43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3" name="TextBox 44"/>
          <p:cNvSpPr/>
          <p:nvPr/>
        </p:nvSpPr>
        <p:spPr>
          <a:xfrm>
            <a:off x="8778240" y="475488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: 0 résultat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4" name="TextBox 45"/>
          <p:cNvSpPr/>
          <p:nvPr/>
        </p:nvSpPr>
        <p:spPr>
          <a:xfrm>
            <a:off x="548640" y="59893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OWASP Top 10 — A03:2021 Injection · neutralisée structurellement par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5" name="TextBox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6" name="TextBox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8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9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Stratégie de tests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0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1" name="Shape 3"/>
          <p:cNvSpPr/>
          <p:nvPr/>
        </p:nvSpPr>
        <p:spPr>
          <a:xfrm>
            <a:off x="4000680" y="1828800"/>
            <a:ext cx="1233000" cy="91296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2" name="Text 4"/>
          <p:cNvSpPr/>
          <p:nvPr/>
        </p:nvSpPr>
        <p:spPr>
          <a:xfrm>
            <a:off x="4000680" y="1828800"/>
            <a:ext cx="123300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3" name="Shape 5"/>
          <p:cNvSpPr/>
          <p:nvPr/>
        </p:nvSpPr>
        <p:spPr>
          <a:xfrm>
            <a:off x="3383280" y="2743200"/>
            <a:ext cx="2467440" cy="127872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4" name="Text 6"/>
          <p:cNvSpPr/>
          <p:nvPr/>
        </p:nvSpPr>
        <p:spPr>
          <a:xfrm>
            <a:off x="3383280" y="2743200"/>
            <a:ext cx="2467440" cy="12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d'intégration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5" name="Shape 7"/>
          <p:cNvSpPr/>
          <p:nvPr/>
        </p:nvSpPr>
        <p:spPr>
          <a:xfrm>
            <a:off x="2560320" y="4023360"/>
            <a:ext cx="4113360" cy="146160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6" name="Text 8"/>
          <p:cNvSpPr/>
          <p:nvPr/>
        </p:nvSpPr>
        <p:spPr>
          <a:xfrm>
            <a:off x="2560320" y="4023360"/>
            <a:ext cx="411336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7" name="Shape 9"/>
          <p:cNvSpPr/>
          <p:nvPr/>
        </p:nvSpPr>
        <p:spPr>
          <a:xfrm>
            <a:off x="7315200" y="1783080"/>
            <a:ext cx="4479120" cy="447912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8" name="Text 10"/>
          <p:cNvSpPr/>
          <p:nvPr/>
        </p:nvSpPr>
        <p:spPr>
          <a:xfrm>
            <a:off x="7498080" y="1874520"/>
            <a:ext cx="4113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Pyramide adoptée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9" name="Shape 11"/>
          <p:cNvSpPr/>
          <p:nvPr/>
        </p:nvSpPr>
        <p:spPr>
          <a:xfrm>
            <a:off x="7498080" y="2331720"/>
            <a:ext cx="90000" cy="82152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0" name="Text 12"/>
          <p:cNvSpPr/>
          <p:nvPr/>
        </p:nvSpPr>
        <p:spPr>
          <a:xfrm>
            <a:off x="7680960" y="23317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 (Playwright)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1" name="Shape 13"/>
          <p:cNvSpPr/>
          <p:nvPr/>
        </p:nvSpPr>
        <p:spPr>
          <a:xfrm>
            <a:off x="10469880" y="23774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2" name="Text 14"/>
          <p:cNvSpPr/>
          <p:nvPr/>
        </p:nvSpPr>
        <p:spPr>
          <a:xfrm>
            <a:off x="10469880" y="23774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3" name="Text 15"/>
          <p:cNvSpPr/>
          <p:nvPr/>
        </p:nvSpPr>
        <p:spPr>
          <a:xfrm>
            <a:off x="7680960" y="26974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 critiques : inscription, post, chat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4" name="Shape 16"/>
          <p:cNvSpPr/>
          <p:nvPr/>
        </p:nvSpPr>
        <p:spPr>
          <a:xfrm>
            <a:off x="7498080" y="3246120"/>
            <a:ext cx="90000" cy="82152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5" name="Text 17"/>
          <p:cNvSpPr/>
          <p:nvPr/>
        </p:nvSpPr>
        <p:spPr>
          <a:xfrm>
            <a:off x="7680960" y="32461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6" name="Shape 18"/>
          <p:cNvSpPr/>
          <p:nvPr/>
        </p:nvSpPr>
        <p:spPr>
          <a:xfrm>
            <a:off x="10469880" y="32918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7" name="Text 19"/>
          <p:cNvSpPr/>
          <p:nvPr/>
        </p:nvSpPr>
        <p:spPr>
          <a:xfrm>
            <a:off x="10469880" y="32918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8" name="Text 20"/>
          <p:cNvSpPr/>
          <p:nvPr/>
        </p:nvSpPr>
        <p:spPr>
          <a:xfrm>
            <a:off x="7680960" y="36118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Jest + ts-jest sur /api/*  (auth, posts, 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9" name="Shape 21"/>
          <p:cNvSpPr/>
          <p:nvPr/>
        </p:nvSpPr>
        <p:spPr>
          <a:xfrm>
            <a:off x="7498080" y="4160520"/>
            <a:ext cx="90000" cy="8215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0" name="Text 22"/>
          <p:cNvSpPr/>
          <p:nvPr/>
        </p:nvSpPr>
        <p:spPr>
          <a:xfrm>
            <a:off x="7680960" y="41605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1" name="Shape 23"/>
          <p:cNvSpPr/>
          <p:nvPr/>
        </p:nvSpPr>
        <p:spPr>
          <a:xfrm>
            <a:off x="10469880" y="42062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2" name="Text 24"/>
          <p:cNvSpPr/>
          <p:nvPr/>
        </p:nvSpPr>
        <p:spPr>
          <a:xfrm>
            <a:off x="10469880" y="42062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3" name="Text 25"/>
          <p:cNvSpPr/>
          <p:nvPr/>
        </p:nvSpPr>
        <p:spPr>
          <a:xfrm>
            <a:off x="7680960" y="45262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Helpers, validators Zod, hashing,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4" name="Shape 26"/>
          <p:cNvSpPr/>
          <p:nvPr/>
        </p:nvSpPr>
        <p:spPr>
          <a:xfrm>
            <a:off x="7498080" y="5074920"/>
            <a:ext cx="90000" cy="8215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5" name="Text 27"/>
          <p:cNvSpPr/>
          <p:nvPr/>
        </p:nvSpPr>
        <p:spPr>
          <a:xfrm>
            <a:off x="7680960" y="50749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 &amp; types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6" name="Shape 28"/>
          <p:cNvSpPr/>
          <p:nvPr/>
        </p:nvSpPr>
        <p:spPr>
          <a:xfrm>
            <a:off x="10469880" y="51206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7" name="Text 29"/>
          <p:cNvSpPr/>
          <p:nvPr/>
        </p:nvSpPr>
        <p:spPr>
          <a:xfrm>
            <a:off x="10469880" y="51206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CI bloquant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8" name="Text 30"/>
          <p:cNvSpPr/>
          <p:nvPr/>
        </p:nvSpPr>
        <p:spPr>
          <a:xfrm>
            <a:off x="7680960" y="54406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ESLint + TypeScript strict,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9" name="Shape 31"/>
          <p:cNvSpPr/>
          <p:nvPr/>
        </p:nvSpPr>
        <p:spPr>
          <a:xfrm>
            <a:off x="548640" y="5577840"/>
            <a:ext cx="11062800" cy="68436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0" name="Text 32"/>
          <p:cNvSpPr/>
          <p:nvPr/>
        </p:nvSpPr>
        <p:spPr>
          <a:xfrm>
            <a:off x="777240" y="5623560"/>
            <a:ext cx="106056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Coverage cible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80% sur les modules critiques (auth, chat, persistence).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Jeux d'essai documentés dans tests-strategy.md.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2" name="Text 3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3" name="Text 3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Pipeline CI/CD GitHub Actions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7" name="Shape 3"/>
          <p:cNvSpPr/>
          <p:nvPr/>
        </p:nvSpPr>
        <p:spPr>
          <a:xfrm>
            <a:off x="43452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8" name="Shape 4"/>
          <p:cNvSpPr/>
          <p:nvPr/>
        </p:nvSpPr>
        <p:spPr>
          <a:xfrm>
            <a:off x="800280" y="2423160"/>
            <a:ext cx="638640" cy="63864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9" name="Text 5"/>
          <p:cNvSpPr/>
          <p:nvPr/>
        </p:nvSpPr>
        <p:spPr>
          <a:xfrm>
            <a:off x="80028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↗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0" name="Text 6"/>
          <p:cNvSpPr/>
          <p:nvPr/>
        </p:nvSpPr>
        <p:spPr>
          <a:xfrm>
            <a:off x="48024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Push / PR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1" name="Text 7"/>
          <p:cNvSpPr/>
          <p:nvPr/>
        </p:nvSpPr>
        <p:spPr>
          <a:xfrm>
            <a:off x="48024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 · feature-*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2" name="Shape 8"/>
          <p:cNvSpPr/>
          <p:nvPr/>
        </p:nvSpPr>
        <p:spPr>
          <a:xfrm>
            <a:off x="18057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3" name="Shape 9"/>
          <p:cNvSpPr/>
          <p:nvPr/>
        </p:nvSpPr>
        <p:spPr>
          <a:xfrm>
            <a:off x="185184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4" name="Shape 10"/>
          <p:cNvSpPr/>
          <p:nvPr/>
        </p:nvSpPr>
        <p:spPr>
          <a:xfrm>
            <a:off x="2217600" y="2423160"/>
            <a:ext cx="638640" cy="63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5" name="Text 11"/>
          <p:cNvSpPr/>
          <p:nvPr/>
        </p:nvSpPr>
        <p:spPr>
          <a:xfrm>
            <a:off x="221760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6" name="Text 12"/>
          <p:cNvSpPr/>
          <p:nvPr/>
        </p:nvSpPr>
        <p:spPr>
          <a:xfrm>
            <a:off x="189756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Checkout &amp;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7" name="Text 13"/>
          <p:cNvSpPr/>
          <p:nvPr/>
        </p:nvSpPr>
        <p:spPr>
          <a:xfrm>
            <a:off x="189756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actions/checkout · setup-bun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8" name="Shape 14"/>
          <p:cNvSpPr/>
          <p:nvPr/>
        </p:nvSpPr>
        <p:spPr>
          <a:xfrm>
            <a:off x="32230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9" name="Shape 15"/>
          <p:cNvSpPr/>
          <p:nvPr/>
        </p:nvSpPr>
        <p:spPr>
          <a:xfrm>
            <a:off x="326916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0" name="Shape 16"/>
          <p:cNvSpPr/>
          <p:nvPr/>
        </p:nvSpPr>
        <p:spPr>
          <a:xfrm>
            <a:off x="3634920" y="2423160"/>
            <a:ext cx="638640" cy="6386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1" name="Text 17"/>
          <p:cNvSpPr/>
          <p:nvPr/>
        </p:nvSpPr>
        <p:spPr>
          <a:xfrm>
            <a:off x="363492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2" name="Text 18"/>
          <p:cNvSpPr/>
          <p:nvPr/>
        </p:nvSpPr>
        <p:spPr>
          <a:xfrm>
            <a:off x="331488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3" name="Text 19"/>
          <p:cNvSpPr/>
          <p:nvPr/>
        </p:nvSpPr>
        <p:spPr>
          <a:xfrm>
            <a:off x="331488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install --frozen-lockfile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4" name="Shape 20"/>
          <p:cNvSpPr/>
          <p:nvPr/>
        </p:nvSpPr>
        <p:spPr>
          <a:xfrm>
            <a:off x="464040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5" name="Shape 21"/>
          <p:cNvSpPr/>
          <p:nvPr/>
        </p:nvSpPr>
        <p:spPr>
          <a:xfrm>
            <a:off x="468648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6" name="Shape 22"/>
          <p:cNvSpPr/>
          <p:nvPr/>
        </p:nvSpPr>
        <p:spPr>
          <a:xfrm>
            <a:off x="5052240" y="2423160"/>
            <a:ext cx="638640" cy="6386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7" name="Text 23"/>
          <p:cNvSpPr/>
          <p:nvPr/>
        </p:nvSpPr>
        <p:spPr>
          <a:xfrm>
            <a:off x="505224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8" name="Text 24"/>
          <p:cNvSpPr/>
          <p:nvPr/>
        </p:nvSpPr>
        <p:spPr>
          <a:xfrm>
            <a:off x="473220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9" name="Text 25"/>
          <p:cNvSpPr/>
          <p:nvPr/>
        </p:nvSpPr>
        <p:spPr>
          <a:xfrm>
            <a:off x="473220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bunx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0" name="Shape 26"/>
          <p:cNvSpPr/>
          <p:nvPr/>
        </p:nvSpPr>
        <p:spPr>
          <a:xfrm>
            <a:off x="605772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1" name="Shape 27"/>
          <p:cNvSpPr/>
          <p:nvPr/>
        </p:nvSpPr>
        <p:spPr>
          <a:xfrm>
            <a:off x="610380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2" name="Shape 28"/>
          <p:cNvSpPr/>
          <p:nvPr/>
        </p:nvSpPr>
        <p:spPr>
          <a:xfrm>
            <a:off x="6469560" y="2423160"/>
            <a:ext cx="638640" cy="63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3" name="Text 29"/>
          <p:cNvSpPr/>
          <p:nvPr/>
        </p:nvSpPr>
        <p:spPr>
          <a:xfrm>
            <a:off x="646956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4" name="Text 30"/>
          <p:cNvSpPr/>
          <p:nvPr/>
        </p:nvSpPr>
        <p:spPr>
          <a:xfrm>
            <a:off x="614952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5" name="Text 31"/>
          <p:cNvSpPr/>
          <p:nvPr/>
        </p:nvSpPr>
        <p:spPr>
          <a:xfrm>
            <a:off x="614952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lint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6" name="Shape 32"/>
          <p:cNvSpPr/>
          <p:nvPr/>
        </p:nvSpPr>
        <p:spPr>
          <a:xfrm>
            <a:off x="747504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7" name="Shape 33"/>
          <p:cNvSpPr/>
          <p:nvPr/>
        </p:nvSpPr>
        <p:spPr>
          <a:xfrm>
            <a:off x="752112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8" name="Shape 34"/>
          <p:cNvSpPr/>
          <p:nvPr/>
        </p:nvSpPr>
        <p:spPr>
          <a:xfrm>
            <a:off x="7886880" y="2423160"/>
            <a:ext cx="638640" cy="63864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9" name="Text 35"/>
          <p:cNvSpPr/>
          <p:nvPr/>
        </p:nvSpPr>
        <p:spPr>
          <a:xfrm>
            <a:off x="788688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0" name="Text 36"/>
          <p:cNvSpPr/>
          <p:nvPr/>
        </p:nvSpPr>
        <p:spPr>
          <a:xfrm>
            <a:off x="756684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1" name="Text 37"/>
          <p:cNvSpPr/>
          <p:nvPr/>
        </p:nvSpPr>
        <p:spPr>
          <a:xfrm>
            <a:off x="756684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2" name="Shape 38"/>
          <p:cNvSpPr/>
          <p:nvPr/>
        </p:nvSpPr>
        <p:spPr>
          <a:xfrm>
            <a:off x="88923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3" name="Shape 39"/>
          <p:cNvSpPr/>
          <p:nvPr/>
        </p:nvSpPr>
        <p:spPr>
          <a:xfrm>
            <a:off x="893844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4" name="Shape 40"/>
          <p:cNvSpPr/>
          <p:nvPr/>
        </p:nvSpPr>
        <p:spPr>
          <a:xfrm>
            <a:off x="9304200" y="2423160"/>
            <a:ext cx="638640" cy="63864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5" name="Text 41"/>
          <p:cNvSpPr/>
          <p:nvPr/>
        </p:nvSpPr>
        <p:spPr>
          <a:xfrm>
            <a:off x="930420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◧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6" name="Text 42"/>
          <p:cNvSpPr/>
          <p:nvPr/>
        </p:nvSpPr>
        <p:spPr>
          <a:xfrm>
            <a:off x="898416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Next.js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7" name="Text 43"/>
          <p:cNvSpPr/>
          <p:nvPr/>
        </p:nvSpPr>
        <p:spPr>
          <a:xfrm>
            <a:off x="898416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8" name="Shape 44"/>
          <p:cNvSpPr/>
          <p:nvPr/>
        </p:nvSpPr>
        <p:spPr>
          <a:xfrm>
            <a:off x="103096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9" name="Shape 45"/>
          <p:cNvSpPr/>
          <p:nvPr/>
        </p:nvSpPr>
        <p:spPr>
          <a:xfrm>
            <a:off x="1035576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0" name="Shape 46"/>
          <p:cNvSpPr/>
          <p:nvPr/>
        </p:nvSpPr>
        <p:spPr>
          <a:xfrm>
            <a:off x="10721520" y="2423160"/>
            <a:ext cx="638640" cy="63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1" name="Text 47"/>
          <p:cNvSpPr/>
          <p:nvPr/>
        </p:nvSpPr>
        <p:spPr>
          <a:xfrm>
            <a:off x="1072152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2" name="Text 48"/>
          <p:cNvSpPr/>
          <p:nvPr/>
        </p:nvSpPr>
        <p:spPr>
          <a:xfrm>
            <a:off x="1040148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Deploy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3" name="Text 49"/>
          <p:cNvSpPr/>
          <p:nvPr/>
        </p:nvSpPr>
        <p:spPr>
          <a:xfrm>
            <a:off x="1040148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ou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4" name="Shape 50"/>
          <p:cNvSpPr/>
          <p:nvPr/>
        </p:nvSpPr>
        <p:spPr>
          <a:xfrm>
            <a:off x="548640" y="4754880"/>
            <a:ext cx="11062800" cy="155304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5" name="Text 51"/>
          <p:cNvSpPr/>
          <p:nvPr/>
        </p:nvSpPr>
        <p:spPr>
          <a:xfrm>
            <a:off x="731520" y="484632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6" name="Text 52"/>
          <p:cNvSpPr/>
          <p:nvPr/>
        </p:nvSpPr>
        <p:spPr>
          <a:xfrm>
            <a:off x="731520" y="512064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 53"/>
          <p:cNvSpPr/>
          <p:nvPr/>
        </p:nvSpPr>
        <p:spPr>
          <a:xfrm>
            <a:off x="731520" y="531252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on: [push, pull_request]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8" name="Text 54"/>
          <p:cNvSpPr/>
          <p:nvPr/>
        </p:nvSpPr>
        <p:spPr>
          <a:xfrm>
            <a:off x="731520" y="550476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9" name="Text 55"/>
          <p:cNvSpPr/>
          <p:nvPr/>
        </p:nvSpPr>
        <p:spPr>
          <a:xfrm>
            <a:off x="731520" y="569664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0" name="Text 56"/>
          <p:cNvSpPr/>
          <p:nvPr/>
        </p:nvSpPr>
        <p:spPr>
          <a:xfrm>
            <a:off x="731520" y="588888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1" name="Text 57"/>
          <p:cNvSpPr/>
          <p:nvPr/>
        </p:nvSpPr>
        <p:spPr>
          <a:xfrm>
            <a:off x="731520" y="608076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steps: [checkout, setup-bun, install, prisma:generate, lint, test, build]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1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3" name="Text 58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4" name="Text 59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6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7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Du commit à la production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8" name="Rectangle 4"/>
          <p:cNvSpPr/>
          <p:nvPr/>
        </p:nvSpPr>
        <p:spPr>
          <a:xfrm>
            <a:off x="54864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9" name="Rectangle 5"/>
          <p:cNvSpPr/>
          <p:nvPr/>
        </p:nvSpPr>
        <p:spPr>
          <a:xfrm>
            <a:off x="548640" y="2011680"/>
            <a:ext cx="1507320" cy="71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0" name="TextBox 6"/>
          <p:cNvSpPr/>
          <p:nvPr/>
        </p:nvSpPr>
        <p:spPr>
          <a:xfrm>
            <a:off x="54864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⟳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1" name="TextBox 7"/>
          <p:cNvSpPr/>
          <p:nvPr/>
        </p:nvSpPr>
        <p:spPr>
          <a:xfrm>
            <a:off x="54864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2" name="TextBox 8"/>
          <p:cNvSpPr/>
          <p:nvPr/>
        </p:nvSpPr>
        <p:spPr>
          <a:xfrm>
            <a:off x="54864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3" name="TextBox 9"/>
          <p:cNvSpPr/>
          <p:nvPr/>
        </p:nvSpPr>
        <p:spPr>
          <a:xfrm>
            <a:off x="207576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4" name="Rectangle 10"/>
          <p:cNvSpPr/>
          <p:nvPr/>
        </p:nvSpPr>
        <p:spPr>
          <a:xfrm>
            <a:off x="219456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5" name="Rectangle 11"/>
          <p:cNvSpPr/>
          <p:nvPr/>
        </p:nvSpPr>
        <p:spPr>
          <a:xfrm>
            <a:off x="2194560" y="2011680"/>
            <a:ext cx="1507320" cy="716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6" name="TextBox 12"/>
          <p:cNvSpPr/>
          <p:nvPr/>
        </p:nvSpPr>
        <p:spPr>
          <a:xfrm>
            <a:off x="219456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◉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7" name="TextBox 13"/>
          <p:cNvSpPr/>
          <p:nvPr/>
        </p:nvSpPr>
        <p:spPr>
          <a:xfrm>
            <a:off x="219456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8" name="TextBox 14"/>
          <p:cNvSpPr/>
          <p:nvPr/>
        </p:nvSpPr>
        <p:spPr>
          <a:xfrm>
            <a:off x="219456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ci.yml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9" name="TextBox 15"/>
          <p:cNvSpPr/>
          <p:nvPr/>
        </p:nvSpPr>
        <p:spPr>
          <a:xfrm>
            <a:off x="372168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0" name="Rectangle 16"/>
          <p:cNvSpPr/>
          <p:nvPr/>
        </p:nvSpPr>
        <p:spPr>
          <a:xfrm>
            <a:off x="384048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1" name="Rectangle 17"/>
          <p:cNvSpPr/>
          <p:nvPr/>
        </p:nvSpPr>
        <p:spPr>
          <a:xfrm>
            <a:off x="3840480" y="2011680"/>
            <a:ext cx="1507320" cy="71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2" name="TextBox 18"/>
          <p:cNvSpPr/>
          <p:nvPr/>
        </p:nvSpPr>
        <p:spPr>
          <a:xfrm>
            <a:off x="384048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3" name="TextBox 19"/>
          <p:cNvSpPr/>
          <p:nvPr/>
        </p:nvSpPr>
        <p:spPr>
          <a:xfrm>
            <a:off x="384048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4" name="TextBox 20"/>
          <p:cNvSpPr/>
          <p:nvPr/>
        </p:nvSpPr>
        <p:spPr>
          <a:xfrm>
            <a:off x="384048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Jest passe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5" name="TextBox 21"/>
          <p:cNvSpPr/>
          <p:nvPr/>
        </p:nvSpPr>
        <p:spPr>
          <a:xfrm>
            <a:off x="536760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6" name="Rectangle 22"/>
          <p:cNvSpPr/>
          <p:nvPr/>
        </p:nvSpPr>
        <p:spPr>
          <a:xfrm>
            <a:off x="548640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7" name="Rectangle 23"/>
          <p:cNvSpPr/>
          <p:nvPr/>
        </p:nvSpPr>
        <p:spPr>
          <a:xfrm>
            <a:off x="5486400" y="2011680"/>
            <a:ext cx="1507320" cy="71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8" name="TextBox 24"/>
          <p:cNvSpPr/>
          <p:nvPr/>
        </p:nvSpPr>
        <p:spPr>
          <a:xfrm>
            <a:off x="548640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9" name="TextBox 25"/>
          <p:cNvSpPr/>
          <p:nvPr/>
        </p:nvSpPr>
        <p:spPr>
          <a:xfrm>
            <a:off x="548640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0" name="TextBox 26"/>
          <p:cNvSpPr/>
          <p:nvPr/>
        </p:nvSpPr>
        <p:spPr>
          <a:xfrm>
            <a:off x="548640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next build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1" name="TextBox 27"/>
          <p:cNvSpPr/>
          <p:nvPr/>
        </p:nvSpPr>
        <p:spPr>
          <a:xfrm>
            <a:off x="701352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2" name="Rectangle 28"/>
          <p:cNvSpPr/>
          <p:nvPr/>
        </p:nvSpPr>
        <p:spPr>
          <a:xfrm>
            <a:off x="713232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3" name="Rectangle 29"/>
          <p:cNvSpPr/>
          <p:nvPr/>
        </p:nvSpPr>
        <p:spPr>
          <a:xfrm>
            <a:off x="7132320" y="2011680"/>
            <a:ext cx="1507320" cy="7164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4" name="TextBox 30"/>
          <p:cNvSpPr/>
          <p:nvPr/>
        </p:nvSpPr>
        <p:spPr>
          <a:xfrm>
            <a:off x="713232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5" name="TextBox 31"/>
          <p:cNvSpPr/>
          <p:nvPr/>
        </p:nvSpPr>
        <p:spPr>
          <a:xfrm>
            <a:off x="713232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deploy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6" name="TextBox 32"/>
          <p:cNvSpPr/>
          <p:nvPr/>
        </p:nvSpPr>
        <p:spPr>
          <a:xfrm>
            <a:off x="713232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Edge runtime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7" name="TextBox 33"/>
          <p:cNvSpPr/>
          <p:nvPr/>
        </p:nvSpPr>
        <p:spPr>
          <a:xfrm>
            <a:off x="865944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8" name="Rectangle 34"/>
          <p:cNvSpPr/>
          <p:nvPr/>
        </p:nvSpPr>
        <p:spPr>
          <a:xfrm>
            <a:off x="877824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9" name="Rectangle 35"/>
          <p:cNvSpPr/>
          <p:nvPr/>
        </p:nvSpPr>
        <p:spPr>
          <a:xfrm>
            <a:off x="8778240" y="2011680"/>
            <a:ext cx="1507320" cy="71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0" name="TextBox 36"/>
          <p:cNvSpPr/>
          <p:nvPr/>
        </p:nvSpPr>
        <p:spPr>
          <a:xfrm>
            <a:off x="877824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1" name="TextBox 37"/>
          <p:cNvSpPr/>
          <p:nvPr/>
        </p:nvSpPr>
        <p:spPr>
          <a:xfrm>
            <a:off x="877824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2" name="TextBox 38"/>
          <p:cNvSpPr/>
          <p:nvPr/>
        </p:nvSpPr>
        <p:spPr>
          <a:xfrm>
            <a:off x="877824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URL live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3" name="Rectangle 39"/>
          <p:cNvSpPr/>
          <p:nvPr/>
        </p:nvSpPr>
        <p:spPr>
          <a:xfrm>
            <a:off x="548640" y="3749040"/>
            <a:ext cx="6856560" cy="24674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4" name="Oval 40"/>
          <p:cNvSpPr/>
          <p:nvPr/>
        </p:nvSpPr>
        <p:spPr>
          <a:xfrm>
            <a:off x="777240" y="3931920"/>
            <a:ext cx="135720" cy="1357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5" name="Oval 41"/>
          <p:cNvSpPr/>
          <p:nvPr/>
        </p:nvSpPr>
        <p:spPr>
          <a:xfrm>
            <a:off x="960120" y="3931920"/>
            <a:ext cx="135720" cy="1357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6" name="Oval 42"/>
          <p:cNvSpPr/>
          <p:nvPr/>
        </p:nvSpPr>
        <p:spPr>
          <a:xfrm>
            <a:off x="1143000" y="3931920"/>
            <a:ext cx="135720" cy="1357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7" name="TextBox 43"/>
          <p:cNvSpPr/>
          <p:nvPr/>
        </p:nvSpPr>
        <p:spPr>
          <a:xfrm>
            <a:off x="1371600" y="3840480"/>
            <a:ext cx="5942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 — déclencheurs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8" name="TextBox 44"/>
          <p:cNvSpPr/>
          <p:nvPr/>
        </p:nvSpPr>
        <p:spPr>
          <a:xfrm>
            <a:off x="777240" y="429768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9" name="TextBox 45"/>
          <p:cNvSpPr/>
          <p:nvPr/>
        </p:nvSpPr>
        <p:spPr>
          <a:xfrm>
            <a:off x="777240" y="449892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0" name="TextBox 46"/>
          <p:cNvSpPr/>
          <p:nvPr/>
        </p:nvSpPr>
        <p:spPr>
          <a:xfrm>
            <a:off x="777240" y="470016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1" name="TextBox 47"/>
          <p:cNvSpPr/>
          <p:nvPr/>
        </p:nvSpPr>
        <p:spPr>
          <a:xfrm>
            <a:off x="777240" y="490104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2" name="TextBox 48"/>
          <p:cNvSpPr/>
          <p:nvPr/>
        </p:nvSpPr>
        <p:spPr>
          <a:xfrm>
            <a:off x="777240" y="510228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[main]              # auto-deploy sur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3" name="TextBox 49"/>
          <p:cNvSpPr/>
          <p:nvPr/>
        </p:nvSpPr>
        <p:spPr>
          <a:xfrm>
            <a:off x="777240" y="530352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                   # check sur PR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4" name="TextBox 50"/>
          <p:cNvSpPr/>
          <p:nvPr/>
        </p:nvSpPr>
        <p:spPr>
          <a:xfrm>
            <a:off x="777240" y="550476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5" name="TextBox 51"/>
          <p:cNvSpPr/>
          <p:nvPr/>
        </p:nvSpPr>
        <p:spPr>
          <a:xfrm>
            <a:off x="777240" y="570600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              # bouton manuel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6" name="Rectangle 52"/>
          <p:cNvSpPr/>
          <p:nvPr/>
        </p:nvSpPr>
        <p:spPr>
          <a:xfrm>
            <a:off x="8092440" y="3749040"/>
            <a:ext cx="3519000" cy="24674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7" name="TextBox 53"/>
          <p:cNvSpPr/>
          <p:nvPr/>
        </p:nvSpPr>
        <p:spPr>
          <a:xfrm>
            <a:off x="8275320" y="38404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Chiffres clés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8" name="Oval 54"/>
          <p:cNvSpPr/>
          <p:nvPr/>
        </p:nvSpPr>
        <p:spPr>
          <a:xfrm>
            <a:off x="8275320" y="429768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9" name="TextBox 55"/>
          <p:cNvSpPr/>
          <p:nvPr/>
        </p:nvSpPr>
        <p:spPr>
          <a:xfrm>
            <a:off x="8275320" y="4297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0" name="TextBox 56"/>
          <p:cNvSpPr/>
          <p:nvPr/>
        </p:nvSpPr>
        <p:spPr>
          <a:xfrm>
            <a:off x="8778240" y="42519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~2 min commit → preview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1" name="Oval 57"/>
          <p:cNvSpPr/>
          <p:nvPr/>
        </p:nvSpPr>
        <p:spPr>
          <a:xfrm>
            <a:off x="8275320" y="493776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2" name="TextBox 58"/>
          <p:cNvSpPr/>
          <p:nvPr/>
        </p:nvSpPr>
        <p:spPr>
          <a:xfrm>
            <a:off x="8275320" y="49377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3" name="TextBox 59"/>
          <p:cNvSpPr/>
          <p:nvPr/>
        </p:nvSpPr>
        <p:spPr>
          <a:xfrm>
            <a:off x="8778240" y="48920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bloquants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4" name="Oval 60"/>
          <p:cNvSpPr/>
          <p:nvPr/>
        </p:nvSpPr>
        <p:spPr>
          <a:xfrm>
            <a:off x="8275320" y="5577840"/>
            <a:ext cx="410040" cy="4100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5" name="TextBox 61"/>
          <p:cNvSpPr/>
          <p:nvPr/>
        </p:nvSpPr>
        <p:spPr>
          <a:xfrm>
            <a:off x="8275320" y="55778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6" name="TextBox 62"/>
          <p:cNvSpPr/>
          <p:nvPr/>
        </p:nvSpPr>
        <p:spPr>
          <a:xfrm>
            <a:off x="8778240" y="55321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preview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7" name="TextBox 6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8" name="TextBox 6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0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1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GitHub Actions — détail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3" name="Rectangle 4"/>
          <p:cNvSpPr/>
          <p:nvPr/>
        </p:nvSpPr>
        <p:spPr>
          <a:xfrm>
            <a:off x="548640" y="1691640"/>
            <a:ext cx="73137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4" name="Oval 5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5" name="Oval 6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6" name="Oval 7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7" name="TextBox 8"/>
          <p:cNvSpPr/>
          <p:nvPr/>
        </p:nvSpPr>
        <p:spPr>
          <a:xfrm>
            <a:off x="1371600" y="1783080"/>
            <a:ext cx="6399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9"/>
          <p:cNvSpPr/>
          <p:nvPr/>
        </p:nvSpPr>
        <p:spPr>
          <a:xfrm>
            <a:off x="777240" y="21945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9" name="TextBox 11"/>
          <p:cNvSpPr/>
          <p:nvPr/>
        </p:nvSpPr>
        <p:spPr>
          <a:xfrm>
            <a:off x="777240" y="23774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TextBox 12"/>
          <p:cNvSpPr/>
          <p:nvPr/>
        </p:nvSpPr>
        <p:spPr>
          <a:xfrm>
            <a:off x="777240" y="25603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push:        { branches: [main]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1" name="TextBox 13"/>
          <p:cNvSpPr/>
          <p:nvPr/>
        </p:nvSpPr>
        <p:spPr>
          <a:xfrm>
            <a:off x="777240" y="27432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2" name="TextBox 15"/>
          <p:cNvSpPr/>
          <p:nvPr/>
        </p:nvSpPr>
        <p:spPr>
          <a:xfrm>
            <a:off x="777240" y="29260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3" name="TextBox 16"/>
          <p:cNvSpPr/>
          <p:nvPr/>
        </p:nvSpPr>
        <p:spPr>
          <a:xfrm>
            <a:off x="777240" y="31089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TextBox 17"/>
          <p:cNvSpPr/>
          <p:nvPr/>
        </p:nvSpPr>
        <p:spPr>
          <a:xfrm>
            <a:off x="777240" y="32918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5" name="TextBox 18"/>
          <p:cNvSpPr/>
          <p:nvPr/>
        </p:nvSpPr>
        <p:spPr>
          <a:xfrm>
            <a:off x="777240" y="34747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timeout-minutes: 10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6" name="TextBox 20"/>
          <p:cNvSpPr/>
          <p:nvPr/>
        </p:nvSpPr>
        <p:spPr>
          <a:xfrm>
            <a:off x="777240" y="36576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  steps: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7" name="TextBox 21"/>
          <p:cNvSpPr/>
          <p:nvPr/>
        </p:nvSpPr>
        <p:spPr>
          <a:xfrm>
            <a:off x="777240" y="38404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actions/checkout@v4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8" name="TextBox 23"/>
          <p:cNvSpPr/>
          <p:nvPr/>
        </p:nvSpPr>
        <p:spPr>
          <a:xfrm>
            <a:off x="777240" y="40233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oven-sh/setup-bun@v1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9" name="TextBox 24"/>
          <p:cNvSpPr/>
          <p:nvPr/>
        </p:nvSpPr>
        <p:spPr>
          <a:xfrm>
            <a:off x="777240" y="42062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  with: { bun-version: '1'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0" name="TextBox 26"/>
          <p:cNvSpPr/>
          <p:nvPr/>
        </p:nvSpPr>
        <p:spPr>
          <a:xfrm>
            <a:off x="777240" y="43891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Install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1" name="TextBox 27"/>
          <p:cNvSpPr/>
          <p:nvPr/>
        </p:nvSpPr>
        <p:spPr>
          <a:xfrm>
            <a:off x="777240" y="45720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2" name="TextBox 29"/>
          <p:cNvSpPr/>
          <p:nvPr/>
        </p:nvSpPr>
        <p:spPr>
          <a:xfrm>
            <a:off x="777240" y="47548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3" name="TextBox 30"/>
          <p:cNvSpPr/>
          <p:nvPr/>
        </p:nvSpPr>
        <p:spPr>
          <a:xfrm>
            <a:off x="777240" y="49377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bunx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4" name="TextBox 32"/>
          <p:cNvSpPr/>
          <p:nvPr/>
        </p:nvSpPr>
        <p:spPr>
          <a:xfrm>
            <a:off x="777240" y="51206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5" name="TextBox 33"/>
          <p:cNvSpPr/>
          <p:nvPr/>
        </p:nvSpPr>
        <p:spPr>
          <a:xfrm>
            <a:off x="777240" y="53035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6" name="TextBox 35"/>
          <p:cNvSpPr/>
          <p:nvPr/>
        </p:nvSpPr>
        <p:spPr>
          <a:xfrm>
            <a:off x="777240" y="54864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Tests d'intégration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7" name="TextBox 36"/>
          <p:cNvSpPr/>
          <p:nvPr/>
        </p:nvSpPr>
        <p:spPr>
          <a:xfrm>
            <a:off x="777240" y="56692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8" name="TextBox 38"/>
          <p:cNvSpPr/>
          <p:nvPr/>
        </p:nvSpPr>
        <p:spPr>
          <a:xfrm>
            <a:off x="777240" y="58521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Build 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9" name="TextBox 39"/>
          <p:cNvSpPr/>
          <p:nvPr/>
        </p:nvSpPr>
        <p:spPr>
          <a:xfrm>
            <a:off x="777240" y="60350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0" name="Rectangle 40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1" name="TextBox 41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Que fait chaque étape 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2" name="Oval 42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3" name="TextBox 43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4" name="TextBox 44"/>
          <p:cNvSpPr/>
          <p:nvPr/>
        </p:nvSpPr>
        <p:spPr>
          <a:xfrm>
            <a:off x="8778240" y="21945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checkout : clone le repo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5" name="Oval 45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6" name="TextBox 46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7" name="TextBox 47"/>
          <p:cNvSpPr/>
          <p:nvPr/>
        </p:nvSpPr>
        <p:spPr>
          <a:xfrm>
            <a:off x="8778240" y="28346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setup-bun : runtime CI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8" name="Oval 48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9" name="TextBox 49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0" name="TextBox 50"/>
          <p:cNvSpPr/>
          <p:nvPr/>
        </p:nvSpPr>
        <p:spPr>
          <a:xfrm>
            <a:off x="8778240" y="34747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bun install : deps lockées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1" name="Oval 51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2" name="TextBox 52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3" name="TextBox 53"/>
          <p:cNvSpPr/>
          <p:nvPr/>
        </p:nvSpPr>
        <p:spPr>
          <a:xfrm>
            <a:off x="8778240" y="41148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generate : types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4" name="Oval 54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5" name="TextBox 55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6" name="TextBox 56"/>
          <p:cNvSpPr/>
          <p:nvPr/>
        </p:nvSpPr>
        <p:spPr>
          <a:xfrm>
            <a:off x="8778240" y="475488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: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7" name="Oval 57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8" name="TextBox 58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9" name="TextBox 59"/>
          <p:cNvSpPr/>
          <p:nvPr/>
        </p:nvSpPr>
        <p:spPr>
          <a:xfrm>
            <a:off x="8778240" y="53949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 : artefact .next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0" name="TextBox 6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1" name="TextBox 6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3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3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4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5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Triggers : 3 façons de déclencher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6" name="Rectangle 4"/>
          <p:cNvSpPr/>
          <p:nvPr/>
        </p:nvSpPr>
        <p:spPr>
          <a:xfrm>
            <a:off x="548640" y="1691640"/>
            <a:ext cx="36561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7" name="Rectangle 5"/>
          <p:cNvSpPr/>
          <p:nvPr/>
        </p:nvSpPr>
        <p:spPr>
          <a:xfrm>
            <a:off x="548640" y="1691640"/>
            <a:ext cx="3656160" cy="90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8" name="TextBox 6"/>
          <p:cNvSpPr/>
          <p:nvPr/>
        </p:nvSpPr>
        <p:spPr>
          <a:xfrm>
            <a:off x="731520" y="196596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⟳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9" name="TextBox 7"/>
          <p:cNvSpPr/>
          <p:nvPr/>
        </p:nvSpPr>
        <p:spPr>
          <a:xfrm>
            <a:off x="1508760" y="196596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push sur main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0" name="TextBox 8"/>
          <p:cNvSpPr/>
          <p:nvPr/>
        </p:nvSpPr>
        <p:spPr>
          <a:xfrm>
            <a:off x="1508760" y="2331720"/>
            <a:ext cx="2513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Merge d'une PR sur main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1" name="Rectangle 9"/>
          <p:cNvSpPr/>
          <p:nvPr/>
        </p:nvSpPr>
        <p:spPr>
          <a:xfrm>
            <a:off x="731520" y="2788920"/>
            <a:ext cx="3290400" cy="455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2" name="TextBox 10"/>
          <p:cNvSpPr/>
          <p:nvPr/>
        </p:nvSpPr>
        <p:spPr>
          <a:xfrm>
            <a:off x="822960" y="2853000"/>
            <a:ext cx="3107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complet + auto-deploy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3" name="TextBox 11"/>
          <p:cNvSpPr/>
          <p:nvPr/>
        </p:nvSpPr>
        <p:spPr>
          <a:xfrm>
            <a:off x="777240" y="352044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4" name="TextBox 12"/>
          <p:cNvSpPr/>
          <p:nvPr/>
        </p:nvSpPr>
        <p:spPr>
          <a:xfrm>
            <a:off x="777240" y="377640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5" name="TextBox 13"/>
          <p:cNvSpPr/>
          <p:nvPr/>
        </p:nvSpPr>
        <p:spPr>
          <a:xfrm>
            <a:off x="777240" y="403236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6" name="TextBox 14"/>
          <p:cNvSpPr/>
          <p:nvPr/>
        </p:nvSpPr>
        <p:spPr>
          <a:xfrm>
            <a:off x="777240" y="428868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-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7" name="TextBox 15"/>
          <p:cNvSpPr/>
          <p:nvPr/>
        </p:nvSpPr>
        <p:spPr>
          <a:xfrm>
            <a:off x="731520" y="49834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8" name="TextBox 16"/>
          <p:cNvSpPr/>
          <p:nvPr/>
        </p:nvSpPr>
        <p:spPr>
          <a:xfrm>
            <a:off x="73152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Déploiement auto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9" name="TextBox 17"/>
          <p:cNvSpPr/>
          <p:nvPr/>
        </p:nvSpPr>
        <p:spPr>
          <a:xfrm>
            <a:off x="731520" y="56235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en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0" name="Rectangle 18"/>
          <p:cNvSpPr/>
          <p:nvPr/>
        </p:nvSpPr>
        <p:spPr>
          <a:xfrm>
            <a:off x="4343400" y="1691640"/>
            <a:ext cx="36561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1" name="Rectangle 19"/>
          <p:cNvSpPr/>
          <p:nvPr/>
        </p:nvSpPr>
        <p:spPr>
          <a:xfrm>
            <a:off x="4343400" y="1691640"/>
            <a:ext cx="3656160" cy="9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2" name="TextBox 20"/>
          <p:cNvSpPr/>
          <p:nvPr/>
        </p:nvSpPr>
        <p:spPr>
          <a:xfrm>
            <a:off x="4526280" y="196596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⊕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3" name="TextBox 21"/>
          <p:cNvSpPr/>
          <p:nvPr/>
        </p:nvSpPr>
        <p:spPr>
          <a:xfrm>
            <a:off x="5303520" y="196596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pull_request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4" name="TextBox 22"/>
          <p:cNvSpPr/>
          <p:nvPr/>
        </p:nvSpPr>
        <p:spPr>
          <a:xfrm>
            <a:off x="5303520" y="2331720"/>
            <a:ext cx="2513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Ouverture / update d'une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5" name="Rectangle 23"/>
          <p:cNvSpPr/>
          <p:nvPr/>
        </p:nvSpPr>
        <p:spPr>
          <a:xfrm>
            <a:off x="4526280" y="2788920"/>
            <a:ext cx="3290400" cy="455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6" name="TextBox 24"/>
          <p:cNvSpPr/>
          <p:nvPr/>
        </p:nvSpPr>
        <p:spPr>
          <a:xfrm>
            <a:off x="4617720" y="2853000"/>
            <a:ext cx="3107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+ Preview Vercel + Neon branch isolée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7" name="TextBox 25"/>
          <p:cNvSpPr/>
          <p:nvPr/>
        </p:nvSpPr>
        <p:spPr>
          <a:xfrm>
            <a:off x="4572000" y="352044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8" name="TextBox 26"/>
          <p:cNvSpPr/>
          <p:nvPr/>
        </p:nvSpPr>
        <p:spPr>
          <a:xfrm>
            <a:off x="4572000" y="377640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9" name="TextBox 27"/>
          <p:cNvSpPr/>
          <p:nvPr/>
        </p:nvSpPr>
        <p:spPr>
          <a:xfrm>
            <a:off x="4572000" y="403236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0" name="TextBox 28"/>
          <p:cNvSpPr/>
          <p:nvPr/>
        </p:nvSpPr>
        <p:spPr>
          <a:xfrm>
            <a:off x="4572000" y="428868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types: [opened, synchronize]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1" name="TextBox 29"/>
          <p:cNvSpPr/>
          <p:nvPr/>
        </p:nvSpPr>
        <p:spPr>
          <a:xfrm>
            <a:off x="4526280" y="49834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2" name="TextBox 30"/>
          <p:cNvSpPr/>
          <p:nvPr/>
        </p:nvSpPr>
        <p:spPr>
          <a:xfrm>
            <a:off x="452628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Status check obligatoire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3" name="TextBox 31"/>
          <p:cNvSpPr/>
          <p:nvPr/>
        </p:nvSpPr>
        <p:spPr>
          <a:xfrm>
            <a:off x="4526280" y="56235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4" name="Rectangle 32"/>
          <p:cNvSpPr/>
          <p:nvPr/>
        </p:nvSpPr>
        <p:spPr>
          <a:xfrm>
            <a:off x="8138160" y="1691640"/>
            <a:ext cx="36561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5" name="Rectangle 33"/>
          <p:cNvSpPr/>
          <p:nvPr/>
        </p:nvSpPr>
        <p:spPr>
          <a:xfrm>
            <a:off x="8138160" y="1691640"/>
            <a:ext cx="3656160" cy="900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6" name="TextBox 34"/>
          <p:cNvSpPr/>
          <p:nvPr/>
        </p:nvSpPr>
        <p:spPr>
          <a:xfrm>
            <a:off x="8321040" y="196596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◉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7" name="TextBox 35"/>
          <p:cNvSpPr/>
          <p:nvPr/>
        </p:nvSpPr>
        <p:spPr>
          <a:xfrm>
            <a:off x="9098280" y="196596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workflow_dispatch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8" name="TextBox 36"/>
          <p:cNvSpPr/>
          <p:nvPr/>
        </p:nvSpPr>
        <p:spPr>
          <a:xfrm>
            <a:off x="9098280" y="2331720"/>
            <a:ext cx="2513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Bouton manuel dans GitHub 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9" name="Rectangle 37"/>
          <p:cNvSpPr/>
          <p:nvPr/>
        </p:nvSpPr>
        <p:spPr>
          <a:xfrm>
            <a:off x="8321040" y="2788920"/>
            <a:ext cx="3290400" cy="455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0" name="TextBox 38"/>
          <p:cNvSpPr/>
          <p:nvPr/>
        </p:nvSpPr>
        <p:spPr>
          <a:xfrm>
            <a:off x="8412480" y="2853000"/>
            <a:ext cx="3107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Rejeu d'un déploiement, debug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1" name="TextBox 39"/>
          <p:cNvSpPr/>
          <p:nvPr/>
        </p:nvSpPr>
        <p:spPr>
          <a:xfrm>
            <a:off x="8366760" y="352044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2" name="TextBox 40"/>
          <p:cNvSpPr/>
          <p:nvPr/>
        </p:nvSpPr>
        <p:spPr>
          <a:xfrm>
            <a:off x="8366760" y="377640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3" name="TextBox 41"/>
          <p:cNvSpPr/>
          <p:nvPr/>
        </p:nvSpPr>
        <p:spPr>
          <a:xfrm>
            <a:off x="8366760" y="403236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inputs: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4" name="TextBox 42"/>
          <p:cNvSpPr/>
          <p:nvPr/>
        </p:nvSpPr>
        <p:spPr>
          <a:xfrm>
            <a:off x="8366760" y="428868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env: { type: choice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5" name="TextBox 43"/>
          <p:cNvSpPr/>
          <p:nvPr/>
        </p:nvSpPr>
        <p:spPr>
          <a:xfrm>
            <a:off x="8321040" y="49834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6" name="TextBox 44"/>
          <p:cNvSpPr/>
          <p:nvPr/>
        </p:nvSpPr>
        <p:spPr>
          <a:xfrm>
            <a:off x="832104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Lancement manuel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7" name="TextBox 45"/>
          <p:cNvSpPr/>
          <p:nvPr/>
        </p:nvSpPr>
        <p:spPr>
          <a:xfrm>
            <a:off x="8321040" y="56235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pour rebuild d'urgence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8" name="TextBox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9" name="TextBox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Dockerfile — image applicative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4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5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6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7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8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9" name="Text 8"/>
          <p:cNvSpPr/>
          <p:nvPr/>
        </p:nvSpPr>
        <p:spPr>
          <a:xfrm>
            <a:off x="777240" y="22402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1 — deps (cache layer)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0" name="Text 9"/>
          <p:cNvSpPr/>
          <p:nvPr/>
        </p:nvSpPr>
        <p:spPr>
          <a:xfrm>
            <a:off x="777240" y="24141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1" name="Text 10"/>
          <p:cNvSpPr/>
          <p:nvPr/>
        </p:nvSpPr>
        <p:spPr>
          <a:xfrm>
            <a:off x="777240" y="25876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2" name="Text 11"/>
          <p:cNvSpPr/>
          <p:nvPr/>
        </p:nvSpPr>
        <p:spPr>
          <a:xfrm>
            <a:off x="777240" y="27615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3" name="Text 12"/>
          <p:cNvSpPr/>
          <p:nvPr/>
        </p:nvSpPr>
        <p:spPr>
          <a:xfrm>
            <a:off x="777240" y="29350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4" name="Text 13"/>
          <p:cNvSpPr/>
          <p:nvPr/>
        </p:nvSpPr>
        <p:spPr>
          <a:xfrm>
            <a:off x="777240" y="31089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5" name="Text 14"/>
          <p:cNvSpPr/>
          <p:nvPr/>
        </p:nvSpPr>
        <p:spPr>
          <a:xfrm>
            <a:off x="777240" y="32828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2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6" name="Text 15"/>
          <p:cNvSpPr/>
          <p:nvPr/>
        </p:nvSpPr>
        <p:spPr>
          <a:xfrm>
            <a:off x="777240" y="34563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7" name="Text 16"/>
          <p:cNvSpPr/>
          <p:nvPr/>
        </p:nvSpPr>
        <p:spPr>
          <a:xfrm>
            <a:off x="777240" y="36302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8" name="Text 17"/>
          <p:cNvSpPr/>
          <p:nvPr/>
        </p:nvSpPr>
        <p:spPr>
          <a:xfrm>
            <a:off x="777240" y="38037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--from=deps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9" name="Text 18"/>
          <p:cNvSpPr/>
          <p:nvPr/>
        </p:nvSpPr>
        <p:spPr>
          <a:xfrm>
            <a:off x="777240" y="39776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.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0" name="Text 19"/>
          <p:cNvSpPr/>
          <p:nvPr/>
        </p:nvSpPr>
        <p:spPr>
          <a:xfrm>
            <a:off x="777240" y="41515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bunx prisma generate &amp;&amp;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1" name="Text 20"/>
          <p:cNvSpPr/>
          <p:nvPr/>
        </p:nvSpPr>
        <p:spPr>
          <a:xfrm>
            <a:off x="777240" y="43250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2" name="Text 21"/>
          <p:cNvSpPr/>
          <p:nvPr/>
        </p:nvSpPr>
        <p:spPr>
          <a:xfrm>
            <a:off x="777240" y="44989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3 — runner (image légère)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3" name="Text 22"/>
          <p:cNvSpPr/>
          <p:nvPr/>
        </p:nvSpPr>
        <p:spPr>
          <a:xfrm>
            <a:off x="777240" y="46724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oven/bun:1-slim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4" name="Text 23"/>
          <p:cNvSpPr/>
          <p:nvPr/>
        </p:nvSpPr>
        <p:spPr>
          <a:xfrm>
            <a:off x="777240" y="48463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5" name="Text 24"/>
          <p:cNvSpPr/>
          <p:nvPr/>
        </p:nvSpPr>
        <p:spPr>
          <a:xfrm>
            <a:off x="777240" y="50202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ENV NODE_ENV=production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6" name="Text 25"/>
          <p:cNvSpPr/>
          <p:nvPr/>
        </p:nvSpPr>
        <p:spPr>
          <a:xfrm>
            <a:off x="777240" y="51937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7" name="Text 26"/>
          <p:cNvSpPr/>
          <p:nvPr/>
        </p:nvSpPr>
        <p:spPr>
          <a:xfrm>
            <a:off x="777240" y="53676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8" name="Text 27"/>
          <p:cNvSpPr/>
          <p:nvPr/>
        </p:nvSpPr>
        <p:spPr>
          <a:xfrm>
            <a:off x="777240" y="55411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/app/package.json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9" name="Text 28"/>
          <p:cNvSpPr/>
          <p:nvPr/>
        </p:nvSpPr>
        <p:spPr>
          <a:xfrm>
            <a:off x="777240" y="57150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0" name="Text 29"/>
          <p:cNvSpPr/>
          <p:nvPr/>
        </p:nvSpPr>
        <p:spPr>
          <a:xfrm>
            <a:off x="777240" y="58888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CMD ["bun", "run", "start"]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1" name="Shape 30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2" name="Text 31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Choix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3" name="Shape 32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4" name="Text 33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5" name="Text 34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Multi-stage : cache deps séparé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6" name="Shape 35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7" name="Text 36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8" name="Text 37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runtime (build &amp; run)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9" name="Shape 38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0" name="Text 39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1" name="Text 40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 avant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2" name="Shape 41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3" name="Text 42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4" name="Text 43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slim finale (~150 Mo)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5" name="Shape 44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6" name="Text 45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7" name="Text 46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secret dans l'image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8" name="Shape 47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9" name="Text 48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↗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0" name="Text 49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 3000 explicite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3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2" name="Text 5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3" name="Text 5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 — env local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7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8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9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0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1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docker-compose.yml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2" name="Text 8"/>
          <p:cNvSpPr/>
          <p:nvPr/>
        </p:nvSpPr>
        <p:spPr>
          <a:xfrm>
            <a:off x="777240" y="22402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services: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3" name="Text 9"/>
          <p:cNvSpPr/>
          <p:nvPr/>
        </p:nvSpPr>
        <p:spPr>
          <a:xfrm>
            <a:off x="777240" y="24141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app: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4" name="Text 10"/>
          <p:cNvSpPr/>
          <p:nvPr/>
        </p:nvSpPr>
        <p:spPr>
          <a:xfrm>
            <a:off x="777240" y="25876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build: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5" name="Text 11"/>
          <p:cNvSpPr/>
          <p:nvPr/>
        </p:nvSpPr>
        <p:spPr>
          <a:xfrm>
            <a:off x="777240" y="27615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ports: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6" name="Text 12"/>
          <p:cNvSpPr/>
          <p:nvPr/>
        </p:nvSpPr>
        <p:spPr>
          <a:xfrm>
            <a:off x="777240" y="29350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- "3000:3000"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7" name="Text 13"/>
          <p:cNvSpPr/>
          <p:nvPr/>
        </p:nvSpPr>
        <p:spPr>
          <a:xfrm>
            <a:off x="777240" y="31089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8" name="Text 14"/>
          <p:cNvSpPr/>
          <p:nvPr/>
        </p:nvSpPr>
        <p:spPr>
          <a:xfrm>
            <a:off x="777240" y="32828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DATABASE_URL: postgresql://postgres:postgres@db:5432/social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9" name="Text 15"/>
          <p:cNvSpPr/>
          <p:nvPr/>
        </p:nvSpPr>
        <p:spPr>
          <a:xfrm>
            <a:off x="777240" y="34563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REDIS_URL: Upstash Redis REST (UPSTASH_REDIS_REST_URL)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0" name="Text 16"/>
          <p:cNvSpPr/>
          <p:nvPr/>
        </p:nvSpPr>
        <p:spPr>
          <a:xfrm>
            <a:off x="777240" y="36302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JWT_SECRET: ${JWT_SECRET}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1" name="Text 17"/>
          <p:cNvSpPr/>
          <p:nvPr/>
        </p:nvSpPr>
        <p:spPr>
          <a:xfrm>
            <a:off x="777240" y="38037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depends_on: [db, redis]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2" name="Text 18"/>
          <p:cNvSpPr/>
          <p:nvPr/>
        </p:nvSpPr>
        <p:spPr>
          <a:xfrm>
            <a:off x="777240" y="39776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3" name="Text 19"/>
          <p:cNvSpPr/>
          <p:nvPr/>
        </p:nvSpPr>
        <p:spPr>
          <a:xfrm>
            <a:off x="777240" y="41515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db: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4" name="Text 20"/>
          <p:cNvSpPr/>
          <p:nvPr/>
        </p:nvSpPr>
        <p:spPr>
          <a:xfrm>
            <a:off x="777240" y="43250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postgres:16-alpine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5" name="Text 21"/>
          <p:cNvSpPr/>
          <p:nvPr/>
        </p:nvSpPr>
        <p:spPr>
          <a:xfrm>
            <a:off x="777240" y="44989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["5432:5432"]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6" name="Text 22"/>
          <p:cNvSpPr/>
          <p:nvPr/>
        </p:nvSpPr>
        <p:spPr>
          <a:xfrm>
            <a:off x="777240" y="46724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7" name="Text 23"/>
          <p:cNvSpPr/>
          <p:nvPr/>
        </p:nvSpPr>
        <p:spPr>
          <a:xfrm>
            <a:off x="777240" y="48463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POSTGRES_DB: social-network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8" name="Text 24"/>
          <p:cNvSpPr/>
          <p:nvPr/>
        </p:nvSpPr>
        <p:spPr>
          <a:xfrm>
            <a:off x="777240" y="50202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POSTGRES_USER: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9" name="Text 25"/>
          <p:cNvSpPr/>
          <p:nvPr/>
        </p:nvSpPr>
        <p:spPr>
          <a:xfrm>
            <a:off x="777240" y="51937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POSTGRES_PASSWORD: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0" name="Text 26"/>
          <p:cNvSpPr/>
          <p:nvPr/>
        </p:nvSpPr>
        <p:spPr>
          <a:xfrm>
            <a:off x="777240" y="53676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1" name="Text 27"/>
          <p:cNvSpPr/>
          <p:nvPr/>
        </p:nvSpPr>
        <p:spPr>
          <a:xfrm>
            <a:off x="777240" y="55411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redis: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 28"/>
          <p:cNvSpPr/>
          <p:nvPr/>
        </p:nvSpPr>
        <p:spPr>
          <a:xfrm>
            <a:off x="777240" y="57150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redis:7-alpine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3" name="Text 29"/>
          <p:cNvSpPr/>
          <p:nvPr/>
        </p:nvSpPr>
        <p:spPr>
          <a:xfrm>
            <a:off x="777240" y="58888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["6379:6379"]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4" name="Shape 30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5" name="Text 31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Pourquoi compose 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6" name="Shape 32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7" name="Text 33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8" name="Text 34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Reproduit prod en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9" name="Shape 35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0" name="Text 36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1" name="Text 37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DB + Redis + App orchestrés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2" name="Shape 38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3" name="Text 39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4" name="Text 40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depends_on respecté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5" name="Shape 41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6" name="Text 42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7" name="Text 43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Variables d'env via .env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8" name="Shape 44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9" name="Text 45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0" name="Text 46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 up = ready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1" name="Shape 47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2" name="Text 48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3" name="Text 49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dev (hot reload)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8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5" name="Text 5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6" name="Text 5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8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 · Vercel + Neon + Upstash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9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0" name="Shape 3"/>
          <p:cNvSpPr/>
          <p:nvPr/>
        </p:nvSpPr>
        <p:spPr>
          <a:xfrm>
            <a:off x="480240" y="1691640"/>
            <a:ext cx="3701880" cy="42048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1" name="Shape 4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2" name="Text 5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DÉVELOPPEMENT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3" name="Shape 6"/>
          <p:cNvSpPr/>
          <p:nvPr/>
        </p:nvSpPr>
        <p:spPr>
          <a:xfrm>
            <a:off x="708840" y="233172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4" name="Text 7"/>
          <p:cNvSpPr/>
          <p:nvPr/>
        </p:nvSpPr>
        <p:spPr>
          <a:xfrm>
            <a:off x="708840" y="2331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5" name="Text 8"/>
          <p:cNvSpPr/>
          <p:nvPr/>
        </p:nvSpPr>
        <p:spPr>
          <a:xfrm>
            <a:off x="1348920" y="2331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6" name="Text 9"/>
          <p:cNvSpPr/>
          <p:nvPr/>
        </p:nvSpPr>
        <p:spPr>
          <a:xfrm>
            <a:off x="1348920" y="2651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 + Redis + App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7" name="Shape 10"/>
          <p:cNvSpPr/>
          <p:nvPr/>
        </p:nvSpPr>
        <p:spPr>
          <a:xfrm>
            <a:off x="708840" y="347472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8" name="Text 11"/>
          <p:cNvSpPr/>
          <p:nvPr/>
        </p:nvSpPr>
        <p:spPr>
          <a:xfrm>
            <a:off x="708840" y="3474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9" name="Text 12"/>
          <p:cNvSpPr/>
          <p:nvPr/>
        </p:nvSpPr>
        <p:spPr>
          <a:xfrm>
            <a:off x="1348920" y="3474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+ hot 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0" name="Text 13"/>
          <p:cNvSpPr/>
          <p:nvPr/>
        </p:nvSpPr>
        <p:spPr>
          <a:xfrm>
            <a:off x="1348920" y="3794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dev profil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1" name="Shape 14"/>
          <p:cNvSpPr/>
          <p:nvPr/>
        </p:nvSpPr>
        <p:spPr>
          <a:xfrm>
            <a:off x="708840" y="461772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2" name="Text 15"/>
          <p:cNvSpPr/>
          <p:nvPr/>
        </p:nvSpPr>
        <p:spPr>
          <a:xfrm>
            <a:off x="708840" y="4617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3" name="Text 16"/>
          <p:cNvSpPr/>
          <p:nvPr/>
        </p:nvSpPr>
        <p:spPr>
          <a:xfrm>
            <a:off x="1348920" y="4617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auto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4" name="Text 17"/>
          <p:cNvSpPr/>
          <p:nvPr/>
        </p:nvSpPr>
        <p:spPr>
          <a:xfrm>
            <a:off x="1348920" y="4937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migrate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5" name="Shape 18"/>
          <p:cNvSpPr/>
          <p:nvPr/>
        </p:nvSpPr>
        <p:spPr>
          <a:xfrm>
            <a:off x="415584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6" name="Shape 19"/>
          <p:cNvSpPr/>
          <p:nvPr/>
        </p:nvSpPr>
        <p:spPr>
          <a:xfrm>
            <a:off x="4229280" y="1691640"/>
            <a:ext cx="3701880" cy="42048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7" name="Shape 20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8" name="Text 21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PRÉ-PROD / CI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9" name="Shape 22"/>
          <p:cNvSpPr/>
          <p:nvPr/>
        </p:nvSpPr>
        <p:spPr>
          <a:xfrm>
            <a:off x="4457880" y="233172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0" name="Text 23"/>
          <p:cNvSpPr/>
          <p:nvPr/>
        </p:nvSpPr>
        <p:spPr>
          <a:xfrm>
            <a:off x="4457880" y="2331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1" name="Text 24"/>
          <p:cNvSpPr/>
          <p:nvPr/>
        </p:nvSpPr>
        <p:spPr>
          <a:xfrm>
            <a:off x="5097960" y="2331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2" name="Text 25"/>
          <p:cNvSpPr/>
          <p:nvPr/>
        </p:nvSpPr>
        <p:spPr>
          <a:xfrm>
            <a:off x="5097960" y="2651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3" name="Shape 26"/>
          <p:cNvSpPr/>
          <p:nvPr/>
        </p:nvSpPr>
        <p:spPr>
          <a:xfrm>
            <a:off x="4457880" y="347472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4" name="Text 27"/>
          <p:cNvSpPr/>
          <p:nvPr/>
        </p:nvSpPr>
        <p:spPr>
          <a:xfrm>
            <a:off x="4457880" y="3474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❀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5" name="Text 28"/>
          <p:cNvSpPr/>
          <p:nvPr/>
        </p:nvSpPr>
        <p:spPr>
          <a:xfrm>
            <a:off x="5097960" y="3474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Preview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6" name="Text 29"/>
          <p:cNvSpPr/>
          <p:nvPr/>
        </p:nvSpPr>
        <p:spPr>
          <a:xfrm>
            <a:off x="5097960" y="3794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URL unique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7" name="Shape 30"/>
          <p:cNvSpPr/>
          <p:nvPr/>
        </p:nvSpPr>
        <p:spPr>
          <a:xfrm>
            <a:off x="4457880" y="461772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8" name="Text 31"/>
          <p:cNvSpPr/>
          <p:nvPr/>
        </p:nvSpPr>
        <p:spPr>
          <a:xfrm>
            <a:off x="4457880" y="4617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9" name="Text 32"/>
          <p:cNvSpPr/>
          <p:nvPr/>
        </p:nvSpPr>
        <p:spPr>
          <a:xfrm>
            <a:off x="5097960" y="4617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Branching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0" name="Text 33"/>
          <p:cNvSpPr/>
          <p:nvPr/>
        </p:nvSpPr>
        <p:spPr>
          <a:xfrm>
            <a:off x="5097960" y="4937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1" name="Shape 34"/>
          <p:cNvSpPr/>
          <p:nvPr/>
        </p:nvSpPr>
        <p:spPr>
          <a:xfrm>
            <a:off x="790488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2" name="Shape 35"/>
          <p:cNvSpPr/>
          <p:nvPr/>
        </p:nvSpPr>
        <p:spPr>
          <a:xfrm>
            <a:off x="7978320" y="1691640"/>
            <a:ext cx="3701880" cy="42048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3" name="Shape 36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4" name="Text 37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5" name="Shape 38"/>
          <p:cNvSpPr/>
          <p:nvPr/>
        </p:nvSpPr>
        <p:spPr>
          <a:xfrm>
            <a:off x="8206920" y="2331720"/>
            <a:ext cx="547200" cy="54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6" name="Text 39"/>
          <p:cNvSpPr/>
          <p:nvPr/>
        </p:nvSpPr>
        <p:spPr>
          <a:xfrm>
            <a:off x="8206920" y="2331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7" name="Text 40"/>
          <p:cNvSpPr/>
          <p:nvPr/>
        </p:nvSpPr>
        <p:spPr>
          <a:xfrm>
            <a:off x="8847000" y="2331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8" name="Text 41"/>
          <p:cNvSpPr/>
          <p:nvPr/>
        </p:nvSpPr>
        <p:spPr>
          <a:xfrm>
            <a:off x="8847000" y="2651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+ edge functions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9" name="Shape 42"/>
          <p:cNvSpPr/>
          <p:nvPr/>
        </p:nvSpPr>
        <p:spPr>
          <a:xfrm>
            <a:off x="8206920" y="3474720"/>
            <a:ext cx="547200" cy="54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0" name="Text 43"/>
          <p:cNvSpPr/>
          <p:nvPr/>
        </p:nvSpPr>
        <p:spPr>
          <a:xfrm>
            <a:off x="8206920" y="3474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1" name="Text 44"/>
          <p:cNvSpPr/>
          <p:nvPr/>
        </p:nvSpPr>
        <p:spPr>
          <a:xfrm>
            <a:off x="8847000" y="3474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2" name="Text 45"/>
          <p:cNvSpPr/>
          <p:nvPr/>
        </p:nvSpPr>
        <p:spPr>
          <a:xfrm>
            <a:off x="8847000" y="3794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Branches main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3" name="Shape 46"/>
          <p:cNvSpPr/>
          <p:nvPr/>
        </p:nvSpPr>
        <p:spPr>
          <a:xfrm>
            <a:off x="8206920" y="4617720"/>
            <a:ext cx="547200" cy="54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4" name="Text 47"/>
          <p:cNvSpPr/>
          <p:nvPr/>
        </p:nvSpPr>
        <p:spPr>
          <a:xfrm>
            <a:off x="8206920" y="4617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5" name="Text 48"/>
          <p:cNvSpPr/>
          <p:nvPr/>
        </p:nvSpPr>
        <p:spPr>
          <a:xfrm>
            <a:off x="8847000" y="4617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6" name="Text 49"/>
          <p:cNvSpPr/>
          <p:nvPr/>
        </p:nvSpPr>
        <p:spPr>
          <a:xfrm>
            <a:off x="8847000" y="4937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· pay-as-you-go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7" name="Shape 50"/>
          <p:cNvSpPr/>
          <p:nvPr/>
        </p:nvSpPr>
        <p:spPr>
          <a:xfrm>
            <a:off x="548640" y="6035040"/>
            <a:ext cx="11062800" cy="27288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8" name="Text 51"/>
          <p:cNvSpPr/>
          <p:nvPr/>
        </p:nvSpPr>
        <p:spPr>
          <a:xfrm>
            <a:off x="777240" y="6035040"/>
            <a:ext cx="10605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Rollback Vercel one-click · Healthcheck applicatif · Secrets via env vars (jamais committés) · SSL automatique.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3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0" name="Text 52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1" name="Text 53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5" name="Shape 3"/>
          <p:cNvSpPr/>
          <p:nvPr/>
        </p:nvSpPr>
        <p:spPr>
          <a:xfrm>
            <a:off x="548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6" name="Text 4"/>
          <p:cNvSpPr/>
          <p:nvPr/>
        </p:nvSpPr>
        <p:spPr>
          <a:xfrm>
            <a:off x="731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Sources suivies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7" name="Text 5"/>
          <p:cNvSpPr/>
          <p:nvPr/>
        </p:nvSpPr>
        <p:spPr>
          <a:xfrm>
            <a:off x="777240" y="224028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8" name="Text 6"/>
          <p:cNvSpPr/>
          <p:nvPr/>
        </p:nvSpPr>
        <p:spPr>
          <a:xfrm>
            <a:off x="1280160" y="224028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Blog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9" name="Text 7"/>
          <p:cNvSpPr/>
          <p:nvPr/>
        </p:nvSpPr>
        <p:spPr>
          <a:xfrm>
            <a:off x="1280160" y="251460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Annonces Next.js,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0" name="Text 8"/>
          <p:cNvSpPr/>
          <p:nvPr/>
        </p:nvSpPr>
        <p:spPr>
          <a:xfrm>
            <a:off x="777240" y="288036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1" name="Text 9"/>
          <p:cNvSpPr/>
          <p:nvPr/>
        </p:nvSpPr>
        <p:spPr>
          <a:xfrm>
            <a:off x="1280160" y="288036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Docs (canary)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2" name="Text 10"/>
          <p:cNvSpPr/>
          <p:nvPr/>
        </p:nvSpPr>
        <p:spPr>
          <a:xfrm>
            <a:off x="1280160" y="315468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3" name="Text 11"/>
          <p:cNvSpPr/>
          <p:nvPr/>
        </p:nvSpPr>
        <p:spPr>
          <a:xfrm>
            <a:off x="777240" y="352044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4" name="Text 12"/>
          <p:cNvSpPr/>
          <p:nvPr/>
        </p:nvSpPr>
        <p:spPr>
          <a:xfrm>
            <a:off x="1280160" y="352044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Cheat Sheets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5" name="Text 13"/>
          <p:cNvSpPr/>
          <p:nvPr/>
        </p:nvSpPr>
        <p:spPr>
          <a:xfrm>
            <a:off x="1280160" y="379476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6" name="Text 14"/>
          <p:cNvSpPr/>
          <p:nvPr/>
        </p:nvSpPr>
        <p:spPr>
          <a:xfrm>
            <a:off x="777240" y="416052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7" name="Text 15"/>
          <p:cNvSpPr/>
          <p:nvPr/>
        </p:nvSpPr>
        <p:spPr>
          <a:xfrm>
            <a:off x="1280160" y="416052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RFC / WHATWG specs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8" name="Text 16"/>
          <p:cNvSpPr/>
          <p:nvPr/>
        </p:nvSpPr>
        <p:spPr>
          <a:xfrm>
            <a:off x="1280160" y="443484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HTTP, cookies,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9" name="Text 17"/>
          <p:cNvSpPr/>
          <p:nvPr/>
        </p:nvSpPr>
        <p:spPr>
          <a:xfrm>
            <a:off x="777240" y="480060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0" name="Text 18"/>
          <p:cNvSpPr/>
          <p:nvPr/>
        </p:nvSpPr>
        <p:spPr>
          <a:xfrm>
            <a:off x="1280160" y="480060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Twitter dev community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1" name="Text 19"/>
          <p:cNvSpPr/>
          <p:nvPr/>
        </p:nvSpPr>
        <p:spPr>
          <a:xfrm>
            <a:off x="1280160" y="507492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Theo, Lee Robinson, Dan Abramov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2" name="Text 20"/>
          <p:cNvSpPr/>
          <p:nvPr/>
        </p:nvSpPr>
        <p:spPr>
          <a:xfrm>
            <a:off x="777240" y="544068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3" name="Text 21"/>
          <p:cNvSpPr/>
          <p:nvPr/>
        </p:nvSpPr>
        <p:spPr>
          <a:xfrm>
            <a:off x="1280160" y="544068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YouTube — Theo, Fireship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4" name="Text 22"/>
          <p:cNvSpPr/>
          <p:nvPr/>
        </p:nvSpPr>
        <p:spPr>
          <a:xfrm>
            <a:off x="1280160" y="571500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Synthèses &amp; démos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5" name="Shape 23"/>
          <p:cNvSpPr/>
          <p:nvPr/>
        </p:nvSpPr>
        <p:spPr>
          <a:xfrm>
            <a:off x="6263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6" name="Text 24"/>
          <p:cNvSpPr/>
          <p:nvPr/>
        </p:nvSpPr>
        <p:spPr>
          <a:xfrm>
            <a:off x="6446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7" name="Shape 25"/>
          <p:cNvSpPr/>
          <p:nvPr/>
        </p:nvSpPr>
        <p:spPr>
          <a:xfrm>
            <a:off x="6446520" y="224028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8" name="Text 26"/>
          <p:cNvSpPr/>
          <p:nvPr/>
        </p:nvSpPr>
        <p:spPr>
          <a:xfrm>
            <a:off x="6446520" y="224028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9" name="Text 27"/>
          <p:cNvSpPr/>
          <p:nvPr/>
        </p:nvSpPr>
        <p:spPr>
          <a:xfrm>
            <a:off x="7040880" y="224028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0" name="Text 28"/>
          <p:cNvSpPr/>
          <p:nvPr/>
        </p:nvSpPr>
        <p:spPr>
          <a:xfrm>
            <a:off x="7040880" y="251460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Critère : signal-to-noise élevé, sources primaires d'abord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1" name="Shape 29"/>
          <p:cNvSpPr/>
          <p:nvPr/>
        </p:nvSpPr>
        <p:spPr>
          <a:xfrm>
            <a:off x="6446520" y="301752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72" name="Text 30"/>
          <p:cNvSpPr/>
          <p:nvPr/>
        </p:nvSpPr>
        <p:spPr>
          <a:xfrm>
            <a:off x="6446520" y="301752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3" name="Text 31"/>
          <p:cNvSpPr/>
          <p:nvPr/>
        </p:nvSpPr>
        <p:spPr>
          <a:xfrm>
            <a:off x="7040880" y="301752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4" name="Text 32"/>
          <p:cNvSpPr/>
          <p:nvPr/>
        </p:nvSpPr>
        <p:spPr>
          <a:xfrm>
            <a:off x="7040880" y="329184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30 min / matin, Pocket pour le offline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5" name="Shape 33"/>
          <p:cNvSpPr/>
          <p:nvPr/>
        </p:nvSpPr>
        <p:spPr>
          <a:xfrm>
            <a:off x="6446520" y="379476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76" name="Text 34"/>
          <p:cNvSpPr/>
          <p:nvPr/>
        </p:nvSpPr>
        <p:spPr>
          <a:xfrm>
            <a:off x="6446520" y="379476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7" name="Text 35"/>
          <p:cNvSpPr/>
          <p:nvPr/>
        </p:nvSpPr>
        <p:spPr>
          <a:xfrm>
            <a:off x="7040880" y="379476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8" name="Text 36"/>
          <p:cNvSpPr/>
          <p:nvPr/>
        </p:nvSpPr>
        <p:spPr>
          <a:xfrm>
            <a:off x="7040880" y="406908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Petite preuve de concept si la techno entre dans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9" name="Shape 37"/>
          <p:cNvSpPr/>
          <p:nvPr/>
        </p:nvSpPr>
        <p:spPr>
          <a:xfrm>
            <a:off x="6446520" y="457200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0" name="Text 38"/>
          <p:cNvSpPr/>
          <p:nvPr/>
        </p:nvSpPr>
        <p:spPr>
          <a:xfrm>
            <a:off x="6446520" y="457200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1" name="Text 39"/>
          <p:cNvSpPr/>
          <p:nvPr/>
        </p:nvSpPr>
        <p:spPr>
          <a:xfrm>
            <a:off x="7040880" y="457200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2" name="Text 40"/>
          <p:cNvSpPr/>
          <p:nvPr/>
        </p:nvSpPr>
        <p:spPr>
          <a:xfrm>
            <a:off x="7040880" y="484632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Notes dans Obsidian, lien vers la source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3" name="Shape 41"/>
          <p:cNvSpPr/>
          <p:nvPr/>
        </p:nvSpPr>
        <p:spPr>
          <a:xfrm>
            <a:off x="6446520" y="534924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4" name="Text 42"/>
          <p:cNvSpPr/>
          <p:nvPr/>
        </p:nvSpPr>
        <p:spPr>
          <a:xfrm>
            <a:off x="6446520" y="534924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5" name="Text 43"/>
          <p:cNvSpPr/>
          <p:nvPr/>
        </p:nvSpPr>
        <p:spPr>
          <a:xfrm>
            <a:off x="7040880" y="534924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6" name="Text 44"/>
          <p:cNvSpPr/>
          <p:nvPr/>
        </p:nvSpPr>
        <p:spPr>
          <a:xfrm>
            <a:off x="7040880" y="562356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Discussion équipe sur les choix structurants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8" name="Text 4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9" name="Text 4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du projet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3" name="Shape 3"/>
          <p:cNvSpPr/>
          <p:nvPr/>
        </p:nvSpPr>
        <p:spPr>
          <a:xfrm>
            <a:off x="54864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4" name="Text 4"/>
          <p:cNvSpPr/>
          <p:nvPr/>
        </p:nvSpPr>
        <p:spPr>
          <a:xfrm>
            <a:off x="54864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5" name="Text 5"/>
          <p:cNvSpPr/>
          <p:nvPr/>
        </p:nvSpPr>
        <p:spPr>
          <a:xfrm>
            <a:off x="54864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6" name="Shape 6"/>
          <p:cNvSpPr/>
          <p:nvPr/>
        </p:nvSpPr>
        <p:spPr>
          <a:xfrm>
            <a:off x="338328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7" name="Text 7"/>
          <p:cNvSpPr/>
          <p:nvPr/>
        </p:nvSpPr>
        <p:spPr>
          <a:xfrm>
            <a:off x="338328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8" name="Text 8"/>
          <p:cNvSpPr/>
          <p:nvPr/>
        </p:nvSpPr>
        <p:spPr>
          <a:xfrm>
            <a:off x="338328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9" name="Shape 9"/>
          <p:cNvSpPr/>
          <p:nvPr/>
        </p:nvSpPr>
        <p:spPr>
          <a:xfrm>
            <a:off x="621792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0" name="Text 10"/>
          <p:cNvSpPr/>
          <p:nvPr/>
        </p:nvSpPr>
        <p:spPr>
          <a:xfrm>
            <a:off x="621792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12+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1" name="Text 11"/>
          <p:cNvSpPr/>
          <p:nvPr/>
        </p:nvSpPr>
        <p:spPr>
          <a:xfrm>
            <a:off x="621792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2" name="Shape 12"/>
          <p:cNvSpPr/>
          <p:nvPr/>
        </p:nvSpPr>
        <p:spPr>
          <a:xfrm>
            <a:off x="905256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3" name="Text 13"/>
          <p:cNvSpPr/>
          <p:nvPr/>
        </p:nvSpPr>
        <p:spPr>
          <a:xfrm>
            <a:off x="905256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4" name="Text 14"/>
          <p:cNvSpPr/>
          <p:nvPr/>
        </p:nvSpPr>
        <p:spPr>
          <a:xfrm>
            <a:off x="905256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5" name="Text 15"/>
          <p:cNvSpPr/>
          <p:nvPr/>
        </p:nvSpPr>
        <p:spPr>
          <a:xfrm>
            <a:off x="548640" y="3611880"/>
            <a:ext cx="109713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Répartition des features livrées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6" name="Shape 16"/>
          <p:cNvSpPr/>
          <p:nvPr/>
        </p:nvSpPr>
        <p:spPr>
          <a:xfrm>
            <a:off x="548640" y="3977640"/>
            <a:ext cx="5530680" cy="233028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207" name="Chart 0"/>
          <p:cNvGraphicFramePr/>
          <p:nvPr/>
        </p:nvGraphicFramePr>
        <p:xfrm>
          <a:off x="640080" y="4069080"/>
          <a:ext cx="5347800" cy="214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208" name="Shape 17"/>
          <p:cNvSpPr/>
          <p:nvPr/>
        </p:nvSpPr>
        <p:spPr>
          <a:xfrm>
            <a:off x="6263640" y="3977640"/>
            <a:ext cx="5530680" cy="233028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9" name="Text 18"/>
          <p:cNvSpPr/>
          <p:nvPr/>
        </p:nvSpPr>
        <p:spPr>
          <a:xfrm>
            <a:off x="6400800" y="4069080"/>
            <a:ext cx="53478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Charge de travail par phase (jours)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10" name="Chart 1"/>
          <p:cNvGraphicFramePr/>
          <p:nvPr/>
        </p:nvGraphicFramePr>
        <p:xfrm>
          <a:off x="6400800" y="4343400"/>
          <a:ext cx="5210640" cy="187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211" name="Image 0" descr="/sessions/sweet-funny-newton/mnt/outputs/build/assets/konekt-logo.png"/>
          <p:cNvPicPr/>
          <p:nvPr/>
        </p:nvPicPr>
        <p:blipFill>
          <a:blip r:embed="rId3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2" name="Text 19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3" name="Text 20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7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8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BC01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9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0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1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2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3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Concevoir, développer et tester une application en intégrant les principes de sécurité dès la phase de conception.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4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5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6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7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Maquetter une 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8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Wireframes + mockups 6 pages principales, design system Konekt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9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0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1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interface utilisateur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2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Router, React Server Components, Tailwind + shadcn/ui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3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4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5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réutilisables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6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Button, Avatar, Card, Dialog, Input — bibliothèque cohérente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7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8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9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Intégrer la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0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JWT signé (jose), bcrypt cost 12, cookies HttpOnly, validation Zod, OWASP Top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1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2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3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4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5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6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7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8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9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Audit RGPD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1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2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la persistance des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6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7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BC02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8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9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0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1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2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Modéliser une base de données relationnelle, écrire les requêtes optimisées et garantir l'intégrité.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3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4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5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6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Analyser le besoin et concevoir un MCD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7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43 user stories → 18 entités identifiées, cardinalités explicites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8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9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0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base relationnelle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1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PostgreSQL Neon, 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2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3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4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d'accès aux données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5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ORM type-safe, 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6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7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8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l'intégrité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9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PK, FK, UNIQUE composées (réactions), ENUM métier, cascades maîtrisées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0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1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2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MCD / MLD / MPD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3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4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18 modèles Prisma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5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6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7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8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7 enums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8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0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1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une application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5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6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7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8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9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0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1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Construire une application répartie front + back avec une logique métier propre, des API et du temps réel.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2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3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4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5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6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Présentation → Métier → Persistance → Infrastructure, frontières claires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7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8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9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front-end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0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Router, Server Components, hooks personnalisés (use-real-time-chat…)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1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2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3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back-end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4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Route Handlers REST + SSE, Server Actions, validation Zod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5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6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7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8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Server-Sent Events + Upstash Redis (compatible serverless Vercel)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9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0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1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20+ endpoints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2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3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Architecture 4 couches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4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5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Push SSE temps réel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6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7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2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9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0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le déploiement d'une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4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5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6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7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8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9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0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chaîne CI/CD complète, conteneuriser et déployer en environnement de production sécurisé.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1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2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3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4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et documenter le déploiement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5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Dockerfile multi-stage, docker-compose, variables d'env documentées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6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7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8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Contribuer à la mise en production 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9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GitHub Actions : lint + test + build + deploy, secrets cloisonnés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0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1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2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Industrialiser la livraison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3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(preview par PR + prod), Neon branching pour 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4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5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6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l'exploitabilité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7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Healthcheck, rollback Vercel one-click, logs structurés,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8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9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0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1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2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CI/CD GitHub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3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4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5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6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Rollback + monitoring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8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9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Difficultés rencontrées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3" name="Shape 3"/>
          <p:cNvSpPr/>
          <p:nvPr/>
        </p:nvSpPr>
        <p:spPr>
          <a:xfrm>
            <a:off x="54864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4" name="Shape 4"/>
          <p:cNvSpPr/>
          <p:nvPr/>
        </p:nvSpPr>
        <p:spPr>
          <a:xfrm>
            <a:off x="777240" y="1920240"/>
            <a:ext cx="867240" cy="8672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5" name="Text 5"/>
          <p:cNvSpPr/>
          <p:nvPr/>
        </p:nvSpPr>
        <p:spPr>
          <a:xfrm>
            <a:off x="777240" y="192024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6" name="Text 6"/>
          <p:cNvSpPr/>
          <p:nvPr/>
        </p:nvSpPr>
        <p:spPr>
          <a:xfrm>
            <a:off x="1783080" y="196596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sans WebSocket persistant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7" name="Text 7"/>
          <p:cNvSpPr/>
          <p:nvPr/>
        </p:nvSpPr>
        <p:spPr>
          <a:xfrm>
            <a:off x="777240" y="288036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8" name="Shape 8"/>
          <p:cNvSpPr/>
          <p:nvPr/>
        </p:nvSpPr>
        <p:spPr>
          <a:xfrm>
            <a:off x="621792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9" name="Shape 9"/>
          <p:cNvSpPr/>
          <p:nvPr/>
        </p:nvSpPr>
        <p:spPr>
          <a:xfrm>
            <a:off x="6446520" y="1920240"/>
            <a:ext cx="867240" cy="8672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0" name="Text 10"/>
          <p:cNvSpPr/>
          <p:nvPr/>
        </p:nvSpPr>
        <p:spPr>
          <a:xfrm>
            <a:off x="6446520" y="192024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1" name="Text 11"/>
          <p:cNvSpPr/>
          <p:nvPr/>
        </p:nvSpPr>
        <p:spPr>
          <a:xfrm>
            <a:off x="7452360" y="196596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 Prisma de bout en bout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2" name="Text 12"/>
          <p:cNvSpPr/>
          <p:nvPr/>
        </p:nvSpPr>
        <p:spPr>
          <a:xfrm>
            <a:off x="6446520" y="288036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3" name="Shape 13"/>
          <p:cNvSpPr/>
          <p:nvPr/>
        </p:nvSpPr>
        <p:spPr>
          <a:xfrm>
            <a:off x="548640" y="402336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4" name="Shape 14"/>
          <p:cNvSpPr/>
          <p:nvPr/>
        </p:nvSpPr>
        <p:spPr>
          <a:xfrm>
            <a:off x="777240" y="4251960"/>
            <a:ext cx="867240" cy="8672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5" name="Text 15"/>
          <p:cNvSpPr/>
          <p:nvPr/>
        </p:nvSpPr>
        <p:spPr>
          <a:xfrm>
            <a:off x="777240" y="425196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6" name="Text 16"/>
          <p:cNvSpPr/>
          <p:nvPr/>
        </p:nvSpPr>
        <p:spPr>
          <a:xfrm>
            <a:off x="1783080" y="429768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custom sans NextAuth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7" name="Text 17"/>
          <p:cNvSpPr/>
          <p:nvPr/>
        </p:nvSpPr>
        <p:spPr>
          <a:xfrm>
            <a:off x="777240" y="521208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8" name="Shape 18"/>
          <p:cNvSpPr/>
          <p:nvPr/>
        </p:nvSpPr>
        <p:spPr>
          <a:xfrm>
            <a:off x="6217920" y="402336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9" name="Shape 19"/>
          <p:cNvSpPr/>
          <p:nvPr/>
        </p:nvSpPr>
        <p:spPr>
          <a:xfrm>
            <a:off x="6446520" y="4251960"/>
            <a:ext cx="867240" cy="8672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0" name="Text 20"/>
          <p:cNvSpPr/>
          <p:nvPr/>
        </p:nvSpPr>
        <p:spPr>
          <a:xfrm>
            <a:off x="6446520" y="425196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1" name="Text 21"/>
          <p:cNvSpPr/>
          <p:nvPr/>
        </p:nvSpPr>
        <p:spPr>
          <a:xfrm>
            <a:off x="7452360" y="429768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jury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2" name="Text 22"/>
          <p:cNvSpPr/>
          <p:nvPr/>
        </p:nvSpPr>
        <p:spPr>
          <a:xfrm>
            <a:off x="6446520" y="521208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9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4" name="Text 2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5" name="Text 2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j'ai appris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9" name="Shape 3"/>
          <p:cNvSpPr/>
          <p:nvPr/>
        </p:nvSpPr>
        <p:spPr>
          <a:xfrm>
            <a:off x="548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0" name="Text 4"/>
          <p:cNvSpPr/>
          <p:nvPr/>
        </p:nvSpPr>
        <p:spPr>
          <a:xfrm>
            <a:off x="731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1" name="Shape 5"/>
          <p:cNvSpPr/>
          <p:nvPr/>
        </p:nvSpPr>
        <p:spPr>
          <a:xfrm>
            <a:off x="777240" y="23500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2" name="Text 6"/>
          <p:cNvSpPr/>
          <p:nvPr/>
        </p:nvSpPr>
        <p:spPr>
          <a:xfrm>
            <a:off x="1005840" y="2240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TypeScript strict, génériques, schémas Zod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3" name="Shape 7"/>
          <p:cNvSpPr/>
          <p:nvPr/>
        </p:nvSpPr>
        <p:spPr>
          <a:xfrm>
            <a:off x="777240" y="28072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4" name="Text 8"/>
          <p:cNvSpPr/>
          <p:nvPr/>
        </p:nvSpPr>
        <p:spPr>
          <a:xfrm>
            <a:off x="1005840" y="2697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 — App Router, 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5" name="Shape 9"/>
          <p:cNvSpPr/>
          <p:nvPr/>
        </p:nvSpPr>
        <p:spPr>
          <a:xfrm>
            <a:off x="777240" y="32644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6" name="Text 10"/>
          <p:cNvSpPr/>
          <p:nvPr/>
        </p:nvSpPr>
        <p:spPr>
          <a:xfrm>
            <a:off x="1005840" y="3154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— modélisation, migrations, requêtes complexes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7" name="Shape 11"/>
          <p:cNvSpPr/>
          <p:nvPr/>
        </p:nvSpPr>
        <p:spPr>
          <a:xfrm>
            <a:off x="777240" y="37216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8" name="Text 12"/>
          <p:cNvSpPr/>
          <p:nvPr/>
        </p:nvSpPr>
        <p:spPr>
          <a:xfrm>
            <a:off x="1005840" y="36118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— relations riches, contraintes, indexation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9" name="Shape 13"/>
          <p:cNvSpPr/>
          <p:nvPr/>
        </p:nvSpPr>
        <p:spPr>
          <a:xfrm>
            <a:off x="777240" y="41788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0" name="Text 14"/>
          <p:cNvSpPr/>
          <p:nvPr/>
        </p:nvSpPr>
        <p:spPr>
          <a:xfrm>
            <a:off x="1005840" y="40690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— cache + buffer SSE serverless-compatible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1" name="Shape 15"/>
          <p:cNvSpPr/>
          <p:nvPr/>
        </p:nvSpPr>
        <p:spPr>
          <a:xfrm>
            <a:off x="777240" y="46360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2" name="Text 16"/>
          <p:cNvSpPr/>
          <p:nvPr/>
        </p:nvSpPr>
        <p:spPr>
          <a:xfrm>
            <a:off x="1005840" y="4526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— OWASP, RGPD, JWT, bcrypt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3" name="Shape 17"/>
          <p:cNvSpPr/>
          <p:nvPr/>
        </p:nvSpPr>
        <p:spPr>
          <a:xfrm>
            <a:off x="777240" y="50932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4" name="Text 18"/>
          <p:cNvSpPr/>
          <p:nvPr/>
        </p:nvSpPr>
        <p:spPr>
          <a:xfrm>
            <a:off x="1005840" y="4983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— multi-stage, compose, healthcheck, secrets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5" name="Shape 19"/>
          <p:cNvSpPr/>
          <p:nvPr/>
        </p:nvSpPr>
        <p:spPr>
          <a:xfrm>
            <a:off x="777240" y="55504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6" name="Text 20"/>
          <p:cNvSpPr/>
          <p:nvPr/>
        </p:nvSpPr>
        <p:spPr>
          <a:xfrm>
            <a:off x="1005840" y="5440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GitHub Actions — pipeline lint+test+build+deploy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7" name="Shape 21"/>
          <p:cNvSpPr/>
          <p:nvPr/>
        </p:nvSpPr>
        <p:spPr>
          <a:xfrm>
            <a:off x="6263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8" name="Text 22"/>
          <p:cNvSpPr/>
          <p:nvPr/>
        </p:nvSpPr>
        <p:spPr>
          <a:xfrm>
            <a:off x="6446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Compétences transverses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9" name="Shape 23"/>
          <p:cNvSpPr/>
          <p:nvPr/>
        </p:nvSpPr>
        <p:spPr>
          <a:xfrm>
            <a:off x="6492240" y="2350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0" name="Text 24"/>
          <p:cNvSpPr/>
          <p:nvPr/>
        </p:nvSpPr>
        <p:spPr>
          <a:xfrm>
            <a:off x="6720840" y="2240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Découpe d'un gros projet en sprints + 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1" name="Shape 25"/>
          <p:cNvSpPr/>
          <p:nvPr/>
        </p:nvSpPr>
        <p:spPr>
          <a:xfrm>
            <a:off x="6492240" y="28072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2" name="Text 26"/>
          <p:cNvSpPr/>
          <p:nvPr/>
        </p:nvSpPr>
        <p:spPr>
          <a:xfrm>
            <a:off x="6720840" y="2697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technique adressée à des développeurs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3" name="Shape 27"/>
          <p:cNvSpPr/>
          <p:nvPr/>
        </p:nvSpPr>
        <p:spPr>
          <a:xfrm>
            <a:off x="6492240" y="32644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4" name="Text 28"/>
          <p:cNvSpPr/>
          <p:nvPr/>
        </p:nvSpPr>
        <p:spPr>
          <a:xfrm>
            <a:off x="6720840" y="3154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Lecture critique du code des coéquipiers (code review)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5" name="Shape 29"/>
          <p:cNvSpPr/>
          <p:nvPr/>
        </p:nvSpPr>
        <p:spPr>
          <a:xfrm>
            <a:off x="6492240" y="37216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6" name="Text 30"/>
          <p:cNvSpPr/>
          <p:nvPr/>
        </p:nvSpPr>
        <p:spPr>
          <a:xfrm>
            <a:off x="6720840" y="36118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 organisée et soutenable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7" name="Shape 31"/>
          <p:cNvSpPr/>
          <p:nvPr/>
        </p:nvSpPr>
        <p:spPr>
          <a:xfrm>
            <a:off x="6492240" y="41788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8" name="Text 32"/>
          <p:cNvSpPr/>
          <p:nvPr/>
        </p:nvSpPr>
        <p:spPr>
          <a:xfrm>
            <a:off x="6720840" y="40690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Estimation et priorisation pragmatique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9" name="Shape 33"/>
          <p:cNvSpPr/>
          <p:nvPr/>
        </p:nvSpPr>
        <p:spPr>
          <a:xfrm>
            <a:off x="6492240" y="4636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0" name="Text 34"/>
          <p:cNvSpPr/>
          <p:nvPr/>
        </p:nvSpPr>
        <p:spPr>
          <a:xfrm>
            <a:off x="6720840" y="4526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Justification de choix d'architecture face à un jury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1" name="Shape 35"/>
          <p:cNvSpPr/>
          <p:nvPr/>
        </p:nvSpPr>
        <p:spPr>
          <a:xfrm>
            <a:off x="6492240" y="50932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2" name="Text 36"/>
          <p:cNvSpPr/>
          <p:nvPr/>
        </p:nvSpPr>
        <p:spPr>
          <a:xfrm>
            <a:off x="6720840" y="4983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Communication métier ↔ technique (atout de reconversion)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3" name="Shape 37"/>
          <p:cNvSpPr/>
          <p:nvPr/>
        </p:nvSpPr>
        <p:spPr>
          <a:xfrm>
            <a:off x="6492240" y="55504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4" name="Text 38"/>
          <p:cNvSpPr/>
          <p:nvPr/>
        </p:nvSpPr>
        <p:spPr>
          <a:xfrm>
            <a:off x="6720840" y="5440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Endurance sur un projet long de plusieurs mois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3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6" name="Text 39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7" name="Text 40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8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9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Axes d'amélioration &amp; roadmap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0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1" name="Shape 3"/>
          <p:cNvSpPr/>
          <p:nvPr/>
        </p:nvSpPr>
        <p:spPr>
          <a:xfrm>
            <a:off x="480240" y="1691640"/>
            <a:ext cx="3701880" cy="45705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2" name="Shape 4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3" name="Text 5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COURT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4" name="Shape 6"/>
          <p:cNvSpPr/>
          <p:nvPr/>
        </p:nvSpPr>
        <p:spPr>
          <a:xfrm>
            <a:off x="708840" y="24688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5" name="Text 7"/>
          <p:cNvSpPr/>
          <p:nvPr/>
        </p:nvSpPr>
        <p:spPr>
          <a:xfrm>
            <a:off x="983160" y="237744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Sanitization markdown (DOMPurify) — XSS résiduelle ChatMessage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6" name="Shape 8"/>
          <p:cNvSpPr/>
          <p:nvPr/>
        </p:nvSpPr>
        <p:spPr>
          <a:xfrm>
            <a:off x="708840" y="342900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7" name="Text 9"/>
          <p:cNvSpPr/>
          <p:nvPr/>
        </p:nvSpPr>
        <p:spPr>
          <a:xfrm>
            <a:off x="983160" y="333756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Rate limit /login, /register, /chat/send via @upstash/ratelimit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8" name="Shape 10"/>
          <p:cNvSpPr/>
          <p:nvPr/>
        </p:nvSpPr>
        <p:spPr>
          <a:xfrm>
            <a:off x="708840" y="438912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9" name="Text 11"/>
          <p:cNvSpPr/>
          <p:nvPr/>
        </p:nvSpPr>
        <p:spPr>
          <a:xfrm>
            <a:off x="983160" y="429768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Headers HTTP de sécurité (CSP, X-Frame, Referrer)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0" name="Shape 12"/>
          <p:cNvSpPr/>
          <p:nvPr/>
        </p:nvSpPr>
        <p:spPr>
          <a:xfrm>
            <a:off x="708840" y="534924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1" name="Text 13"/>
          <p:cNvSpPr/>
          <p:nvPr/>
        </p:nvSpPr>
        <p:spPr>
          <a:xfrm>
            <a:off x="983160" y="525780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Sentry + alertes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2" name="Shape 14"/>
          <p:cNvSpPr/>
          <p:nvPr/>
        </p:nvSpPr>
        <p:spPr>
          <a:xfrm>
            <a:off x="4229280" y="1691640"/>
            <a:ext cx="3701880" cy="45705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3" name="Shape 15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4" name="Text 16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MOYEN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5" name="Shape 17"/>
          <p:cNvSpPr/>
          <p:nvPr/>
        </p:nvSpPr>
        <p:spPr>
          <a:xfrm>
            <a:off x="4457880" y="246888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6" name="Text 18"/>
          <p:cNvSpPr/>
          <p:nvPr/>
        </p:nvSpPr>
        <p:spPr>
          <a:xfrm>
            <a:off x="4732200" y="237744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E2E Playwright sur les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7" name="Shape 19"/>
          <p:cNvSpPr/>
          <p:nvPr/>
        </p:nvSpPr>
        <p:spPr>
          <a:xfrm>
            <a:off x="4457880" y="342900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8" name="Text 20"/>
          <p:cNvSpPr/>
          <p:nvPr/>
        </p:nvSpPr>
        <p:spPr>
          <a:xfrm>
            <a:off x="4732200" y="333756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Droit RGPD : suppression compte + export JSON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9" name="Shape 21"/>
          <p:cNvSpPr/>
          <p:nvPr/>
        </p:nvSpPr>
        <p:spPr>
          <a:xfrm>
            <a:off x="4457880" y="438912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0" name="Text 22"/>
          <p:cNvSpPr/>
          <p:nvPr/>
        </p:nvSpPr>
        <p:spPr>
          <a:xfrm>
            <a:off x="4732200" y="429768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push natives (Web Push)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1" name="Shape 23"/>
          <p:cNvSpPr/>
          <p:nvPr/>
        </p:nvSpPr>
        <p:spPr>
          <a:xfrm>
            <a:off x="4457880" y="534924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2" name="Text 24"/>
          <p:cNvSpPr/>
          <p:nvPr/>
        </p:nvSpPr>
        <p:spPr>
          <a:xfrm>
            <a:off x="4732200" y="525780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Modération &amp; signalement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3" name="Shape 25"/>
          <p:cNvSpPr/>
          <p:nvPr/>
        </p:nvSpPr>
        <p:spPr>
          <a:xfrm>
            <a:off x="7978320" y="1691640"/>
            <a:ext cx="3701880" cy="45705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4" name="Shape 26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5" name="Text 27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LONG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6" name="Shape 28"/>
          <p:cNvSpPr/>
          <p:nvPr/>
        </p:nvSpPr>
        <p:spPr>
          <a:xfrm>
            <a:off x="8206920" y="246888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7" name="Text 29"/>
          <p:cNvSpPr/>
          <p:nvPr/>
        </p:nvSpPr>
        <p:spPr>
          <a:xfrm>
            <a:off x="8481240" y="237744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Décomposer en services (chat → ws dédié)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8" name="Shape 30"/>
          <p:cNvSpPr/>
          <p:nvPr/>
        </p:nvSpPr>
        <p:spPr>
          <a:xfrm>
            <a:off x="8206920" y="342900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9" name="Text 31"/>
          <p:cNvSpPr/>
          <p:nvPr/>
        </p:nvSpPr>
        <p:spPr>
          <a:xfrm>
            <a:off x="8481240" y="333756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Recommandations contenu personnalisées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0" name="Shape 32"/>
          <p:cNvSpPr/>
          <p:nvPr/>
        </p:nvSpPr>
        <p:spPr>
          <a:xfrm>
            <a:off x="8206920" y="438912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1" name="Text 33"/>
          <p:cNvSpPr/>
          <p:nvPr/>
        </p:nvSpPr>
        <p:spPr>
          <a:xfrm>
            <a:off x="8481240" y="429768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mobile dédiée (React Native ?)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2" name="Shape 34"/>
          <p:cNvSpPr/>
          <p:nvPr/>
        </p:nvSpPr>
        <p:spPr>
          <a:xfrm>
            <a:off x="8206920" y="534924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3" name="Text 35"/>
          <p:cNvSpPr/>
          <p:nvPr/>
        </p:nvSpPr>
        <p:spPr>
          <a:xfrm>
            <a:off x="8481240" y="525780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produit + analytics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7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5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6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7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8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9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0" name="Shape 3"/>
          <p:cNvSpPr/>
          <p:nvPr/>
        </p:nvSpPr>
        <p:spPr>
          <a:xfrm>
            <a:off x="548640" y="1828800"/>
            <a:ext cx="90000" cy="16444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1" name="Text 4"/>
          <p:cNvSpPr/>
          <p:nvPr/>
        </p:nvSpPr>
        <p:spPr>
          <a:xfrm>
            <a:off x="822960" y="1783080"/>
            <a:ext cx="1078848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2" name="Text 5"/>
          <p:cNvSpPr/>
          <p:nvPr/>
        </p:nvSpPr>
        <p:spPr>
          <a:xfrm>
            <a:off x="822960" y="2697480"/>
            <a:ext cx="1078848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Au-delà de la certification, ce projet matérialise ma transition concrète vers le métier de Concepteur Développeur d'Applications.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3" name="Shape 6"/>
          <p:cNvSpPr/>
          <p:nvPr/>
        </p:nvSpPr>
        <p:spPr>
          <a:xfrm>
            <a:off x="54864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4" name="Shape 7"/>
          <p:cNvSpPr/>
          <p:nvPr/>
        </p:nvSpPr>
        <p:spPr>
          <a:xfrm>
            <a:off x="1600200" y="3886200"/>
            <a:ext cx="592920" cy="5929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5" name="Text 8"/>
          <p:cNvSpPr/>
          <p:nvPr/>
        </p:nvSpPr>
        <p:spPr>
          <a:xfrm>
            <a:off x="160020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6" name="Text 9"/>
          <p:cNvSpPr/>
          <p:nvPr/>
        </p:nvSpPr>
        <p:spPr>
          <a:xfrm>
            <a:off x="64008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Cycle complet maîtrisé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7" name="Text 10"/>
          <p:cNvSpPr/>
          <p:nvPr/>
        </p:nvSpPr>
        <p:spPr>
          <a:xfrm>
            <a:off x="64008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la conception à la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8" name="Shape 11"/>
          <p:cNvSpPr/>
          <p:nvPr/>
        </p:nvSpPr>
        <p:spPr>
          <a:xfrm>
            <a:off x="338328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9" name="Shape 12"/>
          <p:cNvSpPr/>
          <p:nvPr/>
        </p:nvSpPr>
        <p:spPr>
          <a:xfrm>
            <a:off x="4434840" y="3886200"/>
            <a:ext cx="592920" cy="5929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0" name="Text 13"/>
          <p:cNvSpPr/>
          <p:nvPr/>
        </p:nvSpPr>
        <p:spPr>
          <a:xfrm>
            <a:off x="443484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1" name="Text 14"/>
          <p:cNvSpPr/>
          <p:nvPr/>
        </p:nvSpPr>
        <p:spPr>
          <a:xfrm>
            <a:off x="347472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&amp; RGPD pris au sérieux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2" name="Text 15"/>
          <p:cNvSpPr/>
          <p:nvPr/>
        </p:nvSpPr>
        <p:spPr>
          <a:xfrm>
            <a:off x="347472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Audit + roadmap durcissement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3" name="Shape 16"/>
          <p:cNvSpPr/>
          <p:nvPr/>
        </p:nvSpPr>
        <p:spPr>
          <a:xfrm>
            <a:off x="621792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4" name="Shape 17"/>
          <p:cNvSpPr/>
          <p:nvPr/>
        </p:nvSpPr>
        <p:spPr>
          <a:xfrm>
            <a:off x="7269480" y="3886200"/>
            <a:ext cx="592920" cy="5929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5" name="Text 18"/>
          <p:cNvSpPr/>
          <p:nvPr/>
        </p:nvSpPr>
        <p:spPr>
          <a:xfrm>
            <a:off x="726948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6" name="Text 19"/>
          <p:cNvSpPr/>
          <p:nvPr/>
        </p:nvSpPr>
        <p:spPr>
          <a:xfrm>
            <a:off x="630936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Choix techniques justifiés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7" name="Text 20"/>
          <p:cNvSpPr/>
          <p:nvPr/>
        </p:nvSpPr>
        <p:spPr>
          <a:xfrm>
            <a:off x="630936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Trade-offs assumés et documentés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8" name="Shape 21"/>
          <p:cNvSpPr/>
          <p:nvPr/>
        </p:nvSpPr>
        <p:spPr>
          <a:xfrm>
            <a:off x="905256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9" name="Shape 22"/>
          <p:cNvSpPr/>
          <p:nvPr/>
        </p:nvSpPr>
        <p:spPr>
          <a:xfrm>
            <a:off x="10104120" y="3886200"/>
            <a:ext cx="592920" cy="5929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0" name="Text 23"/>
          <p:cNvSpPr/>
          <p:nvPr/>
        </p:nvSpPr>
        <p:spPr>
          <a:xfrm>
            <a:off x="1010412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◎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1" name="Text 24"/>
          <p:cNvSpPr/>
          <p:nvPr/>
        </p:nvSpPr>
        <p:spPr>
          <a:xfrm>
            <a:off x="914400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Recul critique acquis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2" name="Text 25"/>
          <p:cNvSpPr/>
          <p:nvPr/>
        </p:nvSpPr>
        <p:spPr>
          <a:xfrm>
            <a:off x="914400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Limites identifiées, plan d'évolution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3" name="Text 26"/>
          <p:cNvSpPr/>
          <p:nvPr/>
        </p:nvSpPr>
        <p:spPr>
          <a:xfrm>
            <a:off x="548640" y="5852160"/>
            <a:ext cx="11062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Disponible pour une alternance · 12 mois · Normandie / télétravail · CDA RNCP 37873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5" name="Text 2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6" name="Text 2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7" name="Shape 0"/>
          <p:cNvSpPr/>
          <p:nvPr/>
        </p:nvSpPr>
        <p:spPr>
          <a:xfrm>
            <a:off x="-2743200" y="3200400"/>
            <a:ext cx="7313760" cy="7313760"/>
          </a:xfrm>
          <a:prstGeom prst="ellipse">
            <a:avLst/>
          </a:prstGeom>
          <a:solidFill>
            <a:srgbClr val="EC4899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8" name="Shape 1"/>
          <p:cNvSpPr/>
          <p:nvPr/>
        </p:nvSpPr>
        <p:spPr>
          <a:xfrm>
            <a:off x="7589520" y="-2743200"/>
            <a:ext cx="7313760" cy="731376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9" name="Text 2"/>
          <p:cNvSpPr/>
          <p:nvPr/>
        </p:nvSpPr>
        <p:spPr>
          <a:xfrm>
            <a:off x="457200" y="3108960"/>
            <a:ext cx="112456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0" name="Text 3"/>
          <p:cNvSpPr/>
          <p:nvPr/>
        </p:nvSpPr>
        <p:spPr>
          <a:xfrm>
            <a:off x="474120" y="4343400"/>
            <a:ext cx="112456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Place aux questions</a:t>
            </a:r>
            <a:br>
              <a:rPr sz="2200"/>
            </a:br>
            <a:br>
              <a:rPr sz="2200"/>
            </a:b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^^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1" name="Text 8"/>
          <p:cNvSpPr/>
          <p:nvPr/>
        </p:nvSpPr>
        <p:spPr>
          <a:xfrm>
            <a:off x="3657600" y="5212080"/>
            <a:ext cx="3643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2" name="Text 16"/>
          <p:cNvSpPr/>
          <p:nvPr/>
        </p:nvSpPr>
        <p:spPr>
          <a:xfrm>
            <a:off x="457200" y="6172200"/>
            <a:ext cx="112456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37873 — Concepteur Développeur d'Applications · Zone01 Rouen Normandie ·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13" name=""/>
          <p:cNvPicPr/>
          <p:nvPr/>
        </p:nvPicPr>
        <p:blipFill>
          <a:blip r:embed="rId1"/>
          <a:stretch/>
        </p:blipFill>
        <p:spPr>
          <a:xfrm>
            <a:off x="9601200" y="5029200"/>
            <a:ext cx="3428280" cy="1955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14" name=""/>
          <p:cNvPicPr/>
          <p:nvPr/>
        </p:nvPicPr>
        <p:blipFill>
          <a:blip r:embed="rId2"/>
          <a:stretch/>
        </p:blipFill>
        <p:spPr>
          <a:xfrm>
            <a:off x="448200" y="-685800"/>
            <a:ext cx="5494680" cy="4123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LibreOffice/26.2.3.2$Linux_X86_64 LibreOffice_project/d4d5ed47b6084125f28d269a5650105d54dde034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2026-05-19T10:21:42Z</dcterms:created>
  <dc:creator>Christophe Lecart</dc:creator>
  <dc:description/>
  <dc:language>en-US</dc:language>
  <cp:lastModifiedBy/>
  <dcterms:modified xsi:type="dcterms:W3CDTF">2026-05-21T17:57:33Z</dcterms:modified>
  <cp:revision>10</cp:revision>
  <dc:subject>PptxGenJS Presentation</dc:subject>
  <dc:title>Konekt - Support Visuel RNCP 37873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On-screen Show (16:9)</vt:lpwstr>
  </property>
  <property fmtid="{D5CDD505-2E9C-101B-9397-08002B2CF9AE}" pid="4" name="Slides">
    <vt:i4>47</vt:i4>
  </property>
</Properties>
</file>