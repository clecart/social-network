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style2.xml" ContentType="application/vnd.ms-office.chartstyle+xml"/>
  <Override PartName="/ppt/charts/chart2.xml" ContentType="application/vnd.openxmlformats-officedocument.drawingml.chart+xml"/>
  <Override PartName="/ppt/charts/colors2.xml" ContentType="application/vnd.ms-office.chartcolorstyle+xml"/>
  <Override PartName="/ppt/slides/slide29.xml" ContentType="application/vnd.openxmlformats-officedocument.presentationml.slide+xml"/>
  <Override PartName="/ppt/slides/slide26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49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44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38.xml" ContentType="application/vnd.openxmlformats-officedocument.presentationml.slide+xml"/>
  <Override PartName="/ppt/slides/slide35.xml" ContentType="application/vnd.openxmlformats-officedocument.presentationml.slide+xml"/>
  <Override PartName="/ppt/slides/slide50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52.xml" ContentType="application/vnd.openxmlformats-officedocument.presentationml.slide+xml"/>
  <Override PartName="/ppt/slides/slide14.xml" ContentType="application/vnd.openxmlformats-officedocument.presentationml.slide+xml"/>
  <Override PartName="/ppt/slides/slide5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42.xml" ContentType="application/vnd.openxmlformats-officedocument.presentationml.slide+xml"/>
  <Override PartName="/ppt/slides/slide53.xml" ContentType="application/vnd.openxmlformats-officedocument.presentationml.slide+xml"/>
  <Override PartName="/ppt/slides/slide56.xml" ContentType="application/vnd.openxmlformats-officedocument.presentationml.slide+xml"/>
  <Override PartName="/ppt/slides/slide24.xml" ContentType="application/vnd.openxmlformats-officedocument.presentationml.slide+xml"/>
  <Override PartName="/ppt/slides/slide55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43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54.xml" ContentType="application/vnd.openxmlformats-officedocument.presentationml.slide+xml"/>
  <Override PartName="/ppt/slides/slide36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2.xml" ContentType="application/vnd.openxmlformats-officedocument.presentationml.slide+xml"/>
  <Override PartName="/ppt/slides/slide48.xml" ContentType="application/vnd.openxmlformats-officedocument.presentationml.slide+xml"/>
  <Override PartName="/ppt/slides/slide39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_rels/chart2.xml.rels><?xml version="1.0" encoding="UTF-8"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Features</c:v>
                </c:pt>
              </c:strCache>
            </c:strRef>
          </c:tx>
          <c:spPr>
            <a:solidFill>
              <a:srgbClr val="4472C4"/>
            </a:solidFill>
            <a:ln w="9360">
              <a:solidFill>
                <a:srgbClr val="F9F9F9"/>
              </a:solidFill>
              <a:round/>
            </a:ln>
          </c:spPr>
          <c:explosion val="0"/>
          <c:dPt>
            <c:idx val="0"/>
            <c:spPr>
              <a:solidFill>
                <a:srgbClr val="EC4899"/>
              </a:solidFill>
              <a:ln w="0">
                <a:noFill/>
              </a:ln>
            </c:spPr>
          </c:dPt>
          <c:dPt>
            <c:idx val="1"/>
            <c:spPr>
              <a:solidFill>
                <a:srgbClr val="06B6D4"/>
              </a:solidFill>
              <a:ln w="0">
                <a:noFill/>
              </a:ln>
            </c:spPr>
          </c:dPt>
          <c:dPt>
            <c:idx val="2"/>
            <c:spPr>
              <a:solidFill>
                <a:srgbClr val="8B5CF6"/>
              </a:solidFill>
              <a:ln w="0">
                <a:noFill/>
              </a:ln>
            </c:spPr>
          </c:dPt>
          <c:dPt>
            <c:idx val="3"/>
            <c:spPr>
              <a:solidFill>
                <a:srgbClr val="F59E0B"/>
              </a:solidFill>
              <a:ln w="0">
                <a:noFill/>
              </a:ln>
            </c:spPr>
          </c:dPt>
          <c:dPt>
            <c:idx val="4"/>
            <c:spPr>
              <a:solidFill>
                <a:srgbClr val="10B981"/>
              </a:solidFill>
              <a:ln w="0">
                <a:noFill/>
              </a:ln>
            </c:spPr>
          </c:dPt>
          <c:dLbls>
            <c:dLbl>
              <c:idx val="0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1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2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3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4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numFmt formatCode="0%" sourceLinked="0"/>
            <c:txPr>
              <a:bodyPr wrap="square"/>
              <a:lstStyle/>
              <a:p>
                <a:pPr>
                  <a:defRPr sz="18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eparator>
</c:separator>
            <c:showLeaderLines val="0"/>
          </c:dLbls>
          <c:cat>
            <c:strRef>
              <c:f>categories</c:f>
              <c:strCache>
                <c:ptCount val="5"/>
                <c:pt idx="0">
                  <c:v>Posts &amp; Réactions</c:v>
                </c:pt>
                <c:pt idx="1">
                  <c:v>Messagerie (SSE)</c:v>
                </c:pt>
                <c:pt idx="2">
                  <c:v>Groupes &amp; Events</c:v>
                </c:pt>
                <c:pt idx="3">
                  <c:v>Auth &amp; Profil</c:v>
                </c:pt>
                <c:pt idx="4">
                  <c:v>Recherche &amp; Notif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</c:ser>
        <c:firstSliceAng val="0"/>
        <c:holeSize val="50"/>
      </c:doughnutChart>
      <c:spPr>
        <a:solidFill>
          <a:srgbClr val="272730"/>
        </a:solidFill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FFFFFF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solidFill>
      <a:srgbClr val="272730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Jours</c:v>
                </c:pt>
              </c:strCache>
            </c:strRef>
          </c:tx>
          <c:spPr>
            <a:solidFill>
              <a:srgbClr val="EC4899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FFFFFF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Conception</c:v>
                </c:pt>
                <c:pt idx="1">
                  <c:v>Développement</c:v>
                </c:pt>
                <c:pt idx="2">
                  <c:v>Tests</c:v>
                </c:pt>
                <c:pt idx="3">
                  <c:v>Déploiement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25</c:v>
                </c:pt>
                <c:pt idx="1">
                  <c:v>14</c:v>
                </c:pt>
                <c:pt idx="2">
                  <c:v>7</c:v>
                </c:pt>
                <c:pt idx="3">
                  <c:v>3</c:v>
                </c:pt>
              </c:numCache>
            </c:numRef>
          </c:val>
        </c:ser>
        <c:gapWidth val="150"/>
        <c:overlap val="0"/>
        <c:axId val="82266794"/>
        <c:axId val="71013789"/>
      </c:barChart>
      <c:catAx>
        <c:axId val="8226679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71013789"/>
        <c:crosses val="autoZero"/>
        <c:auto val="1"/>
        <c:lblAlgn val="ctr"/>
        <c:lblOffset val="100"/>
        <c:noMultiLvlLbl val="0"/>
      </c:catAx>
      <c:valAx>
        <c:axId val="71013789"/>
        <c:scaling>
          <c:orientation val="minMax"/>
        </c:scaling>
        <c:delete val="0"/>
        <c:axPos val="l"/>
        <c:majorGridlines>
          <c:spPr>
            <a:ln w="6480">
              <a:solidFill>
                <a:srgbClr val="3F3F46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82266794"/>
        <c:crosses val="autoZero"/>
        <c:crossBetween val="between"/>
      </c:valAx>
      <c:spPr>
        <a:solidFill>
          <a:srgbClr val="272730"/>
        </a:solidFill>
        <a:ln w="0">
          <a:noFill/>
        </a:ln>
      </c:spPr>
    </c:plotArea>
    <c:plotVisOnly val="1"/>
    <c:dispBlanksAs val="span"/>
  </c:chart>
  <c:spPr>
    <a:solidFill>
      <a:srgbClr val="272730"/>
    </a:solidFill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19E1304-90C5-4743-8785-CDFAC5F04C1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6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2165B30-F2FF-4DA5-949F-77E508188A3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9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924EF1B-D191-40AE-9ABD-5F5C13A20FA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2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CD34B3C-4D87-48C9-87DE-F7E7C45E45A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5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2A3F6AB-C562-479E-BF06-33D5F4FAE41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8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24A090E-E1D9-4767-B5D5-F5D262996EE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1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C86243-3E39-4975-8CB3-3DC11036CAF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4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31660B0-839D-456C-9B01-7955C533455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7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8F3A605-FFC1-4CAE-B117-961AC2DA6B6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0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77A2253-CBDF-4720-81A1-7DE95EEEF6F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3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A534B42-C435-47C6-AD12-B631C1CFA7D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6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8BF8431-FDC1-4AEB-88CE-F7BD43635C0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9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605D540-8BB1-4EAB-ABAF-EB1A1E87E42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2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45ED530-7170-4792-B8C0-2A2CD46B4D5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5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FF2EE99-22FC-435D-8278-7A531E62513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8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4DBFC09-6992-41AB-8F23-8A5ED3B678C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1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135B119-CFB2-42BB-A4D6-DFB85939577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4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D295254-648E-47A1-8DA4-C756504030D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7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23F2D65-54AF-4B1A-96ED-C402DF8605F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0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357C3DF-513C-4C8F-94EB-46DD7D64644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3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8427DDB-5F86-4D56-9ABF-CCC16DAA8B6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6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72C0D13-E4A9-40C6-9E55-8AA35115256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9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32613D8-4DFA-4983-8891-34BA00C2A38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2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51B2A86-D3A8-45BA-A1B0-6677A2D44BE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5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90A9FA-673B-4163-8202-8A2FF14D29E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8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952E38C-45A5-4305-A562-BD3AC4A79F1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1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D4326F5-4909-4E26-B229-A855CA12C17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4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B942055-600D-409D-BBA2-67349761F8D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7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52868B7-B8CE-471E-A8EE-49824348BE3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0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E827980-0D2F-4F3E-A19E-D1E78766709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3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4C1691F-63AE-4106-94E7-6ABB1D23F70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6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0789269-CDCF-4701-A48A-F90F71E0CF9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9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F3E5128-46CD-4A79-9826-79FB77FB7B9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2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5F6A858-2B41-46C9-826C-A02B693F37E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5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A39C26B-E3ED-47C2-9C3B-5A2566E64DB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8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1521E3F-A014-46F4-B825-C645557DBE4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1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CAAC39D-5937-42CE-A400-8F2AD67AC83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4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536EF87-1259-47AE-9CFA-7263AD5E86A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7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AE55FDD-E31E-4ED0-8AA1-380BE2D4B9F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0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55555FE-C7CB-4408-AD66-D0831C8C431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3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2032139-4682-49B9-BE83-3A98985D9E3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6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1C4E87B-9AAC-4ED9-AA73-7E233A69072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9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2DD2F84-1C5A-4AB5-A887-A61868BADB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2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E7F8248-0380-4BE6-94D9-D8B40B106AC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5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9AE0E5C-2852-4C61-9FA7-ADB003F1497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8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3168D8C-F9CC-4DC1-BE30-01DBE2FAED1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1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46E88AB-4998-41F7-B905-274D9E1E581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4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F2405A3-5988-411E-99FF-66BF9CB9699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743200" y="-2743200"/>
            <a:ext cx="7314480" cy="7314480"/>
          </a:xfrm>
          <a:prstGeom prst="ellipse">
            <a:avLst/>
          </a:prstGeom>
          <a:solidFill>
            <a:srgbClr val="EC4899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9418320" y="4114800"/>
            <a:ext cx="6400080" cy="640008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7315200" y="914400"/>
            <a:ext cx="2742480" cy="2742480"/>
          </a:xfrm>
          <a:prstGeom prst="ellipse">
            <a:avLst/>
          </a:prstGeom>
          <a:solidFill>
            <a:srgbClr val="06B6D4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914400" y="2468880"/>
            <a:ext cx="2376720" cy="410760"/>
          </a:xfrm>
          <a:prstGeom prst="roundRect">
            <a:avLst>
              <a:gd name="adj" fmla="val 48889"/>
            </a:avLst>
          </a:prstGeom>
          <a:solidFill>
            <a:srgbClr val="EC4899">
              <a:alpha val="25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4"/>
          <p:cNvSpPr/>
          <p:nvPr/>
        </p:nvSpPr>
        <p:spPr>
          <a:xfrm>
            <a:off x="914400" y="2468880"/>
            <a:ext cx="23767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RNCP 37873  ·  CDA  ·  Niveau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914400" y="3108960"/>
            <a:ext cx="100576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Support de soutenance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914400" y="3611880"/>
            <a:ext cx="100576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 social Konekt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914400" y="4526280"/>
            <a:ext cx="100576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Une plateforme sociale full-stack temps réel — Next.js 15, Prisma, PostgreSQL, SSE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914400" y="5212080"/>
            <a:ext cx="1096560" cy="36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Text 9"/>
          <p:cNvSpPr/>
          <p:nvPr/>
        </p:nvSpPr>
        <p:spPr>
          <a:xfrm>
            <a:off x="914400" y="5349240"/>
            <a:ext cx="731448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Concepteur Développeur d'Applications  ·  Promotion 2024-2026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8046720" y="621792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8046720" y="649224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Soutenance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"/>
          <p:cNvPicPr/>
          <p:nvPr/>
        </p:nvPicPr>
        <p:blipFill>
          <a:blip r:embed="rId1"/>
          <a:stretch/>
        </p:blipFill>
        <p:spPr>
          <a:xfrm>
            <a:off x="-457200" y="-685800"/>
            <a:ext cx="5495040" cy="4123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9875520" y="-1371600"/>
            <a:ext cx="3656880" cy="3656880"/>
          </a:xfrm>
          <a:prstGeom prst="ellipse">
            <a:avLst/>
          </a:prstGeom>
          <a:solidFill>
            <a:srgbClr val="EC4899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Shape 1"/>
          <p:cNvSpPr/>
          <p:nvPr/>
        </p:nvSpPr>
        <p:spPr>
          <a:xfrm>
            <a:off x="11247120" y="-457200"/>
            <a:ext cx="1645200" cy="1645200"/>
          </a:xfrm>
          <a:prstGeom prst="ellipse">
            <a:avLst/>
          </a:prstGeom>
          <a:solidFill>
            <a:srgbClr val="8B5CF6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Text 2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PLAN DE LA PRÉSENTATION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Sommaire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Shape 5"/>
          <p:cNvSpPr/>
          <p:nvPr/>
        </p:nvSpPr>
        <p:spPr>
          <a:xfrm>
            <a:off x="548640" y="1691640"/>
            <a:ext cx="11063520" cy="63936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Text 6"/>
          <p:cNvSpPr/>
          <p:nvPr/>
        </p:nvSpPr>
        <p:spPr>
          <a:xfrm>
            <a:off x="685800" y="1691640"/>
            <a:ext cx="8222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7"/>
          <p:cNvSpPr/>
          <p:nvPr/>
        </p:nvSpPr>
        <p:spPr>
          <a:xfrm>
            <a:off x="1554480" y="1828800"/>
            <a:ext cx="17640" cy="36504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" tIns="45000" rIns="9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Text 8"/>
          <p:cNvSpPr/>
          <p:nvPr/>
        </p:nvSpPr>
        <p:spPr>
          <a:xfrm>
            <a:off x="1737360" y="1691640"/>
            <a:ext cx="54856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candidat &amp; le contexte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6400800" y="1691640"/>
            <a:ext cx="511992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Parcours, reconversion, formation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548640" y="2404800"/>
            <a:ext cx="11063520" cy="63936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685800" y="2404800"/>
            <a:ext cx="8222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2"/>
          <p:cNvSpPr/>
          <p:nvPr/>
        </p:nvSpPr>
        <p:spPr>
          <a:xfrm>
            <a:off x="1554480" y="2541960"/>
            <a:ext cx="17640" cy="36504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" tIns="45000" rIns="9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1737360" y="2404800"/>
            <a:ext cx="54856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projet Konekt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6400800" y="2404800"/>
            <a:ext cx="511992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Problématique, périmètre,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548640" y="3117960"/>
            <a:ext cx="11063520" cy="63936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685800" y="3117960"/>
            <a:ext cx="8222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7"/>
          <p:cNvSpPr/>
          <p:nvPr/>
        </p:nvSpPr>
        <p:spPr>
          <a:xfrm>
            <a:off x="1554480" y="3255120"/>
            <a:ext cx="17640" cy="36504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" tIns="45000" rIns="9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Text 18"/>
          <p:cNvSpPr/>
          <p:nvPr/>
        </p:nvSpPr>
        <p:spPr>
          <a:xfrm>
            <a:off x="1737360" y="3117960"/>
            <a:ext cx="54856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Conception &amp; modélisation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9"/>
          <p:cNvSpPr/>
          <p:nvPr/>
        </p:nvSpPr>
        <p:spPr>
          <a:xfrm>
            <a:off x="6400800" y="3117960"/>
            <a:ext cx="511992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stories, MCD, design system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20"/>
          <p:cNvSpPr/>
          <p:nvPr/>
        </p:nvSpPr>
        <p:spPr>
          <a:xfrm>
            <a:off x="548640" y="3831480"/>
            <a:ext cx="11063520" cy="63936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Text 21"/>
          <p:cNvSpPr/>
          <p:nvPr/>
        </p:nvSpPr>
        <p:spPr>
          <a:xfrm>
            <a:off x="685800" y="3831480"/>
            <a:ext cx="8222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22"/>
          <p:cNvSpPr/>
          <p:nvPr/>
        </p:nvSpPr>
        <p:spPr>
          <a:xfrm>
            <a:off x="1554480" y="3968640"/>
            <a:ext cx="17640" cy="36504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" tIns="45000" rIns="9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Text 23"/>
          <p:cNvSpPr/>
          <p:nvPr/>
        </p:nvSpPr>
        <p:spPr>
          <a:xfrm>
            <a:off x="1737360" y="3831480"/>
            <a:ext cx="54856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&amp; développement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4"/>
          <p:cNvSpPr/>
          <p:nvPr/>
        </p:nvSpPr>
        <p:spPr>
          <a:xfrm>
            <a:off x="6400800" y="3831480"/>
            <a:ext cx="511992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Stack, API, temps réel, sécurité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5"/>
          <p:cNvSpPr/>
          <p:nvPr/>
        </p:nvSpPr>
        <p:spPr>
          <a:xfrm>
            <a:off x="548640" y="4544640"/>
            <a:ext cx="11063520" cy="63936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Text 26"/>
          <p:cNvSpPr/>
          <p:nvPr/>
        </p:nvSpPr>
        <p:spPr>
          <a:xfrm>
            <a:off x="685800" y="4544640"/>
            <a:ext cx="8222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7"/>
          <p:cNvSpPr/>
          <p:nvPr/>
        </p:nvSpPr>
        <p:spPr>
          <a:xfrm>
            <a:off x="1554480" y="4681800"/>
            <a:ext cx="17640" cy="36504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" tIns="45000" rIns="9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28"/>
          <p:cNvSpPr/>
          <p:nvPr/>
        </p:nvSpPr>
        <p:spPr>
          <a:xfrm>
            <a:off x="1737360" y="4544640"/>
            <a:ext cx="54856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Tests, CI/CD &amp; déploiement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9"/>
          <p:cNvSpPr/>
          <p:nvPr/>
        </p:nvSpPr>
        <p:spPr>
          <a:xfrm>
            <a:off x="6400800" y="4544640"/>
            <a:ext cx="511992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Qualité, automatisation,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30"/>
          <p:cNvSpPr/>
          <p:nvPr/>
        </p:nvSpPr>
        <p:spPr>
          <a:xfrm>
            <a:off x="548640" y="5257800"/>
            <a:ext cx="11063520" cy="63936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Text 31"/>
          <p:cNvSpPr/>
          <p:nvPr/>
        </p:nvSpPr>
        <p:spPr>
          <a:xfrm>
            <a:off x="685800" y="5257800"/>
            <a:ext cx="8222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2"/>
          <p:cNvSpPr/>
          <p:nvPr/>
        </p:nvSpPr>
        <p:spPr>
          <a:xfrm>
            <a:off x="1554480" y="5394960"/>
            <a:ext cx="17640" cy="36504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" tIns="45000" rIns="9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Text 33"/>
          <p:cNvSpPr/>
          <p:nvPr/>
        </p:nvSpPr>
        <p:spPr>
          <a:xfrm>
            <a:off x="1737360" y="5257800"/>
            <a:ext cx="54856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Bilan &amp; compétences RNCP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4"/>
          <p:cNvSpPr/>
          <p:nvPr/>
        </p:nvSpPr>
        <p:spPr>
          <a:xfrm>
            <a:off x="6400800" y="5257800"/>
            <a:ext cx="511992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Apprentissages, mapping des blocs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Text 35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6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LE CANDIDAT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Shape 3"/>
          <p:cNvSpPr/>
          <p:nvPr/>
        </p:nvSpPr>
        <p:spPr>
          <a:xfrm>
            <a:off x="731520" y="1691640"/>
            <a:ext cx="2925360" cy="2925360"/>
          </a:xfrm>
          <a:prstGeom prst="ellipse">
            <a:avLst/>
          </a:prstGeom>
          <a:solidFill>
            <a:srgbClr val="EC4899">
              <a:alpha val="3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Shape 5"/>
          <p:cNvSpPr/>
          <p:nvPr/>
        </p:nvSpPr>
        <p:spPr>
          <a:xfrm>
            <a:off x="731520" y="4846320"/>
            <a:ext cx="2925360" cy="365040"/>
          </a:xfrm>
          <a:prstGeom prst="roundRect">
            <a:avLst>
              <a:gd name="adj" fmla="val 375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 6"/>
          <p:cNvSpPr/>
          <p:nvPr/>
        </p:nvSpPr>
        <p:spPr>
          <a:xfrm>
            <a:off x="731520" y="4846320"/>
            <a:ext cx="29253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RECONVERSION DEV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7"/>
          <p:cNvSpPr/>
          <p:nvPr/>
        </p:nvSpPr>
        <p:spPr>
          <a:xfrm>
            <a:off x="4114800" y="1691640"/>
            <a:ext cx="77716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Du terrain industriel au code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8"/>
          <p:cNvSpPr/>
          <p:nvPr/>
        </p:nvSpPr>
        <p:spPr>
          <a:xfrm>
            <a:off x="4114800" y="2240280"/>
            <a:ext cx="777168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industriel pendant 20 ans (KONE Ascenseurs, SOCOTEC Équipements), j'ai entamé en 2024 une transition complète vers le développement full-stack via la formation Zone01 Rouen Normandie.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9"/>
          <p:cNvSpPr/>
          <p:nvPr/>
        </p:nvSpPr>
        <p:spPr>
          <a:xfrm>
            <a:off x="4114800" y="3611880"/>
            <a:ext cx="1828080" cy="127944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 10"/>
          <p:cNvSpPr/>
          <p:nvPr/>
        </p:nvSpPr>
        <p:spPr>
          <a:xfrm>
            <a:off x="4114800" y="3703320"/>
            <a:ext cx="18280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 ans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1"/>
          <p:cNvSpPr/>
          <p:nvPr/>
        </p:nvSpPr>
        <p:spPr>
          <a:xfrm>
            <a:off x="4114800" y="4297680"/>
            <a:ext cx="1828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Expérience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industrielle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2"/>
          <p:cNvSpPr/>
          <p:nvPr/>
        </p:nvSpPr>
        <p:spPr>
          <a:xfrm>
            <a:off x="6080760" y="3611880"/>
            <a:ext cx="1828080" cy="127944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 13"/>
          <p:cNvSpPr/>
          <p:nvPr/>
        </p:nvSpPr>
        <p:spPr>
          <a:xfrm>
            <a:off x="6080760" y="3703320"/>
            <a:ext cx="18280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2024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4"/>
          <p:cNvSpPr/>
          <p:nvPr/>
        </p:nvSpPr>
        <p:spPr>
          <a:xfrm>
            <a:off x="6080760" y="4297680"/>
            <a:ext cx="1828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Zone01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5"/>
          <p:cNvSpPr/>
          <p:nvPr/>
        </p:nvSpPr>
        <p:spPr>
          <a:xfrm>
            <a:off x="8046720" y="3611880"/>
            <a:ext cx="1828080" cy="127944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 16"/>
          <p:cNvSpPr/>
          <p:nvPr/>
        </p:nvSpPr>
        <p:spPr>
          <a:xfrm>
            <a:off x="8046720" y="3703320"/>
            <a:ext cx="18280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Niveau 6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7"/>
          <p:cNvSpPr/>
          <p:nvPr/>
        </p:nvSpPr>
        <p:spPr>
          <a:xfrm>
            <a:off x="8046720" y="4297680"/>
            <a:ext cx="1828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Certification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visée (RNCP)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8"/>
          <p:cNvSpPr/>
          <p:nvPr/>
        </p:nvSpPr>
        <p:spPr>
          <a:xfrm>
            <a:off x="10012680" y="3611880"/>
            <a:ext cx="1828080" cy="127944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 19"/>
          <p:cNvSpPr/>
          <p:nvPr/>
        </p:nvSpPr>
        <p:spPr>
          <a:xfrm>
            <a:off x="10012680" y="3703320"/>
            <a:ext cx="18280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Full-stack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0"/>
          <p:cNvSpPr/>
          <p:nvPr/>
        </p:nvSpPr>
        <p:spPr>
          <a:xfrm>
            <a:off x="10012680" y="4297680"/>
            <a:ext cx="1828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Appétence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backend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1"/>
          <p:cNvSpPr/>
          <p:nvPr/>
        </p:nvSpPr>
        <p:spPr>
          <a:xfrm>
            <a:off x="4114800" y="5074920"/>
            <a:ext cx="7680240" cy="1188000"/>
          </a:xfrm>
          <a:prstGeom prst="roundRect">
            <a:avLst>
              <a:gd name="adj" fmla="val 615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 22"/>
          <p:cNvSpPr/>
          <p:nvPr/>
        </p:nvSpPr>
        <p:spPr>
          <a:xfrm>
            <a:off x="4297680" y="512064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Forces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3"/>
          <p:cNvSpPr/>
          <p:nvPr/>
        </p:nvSpPr>
        <p:spPr>
          <a:xfrm>
            <a:off x="4297680" y="5413320"/>
            <a:ext cx="502200" cy="502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 24"/>
          <p:cNvSpPr/>
          <p:nvPr/>
        </p:nvSpPr>
        <p:spPr>
          <a:xfrm>
            <a:off x="4297680" y="541332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5"/>
          <p:cNvSpPr/>
          <p:nvPr/>
        </p:nvSpPr>
        <p:spPr>
          <a:xfrm>
            <a:off x="4846320" y="5413320"/>
            <a:ext cx="13251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Rigueur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6"/>
          <p:cNvSpPr/>
          <p:nvPr/>
        </p:nvSpPr>
        <p:spPr>
          <a:xfrm>
            <a:off x="6172200" y="5413320"/>
            <a:ext cx="502200" cy="502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 27"/>
          <p:cNvSpPr/>
          <p:nvPr/>
        </p:nvSpPr>
        <p:spPr>
          <a:xfrm>
            <a:off x="6172200" y="541332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8"/>
          <p:cNvSpPr/>
          <p:nvPr/>
        </p:nvSpPr>
        <p:spPr>
          <a:xfrm>
            <a:off x="6720840" y="5413320"/>
            <a:ext cx="13251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Pragmatisme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9"/>
          <p:cNvSpPr/>
          <p:nvPr/>
        </p:nvSpPr>
        <p:spPr>
          <a:xfrm>
            <a:off x="8046720" y="5413320"/>
            <a:ext cx="502200" cy="50220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 30"/>
          <p:cNvSpPr/>
          <p:nvPr/>
        </p:nvSpPr>
        <p:spPr>
          <a:xfrm>
            <a:off x="8046720" y="541332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●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1"/>
          <p:cNvSpPr/>
          <p:nvPr/>
        </p:nvSpPr>
        <p:spPr>
          <a:xfrm>
            <a:off x="8595360" y="5413320"/>
            <a:ext cx="13251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Autodidacte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32"/>
          <p:cNvSpPr/>
          <p:nvPr/>
        </p:nvSpPr>
        <p:spPr>
          <a:xfrm>
            <a:off x="9921240" y="5413320"/>
            <a:ext cx="502200" cy="5022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 33"/>
          <p:cNvSpPr/>
          <p:nvPr/>
        </p:nvSpPr>
        <p:spPr>
          <a:xfrm>
            <a:off x="9921240" y="541332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★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4"/>
          <p:cNvSpPr/>
          <p:nvPr/>
        </p:nvSpPr>
        <p:spPr>
          <a:xfrm>
            <a:off x="10469880" y="5413320"/>
            <a:ext cx="13251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Métier ↔ Tech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35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6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" name=""/>
          <p:cNvPicPr/>
          <p:nvPr/>
        </p:nvPicPr>
        <p:blipFill>
          <a:blip r:embed="rId2"/>
          <a:stretch/>
        </p:blipFill>
        <p:spPr>
          <a:xfrm>
            <a:off x="1284840" y="2266560"/>
            <a:ext cx="1828440" cy="1828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PARCOURS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20 ans de terrain, puis le code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Shape 3"/>
          <p:cNvSpPr/>
          <p:nvPr/>
        </p:nvSpPr>
        <p:spPr>
          <a:xfrm>
            <a:off x="1828800" y="1645920"/>
            <a:ext cx="54000" cy="457128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Shape 4"/>
          <p:cNvSpPr/>
          <p:nvPr/>
        </p:nvSpPr>
        <p:spPr>
          <a:xfrm>
            <a:off x="1691640" y="1801440"/>
            <a:ext cx="328320" cy="32832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 5"/>
          <p:cNvSpPr/>
          <p:nvPr/>
        </p:nvSpPr>
        <p:spPr>
          <a:xfrm>
            <a:off x="548640" y="1691640"/>
            <a:ext cx="10965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6"/>
          <p:cNvSpPr/>
          <p:nvPr/>
        </p:nvSpPr>
        <p:spPr>
          <a:xfrm>
            <a:off x="2286000" y="16459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 PRO MSMA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7"/>
          <p:cNvSpPr/>
          <p:nvPr/>
        </p:nvSpPr>
        <p:spPr>
          <a:xfrm>
            <a:off x="2286000" y="1965960"/>
            <a:ext cx="9143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Maintenance Systèmes Mécaniques Automatisés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8"/>
          <p:cNvSpPr/>
          <p:nvPr/>
        </p:nvSpPr>
        <p:spPr>
          <a:xfrm>
            <a:off x="1691640" y="2578680"/>
            <a:ext cx="328320" cy="32832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 9"/>
          <p:cNvSpPr/>
          <p:nvPr/>
        </p:nvSpPr>
        <p:spPr>
          <a:xfrm>
            <a:off x="548640" y="2468880"/>
            <a:ext cx="10965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0"/>
          <p:cNvSpPr/>
          <p:nvPr/>
        </p:nvSpPr>
        <p:spPr>
          <a:xfrm>
            <a:off x="2286000" y="242316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BTS MAI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1"/>
          <p:cNvSpPr/>
          <p:nvPr/>
        </p:nvSpPr>
        <p:spPr>
          <a:xfrm>
            <a:off x="2286000" y="2743200"/>
            <a:ext cx="9143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Mécanique et Automatismes Industriels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2"/>
          <p:cNvSpPr/>
          <p:nvPr/>
        </p:nvSpPr>
        <p:spPr>
          <a:xfrm>
            <a:off x="1691640" y="3355920"/>
            <a:ext cx="328320" cy="328320"/>
          </a:xfrm>
          <a:prstGeom prst="ellipse">
            <a:avLst/>
          </a:prstGeom>
          <a:solidFill>
            <a:srgbClr val="06B6D4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 13"/>
          <p:cNvSpPr/>
          <p:nvPr/>
        </p:nvSpPr>
        <p:spPr>
          <a:xfrm>
            <a:off x="548640" y="3246120"/>
            <a:ext cx="10965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2004-2010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4"/>
          <p:cNvSpPr/>
          <p:nvPr/>
        </p:nvSpPr>
        <p:spPr>
          <a:xfrm>
            <a:off x="2286000" y="320040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 Ascenseurs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5"/>
          <p:cNvSpPr/>
          <p:nvPr/>
        </p:nvSpPr>
        <p:spPr>
          <a:xfrm>
            <a:off x="2286000" y="3520440"/>
            <a:ext cx="9143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régleur et mise en service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6"/>
          <p:cNvSpPr/>
          <p:nvPr/>
        </p:nvSpPr>
        <p:spPr>
          <a:xfrm>
            <a:off x="1691640" y="4133160"/>
            <a:ext cx="328320" cy="328320"/>
          </a:xfrm>
          <a:prstGeom prst="ellipse">
            <a:avLst/>
          </a:prstGeom>
          <a:solidFill>
            <a:srgbClr val="8B5CF6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 17"/>
          <p:cNvSpPr/>
          <p:nvPr/>
        </p:nvSpPr>
        <p:spPr>
          <a:xfrm>
            <a:off x="548640" y="4023360"/>
            <a:ext cx="10965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2010-2024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8"/>
          <p:cNvSpPr/>
          <p:nvPr/>
        </p:nvSpPr>
        <p:spPr>
          <a:xfrm>
            <a:off x="2286000" y="397764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SOCOTEC Équipements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9"/>
          <p:cNvSpPr/>
          <p:nvPr/>
        </p:nvSpPr>
        <p:spPr>
          <a:xfrm>
            <a:off x="2286000" y="4297680"/>
            <a:ext cx="9143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Expert vérifications générales périodiques (14 ans)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0"/>
          <p:cNvSpPr/>
          <p:nvPr/>
        </p:nvSpPr>
        <p:spPr>
          <a:xfrm>
            <a:off x="1691640" y="4910400"/>
            <a:ext cx="328320" cy="328320"/>
          </a:xfrm>
          <a:prstGeom prst="ellipse">
            <a:avLst/>
          </a:prstGeom>
          <a:solidFill>
            <a:srgbClr val="EC4899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 21"/>
          <p:cNvSpPr/>
          <p:nvPr/>
        </p:nvSpPr>
        <p:spPr>
          <a:xfrm>
            <a:off x="548640" y="4800600"/>
            <a:ext cx="10965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2024 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2"/>
          <p:cNvSpPr/>
          <p:nvPr/>
        </p:nvSpPr>
        <p:spPr>
          <a:xfrm>
            <a:off x="2286000" y="475488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3"/>
          <p:cNvSpPr/>
          <p:nvPr/>
        </p:nvSpPr>
        <p:spPr>
          <a:xfrm>
            <a:off x="2286000" y="5074920"/>
            <a:ext cx="9143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Formation CDA — peer learning, projets, stack moderne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4"/>
          <p:cNvSpPr/>
          <p:nvPr/>
        </p:nvSpPr>
        <p:spPr>
          <a:xfrm>
            <a:off x="1691640" y="5687640"/>
            <a:ext cx="328320" cy="328320"/>
          </a:xfrm>
          <a:prstGeom prst="ellipse">
            <a:avLst/>
          </a:prstGeom>
          <a:solidFill>
            <a:srgbClr val="10B981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 25"/>
          <p:cNvSpPr/>
          <p:nvPr/>
        </p:nvSpPr>
        <p:spPr>
          <a:xfrm>
            <a:off x="548640" y="5577840"/>
            <a:ext cx="10965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2026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6"/>
          <p:cNvSpPr/>
          <p:nvPr/>
        </p:nvSpPr>
        <p:spPr>
          <a:xfrm>
            <a:off x="2286000" y="553212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Soutenance RNCP 37873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7"/>
          <p:cNvSpPr/>
          <p:nvPr/>
        </p:nvSpPr>
        <p:spPr>
          <a:xfrm>
            <a:off x="2286000" y="5852160"/>
            <a:ext cx="9143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Konekt + Dossier professionnel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28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9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Travail en mode agile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 3"/>
          <p:cNvSpPr/>
          <p:nvPr/>
        </p:nvSpPr>
        <p:spPr>
          <a:xfrm>
            <a:off x="548640" y="1691640"/>
            <a:ext cx="109720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Cycle de développement adopté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4"/>
          <p:cNvSpPr/>
          <p:nvPr/>
        </p:nvSpPr>
        <p:spPr>
          <a:xfrm>
            <a:off x="521280" y="2103120"/>
            <a:ext cx="2193840" cy="169092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Shape 5"/>
          <p:cNvSpPr/>
          <p:nvPr/>
        </p:nvSpPr>
        <p:spPr>
          <a:xfrm>
            <a:off x="1344240" y="2240280"/>
            <a:ext cx="547920" cy="54792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 6"/>
          <p:cNvSpPr/>
          <p:nvPr/>
        </p:nvSpPr>
        <p:spPr>
          <a:xfrm>
            <a:off x="1344240" y="224028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7"/>
          <p:cNvSpPr/>
          <p:nvPr/>
        </p:nvSpPr>
        <p:spPr>
          <a:xfrm>
            <a:off x="612720" y="2834640"/>
            <a:ext cx="2010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8"/>
          <p:cNvSpPr/>
          <p:nvPr/>
        </p:nvSpPr>
        <p:spPr>
          <a:xfrm>
            <a:off x="612720" y="3154680"/>
            <a:ext cx="201096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 priorisées HIGH/MED/LOW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9"/>
          <p:cNvSpPr/>
          <p:nvPr/>
        </p:nvSpPr>
        <p:spPr>
          <a:xfrm>
            <a:off x="271548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Shape 10"/>
          <p:cNvSpPr/>
          <p:nvPr/>
        </p:nvSpPr>
        <p:spPr>
          <a:xfrm>
            <a:off x="2752200" y="2103120"/>
            <a:ext cx="2193840" cy="169092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Shape 11"/>
          <p:cNvSpPr/>
          <p:nvPr/>
        </p:nvSpPr>
        <p:spPr>
          <a:xfrm>
            <a:off x="3575160" y="2240280"/>
            <a:ext cx="547920" cy="5479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 12"/>
          <p:cNvSpPr/>
          <p:nvPr/>
        </p:nvSpPr>
        <p:spPr>
          <a:xfrm>
            <a:off x="3575160" y="224028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3"/>
          <p:cNvSpPr/>
          <p:nvPr/>
        </p:nvSpPr>
        <p:spPr>
          <a:xfrm>
            <a:off x="2843640" y="2834640"/>
            <a:ext cx="2010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 planning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4"/>
          <p:cNvSpPr/>
          <p:nvPr/>
        </p:nvSpPr>
        <p:spPr>
          <a:xfrm>
            <a:off x="2843640" y="3154680"/>
            <a:ext cx="201096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Issues GitHub assignées, points estimés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5"/>
          <p:cNvSpPr/>
          <p:nvPr/>
        </p:nvSpPr>
        <p:spPr>
          <a:xfrm>
            <a:off x="49467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Shape 16"/>
          <p:cNvSpPr/>
          <p:nvPr/>
        </p:nvSpPr>
        <p:spPr>
          <a:xfrm>
            <a:off x="4983480" y="2103120"/>
            <a:ext cx="2193840" cy="169092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Shape 17"/>
          <p:cNvSpPr/>
          <p:nvPr/>
        </p:nvSpPr>
        <p:spPr>
          <a:xfrm>
            <a:off x="5806440" y="2240280"/>
            <a:ext cx="547920" cy="5479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 18"/>
          <p:cNvSpPr/>
          <p:nvPr/>
        </p:nvSpPr>
        <p:spPr>
          <a:xfrm>
            <a:off x="5806440" y="224028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9"/>
          <p:cNvSpPr/>
          <p:nvPr/>
        </p:nvSpPr>
        <p:spPr>
          <a:xfrm>
            <a:off x="5074920" y="2834640"/>
            <a:ext cx="2010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Daily standup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0"/>
          <p:cNvSpPr/>
          <p:nvPr/>
        </p:nvSpPr>
        <p:spPr>
          <a:xfrm>
            <a:off x="5074920" y="3154680"/>
            <a:ext cx="201096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10 min — avancement, blocages, plan du jour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1"/>
          <p:cNvSpPr/>
          <p:nvPr/>
        </p:nvSpPr>
        <p:spPr>
          <a:xfrm>
            <a:off x="7178040" y="2926080"/>
            <a:ext cx="3636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000" tIns="-44640" rIns="18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Shape 22"/>
          <p:cNvSpPr/>
          <p:nvPr/>
        </p:nvSpPr>
        <p:spPr>
          <a:xfrm>
            <a:off x="7214760" y="2103120"/>
            <a:ext cx="2193840" cy="169092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Shape 23"/>
          <p:cNvSpPr/>
          <p:nvPr/>
        </p:nvSpPr>
        <p:spPr>
          <a:xfrm>
            <a:off x="8037720" y="2240280"/>
            <a:ext cx="547920" cy="54792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 24"/>
          <p:cNvSpPr/>
          <p:nvPr/>
        </p:nvSpPr>
        <p:spPr>
          <a:xfrm>
            <a:off x="8037720" y="224028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5"/>
          <p:cNvSpPr/>
          <p:nvPr/>
        </p:nvSpPr>
        <p:spPr>
          <a:xfrm>
            <a:off x="7306200" y="2834640"/>
            <a:ext cx="2010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&amp; demo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6"/>
          <p:cNvSpPr/>
          <p:nvPr/>
        </p:nvSpPr>
        <p:spPr>
          <a:xfrm>
            <a:off x="7306200" y="3154680"/>
            <a:ext cx="201096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Démo de fin de sprint en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7"/>
          <p:cNvSpPr/>
          <p:nvPr/>
        </p:nvSpPr>
        <p:spPr>
          <a:xfrm>
            <a:off x="94089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Shape 28"/>
          <p:cNvSpPr/>
          <p:nvPr/>
        </p:nvSpPr>
        <p:spPr>
          <a:xfrm>
            <a:off x="9445680" y="2103120"/>
            <a:ext cx="2193840" cy="169092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Shape 29"/>
          <p:cNvSpPr/>
          <p:nvPr/>
        </p:nvSpPr>
        <p:spPr>
          <a:xfrm>
            <a:off x="10268640" y="2240280"/>
            <a:ext cx="547920" cy="5479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 30"/>
          <p:cNvSpPr/>
          <p:nvPr/>
        </p:nvSpPr>
        <p:spPr>
          <a:xfrm>
            <a:off x="10268640" y="224028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31"/>
          <p:cNvSpPr/>
          <p:nvPr/>
        </p:nvSpPr>
        <p:spPr>
          <a:xfrm>
            <a:off x="9537120" y="2834640"/>
            <a:ext cx="2010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Rétrospective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2"/>
          <p:cNvSpPr/>
          <p:nvPr/>
        </p:nvSpPr>
        <p:spPr>
          <a:xfrm>
            <a:off x="9537120" y="3154680"/>
            <a:ext cx="201096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 qui a marché / ce qu'on change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33"/>
          <p:cNvSpPr/>
          <p:nvPr/>
        </p:nvSpPr>
        <p:spPr>
          <a:xfrm>
            <a:off x="548640" y="4023360"/>
            <a:ext cx="5531400" cy="22395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 34"/>
          <p:cNvSpPr/>
          <p:nvPr/>
        </p:nvSpPr>
        <p:spPr>
          <a:xfrm>
            <a:off x="731520" y="4114800"/>
            <a:ext cx="5028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Outils &amp; rituels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35"/>
          <p:cNvSpPr/>
          <p:nvPr/>
        </p:nvSpPr>
        <p:spPr>
          <a:xfrm>
            <a:off x="777240" y="4636080"/>
            <a:ext cx="145440" cy="1454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 36"/>
          <p:cNvSpPr/>
          <p:nvPr/>
        </p:nvSpPr>
        <p:spPr>
          <a:xfrm>
            <a:off x="1005840" y="4526280"/>
            <a:ext cx="21938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Issues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7"/>
          <p:cNvSpPr/>
          <p:nvPr/>
        </p:nvSpPr>
        <p:spPr>
          <a:xfrm>
            <a:off x="3246120" y="4526280"/>
            <a:ext cx="2742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Backlog vivant, labels, milestones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8"/>
          <p:cNvSpPr/>
          <p:nvPr/>
        </p:nvSpPr>
        <p:spPr>
          <a:xfrm>
            <a:off x="777240" y="5047560"/>
            <a:ext cx="145440" cy="1454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39"/>
          <p:cNvSpPr/>
          <p:nvPr/>
        </p:nvSpPr>
        <p:spPr>
          <a:xfrm>
            <a:off x="1005840" y="4937760"/>
            <a:ext cx="21938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Projects (Kanban)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40"/>
          <p:cNvSpPr/>
          <p:nvPr/>
        </p:nvSpPr>
        <p:spPr>
          <a:xfrm>
            <a:off x="3246120" y="4937760"/>
            <a:ext cx="2742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Colonnes Todo /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Doing /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Review / Done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41"/>
          <p:cNvSpPr/>
          <p:nvPr/>
        </p:nvSpPr>
        <p:spPr>
          <a:xfrm>
            <a:off x="777240" y="5459040"/>
            <a:ext cx="145440" cy="1454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 42"/>
          <p:cNvSpPr/>
          <p:nvPr/>
        </p:nvSpPr>
        <p:spPr>
          <a:xfrm>
            <a:off x="1005840" y="5349240"/>
            <a:ext cx="21938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Pull Requests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43"/>
          <p:cNvSpPr/>
          <p:nvPr/>
        </p:nvSpPr>
        <p:spPr>
          <a:xfrm>
            <a:off x="3246120" y="5349240"/>
            <a:ext cx="2742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review obligatoire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44"/>
          <p:cNvSpPr/>
          <p:nvPr/>
        </p:nvSpPr>
        <p:spPr>
          <a:xfrm>
            <a:off x="777240" y="5870520"/>
            <a:ext cx="145440" cy="1454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 45"/>
          <p:cNvSpPr/>
          <p:nvPr/>
        </p:nvSpPr>
        <p:spPr>
          <a:xfrm>
            <a:off x="1005840" y="5760720"/>
            <a:ext cx="21938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46"/>
          <p:cNvSpPr/>
          <p:nvPr/>
        </p:nvSpPr>
        <p:spPr>
          <a:xfrm>
            <a:off x="3246120" y="5760720"/>
            <a:ext cx="2742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CI bloquante : lint + test +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47"/>
          <p:cNvSpPr/>
          <p:nvPr/>
        </p:nvSpPr>
        <p:spPr>
          <a:xfrm>
            <a:off x="6263640" y="4023360"/>
            <a:ext cx="5531400" cy="22395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 48"/>
          <p:cNvSpPr/>
          <p:nvPr/>
        </p:nvSpPr>
        <p:spPr>
          <a:xfrm>
            <a:off x="6446520" y="4114800"/>
            <a:ext cx="5028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Découpe du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9"/>
          <p:cNvSpPr/>
          <p:nvPr/>
        </p:nvSpPr>
        <p:spPr>
          <a:xfrm>
            <a:off x="6446520" y="4526280"/>
            <a:ext cx="6393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50"/>
          <p:cNvSpPr/>
          <p:nvPr/>
        </p:nvSpPr>
        <p:spPr>
          <a:xfrm>
            <a:off x="7178040" y="4526280"/>
            <a:ext cx="44798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phases (MVP / Features / Polish)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51"/>
          <p:cNvSpPr/>
          <p:nvPr/>
        </p:nvSpPr>
        <p:spPr>
          <a:xfrm>
            <a:off x="6446520" y="4937760"/>
            <a:ext cx="6393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52"/>
          <p:cNvSpPr/>
          <p:nvPr/>
        </p:nvSpPr>
        <p:spPr>
          <a:xfrm>
            <a:off x="7178040" y="4937760"/>
            <a:ext cx="44798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sprints d'environ 10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53"/>
          <p:cNvSpPr/>
          <p:nvPr/>
        </p:nvSpPr>
        <p:spPr>
          <a:xfrm>
            <a:off x="6446520" y="5349240"/>
            <a:ext cx="6393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54"/>
          <p:cNvSpPr/>
          <p:nvPr/>
        </p:nvSpPr>
        <p:spPr>
          <a:xfrm>
            <a:off x="7178040" y="5349240"/>
            <a:ext cx="44798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réparties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5"/>
          <p:cNvSpPr/>
          <p:nvPr/>
        </p:nvSpPr>
        <p:spPr>
          <a:xfrm>
            <a:off x="6446520" y="5760720"/>
            <a:ext cx="6393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56"/>
          <p:cNvSpPr/>
          <p:nvPr/>
        </p:nvSpPr>
        <p:spPr>
          <a:xfrm>
            <a:off x="7178040" y="5760720"/>
            <a:ext cx="44798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+ rétro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Text 57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58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548640" y="411480"/>
            <a:ext cx="10057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3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 en équipe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Rectangle 4"/>
          <p:cNvSpPr/>
          <p:nvPr/>
        </p:nvSpPr>
        <p:spPr>
          <a:xfrm>
            <a:off x="548640" y="1691640"/>
            <a:ext cx="7223040" cy="42969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4" name="TextBox 5"/>
          <p:cNvSpPr/>
          <p:nvPr/>
        </p:nvSpPr>
        <p:spPr>
          <a:xfrm>
            <a:off x="731520" y="1984320"/>
            <a:ext cx="1188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main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Rectangle 6"/>
          <p:cNvSpPr/>
          <p:nvPr/>
        </p:nvSpPr>
        <p:spPr>
          <a:xfrm>
            <a:off x="4681800" y="2048400"/>
            <a:ext cx="145440" cy="145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" name="Oval 7"/>
          <p:cNvSpPr/>
          <p:nvPr/>
        </p:nvSpPr>
        <p:spPr>
          <a:xfrm>
            <a:off x="2350080" y="204840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" name="Oval 8"/>
          <p:cNvSpPr/>
          <p:nvPr/>
        </p:nvSpPr>
        <p:spPr>
          <a:xfrm>
            <a:off x="4681800" y="204840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8" name="Oval 9"/>
          <p:cNvSpPr/>
          <p:nvPr/>
        </p:nvSpPr>
        <p:spPr>
          <a:xfrm>
            <a:off x="7013520" y="204840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10"/>
          <p:cNvSpPr/>
          <p:nvPr/>
        </p:nvSpPr>
        <p:spPr>
          <a:xfrm>
            <a:off x="731520" y="3127320"/>
            <a:ext cx="1188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develop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Rectangle 11"/>
          <p:cNvSpPr/>
          <p:nvPr/>
        </p:nvSpPr>
        <p:spPr>
          <a:xfrm>
            <a:off x="4681800" y="3191400"/>
            <a:ext cx="145440" cy="145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Oval 12"/>
          <p:cNvSpPr/>
          <p:nvPr/>
        </p:nvSpPr>
        <p:spPr>
          <a:xfrm>
            <a:off x="2350080" y="319140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Oval 13"/>
          <p:cNvSpPr/>
          <p:nvPr/>
        </p:nvSpPr>
        <p:spPr>
          <a:xfrm>
            <a:off x="3515760" y="319140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Oval 14"/>
          <p:cNvSpPr/>
          <p:nvPr/>
        </p:nvSpPr>
        <p:spPr>
          <a:xfrm>
            <a:off x="4681800" y="319140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Oval 15"/>
          <p:cNvSpPr/>
          <p:nvPr/>
        </p:nvSpPr>
        <p:spPr>
          <a:xfrm>
            <a:off x="5847480" y="319140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" name="Oval 16"/>
          <p:cNvSpPr/>
          <p:nvPr/>
        </p:nvSpPr>
        <p:spPr>
          <a:xfrm>
            <a:off x="7013520" y="319140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TextBox 17"/>
          <p:cNvSpPr/>
          <p:nvPr/>
        </p:nvSpPr>
        <p:spPr>
          <a:xfrm>
            <a:off x="731520" y="4270320"/>
            <a:ext cx="1188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feature/auth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Rectangle 18"/>
          <p:cNvSpPr/>
          <p:nvPr/>
        </p:nvSpPr>
        <p:spPr>
          <a:xfrm>
            <a:off x="1965960" y="4389120"/>
            <a:ext cx="5577120" cy="3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Oval 19"/>
          <p:cNvSpPr/>
          <p:nvPr/>
        </p:nvSpPr>
        <p:spPr>
          <a:xfrm>
            <a:off x="2350080" y="433440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Oval 20"/>
          <p:cNvSpPr/>
          <p:nvPr/>
        </p:nvSpPr>
        <p:spPr>
          <a:xfrm>
            <a:off x="3904560" y="433440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Oval 21"/>
          <p:cNvSpPr/>
          <p:nvPr/>
        </p:nvSpPr>
        <p:spPr>
          <a:xfrm>
            <a:off x="5459040" y="433440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Oval 22"/>
          <p:cNvSpPr/>
          <p:nvPr/>
        </p:nvSpPr>
        <p:spPr>
          <a:xfrm>
            <a:off x="7013520" y="433440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" name="TextBox 23"/>
          <p:cNvSpPr/>
          <p:nvPr/>
        </p:nvSpPr>
        <p:spPr>
          <a:xfrm>
            <a:off x="731520" y="5321880"/>
            <a:ext cx="1188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feature/likes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Rectangle 24"/>
          <p:cNvSpPr/>
          <p:nvPr/>
        </p:nvSpPr>
        <p:spPr>
          <a:xfrm>
            <a:off x="1965960" y="5440680"/>
            <a:ext cx="5577120" cy="36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Oval 25"/>
          <p:cNvSpPr/>
          <p:nvPr/>
        </p:nvSpPr>
        <p:spPr>
          <a:xfrm>
            <a:off x="2350080" y="538596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5" name="Oval 26"/>
          <p:cNvSpPr/>
          <p:nvPr/>
        </p:nvSpPr>
        <p:spPr>
          <a:xfrm>
            <a:off x="3904560" y="538596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Oval 27"/>
          <p:cNvSpPr/>
          <p:nvPr/>
        </p:nvSpPr>
        <p:spPr>
          <a:xfrm>
            <a:off x="5459040" y="538596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Oval 28"/>
          <p:cNvSpPr/>
          <p:nvPr/>
        </p:nvSpPr>
        <p:spPr>
          <a:xfrm>
            <a:off x="7013520" y="538596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8" name="TextBox 29"/>
          <p:cNvSpPr/>
          <p:nvPr/>
        </p:nvSpPr>
        <p:spPr>
          <a:xfrm>
            <a:off x="5029200" y="3840480"/>
            <a:ext cx="730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Rectangle 30"/>
          <p:cNvSpPr/>
          <p:nvPr/>
        </p:nvSpPr>
        <p:spPr>
          <a:xfrm>
            <a:off x="5303520" y="3337560"/>
            <a:ext cx="36000" cy="1050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Oval 31"/>
          <p:cNvSpPr/>
          <p:nvPr/>
        </p:nvSpPr>
        <p:spPr>
          <a:xfrm>
            <a:off x="5248800" y="324612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TextBox 32"/>
          <p:cNvSpPr/>
          <p:nvPr/>
        </p:nvSpPr>
        <p:spPr>
          <a:xfrm>
            <a:off x="6309360" y="3840480"/>
            <a:ext cx="730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Rectangle 33"/>
          <p:cNvSpPr/>
          <p:nvPr/>
        </p:nvSpPr>
        <p:spPr>
          <a:xfrm>
            <a:off x="6583680" y="3337560"/>
            <a:ext cx="36000" cy="2102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Oval 34"/>
          <p:cNvSpPr/>
          <p:nvPr/>
        </p:nvSpPr>
        <p:spPr>
          <a:xfrm>
            <a:off x="6528960" y="324612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4" name="TextBox 35"/>
          <p:cNvSpPr/>
          <p:nvPr/>
        </p:nvSpPr>
        <p:spPr>
          <a:xfrm>
            <a:off x="3749040" y="251460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release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Rectangle 36"/>
          <p:cNvSpPr/>
          <p:nvPr/>
        </p:nvSpPr>
        <p:spPr>
          <a:xfrm>
            <a:off x="3931920" y="2194560"/>
            <a:ext cx="36000" cy="10508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Oval 37"/>
          <p:cNvSpPr/>
          <p:nvPr/>
        </p:nvSpPr>
        <p:spPr>
          <a:xfrm>
            <a:off x="3877200" y="210312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7" name="TextBox 38"/>
          <p:cNvSpPr/>
          <p:nvPr/>
        </p:nvSpPr>
        <p:spPr>
          <a:xfrm>
            <a:off x="731520" y="5669280"/>
            <a:ext cx="6857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Rectangle 39"/>
          <p:cNvSpPr/>
          <p:nvPr/>
        </p:nvSpPr>
        <p:spPr>
          <a:xfrm>
            <a:off x="8092440" y="1691640"/>
            <a:ext cx="3519720" cy="42969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Box 40"/>
          <p:cNvSpPr/>
          <p:nvPr/>
        </p:nvSpPr>
        <p:spPr>
          <a:xfrm>
            <a:off x="8275320" y="1783080"/>
            <a:ext cx="3153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Règles d'équipe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Oval 41"/>
          <p:cNvSpPr/>
          <p:nvPr/>
        </p:nvSpPr>
        <p:spPr>
          <a:xfrm>
            <a:off x="8275320" y="2194560"/>
            <a:ext cx="410760" cy="410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TextBox 42"/>
          <p:cNvSpPr/>
          <p:nvPr/>
        </p:nvSpPr>
        <p:spPr>
          <a:xfrm>
            <a:off x="8275320" y="219456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Box 43"/>
          <p:cNvSpPr/>
          <p:nvPr/>
        </p:nvSpPr>
        <p:spPr>
          <a:xfrm>
            <a:off x="8778240" y="2148840"/>
            <a:ext cx="26510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feature = 1 branche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Oval 44"/>
          <p:cNvSpPr/>
          <p:nvPr/>
        </p:nvSpPr>
        <p:spPr>
          <a:xfrm>
            <a:off x="8275320" y="2971800"/>
            <a:ext cx="410760" cy="410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45"/>
          <p:cNvSpPr/>
          <p:nvPr/>
        </p:nvSpPr>
        <p:spPr>
          <a:xfrm>
            <a:off x="8275320" y="297180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Box 46"/>
          <p:cNvSpPr/>
          <p:nvPr/>
        </p:nvSpPr>
        <p:spPr>
          <a:xfrm>
            <a:off x="8778240" y="2926080"/>
            <a:ext cx="26510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 obligatoire vers develop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Oval 47"/>
          <p:cNvSpPr/>
          <p:nvPr/>
        </p:nvSpPr>
        <p:spPr>
          <a:xfrm>
            <a:off x="8275320" y="3749040"/>
            <a:ext cx="410760" cy="410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7" name="TextBox 48"/>
          <p:cNvSpPr/>
          <p:nvPr/>
        </p:nvSpPr>
        <p:spPr>
          <a:xfrm>
            <a:off x="8275320" y="374904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Box 49"/>
          <p:cNvSpPr/>
          <p:nvPr/>
        </p:nvSpPr>
        <p:spPr>
          <a:xfrm>
            <a:off x="8778240" y="3703320"/>
            <a:ext cx="26510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Oval 50"/>
          <p:cNvSpPr/>
          <p:nvPr/>
        </p:nvSpPr>
        <p:spPr>
          <a:xfrm>
            <a:off x="8275320" y="4526280"/>
            <a:ext cx="410760" cy="4107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0" name="TextBox 51"/>
          <p:cNvSpPr/>
          <p:nvPr/>
        </p:nvSpPr>
        <p:spPr>
          <a:xfrm>
            <a:off x="8275320" y="45262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Box 52"/>
          <p:cNvSpPr/>
          <p:nvPr/>
        </p:nvSpPr>
        <p:spPr>
          <a:xfrm>
            <a:off x="8778240" y="4480560"/>
            <a:ext cx="26510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develop → main = release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Box 53"/>
          <p:cNvSpPr/>
          <p:nvPr/>
        </p:nvSpPr>
        <p:spPr>
          <a:xfrm>
            <a:off x="548640" y="6080760"/>
            <a:ext cx="10972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6 contributeurs · 12+ issues majeures · PR #118 stabilisation Docker/Neon/Prisma/Redis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54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Box 55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6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Rectangle 1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7" name="TextBox 2"/>
          <p:cNvSpPr/>
          <p:nvPr/>
        </p:nvSpPr>
        <p:spPr>
          <a:xfrm>
            <a:off x="548640" y="411480"/>
            <a:ext cx="10057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Box 3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Anatomie d'une Pull Request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Rectangle 4"/>
          <p:cNvSpPr/>
          <p:nvPr/>
        </p:nvSpPr>
        <p:spPr>
          <a:xfrm>
            <a:off x="548640" y="1691640"/>
            <a:ext cx="7314480" cy="4571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0" name="Rectangle 5"/>
          <p:cNvSpPr/>
          <p:nvPr/>
        </p:nvSpPr>
        <p:spPr>
          <a:xfrm>
            <a:off x="548640" y="1691640"/>
            <a:ext cx="7314480" cy="4107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6"/>
          <p:cNvSpPr/>
          <p:nvPr/>
        </p:nvSpPr>
        <p:spPr>
          <a:xfrm>
            <a:off x="731520" y="1783080"/>
            <a:ext cx="685080" cy="2278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TextBox 7"/>
          <p:cNvSpPr/>
          <p:nvPr/>
        </p:nvSpPr>
        <p:spPr>
          <a:xfrm>
            <a:off x="731520" y="1783080"/>
            <a:ext cx="6850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OPEN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Box 8"/>
          <p:cNvSpPr/>
          <p:nvPr/>
        </p:nvSpPr>
        <p:spPr>
          <a:xfrm>
            <a:off x="1554480" y="1783080"/>
            <a:ext cx="6217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#118  Stabilisation Docker/Neon/Prisma/Redis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9"/>
          <p:cNvSpPr/>
          <p:nvPr/>
        </p:nvSpPr>
        <p:spPr>
          <a:xfrm>
            <a:off x="731520" y="2194560"/>
            <a:ext cx="69487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arocchet  wants to merge  18 commits  into  main  ← from  fix/docker-stabilisation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10"/>
          <p:cNvSpPr/>
          <p:nvPr/>
        </p:nvSpPr>
        <p:spPr>
          <a:xfrm>
            <a:off x="731520" y="2560320"/>
            <a:ext cx="69487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Commits (Conventional Commits)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Oval 11"/>
          <p:cNvSpPr/>
          <p:nvPr/>
        </p:nvSpPr>
        <p:spPr>
          <a:xfrm>
            <a:off x="777240" y="2926080"/>
            <a:ext cx="109080" cy="109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32760" rIns="5472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7" name="TextBox 12"/>
          <p:cNvSpPr/>
          <p:nvPr/>
        </p:nvSpPr>
        <p:spPr>
          <a:xfrm>
            <a:off x="960120" y="2880360"/>
            <a:ext cx="16452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feat(docker):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Box 13"/>
          <p:cNvSpPr/>
          <p:nvPr/>
        </p:nvSpPr>
        <p:spPr>
          <a:xfrm>
            <a:off x="2651760" y="2880360"/>
            <a:ext cx="51199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multi-stage build avec image Bun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Oval 14"/>
          <p:cNvSpPr/>
          <p:nvPr/>
        </p:nvSpPr>
        <p:spPr>
          <a:xfrm>
            <a:off x="777240" y="3200400"/>
            <a:ext cx="109080" cy="109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32760" rIns="5472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0" name="TextBox 15"/>
          <p:cNvSpPr/>
          <p:nvPr/>
        </p:nvSpPr>
        <p:spPr>
          <a:xfrm>
            <a:off x="960120" y="3154680"/>
            <a:ext cx="16452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fix(prisma):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Box 16"/>
          <p:cNvSpPr/>
          <p:nvPr/>
        </p:nvSpPr>
        <p:spPr>
          <a:xfrm>
            <a:off x="2651760" y="3154680"/>
            <a:ext cx="51199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openssl + migrate deploy au boot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Oval 17"/>
          <p:cNvSpPr/>
          <p:nvPr/>
        </p:nvSpPr>
        <p:spPr>
          <a:xfrm>
            <a:off x="777240" y="3474720"/>
            <a:ext cx="109080" cy="109080"/>
          </a:xfrm>
          <a:prstGeom prst="ellipse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32760" rIns="5472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3" name="TextBox 18"/>
          <p:cNvSpPr/>
          <p:nvPr/>
        </p:nvSpPr>
        <p:spPr>
          <a:xfrm>
            <a:off x="960120" y="3429000"/>
            <a:ext cx="16452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chore(deps):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Box 19"/>
          <p:cNvSpPr/>
          <p:nvPr/>
        </p:nvSpPr>
        <p:spPr>
          <a:xfrm>
            <a:off x="2651760" y="3429000"/>
            <a:ext cx="51199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bump @upstash/redis to 1.35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Oval 20"/>
          <p:cNvSpPr/>
          <p:nvPr/>
        </p:nvSpPr>
        <p:spPr>
          <a:xfrm>
            <a:off x="777240" y="3749040"/>
            <a:ext cx="109080" cy="109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32760" rIns="5472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6" name="TextBox 21"/>
          <p:cNvSpPr/>
          <p:nvPr/>
        </p:nvSpPr>
        <p:spPr>
          <a:xfrm>
            <a:off x="960120" y="3703320"/>
            <a:ext cx="16452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test(auth):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Box 22"/>
          <p:cNvSpPr/>
          <p:nvPr/>
        </p:nvSpPr>
        <p:spPr>
          <a:xfrm>
            <a:off x="2651760" y="3703320"/>
            <a:ext cx="51199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add register integration 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23"/>
          <p:cNvSpPr/>
          <p:nvPr/>
        </p:nvSpPr>
        <p:spPr>
          <a:xfrm>
            <a:off x="731520" y="4251960"/>
            <a:ext cx="69487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Checks CI · 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Oval 24"/>
          <p:cNvSpPr/>
          <p:nvPr/>
        </p:nvSpPr>
        <p:spPr>
          <a:xfrm>
            <a:off x="777240" y="4572000"/>
            <a:ext cx="182160" cy="1821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0" name="TextBox 25"/>
          <p:cNvSpPr/>
          <p:nvPr/>
        </p:nvSpPr>
        <p:spPr>
          <a:xfrm>
            <a:off x="777240" y="4572000"/>
            <a:ext cx="1821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Box 26"/>
          <p:cNvSpPr/>
          <p:nvPr/>
        </p:nvSpPr>
        <p:spPr>
          <a:xfrm>
            <a:off x="1051560" y="4553640"/>
            <a:ext cx="16452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27"/>
          <p:cNvSpPr/>
          <p:nvPr/>
        </p:nvSpPr>
        <p:spPr>
          <a:xfrm>
            <a:off x="2743200" y="4553640"/>
            <a:ext cx="5028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22s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Oval 28"/>
          <p:cNvSpPr/>
          <p:nvPr/>
        </p:nvSpPr>
        <p:spPr>
          <a:xfrm>
            <a:off x="777240" y="4846320"/>
            <a:ext cx="182160" cy="1821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4" name="TextBox 29"/>
          <p:cNvSpPr/>
          <p:nvPr/>
        </p:nvSpPr>
        <p:spPr>
          <a:xfrm>
            <a:off x="777240" y="4846320"/>
            <a:ext cx="1821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Box 30"/>
          <p:cNvSpPr/>
          <p:nvPr/>
        </p:nvSpPr>
        <p:spPr>
          <a:xfrm>
            <a:off x="1051560" y="4827960"/>
            <a:ext cx="16452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31"/>
          <p:cNvSpPr/>
          <p:nvPr/>
        </p:nvSpPr>
        <p:spPr>
          <a:xfrm>
            <a:off x="2743200" y="4827960"/>
            <a:ext cx="5028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1m 14s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Oval 32"/>
          <p:cNvSpPr/>
          <p:nvPr/>
        </p:nvSpPr>
        <p:spPr>
          <a:xfrm>
            <a:off x="777240" y="5120640"/>
            <a:ext cx="182160" cy="1821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8" name="TextBox 33"/>
          <p:cNvSpPr/>
          <p:nvPr/>
        </p:nvSpPr>
        <p:spPr>
          <a:xfrm>
            <a:off x="777240" y="5120640"/>
            <a:ext cx="1821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Box 34"/>
          <p:cNvSpPr/>
          <p:nvPr/>
        </p:nvSpPr>
        <p:spPr>
          <a:xfrm>
            <a:off x="1051560" y="5102280"/>
            <a:ext cx="16452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35"/>
          <p:cNvSpPr/>
          <p:nvPr/>
        </p:nvSpPr>
        <p:spPr>
          <a:xfrm>
            <a:off x="2743200" y="5102280"/>
            <a:ext cx="5028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2m 03s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Oval 36"/>
          <p:cNvSpPr/>
          <p:nvPr/>
        </p:nvSpPr>
        <p:spPr>
          <a:xfrm>
            <a:off x="777240" y="5394960"/>
            <a:ext cx="182160" cy="1821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2" name="TextBox 37"/>
          <p:cNvSpPr/>
          <p:nvPr/>
        </p:nvSpPr>
        <p:spPr>
          <a:xfrm>
            <a:off x="777240" y="5394960"/>
            <a:ext cx="1821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38"/>
          <p:cNvSpPr/>
          <p:nvPr/>
        </p:nvSpPr>
        <p:spPr>
          <a:xfrm>
            <a:off x="1051560" y="5376600"/>
            <a:ext cx="16452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vercel preview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39"/>
          <p:cNvSpPr/>
          <p:nvPr/>
        </p:nvSpPr>
        <p:spPr>
          <a:xfrm>
            <a:off x="2743200" y="5376600"/>
            <a:ext cx="5028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deployed · pr-118.konekt.vercel.app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Rectangle 40"/>
          <p:cNvSpPr/>
          <p:nvPr/>
        </p:nvSpPr>
        <p:spPr>
          <a:xfrm>
            <a:off x="731520" y="5760720"/>
            <a:ext cx="1645200" cy="3650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6" name="TextBox 41"/>
          <p:cNvSpPr/>
          <p:nvPr/>
        </p:nvSpPr>
        <p:spPr>
          <a:xfrm>
            <a:off x="731520" y="5760720"/>
            <a:ext cx="16452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Merge pull 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Box 42"/>
          <p:cNvSpPr/>
          <p:nvPr/>
        </p:nvSpPr>
        <p:spPr>
          <a:xfrm>
            <a:off x="2560320" y="5806440"/>
            <a:ext cx="5028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2 reviewers ✓ approved · all checks passed · no conflicts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Rectangle 43"/>
          <p:cNvSpPr/>
          <p:nvPr/>
        </p:nvSpPr>
        <p:spPr>
          <a:xfrm>
            <a:off x="8092440" y="1691640"/>
            <a:ext cx="3519720" cy="45712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9" name="TextBox 44"/>
          <p:cNvSpPr/>
          <p:nvPr/>
        </p:nvSpPr>
        <p:spPr>
          <a:xfrm>
            <a:off x="8275320" y="1783080"/>
            <a:ext cx="3153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Pratiques 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Oval 45"/>
          <p:cNvSpPr/>
          <p:nvPr/>
        </p:nvSpPr>
        <p:spPr>
          <a:xfrm>
            <a:off x="8275320" y="2194560"/>
            <a:ext cx="410760" cy="410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1" name="TextBox 46"/>
          <p:cNvSpPr/>
          <p:nvPr/>
        </p:nvSpPr>
        <p:spPr>
          <a:xfrm>
            <a:off x="8275320" y="219456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Box 47"/>
          <p:cNvSpPr/>
          <p:nvPr/>
        </p:nvSpPr>
        <p:spPr>
          <a:xfrm>
            <a:off x="8778240" y="2148840"/>
            <a:ext cx="26510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Conventional Commits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Oval 48"/>
          <p:cNvSpPr/>
          <p:nvPr/>
        </p:nvSpPr>
        <p:spPr>
          <a:xfrm>
            <a:off x="8275320" y="2971800"/>
            <a:ext cx="410760" cy="410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4" name="TextBox 49"/>
          <p:cNvSpPr/>
          <p:nvPr/>
        </p:nvSpPr>
        <p:spPr>
          <a:xfrm>
            <a:off x="8275320" y="297180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Box 50"/>
          <p:cNvSpPr/>
          <p:nvPr/>
        </p:nvSpPr>
        <p:spPr>
          <a:xfrm>
            <a:off x="8778240" y="2926080"/>
            <a:ext cx="26510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PR = 1 feature ou fix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Oval 51"/>
          <p:cNvSpPr/>
          <p:nvPr/>
        </p:nvSpPr>
        <p:spPr>
          <a:xfrm>
            <a:off x="8275320" y="3749040"/>
            <a:ext cx="410760" cy="410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7" name="TextBox 52"/>
          <p:cNvSpPr/>
          <p:nvPr/>
        </p:nvSpPr>
        <p:spPr>
          <a:xfrm>
            <a:off x="8275320" y="374904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Box 53"/>
          <p:cNvSpPr/>
          <p:nvPr/>
        </p:nvSpPr>
        <p:spPr>
          <a:xfrm>
            <a:off x="8778240" y="3703320"/>
            <a:ext cx="26510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= pré-requis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Oval 54"/>
          <p:cNvSpPr/>
          <p:nvPr/>
        </p:nvSpPr>
        <p:spPr>
          <a:xfrm>
            <a:off x="8275320" y="4526280"/>
            <a:ext cx="410760" cy="4107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0" name="TextBox 55"/>
          <p:cNvSpPr/>
          <p:nvPr/>
        </p:nvSpPr>
        <p:spPr>
          <a:xfrm>
            <a:off x="8275320" y="45262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Box 56"/>
          <p:cNvSpPr/>
          <p:nvPr/>
        </p:nvSpPr>
        <p:spPr>
          <a:xfrm>
            <a:off x="8778240" y="4480560"/>
            <a:ext cx="26510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Review par ≥ 1 pair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Oval 57"/>
          <p:cNvSpPr/>
          <p:nvPr/>
        </p:nvSpPr>
        <p:spPr>
          <a:xfrm>
            <a:off x="8275320" y="5303520"/>
            <a:ext cx="410760" cy="41076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3" name="TextBox 58"/>
          <p:cNvSpPr/>
          <p:nvPr/>
        </p:nvSpPr>
        <p:spPr>
          <a:xfrm>
            <a:off x="8275320" y="530352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Box 59"/>
          <p:cNvSpPr/>
          <p:nvPr/>
        </p:nvSpPr>
        <p:spPr>
          <a:xfrm>
            <a:off x="8778240" y="5257800"/>
            <a:ext cx="26510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Squash &amp;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60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61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7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— contexte &amp; vision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1" name="Shape 3"/>
          <p:cNvSpPr/>
          <p:nvPr/>
        </p:nvSpPr>
        <p:spPr>
          <a:xfrm>
            <a:off x="548640" y="1691640"/>
            <a:ext cx="5531400" cy="219384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2" name="Text 4"/>
          <p:cNvSpPr/>
          <p:nvPr/>
        </p:nvSpPr>
        <p:spPr>
          <a:xfrm>
            <a:off x="777240" y="182880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Problématique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5"/>
          <p:cNvSpPr/>
          <p:nvPr/>
        </p:nvSpPr>
        <p:spPr>
          <a:xfrm>
            <a:off x="777240" y="2194560"/>
            <a:ext cx="5074200" cy="15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une application sociale moderne, sécurisée et temps réel, comme support de démonstration pour la certification CDA. Le projet doit illustrer l'ensemble du cycle : conception, développement, tests, déploiement.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6"/>
          <p:cNvSpPr/>
          <p:nvPr/>
        </p:nvSpPr>
        <p:spPr>
          <a:xfrm>
            <a:off x="6263640" y="1691640"/>
            <a:ext cx="5531400" cy="219384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5" name="Text 7"/>
          <p:cNvSpPr/>
          <p:nvPr/>
        </p:nvSpPr>
        <p:spPr>
          <a:xfrm>
            <a:off x="6492240" y="182880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Solution proposée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8"/>
          <p:cNvSpPr/>
          <p:nvPr/>
        </p:nvSpPr>
        <p:spPr>
          <a:xfrm>
            <a:off x="6492240" y="2194560"/>
            <a:ext cx="5074200" cy="15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: posts, stories, reactions, messagerie privée et de groupe, événements, follow &amp; friends, notifications temps réel — déployé en serverless avec une base relationnelle riche et un push SSE.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9"/>
          <p:cNvSpPr/>
          <p:nvPr/>
        </p:nvSpPr>
        <p:spPr>
          <a:xfrm>
            <a:off x="548640" y="4206240"/>
            <a:ext cx="2157120" cy="182808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8" name="Shape 10"/>
          <p:cNvSpPr/>
          <p:nvPr/>
        </p:nvSpPr>
        <p:spPr>
          <a:xfrm>
            <a:off x="1325880" y="4389120"/>
            <a:ext cx="639360" cy="6393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9" name="Text 11"/>
          <p:cNvSpPr/>
          <p:nvPr/>
        </p:nvSpPr>
        <p:spPr>
          <a:xfrm>
            <a:off x="1325880" y="4389120"/>
            <a:ext cx="6393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12"/>
          <p:cNvSpPr/>
          <p:nvPr/>
        </p:nvSpPr>
        <p:spPr>
          <a:xfrm>
            <a:off x="640080" y="5166360"/>
            <a:ext cx="19742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3"/>
          <p:cNvSpPr/>
          <p:nvPr/>
        </p:nvSpPr>
        <p:spPr>
          <a:xfrm>
            <a:off x="640080" y="5486400"/>
            <a:ext cx="19742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Posts, Stories, Reels, Reactions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Shape 14"/>
          <p:cNvSpPr/>
          <p:nvPr/>
        </p:nvSpPr>
        <p:spPr>
          <a:xfrm>
            <a:off x="2797920" y="4206240"/>
            <a:ext cx="2157120" cy="182808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3" name="Shape 15"/>
          <p:cNvSpPr/>
          <p:nvPr/>
        </p:nvSpPr>
        <p:spPr>
          <a:xfrm>
            <a:off x="3575160" y="4389120"/>
            <a:ext cx="639360" cy="6393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4" name="Text 16"/>
          <p:cNvSpPr/>
          <p:nvPr/>
        </p:nvSpPr>
        <p:spPr>
          <a:xfrm>
            <a:off x="3575160" y="4389120"/>
            <a:ext cx="6393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◐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17"/>
          <p:cNvSpPr/>
          <p:nvPr/>
        </p:nvSpPr>
        <p:spPr>
          <a:xfrm>
            <a:off x="2889360" y="5166360"/>
            <a:ext cx="19742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Messagerie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8"/>
          <p:cNvSpPr/>
          <p:nvPr/>
        </p:nvSpPr>
        <p:spPr>
          <a:xfrm>
            <a:off x="2889360" y="5486400"/>
            <a:ext cx="19742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DM, Group Chat, SSE temps réel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19"/>
          <p:cNvSpPr/>
          <p:nvPr/>
        </p:nvSpPr>
        <p:spPr>
          <a:xfrm>
            <a:off x="5047560" y="4206240"/>
            <a:ext cx="2157120" cy="182808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8" name="Shape 20"/>
          <p:cNvSpPr/>
          <p:nvPr/>
        </p:nvSpPr>
        <p:spPr>
          <a:xfrm>
            <a:off x="5824800" y="4389120"/>
            <a:ext cx="639360" cy="63936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9" name="Text 21"/>
          <p:cNvSpPr/>
          <p:nvPr/>
        </p:nvSpPr>
        <p:spPr>
          <a:xfrm>
            <a:off x="5824800" y="4389120"/>
            <a:ext cx="6393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❖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22"/>
          <p:cNvSpPr/>
          <p:nvPr/>
        </p:nvSpPr>
        <p:spPr>
          <a:xfrm>
            <a:off x="5139000" y="5166360"/>
            <a:ext cx="19742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3"/>
          <p:cNvSpPr/>
          <p:nvPr/>
        </p:nvSpPr>
        <p:spPr>
          <a:xfrm>
            <a:off x="5139000" y="5486400"/>
            <a:ext cx="19742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Groupes, Événements,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24"/>
          <p:cNvSpPr/>
          <p:nvPr/>
        </p:nvSpPr>
        <p:spPr>
          <a:xfrm>
            <a:off x="7296840" y="4206240"/>
            <a:ext cx="2157120" cy="182808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3" name="Shape 25"/>
          <p:cNvSpPr/>
          <p:nvPr/>
        </p:nvSpPr>
        <p:spPr>
          <a:xfrm>
            <a:off x="8074080" y="4389120"/>
            <a:ext cx="639360" cy="63936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4" name="Text 26"/>
          <p:cNvSpPr/>
          <p:nvPr/>
        </p:nvSpPr>
        <p:spPr>
          <a:xfrm>
            <a:off x="8074080" y="4389120"/>
            <a:ext cx="6393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27"/>
          <p:cNvSpPr/>
          <p:nvPr/>
        </p:nvSpPr>
        <p:spPr>
          <a:xfrm>
            <a:off x="7388280" y="5166360"/>
            <a:ext cx="19742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Découverte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28"/>
          <p:cNvSpPr/>
          <p:nvPr/>
        </p:nvSpPr>
        <p:spPr>
          <a:xfrm>
            <a:off x="7388280" y="5486400"/>
            <a:ext cx="19742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Search, Trending, Recommandations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Shape 29"/>
          <p:cNvSpPr/>
          <p:nvPr/>
        </p:nvSpPr>
        <p:spPr>
          <a:xfrm>
            <a:off x="9546480" y="4206240"/>
            <a:ext cx="2157120" cy="182808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8" name="Shape 30"/>
          <p:cNvSpPr/>
          <p:nvPr/>
        </p:nvSpPr>
        <p:spPr>
          <a:xfrm>
            <a:off x="10323720" y="4389120"/>
            <a:ext cx="639360" cy="63936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Text 31"/>
          <p:cNvSpPr/>
          <p:nvPr/>
        </p:nvSpPr>
        <p:spPr>
          <a:xfrm>
            <a:off x="10323720" y="4389120"/>
            <a:ext cx="6393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⚙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32"/>
          <p:cNvSpPr/>
          <p:nvPr/>
        </p:nvSpPr>
        <p:spPr>
          <a:xfrm>
            <a:off x="9637920" y="5166360"/>
            <a:ext cx="19742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3"/>
          <p:cNvSpPr/>
          <p:nvPr/>
        </p:nvSpPr>
        <p:spPr>
          <a:xfrm>
            <a:off x="9637920" y="5486400"/>
            <a:ext cx="19742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Thème, langue, confidentialité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3" name="Text 34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35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8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CAHIER DES CHARGES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&amp; périmètre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8" name="Shape 3"/>
          <p:cNvSpPr/>
          <p:nvPr/>
        </p:nvSpPr>
        <p:spPr>
          <a:xfrm>
            <a:off x="548640" y="1691640"/>
            <a:ext cx="2157120" cy="137088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9" name="Text 4"/>
          <p:cNvSpPr/>
          <p:nvPr/>
        </p:nvSpPr>
        <p:spPr>
          <a:xfrm>
            <a:off x="548640" y="1783080"/>
            <a:ext cx="215712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5"/>
          <p:cNvSpPr/>
          <p:nvPr/>
        </p:nvSpPr>
        <p:spPr>
          <a:xfrm>
            <a:off x="548640" y="2560320"/>
            <a:ext cx="2157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6"/>
          <p:cNvSpPr/>
          <p:nvPr/>
        </p:nvSpPr>
        <p:spPr>
          <a:xfrm>
            <a:off x="2797920" y="1691640"/>
            <a:ext cx="2157120" cy="137088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2" name="Text 7"/>
          <p:cNvSpPr/>
          <p:nvPr/>
        </p:nvSpPr>
        <p:spPr>
          <a:xfrm>
            <a:off x="2797920" y="1783080"/>
            <a:ext cx="215712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12+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8"/>
          <p:cNvSpPr/>
          <p:nvPr/>
        </p:nvSpPr>
        <p:spPr>
          <a:xfrm>
            <a:off x="2797920" y="2560320"/>
            <a:ext cx="2157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 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Shape 9"/>
          <p:cNvSpPr/>
          <p:nvPr/>
        </p:nvSpPr>
        <p:spPr>
          <a:xfrm>
            <a:off x="5047560" y="1691640"/>
            <a:ext cx="2157120" cy="137088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5" name="Text 10"/>
          <p:cNvSpPr/>
          <p:nvPr/>
        </p:nvSpPr>
        <p:spPr>
          <a:xfrm>
            <a:off x="5047560" y="1783080"/>
            <a:ext cx="215712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11"/>
          <p:cNvSpPr/>
          <p:nvPr/>
        </p:nvSpPr>
        <p:spPr>
          <a:xfrm>
            <a:off x="5047560" y="2560320"/>
            <a:ext cx="2157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12"/>
          <p:cNvSpPr/>
          <p:nvPr/>
        </p:nvSpPr>
        <p:spPr>
          <a:xfrm>
            <a:off x="7296840" y="1691640"/>
            <a:ext cx="2157120" cy="137088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8" name="Text 13"/>
          <p:cNvSpPr/>
          <p:nvPr/>
        </p:nvSpPr>
        <p:spPr>
          <a:xfrm>
            <a:off x="7296840" y="1783080"/>
            <a:ext cx="215712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20+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14"/>
          <p:cNvSpPr/>
          <p:nvPr/>
        </p:nvSpPr>
        <p:spPr>
          <a:xfrm>
            <a:off x="7296840" y="2560320"/>
            <a:ext cx="2157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15"/>
          <p:cNvSpPr/>
          <p:nvPr/>
        </p:nvSpPr>
        <p:spPr>
          <a:xfrm>
            <a:off x="9546480" y="1691640"/>
            <a:ext cx="2157120" cy="137088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1" name="Text 16"/>
          <p:cNvSpPr/>
          <p:nvPr/>
        </p:nvSpPr>
        <p:spPr>
          <a:xfrm>
            <a:off x="9546480" y="1783080"/>
            <a:ext cx="215712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200+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17"/>
          <p:cNvSpPr/>
          <p:nvPr/>
        </p:nvSpPr>
        <p:spPr>
          <a:xfrm>
            <a:off x="9546480" y="2560320"/>
            <a:ext cx="21571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Variables CSS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8"/>
          <p:cNvSpPr/>
          <p:nvPr/>
        </p:nvSpPr>
        <p:spPr>
          <a:xfrm>
            <a:off x="548640" y="333756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Top stories prioritaires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4" name="Table 0"/>
          <p:cNvGraphicFramePr/>
          <p:nvPr/>
        </p:nvGraphicFramePr>
        <p:xfrm>
          <a:off x="548640" y="3657600"/>
          <a:ext cx="11063880" cy="246888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1463040"/>
                <a:gridCol w="5212080"/>
              </a:tblGrid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Acteur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Priorité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Critère d'acceptation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Visiteur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S'inscrire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Email validé, compte créé, JWT émis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Créer un 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Post visible immédiatement dans le feed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Envoyer un message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Message persisté + push SSE au destinataire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Réagir / commenter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Compteur incrémenté, doublon impossible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Modérateur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Supprimer un contenu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Contenu retiré, log d'action conservé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</a:tbl>
          </a:graphicData>
        </a:graphic>
      </p:graphicFrame>
      <p:pic>
        <p:nvPicPr>
          <p:cNvPr id="36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6" name="Text 19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20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9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1" name="Shape 3"/>
          <p:cNvSpPr/>
          <p:nvPr/>
        </p:nvSpPr>
        <p:spPr>
          <a:xfrm>
            <a:off x="548640" y="1691640"/>
            <a:ext cx="11063520" cy="109656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2" name="Shape 4"/>
          <p:cNvSpPr/>
          <p:nvPr/>
        </p:nvSpPr>
        <p:spPr>
          <a:xfrm>
            <a:off x="548640" y="1691640"/>
            <a:ext cx="109080" cy="1096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45000" rIns="54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3" name="Text 5"/>
          <p:cNvSpPr/>
          <p:nvPr/>
        </p:nvSpPr>
        <p:spPr>
          <a:xfrm>
            <a:off x="777240" y="1783080"/>
            <a:ext cx="2742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PRÉSENTATION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6"/>
          <p:cNvSpPr/>
          <p:nvPr/>
        </p:nvSpPr>
        <p:spPr>
          <a:xfrm>
            <a:off x="777240" y="2148840"/>
            <a:ext cx="2742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UI / UX — ce que l'utilisateur voit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7"/>
          <p:cNvSpPr/>
          <p:nvPr/>
        </p:nvSpPr>
        <p:spPr>
          <a:xfrm>
            <a:off x="3657600" y="182880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Next.js (React Server Components)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8"/>
          <p:cNvSpPr/>
          <p:nvPr/>
        </p:nvSpPr>
        <p:spPr>
          <a:xfrm>
            <a:off x="3657600" y="212148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Composants UI (shadcn/ui, Tailwind)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9"/>
          <p:cNvSpPr/>
          <p:nvPr/>
        </p:nvSpPr>
        <p:spPr>
          <a:xfrm>
            <a:off x="3657600" y="241416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Hooks de données (use-api, use-real-time-chat)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Shape 10"/>
          <p:cNvSpPr/>
          <p:nvPr/>
        </p:nvSpPr>
        <p:spPr>
          <a:xfrm>
            <a:off x="6080760" y="278892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9" name="Shape 11"/>
          <p:cNvSpPr/>
          <p:nvPr/>
        </p:nvSpPr>
        <p:spPr>
          <a:xfrm>
            <a:off x="548640" y="2862000"/>
            <a:ext cx="11063520" cy="109656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0" name="Shape 12"/>
          <p:cNvSpPr/>
          <p:nvPr/>
        </p:nvSpPr>
        <p:spPr>
          <a:xfrm>
            <a:off x="548640" y="2862000"/>
            <a:ext cx="109080" cy="10965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45000" rIns="54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1" name="Text 13"/>
          <p:cNvSpPr/>
          <p:nvPr/>
        </p:nvSpPr>
        <p:spPr>
          <a:xfrm>
            <a:off x="777240" y="2953440"/>
            <a:ext cx="2742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APPLICATION / MÉTIER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14"/>
          <p:cNvSpPr/>
          <p:nvPr/>
        </p:nvSpPr>
        <p:spPr>
          <a:xfrm>
            <a:off x="777240" y="3319200"/>
            <a:ext cx="2742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Logique applicative et règles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5"/>
          <p:cNvSpPr/>
          <p:nvPr/>
        </p:nvSpPr>
        <p:spPr>
          <a:xfrm>
            <a:off x="3657600" y="299916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Route Handlers /api/private/* /api/public/*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6"/>
          <p:cNvSpPr/>
          <p:nvPr/>
        </p:nvSpPr>
        <p:spPr>
          <a:xfrm>
            <a:off x="3657600" y="329184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Actions (mutations) · 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7"/>
          <p:cNvSpPr/>
          <p:nvPr/>
        </p:nvSpPr>
        <p:spPr>
          <a:xfrm>
            <a:off x="3657600" y="358452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Zod, schémas partagés client/serveur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18"/>
          <p:cNvSpPr/>
          <p:nvPr/>
        </p:nvSpPr>
        <p:spPr>
          <a:xfrm>
            <a:off x="6080760" y="395928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7" name="Shape 19"/>
          <p:cNvSpPr/>
          <p:nvPr/>
        </p:nvSpPr>
        <p:spPr>
          <a:xfrm>
            <a:off x="548640" y="4032360"/>
            <a:ext cx="11063520" cy="109656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8" name="Shape 20"/>
          <p:cNvSpPr/>
          <p:nvPr/>
        </p:nvSpPr>
        <p:spPr>
          <a:xfrm>
            <a:off x="548640" y="4032360"/>
            <a:ext cx="109080" cy="10965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45000" rIns="54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9" name="Text 21"/>
          <p:cNvSpPr/>
          <p:nvPr/>
        </p:nvSpPr>
        <p:spPr>
          <a:xfrm>
            <a:off x="777240" y="4123800"/>
            <a:ext cx="2742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PERSISTANCE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22"/>
          <p:cNvSpPr/>
          <p:nvPr/>
        </p:nvSpPr>
        <p:spPr>
          <a:xfrm>
            <a:off x="777240" y="4489560"/>
            <a:ext cx="2742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Accès aux données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23"/>
          <p:cNvSpPr/>
          <p:nvPr/>
        </p:nvSpPr>
        <p:spPr>
          <a:xfrm>
            <a:off x="3657600" y="416952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ORM (18 modèles, requêtes type-safe)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24"/>
          <p:cNvSpPr/>
          <p:nvPr/>
        </p:nvSpPr>
        <p:spPr>
          <a:xfrm>
            <a:off x="3657600" y="446220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25"/>
          <p:cNvSpPr/>
          <p:nvPr/>
        </p:nvSpPr>
        <p:spPr>
          <a:xfrm>
            <a:off x="3657600" y="475488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26"/>
          <p:cNvSpPr/>
          <p:nvPr/>
        </p:nvSpPr>
        <p:spPr>
          <a:xfrm>
            <a:off x="6080760" y="512964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5" name="Shape 27"/>
          <p:cNvSpPr/>
          <p:nvPr/>
        </p:nvSpPr>
        <p:spPr>
          <a:xfrm>
            <a:off x="548640" y="5203080"/>
            <a:ext cx="11063520" cy="109656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6" name="Shape 28"/>
          <p:cNvSpPr/>
          <p:nvPr/>
        </p:nvSpPr>
        <p:spPr>
          <a:xfrm>
            <a:off x="548640" y="5203080"/>
            <a:ext cx="109080" cy="10965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45000" rIns="54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7" name="Text 29"/>
          <p:cNvSpPr/>
          <p:nvPr/>
        </p:nvSpPr>
        <p:spPr>
          <a:xfrm>
            <a:off x="777240" y="5294520"/>
            <a:ext cx="2742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30"/>
          <p:cNvSpPr/>
          <p:nvPr/>
        </p:nvSpPr>
        <p:spPr>
          <a:xfrm>
            <a:off x="777240" y="5660280"/>
            <a:ext cx="2742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et services externes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31"/>
          <p:cNvSpPr/>
          <p:nvPr/>
        </p:nvSpPr>
        <p:spPr>
          <a:xfrm>
            <a:off x="3657600" y="534024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Neon (DB relationnelle)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32"/>
          <p:cNvSpPr/>
          <p:nvPr/>
        </p:nvSpPr>
        <p:spPr>
          <a:xfrm>
            <a:off x="3657600" y="563256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(cache + buffer 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33"/>
          <p:cNvSpPr/>
          <p:nvPr/>
        </p:nvSpPr>
        <p:spPr>
          <a:xfrm>
            <a:off x="3657600" y="592524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 (médias) · Vercel (runtime)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3" name="Text 34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35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10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Stack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8" name="Shape 3"/>
          <p:cNvSpPr/>
          <p:nvPr/>
        </p:nvSpPr>
        <p:spPr>
          <a:xfrm>
            <a:off x="457200" y="1691640"/>
            <a:ext cx="3656880" cy="22395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9" name="Shape 4"/>
          <p:cNvSpPr/>
          <p:nvPr/>
        </p:nvSpPr>
        <p:spPr>
          <a:xfrm>
            <a:off x="457200" y="1691640"/>
            <a:ext cx="72360" cy="2239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0" name="Text 5"/>
          <p:cNvSpPr/>
          <p:nvPr/>
        </p:nvSpPr>
        <p:spPr>
          <a:xfrm>
            <a:off x="685800" y="1801440"/>
            <a:ext cx="3291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Frontend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 6"/>
          <p:cNvSpPr/>
          <p:nvPr/>
        </p:nvSpPr>
        <p:spPr>
          <a:xfrm>
            <a:off x="685800" y="2194560"/>
            <a:ext cx="32911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7"/>
          <p:cNvSpPr/>
          <p:nvPr/>
        </p:nvSpPr>
        <p:spPr>
          <a:xfrm>
            <a:off x="685800" y="2423160"/>
            <a:ext cx="3291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 · SSR/CSR hybride · 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8"/>
          <p:cNvSpPr/>
          <p:nvPr/>
        </p:nvSpPr>
        <p:spPr>
          <a:xfrm>
            <a:off x="685800" y="2743200"/>
            <a:ext cx="32911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19 + TypeScript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9"/>
          <p:cNvSpPr/>
          <p:nvPr/>
        </p:nvSpPr>
        <p:spPr>
          <a:xfrm>
            <a:off x="685800" y="2971800"/>
            <a:ext cx="3291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Composants typés, hooks personnalisés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10"/>
          <p:cNvSpPr/>
          <p:nvPr/>
        </p:nvSpPr>
        <p:spPr>
          <a:xfrm>
            <a:off x="685800" y="3291840"/>
            <a:ext cx="32911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Tailwind CSS + shadcn/ui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11"/>
          <p:cNvSpPr/>
          <p:nvPr/>
        </p:nvSpPr>
        <p:spPr>
          <a:xfrm>
            <a:off x="685800" y="3520440"/>
            <a:ext cx="3291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Design system, dark theme natif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Shape 12"/>
          <p:cNvSpPr/>
          <p:nvPr/>
        </p:nvSpPr>
        <p:spPr>
          <a:xfrm>
            <a:off x="4251960" y="1691640"/>
            <a:ext cx="3656880" cy="22395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8" name="Shape 13"/>
          <p:cNvSpPr/>
          <p:nvPr/>
        </p:nvSpPr>
        <p:spPr>
          <a:xfrm>
            <a:off x="4251960" y="1691640"/>
            <a:ext cx="72360" cy="22395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9" name="Text 14"/>
          <p:cNvSpPr/>
          <p:nvPr/>
        </p:nvSpPr>
        <p:spPr>
          <a:xfrm>
            <a:off x="4480560" y="1801440"/>
            <a:ext cx="3291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Backend &amp;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15"/>
          <p:cNvSpPr/>
          <p:nvPr/>
        </p:nvSpPr>
        <p:spPr>
          <a:xfrm>
            <a:off x="4480560" y="2194560"/>
            <a:ext cx="32911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16"/>
          <p:cNvSpPr/>
          <p:nvPr/>
        </p:nvSpPr>
        <p:spPr>
          <a:xfrm>
            <a:off x="4480560" y="2423160"/>
            <a:ext cx="3291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+ Server-Sent Events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7"/>
          <p:cNvSpPr/>
          <p:nvPr/>
        </p:nvSpPr>
        <p:spPr>
          <a:xfrm>
            <a:off x="4480560" y="2743200"/>
            <a:ext cx="32911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8"/>
          <p:cNvSpPr/>
          <p:nvPr/>
        </p:nvSpPr>
        <p:spPr>
          <a:xfrm>
            <a:off x="4480560" y="2971800"/>
            <a:ext cx="3291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ORM type-safe, migrations, 18 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9"/>
          <p:cNvSpPr/>
          <p:nvPr/>
        </p:nvSpPr>
        <p:spPr>
          <a:xfrm>
            <a:off x="4480560" y="3291840"/>
            <a:ext cx="32911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20"/>
          <p:cNvSpPr/>
          <p:nvPr/>
        </p:nvSpPr>
        <p:spPr>
          <a:xfrm>
            <a:off x="4480560" y="3520440"/>
            <a:ext cx="3291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Validation des payloads, schémas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Shape 21"/>
          <p:cNvSpPr/>
          <p:nvPr/>
        </p:nvSpPr>
        <p:spPr>
          <a:xfrm>
            <a:off x="8046720" y="1691640"/>
            <a:ext cx="3656880" cy="22395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7" name="Shape 22"/>
          <p:cNvSpPr/>
          <p:nvPr/>
        </p:nvSpPr>
        <p:spPr>
          <a:xfrm>
            <a:off x="8046720" y="1691640"/>
            <a:ext cx="72360" cy="22395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8" name="Text 23"/>
          <p:cNvSpPr/>
          <p:nvPr/>
        </p:nvSpPr>
        <p:spPr>
          <a:xfrm>
            <a:off x="8275320" y="1801440"/>
            <a:ext cx="3291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Données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 24"/>
          <p:cNvSpPr/>
          <p:nvPr/>
        </p:nvSpPr>
        <p:spPr>
          <a:xfrm>
            <a:off x="8275320" y="2194560"/>
            <a:ext cx="32911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(Neon)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25"/>
          <p:cNvSpPr/>
          <p:nvPr/>
        </p:nvSpPr>
        <p:spPr>
          <a:xfrm>
            <a:off x="8275320" y="2423160"/>
            <a:ext cx="3291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 managée, branches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26"/>
          <p:cNvSpPr/>
          <p:nvPr/>
        </p:nvSpPr>
        <p:spPr>
          <a:xfrm>
            <a:off x="8275320" y="2743200"/>
            <a:ext cx="32911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27"/>
          <p:cNvSpPr/>
          <p:nvPr/>
        </p:nvSpPr>
        <p:spPr>
          <a:xfrm>
            <a:off x="8275320" y="2971800"/>
            <a:ext cx="3291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compatible serverless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28"/>
          <p:cNvSpPr/>
          <p:nvPr/>
        </p:nvSpPr>
        <p:spPr>
          <a:xfrm>
            <a:off x="8275320" y="3291840"/>
            <a:ext cx="32911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29"/>
          <p:cNvSpPr/>
          <p:nvPr/>
        </p:nvSpPr>
        <p:spPr>
          <a:xfrm>
            <a:off x="8275320" y="3520440"/>
            <a:ext cx="3291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images / vidéos, transformations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Shape 30"/>
          <p:cNvSpPr/>
          <p:nvPr/>
        </p:nvSpPr>
        <p:spPr>
          <a:xfrm>
            <a:off x="457200" y="4069080"/>
            <a:ext cx="3656880" cy="22395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6" name="Shape 31"/>
          <p:cNvSpPr/>
          <p:nvPr/>
        </p:nvSpPr>
        <p:spPr>
          <a:xfrm>
            <a:off x="457200" y="4069080"/>
            <a:ext cx="72360" cy="223956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7" name="Text 32"/>
          <p:cNvSpPr/>
          <p:nvPr/>
        </p:nvSpPr>
        <p:spPr>
          <a:xfrm>
            <a:off x="685800" y="4178880"/>
            <a:ext cx="3291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Auth &amp;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33"/>
          <p:cNvSpPr/>
          <p:nvPr/>
        </p:nvSpPr>
        <p:spPr>
          <a:xfrm>
            <a:off x="685800" y="4572000"/>
            <a:ext cx="32911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custom (jose)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34"/>
          <p:cNvSpPr/>
          <p:nvPr/>
        </p:nvSpPr>
        <p:spPr>
          <a:xfrm>
            <a:off x="685800" y="4800600"/>
            <a:ext cx="3291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Cookie HttpOnly · SameSite ·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35"/>
          <p:cNvSpPr/>
          <p:nvPr/>
        </p:nvSpPr>
        <p:spPr>
          <a:xfrm>
            <a:off x="685800" y="5120640"/>
            <a:ext cx="32911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36"/>
          <p:cNvSpPr/>
          <p:nvPr/>
        </p:nvSpPr>
        <p:spPr>
          <a:xfrm>
            <a:off x="685800" y="5349240"/>
            <a:ext cx="3291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Hash mots de passe, comparison constante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37"/>
          <p:cNvSpPr/>
          <p:nvPr/>
        </p:nvSpPr>
        <p:spPr>
          <a:xfrm>
            <a:off x="685800" y="5669280"/>
            <a:ext cx="32911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38"/>
          <p:cNvSpPr/>
          <p:nvPr/>
        </p:nvSpPr>
        <p:spPr>
          <a:xfrm>
            <a:off x="685800" y="5897880"/>
            <a:ext cx="3291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googleapis +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Shape 39"/>
          <p:cNvSpPr/>
          <p:nvPr/>
        </p:nvSpPr>
        <p:spPr>
          <a:xfrm>
            <a:off x="4251960" y="4069080"/>
            <a:ext cx="3656880" cy="22395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5" name="Shape 40"/>
          <p:cNvSpPr/>
          <p:nvPr/>
        </p:nvSpPr>
        <p:spPr>
          <a:xfrm>
            <a:off x="4251960" y="4069080"/>
            <a:ext cx="72360" cy="22395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6" name="Text 41"/>
          <p:cNvSpPr/>
          <p:nvPr/>
        </p:nvSpPr>
        <p:spPr>
          <a:xfrm>
            <a:off x="4480560" y="4178880"/>
            <a:ext cx="3291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DevOps &amp; CI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42"/>
          <p:cNvSpPr/>
          <p:nvPr/>
        </p:nvSpPr>
        <p:spPr>
          <a:xfrm>
            <a:off x="4480560" y="4572000"/>
            <a:ext cx="32911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43"/>
          <p:cNvSpPr/>
          <p:nvPr/>
        </p:nvSpPr>
        <p:spPr>
          <a:xfrm>
            <a:off x="4480560" y="4800600"/>
            <a:ext cx="3291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Image légère oven/bun:1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44"/>
          <p:cNvSpPr/>
          <p:nvPr/>
        </p:nvSpPr>
        <p:spPr>
          <a:xfrm>
            <a:off x="4480560" y="5120640"/>
            <a:ext cx="32911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45"/>
          <p:cNvSpPr/>
          <p:nvPr/>
        </p:nvSpPr>
        <p:spPr>
          <a:xfrm>
            <a:off x="4480560" y="5349240"/>
            <a:ext cx="3291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 · 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46"/>
          <p:cNvSpPr/>
          <p:nvPr/>
        </p:nvSpPr>
        <p:spPr>
          <a:xfrm>
            <a:off x="4480560" y="5669280"/>
            <a:ext cx="32911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47"/>
          <p:cNvSpPr/>
          <p:nvPr/>
        </p:nvSpPr>
        <p:spPr>
          <a:xfrm>
            <a:off x="4480560" y="5897880"/>
            <a:ext cx="3291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Déploiement préview par PR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Shape 48"/>
          <p:cNvSpPr/>
          <p:nvPr/>
        </p:nvSpPr>
        <p:spPr>
          <a:xfrm>
            <a:off x="8046720" y="4069080"/>
            <a:ext cx="3656880" cy="22395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4" name="Shape 49"/>
          <p:cNvSpPr/>
          <p:nvPr/>
        </p:nvSpPr>
        <p:spPr>
          <a:xfrm>
            <a:off x="8046720" y="4069080"/>
            <a:ext cx="72360" cy="223956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5" name="Text 50"/>
          <p:cNvSpPr/>
          <p:nvPr/>
        </p:nvSpPr>
        <p:spPr>
          <a:xfrm>
            <a:off x="8275320" y="4178880"/>
            <a:ext cx="3291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Qualité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51"/>
          <p:cNvSpPr/>
          <p:nvPr/>
        </p:nvSpPr>
        <p:spPr>
          <a:xfrm>
            <a:off x="8275320" y="4572000"/>
            <a:ext cx="32911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Jest + ts-jest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52"/>
          <p:cNvSpPr/>
          <p:nvPr/>
        </p:nvSpPr>
        <p:spPr>
          <a:xfrm>
            <a:off x="8275320" y="4800600"/>
            <a:ext cx="3291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Tests d'intégration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53"/>
          <p:cNvSpPr/>
          <p:nvPr/>
        </p:nvSpPr>
        <p:spPr>
          <a:xfrm>
            <a:off x="8275320" y="5120640"/>
            <a:ext cx="32911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ESLint + TypeScript strict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54"/>
          <p:cNvSpPr/>
          <p:nvPr/>
        </p:nvSpPr>
        <p:spPr>
          <a:xfrm>
            <a:off x="8275320" y="5349240"/>
            <a:ext cx="3291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style + typage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55"/>
          <p:cNvSpPr/>
          <p:nvPr/>
        </p:nvSpPr>
        <p:spPr>
          <a:xfrm>
            <a:off x="8275320" y="5669280"/>
            <a:ext cx="32911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Roadmap Playwright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56"/>
          <p:cNvSpPr/>
          <p:nvPr/>
        </p:nvSpPr>
        <p:spPr>
          <a:xfrm>
            <a:off x="8275320" y="5897880"/>
            <a:ext cx="3291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E2E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3" name="Text 57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58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11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système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8" name="Shape 3"/>
          <p:cNvSpPr/>
          <p:nvPr/>
        </p:nvSpPr>
        <p:spPr>
          <a:xfrm>
            <a:off x="548640" y="2194560"/>
            <a:ext cx="2193840" cy="274248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9" name="Shape 4"/>
          <p:cNvSpPr/>
          <p:nvPr/>
        </p:nvSpPr>
        <p:spPr>
          <a:xfrm>
            <a:off x="548640" y="2194560"/>
            <a:ext cx="2193840" cy="3650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0" name="Text 5"/>
          <p:cNvSpPr/>
          <p:nvPr/>
        </p:nvSpPr>
        <p:spPr>
          <a:xfrm>
            <a:off x="548640" y="2194560"/>
            <a:ext cx="21938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CLIENT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6"/>
          <p:cNvSpPr/>
          <p:nvPr/>
        </p:nvSpPr>
        <p:spPr>
          <a:xfrm>
            <a:off x="685800" y="2743200"/>
            <a:ext cx="1965240" cy="21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EventSource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fetch / forms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Cookies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Shape 7"/>
          <p:cNvSpPr/>
          <p:nvPr/>
        </p:nvSpPr>
        <p:spPr>
          <a:xfrm>
            <a:off x="3017520" y="2194560"/>
            <a:ext cx="1645200" cy="2742480"/>
          </a:xfrm>
          <a:prstGeom prst="roundRect">
            <a:avLst>
              <a:gd name="adj" fmla="val 444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3" name="Shape 8"/>
          <p:cNvSpPr/>
          <p:nvPr/>
        </p:nvSpPr>
        <p:spPr>
          <a:xfrm>
            <a:off x="3017520" y="2194560"/>
            <a:ext cx="1645200" cy="3650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4" name="Text 9"/>
          <p:cNvSpPr/>
          <p:nvPr/>
        </p:nvSpPr>
        <p:spPr>
          <a:xfrm>
            <a:off x="3017520" y="2194560"/>
            <a:ext cx="16452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EDGE / CDN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10"/>
          <p:cNvSpPr/>
          <p:nvPr/>
        </p:nvSpPr>
        <p:spPr>
          <a:xfrm>
            <a:off x="3108960" y="2743200"/>
            <a:ext cx="1462320" cy="21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HTML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SSL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Shape 11"/>
          <p:cNvSpPr/>
          <p:nvPr/>
        </p:nvSpPr>
        <p:spPr>
          <a:xfrm>
            <a:off x="4937760" y="2194560"/>
            <a:ext cx="2376720" cy="2742480"/>
          </a:xfrm>
          <a:prstGeom prst="roundRect">
            <a:avLst>
              <a:gd name="adj" fmla="val 307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7" name="Shape 12"/>
          <p:cNvSpPr/>
          <p:nvPr/>
        </p:nvSpPr>
        <p:spPr>
          <a:xfrm>
            <a:off x="4937760" y="2194560"/>
            <a:ext cx="2376720" cy="3650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8" name="Text 13"/>
          <p:cNvSpPr/>
          <p:nvPr/>
        </p:nvSpPr>
        <p:spPr>
          <a:xfrm>
            <a:off x="4937760" y="2194560"/>
            <a:ext cx="23767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14"/>
          <p:cNvSpPr/>
          <p:nvPr/>
        </p:nvSpPr>
        <p:spPr>
          <a:xfrm>
            <a:off x="5074920" y="2743200"/>
            <a:ext cx="2102400" cy="21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/api/private/...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/api/public/...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Prisma Client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Shape 15"/>
          <p:cNvSpPr/>
          <p:nvPr/>
        </p:nvSpPr>
        <p:spPr>
          <a:xfrm>
            <a:off x="7680960" y="1783080"/>
            <a:ext cx="3931200" cy="100512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1" name="Shape 16"/>
          <p:cNvSpPr/>
          <p:nvPr/>
        </p:nvSpPr>
        <p:spPr>
          <a:xfrm>
            <a:off x="7680960" y="1783080"/>
            <a:ext cx="90720" cy="1005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2" name="Text 17"/>
          <p:cNvSpPr/>
          <p:nvPr/>
        </p:nvSpPr>
        <p:spPr>
          <a:xfrm>
            <a:off x="7863840" y="1874520"/>
            <a:ext cx="3656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·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 18"/>
          <p:cNvSpPr/>
          <p:nvPr/>
        </p:nvSpPr>
        <p:spPr>
          <a:xfrm>
            <a:off x="7863840" y="2194560"/>
            <a:ext cx="3656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relationnelle, 18 modèles Prisma, migrations versionnées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Shape 19"/>
          <p:cNvSpPr/>
          <p:nvPr/>
        </p:nvSpPr>
        <p:spPr>
          <a:xfrm>
            <a:off x="7680960" y="2926080"/>
            <a:ext cx="3931200" cy="100512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5" name="Shape 20"/>
          <p:cNvSpPr/>
          <p:nvPr/>
        </p:nvSpPr>
        <p:spPr>
          <a:xfrm>
            <a:off x="7680960" y="2926080"/>
            <a:ext cx="90720" cy="100512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6" name="Text 21"/>
          <p:cNvSpPr/>
          <p:nvPr/>
        </p:nvSpPr>
        <p:spPr>
          <a:xfrm>
            <a:off x="7863840" y="3017520"/>
            <a:ext cx="3656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22"/>
          <p:cNvSpPr/>
          <p:nvPr/>
        </p:nvSpPr>
        <p:spPr>
          <a:xfrm>
            <a:off x="7863840" y="3337560"/>
            <a:ext cx="3656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— clés latest:chat:* polling REST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Shape 23"/>
          <p:cNvSpPr/>
          <p:nvPr/>
        </p:nvSpPr>
        <p:spPr>
          <a:xfrm>
            <a:off x="7680960" y="4069080"/>
            <a:ext cx="3931200" cy="100512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9" name="Shape 24"/>
          <p:cNvSpPr/>
          <p:nvPr/>
        </p:nvSpPr>
        <p:spPr>
          <a:xfrm>
            <a:off x="7680960" y="4069080"/>
            <a:ext cx="90720" cy="10051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0" name="Text 25"/>
          <p:cNvSpPr/>
          <p:nvPr/>
        </p:nvSpPr>
        <p:spPr>
          <a:xfrm>
            <a:off x="7863840" y="4160520"/>
            <a:ext cx="3656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26"/>
          <p:cNvSpPr/>
          <p:nvPr/>
        </p:nvSpPr>
        <p:spPr>
          <a:xfrm>
            <a:off x="7863840" y="4480560"/>
            <a:ext cx="3656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médias, transformations à la volée, CDN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Shape 27"/>
          <p:cNvSpPr/>
          <p:nvPr/>
        </p:nvSpPr>
        <p:spPr>
          <a:xfrm>
            <a:off x="274320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3" name="Shape 28"/>
          <p:cNvSpPr/>
          <p:nvPr/>
        </p:nvSpPr>
        <p:spPr>
          <a:xfrm>
            <a:off x="466344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4" name="Shape 29"/>
          <p:cNvSpPr/>
          <p:nvPr/>
        </p:nvSpPr>
        <p:spPr>
          <a:xfrm>
            <a:off x="7315200" y="2286000"/>
            <a:ext cx="3657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5" name="Shape 30"/>
          <p:cNvSpPr/>
          <p:nvPr/>
        </p:nvSpPr>
        <p:spPr>
          <a:xfrm>
            <a:off x="7315200" y="3429000"/>
            <a:ext cx="36576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6" name="Shape 31"/>
          <p:cNvSpPr/>
          <p:nvPr/>
        </p:nvSpPr>
        <p:spPr>
          <a:xfrm>
            <a:off x="7315200" y="4572000"/>
            <a:ext cx="365760" cy="360"/>
          </a:xfrm>
          <a:prstGeom prst="line">
            <a:avLst/>
          </a:prstGeom>
          <a:ln w="25400">
            <a:solidFill>
              <a:srgbClr val="10B98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7" name="Text 32"/>
          <p:cNvSpPr/>
          <p:nvPr/>
        </p:nvSpPr>
        <p:spPr>
          <a:xfrm>
            <a:off x="548640" y="5486400"/>
            <a:ext cx="110635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Tout est serverless-ready : la stack tourne nativement sur Vercel et reste reproductible en local via docker-compose.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8" name="Shape 33"/>
          <p:cNvSpPr/>
          <p:nvPr/>
        </p:nvSpPr>
        <p:spPr>
          <a:xfrm>
            <a:off x="685800" y="5120640"/>
            <a:ext cx="1919520" cy="3193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9" name="Text 34"/>
          <p:cNvSpPr/>
          <p:nvPr/>
        </p:nvSpPr>
        <p:spPr>
          <a:xfrm>
            <a:off x="685800" y="5120640"/>
            <a:ext cx="19195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 bidirectionnel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1" name="Text 35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 36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12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Concepts de modélisation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6" name="Text 3"/>
          <p:cNvSpPr/>
          <p:nvPr/>
        </p:nvSpPr>
        <p:spPr>
          <a:xfrm>
            <a:off x="548640" y="1691640"/>
            <a:ext cx="10972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Rappel des termes que l'on rencontrera dans MCD / MLD /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7" name="Shape 4"/>
          <p:cNvSpPr/>
          <p:nvPr/>
        </p:nvSpPr>
        <p:spPr>
          <a:xfrm>
            <a:off x="548640" y="2103120"/>
            <a:ext cx="3656880" cy="196524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8" name="Shape 5"/>
          <p:cNvSpPr/>
          <p:nvPr/>
        </p:nvSpPr>
        <p:spPr>
          <a:xfrm>
            <a:off x="731520" y="2286000"/>
            <a:ext cx="502200" cy="502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9" name="Text 6"/>
          <p:cNvSpPr/>
          <p:nvPr/>
        </p:nvSpPr>
        <p:spPr>
          <a:xfrm>
            <a:off x="731520" y="228600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 7"/>
          <p:cNvSpPr/>
          <p:nvPr/>
        </p:nvSpPr>
        <p:spPr>
          <a:xfrm>
            <a:off x="1325880" y="228600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Entité / Table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8"/>
          <p:cNvSpPr/>
          <p:nvPr/>
        </p:nvSpPr>
        <p:spPr>
          <a:xfrm>
            <a:off x="731520" y="2880360"/>
            <a:ext cx="32911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Objet métier matérialisé en table SQL. Une ligne = une instance.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9"/>
          <p:cNvSpPr/>
          <p:nvPr/>
        </p:nvSpPr>
        <p:spPr>
          <a:xfrm>
            <a:off x="731520" y="3474720"/>
            <a:ext cx="32911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10"/>
          <p:cNvSpPr/>
          <p:nvPr/>
        </p:nvSpPr>
        <p:spPr>
          <a:xfrm>
            <a:off x="731520" y="3657600"/>
            <a:ext cx="3291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User, Post, Comment, Reaction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Shape 11"/>
          <p:cNvSpPr/>
          <p:nvPr/>
        </p:nvSpPr>
        <p:spPr>
          <a:xfrm>
            <a:off x="4389120" y="2103120"/>
            <a:ext cx="3656880" cy="196524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5" name="Shape 12"/>
          <p:cNvSpPr/>
          <p:nvPr/>
        </p:nvSpPr>
        <p:spPr>
          <a:xfrm>
            <a:off x="4572000" y="2286000"/>
            <a:ext cx="502200" cy="502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6" name="Text 13"/>
          <p:cNvSpPr/>
          <p:nvPr/>
        </p:nvSpPr>
        <p:spPr>
          <a:xfrm>
            <a:off x="4572000" y="228600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 14"/>
          <p:cNvSpPr/>
          <p:nvPr/>
        </p:nvSpPr>
        <p:spPr>
          <a:xfrm>
            <a:off x="5166360" y="228600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Attribut / Colonne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15"/>
          <p:cNvSpPr/>
          <p:nvPr/>
        </p:nvSpPr>
        <p:spPr>
          <a:xfrm>
            <a:off x="4572000" y="2880360"/>
            <a:ext cx="32911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Caractéristique d'une entité, typée. Devient une colonne en base.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16"/>
          <p:cNvSpPr/>
          <p:nvPr/>
        </p:nvSpPr>
        <p:spPr>
          <a:xfrm>
            <a:off x="4572000" y="3474720"/>
            <a:ext cx="32911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201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17"/>
          <p:cNvSpPr/>
          <p:nvPr/>
        </p:nvSpPr>
        <p:spPr>
          <a:xfrm>
            <a:off x="4572000" y="3657600"/>
            <a:ext cx="3291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User.email (varchar) · Post.message (text)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Shape 18"/>
          <p:cNvSpPr/>
          <p:nvPr/>
        </p:nvSpPr>
        <p:spPr>
          <a:xfrm>
            <a:off x="8229600" y="2103120"/>
            <a:ext cx="3656880" cy="196524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2" name="Shape 19"/>
          <p:cNvSpPr/>
          <p:nvPr/>
        </p:nvSpPr>
        <p:spPr>
          <a:xfrm>
            <a:off x="8412480" y="2286000"/>
            <a:ext cx="502200" cy="50220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3" name="Text 20"/>
          <p:cNvSpPr/>
          <p:nvPr/>
        </p:nvSpPr>
        <p:spPr>
          <a:xfrm>
            <a:off x="8412480" y="228600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21"/>
          <p:cNvSpPr/>
          <p:nvPr/>
        </p:nvSpPr>
        <p:spPr>
          <a:xfrm>
            <a:off x="9006840" y="228600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primaire (PK)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22"/>
          <p:cNvSpPr/>
          <p:nvPr/>
        </p:nvSpPr>
        <p:spPr>
          <a:xfrm>
            <a:off x="8412480" y="2880360"/>
            <a:ext cx="32911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Identifiant unique non-null d'une ligne. Une seule par table.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23"/>
          <p:cNvSpPr/>
          <p:nvPr/>
        </p:nvSpPr>
        <p:spPr>
          <a:xfrm>
            <a:off x="8412480" y="3474720"/>
            <a:ext cx="32911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201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24"/>
          <p:cNvSpPr/>
          <p:nvPr/>
        </p:nvSpPr>
        <p:spPr>
          <a:xfrm>
            <a:off x="8412480" y="3657600"/>
            <a:ext cx="3291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User.id (uuid) · Post.id (cuid)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Shape 25"/>
          <p:cNvSpPr/>
          <p:nvPr/>
        </p:nvSpPr>
        <p:spPr>
          <a:xfrm>
            <a:off x="548640" y="4251960"/>
            <a:ext cx="3656880" cy="196524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9" name="Shape 26"/>
          <p:cNvSpPr/>
          <p:nvPr/>
        </p:nvSpPr>
        <p:spPr>
          <a:xfrm>
            <a:off x="731520" y="4434840"/>
            <a:ext cx="502200" cy="50220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0" name="Text 27"/>
          <p:cNvSpPr/>
          <p:nvPr/>
        </p:nvSpPr>
        <p:spPr>
          <a:xfrm>
            <a:off x="731520" y="443484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⌬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 28"/>
          <p:cNvSpPr/>
          <p:nvPr/>
        </p:nvSpPr>
        <p:spPr>
          <a:xfrm>
            <a:off x="1325880" y="443484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étrangère (FK)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29"/>
          <p:cNvSpPr/>
          <p:nvPr/>
        </p:nvSpPr>
        <p:spPr>
          <a:xfrm>
            <a:off x="731520" y="5029200"/>
            <a:ext cx="32911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Référence la PK d'une autre table. Maintient l'intégrité référentielle.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30"/>
          <p:cNvSpPr/>
          <p:nvPr/>
        </p:nvSpPr>
        <p:spPr>
          <a:xfrm>
            <a:off x="731520" y="5623560"/>
            <a:ext cx="32911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201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31"/>
          <p:cNvSpPr/>
          <p:nvPr/>
        </p:nvSpPr>
        <p:spPr>
          <a:xfrm>
            <a:off x="731520" y="5806440"/>
            <a:ext cx="3291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Post.userId → User.id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Shape 32"/>
          <p:cNvSpPr/>
          <p:nvPr/>
        </p:nvSpPr>
        <p:spPr>
          <a:xfrm>
            <a:off x="4389120" y="4251960"/>
            <a:ext cx="3656880" cy="196524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6" name="Shape 33"/>
          <p:cNvSpPr/>
          <p:nvPr/>
        </p:nvSpPr>
        <p:spPr>
          <a:xfrm>
            <a:off x="4572000" y="4434840"/>
            <a:ext cx="502200" cy="5022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7" name="Text 34"/>
          <p:cNvSpPr/>
          <p:nvPr/>
        </p:nvSpPr>
        <p:spPr>
          <a:xfrm>
            <a:off x="4572000" y="443484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↔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8" name="Text 35"/>
          <p:cNvSpPr/>
          <p:nvPr/>
        </p:nvSpPr>
        <p:spPr>
          <a:xfrm>
            <a:off x="5166360" y="443484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Cardinalité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36"/>
          <p:cNvSpPr/>
          <p:nvPr/>
        </p:nvSpPr>
        <p:spPr>
          <a:xfrm>
            <a:off x="4572000" y="5029200"/>
            <a:ext cx="32911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Nombre d'instances liées : 1-1, 1-N, N-N. Détermine la structure relationnelle.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37"/>
          <p:cNvSpPr/>
          <p:nvPr/>
        </p:nvSpPr>
        <p:spPr>
          <a:xfrm>
            <a:off x="4572000" y="5623560"/>
            <a:ext cx="32911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201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38"/>
          <p:cNvSpPr/>
          <p:nvPr/>
        </p:nvSpPr>
        <p:spPr>
          <a:xfrm>
            <a:off x="4572000" y="5806440"/>
            <a:ext cx="3291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 1—N Post  ·  User N—N User via Friendship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Shape 39"/>
          <p:cNvSpPr/>
          <p:nvPr/>
        </p:nvSpPr>
        <p:spPr>
          <a:xfrm>
            <a:off x="8229600" y="4251960"/>
            <a:ext cx="3656880" cy="196524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3" name="Shape 40"/>
          <p:cNvSpPr/>
          <p:nvPr/>
        </p:nvSpPr>
        <p:spPr>
          <a:xfrm>
            <a:off x="8412480" y="4434840"/>
            <a:ext cx="502200" cy="50220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4" name="Text 41"/>
          <p:cNvSpPr/>
          <p:nvPr/>
        </p:nvSpPr>
        <p:spPr>
          <a:xfrm>
            <a:off x="8412480" y="443484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▩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5" name="Text 42"/>
          <p:cNvSpPr/>
          <p:nvPr/>
        </p:nvSpPr>
        <p:spPr>
          <a:xfrm>
            <a:off x="9006840" y="443484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Index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43"/>
          <p:cNvSpPr/>
          <p:nvPr/>
        </p:nvSpPr>
        <p:spPr>
          <a:xfrm>
            <a:off x="8412480" y="5029200"/>
            <a:ext cx="32911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 d'accès accélérant les lectures sur certaines colonnes.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44"/>
          <p:cNvSpPr/>
          <p:nvPr/>
        </p:nvSpPr>
        <p:spPr>
          <a:xfrm>
            <a:off x="8412480" y="5623560"/>
            <a:ext cx="32911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201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45"/>
          <p:cNvSpPr/>
          <p:nvPr/>
        </p:nvSpPr>
        <p:spPr>
          <a:xfrm>
            <a:off x="8412480" y="5806440"/>
            <a:ext cx="3291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@@index([userId, createdAt]) sur Post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0" name="Text 46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1" name="Text 47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13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3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Conceptuel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5" name="Shape 3"/>
          <p:cNvSpPr/>
          <p:nvPr/>
        </p:nvSpPr>
        <p:spPr>
          <a:xfrm>
            <a:off x="548640" y="1691640"/>
            <a:ext cx="11063520" cy="82224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6" name="Text 4"/>
          <p:cNvSpPr/>
          <p:nvPr/>
        </p:nvSpPr>
        <p:spPr>
          <a:xfrm>
            <a:off x="777240" y="1737360"/>
            <a:ext cx="2742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5"/>
          <p:cNvSpPr/>
          <p:nvPr/>
        </p:nvSpPr>
        <p:spPr>
          <a:xfrm>
            <a:off x="777240" y="2011680"/>
            <a:ext cx="106063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Représentation abstraite des entités métier et de leurs relations, indépendante de toute technologie. On y identifie les entités, leurs attributs et les cardinalités entre elles. C'est la vue "business" du domaine.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Shape 6"/>
          <p:cNvSpPr/>
          <p:nvPr/>
        </p:nvSpPr>
        <p:spPr>
          <a:xfrm>
            <a:off x="914400" y="3017520"/>
            <a:ext cx="2376720" cy="1462320"/>
          </a:xfrm>
          <a:prstGeom prst="roundRect">
            <a:avLst>
              <a:gd name="adj" fmla="val 5000"/>
            </a:avLst>
          </a:prstGeom>
          <a:solidFill>
            <a:srgbClr val="EC4899">
              <a:alpha val="2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9" name="Text 7"/>
          <p:cNvSpPr/>
          <p:nvPr/>
        </p:nvSpPr>
        <p:spPr>
          <a:xfrm>
            <a:off x="914400" y="3108960"/>
            <a:ext cx="23767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8"/>
          <p:cNvSpPr/>
          <p:nvPr/>
        </p:nvSpPr>
        <p:spPr>
          <a:xfrm>
            <a:off x="914400" y="3456360"/>
            <a:ext cx="2376720" cy="17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1" name="Text 9"/>
          <p:cNvSpPr/>
          <p:nvPr/>
        </p:nvSpPr>
        <p:spPr>
          <a:xfrm>
            <a:off x="1005840" y="3520440"/>
            <a:ext cx="219384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username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birthDate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2" name="Shape 10"/>
          <p:cNvSpPr/>
          <p:nvPr/>
        </p:nvSpPr>
        <p:spPr>
          <a:xfrm>
            <a:off x="5029200" y="3017520"/>
            <a:ext cx="2376720" cy="1462320"/>
          </a:xfrm>
          <a:prstGeom prst="roundRect">
            <a:avLst>
              <a:gd name="adj" fmla="val 5000"/>
            </a:avLst>
          </a:prstGeom>
          <a:solidFill>
            <a:srgbClr val="06B6D4">
              <a:alpha val="2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3" name="Text 11"/>
          <p:cNvSpPr/>
          <p:nvPr/>
        </p:nvSpPr>
        <p:spPr>
          <a:xfrm>
            <a:off x="5029200" y="3108960"/>
            <a:ext cx="23767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4" name="Shape 12"/>
          <p:cNvSpPr/>
          <p:nvPr/>
        </p:nvSpPr>
        <p:spPr>
          <a:xfrm>
            <a:off x="5029200" y="3456360"/>
            <a:ext cx="2376720" cy="176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5" name="Text 13"/>
          <p:cNvSpPr/>
          <p:nvPr/>
        </p:nvSpPr>
        <p:spPr>
          <a:xfrm>
            <a:off x="5120640" y="3520440"/>
            <a:ext cx="219384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6" name="Shape 14"/>
          <p:cNvSpPr/>
          <p:nvPr/>
        </p:nvSpPr>
        <p:spPr>
          <a:xfrm>
            <a:off x="9144000" y="3017520"/>
            <a:ext cx="2376720" cy="1462320"/>
          </a:xfrm>
          <a:prstGeom prst="roundRect">
            <a:avLst>
              <a:gd name="adj" fmla="val 5000"/>
            </a:avLst>
          </a:prstGeom>
          <a:solidFill>
            <a:srgbClr val="8B5CF6">
              <a:alpha val="2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7" name="Text 15"/>
          <p:cNvSpPr/>
          <p:nvPr/>
        </p:nvSpPr>
        <p:spPr>
          <a:xfrm>
            <a:off x="9144000" y="3108960"/>
            <a:ext cx="23767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16"/>
          <p:cNvSpPr/>
          <p:nvPr/>
        </p:nvSpPr>
        <p:spPr>
          <a:xfrm>
            <a:off x="9144000" y="3456360"/>
            <a:ext cx="2376720" cy="176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9" name="Text 17"/>
          <p:cNvSpPr/>
          <p:nvPr/>
        </p:nvSpPr>
        <p:spPr>
          <a:xfrm>
            <a:off x="9235440" y="3520440"/>
            <a:ext cx="219384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createdAt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0" name="Shape 18"/>
          <p:cNvSpPr/>
          <p:nvPr/>
        </p:nvSpPr>
        <p:spPr>
          <a:xfrm>
            <a:off x="3291840" y="3749040"/>
            <a:ext cx="1737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1" name="Text 19"/>
          <p:cNvSpPr/>
          <p:nvPr/>
        </p:nvSpPr>
        <p:spPr>
          <a:xfrm>
            <a:off x="3291840" y="3429000"/>
            <a:ext cx="1736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publie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2" name="Shape 20"/>
          <p:cNvSpPr/>
          <p:nvPr/>
        </p:nvSpPr>
        <p:spPr>
          <a:xfrm>
            <a:off x="7406640" y="3749040"/>
            <a:ext cx="1737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3" name="Text 21"/>
          <p:cNvSpPr/>
          <p:nvPr/>
        </p:nvSpPr>
        <p:spPr>
          <a:xfrm>
            <a:off x="7406640" y="3429000"/>
            <a:ext cx="1736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contient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4" name="Shape 22"/>
          <p:cNvSpPr/>
          <p:nvPr/>
        </p:nvSpPr>
        <p:spPr>
          <a:xfrm>
            <a:off x="548640" y="4846320"/>
            <a:ext cx="11063520" cy="1416600"/>
          </a:xfrm>
          <a:prstGeom prst="roundRect">
            <a:avLst>
              <a:gd name="adj" fmla="val 5161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5" name="Text 23"/>
          <p:cNvSpPr/>
          <p:nvPr/>
        </p:nvSpPr>
        <p:spPr>
          <a:xfrm>
            <a:off x="777240" y="4937760"/>
            <a:ext cx="10972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Lecture du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6" name="Text 24"/>
          <p:cNvSpPr/>
          <p:nvPr/>
        </p:nvSpPr>
        <p:spPr>
          <a:xfrm>
            <a:off x="777240" y="5257800"/>
            <a:ext cx="1069776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publie 0..N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 Post a exactement 1 auteur (cardinalité 1,1 côté Post)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contient 0..N </a:t>
            </a: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chaque Comment référence exactement 1 Post (parent)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Le MCD n'expose </a:t>
            </a: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ni clés étrangères, ni types techniques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uniquement le sens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8" name="Text 25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9" name="Text 26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14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1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Logique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3" name="Shape 3"/>
          <p:cNvSpPr/>
          <p:nvPr/>
        </p:nvSpPr>
        <p:spPr>
          <a:xfrm>
            <a:off x="548640" y="1691640"/>
            <a:ext cx="11063520" cy="82224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4" name="Text 4"/>
          <p:cNvSpPr/>
          <p:nvPr/>
        </p:nvSpPr>
        <p:spPr>
          <a:xfrm>
            <a:off x="777240" y="1737360"/>
            <a:ext cx="2742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5" name="Text 5"/>
          <p:cNvSpPr/>
          <p:nvPr/>
        </p:nvSpPr>
        <p:spPr>
          <a:xfrm>
            <a:off x="777240" y="2011680"/>
            <a:ext cx="106063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Traduction du MCD en schéma relationnel : on matérialise les relations par des clés étrangères, on choisit les types logiques (string, int, datetime) et on précise les contraintes (NOT NULL, UNIQUE).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6" name="Shape 6"/>
          <p:cNvSpPr/>
          <p:nvPr/>
        </p:nvSpPr>
        <p:spPr>
          <a:xfrm>
            <a:off x="548640" y="2697480"/>
            <a:ext cx="11063520" cy="2742480"/>
          </a:xfrm>
          <a:prstGeom prst="roundRect">
            <a:avLst>
              <a:gd name="adj" fmla="val 3333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7" name="Shape 7"/>
          <p:cNvSpPr/>
          <p:nvPr/>
        </p:nvSpPr>
        <p:spPr>
          <a:xfrm>
            <a:off x="777240" y="2880360"/>
            <a:ext cx="136440" cy="13644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45000" rIns="684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8" name="Shape 8"/>
          <p:cNvSpPr/>
          <p:nvPr/>
        </p:nvSpPr>
        <p:spPr>
          <a:xfrm>
            <a:off x="960120" y="2880360"/>
            <a:ext cx="136440" cy="13644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45000" rIns="684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9" name="Shape 9"/>
          <p:cNvSpPr/>
          <p:nvPr/>
        </p:nvSpPr>
        <p:spPr>
          <a:xfrm>
            <a:off x="1143000" y="2880360"/>
            <a:ext cx="136440" cy="13644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45000" rIns="684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0" name="Text 10"/>
          <p:cNvSpPr/>
          <p:nvPr/>
        </p:nvSpPr>
        <p:spPr>
          <a:xfrm>
            <a:off x="1371600" y="27889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MLD — extrait (notation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1" name="Text 11"/>
          <p:cNvSpPr/>
          <p:nvPr/>
        </p:nvSpPr>
        <p:spPr>
          <a:xfrm>
            <a:off x="777240" y="3154680"/>
            <a:ext cx="106063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USER  (id PK, email UNIQUE, username UNIQUE, password, birthDate,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2"/>
          <p:cNvSpPr/>
          <p:nvPr/>
        </p:nvSpPr>
        <p:spPr>
          <a:xfrm>
            <a:off x="777240" y="3429000"/>
            <a:ext cx="106063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POST  (id PK, userId FK → USER.id, message, image?, visibility,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13"/>
          <p:cNvSpPr/>
          <p:nvPr/>
        </p:nvSpPr>
        <p:spPr>
          <a:xfrm>
            <a:off x="777240" y="3703320"/>
            <a:ext cx="106063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COMMENT (id PK, postId FK → POST.id, userId FK → USER.id, message,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4"/>
          <p:cNvSpPr/>
          <p:nvPr/>
        </p:nvSpPr>
        <p:spPr>
          <a:xfrm>
            <a:off x="777240" y="3977640"/>
            <a:ext cx="106063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REACTION (id PK, userId FK → USER.id, postId FK? → POST.id, type,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5"/>
          <p:cNvSpPr/>
          <p:nvPr/>
        </p:nvSpPr>
        <p:spPr>
          <a:xfrm>
            <a:off x="777240" y="4251960"/>
            <a:ext cx="106063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UNIQUE (userId, postId, type)   ← un user ne peut pas dupliquer une réaction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6"/>
          <p:cNvSpPr/>
          <p:nvPr/>
        </p:nvSpPr>
        <p:spPr>
          <a:xfrm>
            <a:off x="777240" y="4526280"/>
            <a:ext cx="106063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STORY (id PK, userId FK → USER.id, image, expiresAt,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7"/>
          <p:cNvSpPr/>
          <p:nvPr/>
        </p:nvSpPr>
        <p:spPr>
          <a:xfrm>
            <a:off x="777240" y="4800600"/>
            <a:ext cx="106063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FRIENDSHIP (id PK, requesterId FK → USER.id, addresseeId FK → USER.id, status)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8"/>
          <p:cNvSpPr/>
          <p:nvPr/>
        </p:nvSpPr>
        <p:spPr>
          <a:xfrm>
            <a:off x="777240" y="5074920"/>
            <a:ext cx="106063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   UNIQUE (requesterId, addresseeId)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Shape 19"/>
          <p:cNvSpPr/>
          <p:nvPr/>
        </p:nvSpPr>
        <p:spPr>
          <a:xfrm>
            <a:off x="548640" y="5577840"/>
            <a:ext cx="11063520" cy="712440"/>
          </a:xfrm>
          <a:prstGeom prst="roundRect">
            <a:avLst>
              <a:gd name="adj" fmla="val 10256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0" name="Text 20"/>
          <p:cNvSpPr/>
          <p:nvPr/>
        </p:nvSpPr>
        <p:spPr>
          <a:xfrm>
            <a:off x="777240" y="5623560"/>
            <a:ext cx="106977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À retenir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chaque relation N-1 du MCD devient une </a:t>
            </a: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FK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côté "plusieurs". Les relations N-N (ex. Friendship) deviennent une table d'association avec ses propres attributs.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2" name="Text 21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3" name="Text 22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15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5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Physique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7" name="Shape 3"/>
          <p:cNvSpPr/>
          <p:nvPr/>
        </p:nvSpPr>
        <p:spPr>
          <a:xfrm>
            <a:off x="548640" y="1691640"/>
            <a:ext cx="11063520" cy="82224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8" name="Text 4"/>
          <p:cNvSpPr/>
          <p:nvPr/>
        </p:nvSpPr>
        <p:spPr>
          <a:xfrm>
            <a:off x="777240" y="1737360"/>
            <a:ext cx="2742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5"/>
          <p:cNvSpPr/>
          <p:nvPr/>
        </p:nvSpPr>
        <p:spPr>
          <a:xfrm>
            <a:off x="777240" y="2011680"/>
            <a:ext cx="106063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Implémentation SQL concrète du MLD pour un SGBD donné — ici PostgreSQL. On y choisit les types techniques (varchar(n), uuid, timestamptz), les contraintes (CHECK, ON DELETE), les index physiques.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Shape 6"/>
          <p:cNvSpPr/>
          <p:nvPr/>
        </p:nvSpPr>
        <p:spPr>
          <a:xfrm>
            <a:off x="548640" y="2697480"/>
            <a:ext cx="11063520" cy="3245400"/>
          </a:xfrm>
          <a:prstGeom prst="roundRect">
            <a:avLst>
              <a:gd name="adj" fmla="val 2817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1" name="Shape 7"/>
          <p:cNvSpPr/>
          <p:nvPr/>
        </p:nvSpPr>
        <p:spPr>
          <a:xfrm>
            <a:off x="777240" y="2880360"/>
            <a:ext cx="136440" cy="13644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45000" rIns="684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2" name="Shape 8"/>
          <p:cNvSpPr/>
          <p:nvPr/>
        </p:nvSpPr>
        <p:spPr>
          <a:xfrm>
            <a:off x="960120" y="2880360"/>
            <a:ext cx="136440" cy="13644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45000" rIns="684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3" name="Shape 9"/>
          <p:cNvSpPr/>
          <p:nvPr/>
        </p:nvSpPr>
        <p:spPr>
          <a:xfrm>
            <a:off x="1143000" y="2880360"/>
            <a:ext cx="136440" cy="13644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45000" rIns="684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4" name="Text 10"/>
          <p:cNvSpPr/>
          <p:nvPr/>
        </p:nvSpPr>
        <p:spPr>
          <a:xfrm>
            <a:off x="1371600" y="27889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MPD — extrait DDL 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5" name="Text 11"/>
          <p:cNvSpPr/>
          <p:nvPr/>
        </p:nvSpPr>
        <p:spPr>
          <a:xfrm>
            <a:off x="777240" y="3154680"/>
            <a:ext cx="106063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"User"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2"/>
          <p:cNvSpPr/>
          <p:nvPr/>
        </p:nvSpPr>
        <p:spPr>
          <a:xfrm>
            <a:off x="777240" y="3319200"/>
            <a:ext cx="106063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  TEXT       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13"/>
          <p:cNvSpPr/>
          <p:nvPr/>
        </p:nvSpPr>
        <p:spPr>
          <a:xfrm>
            <a:off x="777240" y="3483720"/>
            <a:ext cx="106063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email         VARCHAR(255)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14"/>
          <p:cNvSpPr/>
          <p:nvPr/>
        </p:nvSpPr>
        <p:spPr>
          <a:xfrm>
            <a:off x="777240" y="3648600"/>
            <a:ext cx="106063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username      VARCHAR(50) 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5"/>
          <p:cNvSpPr/>
          <p:nvPr/>
        </p:nvSpPr>
        <p:spPr>
          <a:xfrm>
            <a:off x="777240" y="3813120"/>
            <a:ext cx="106063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password      VARCHAR(255) NOT NULL,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16"/>
          <p:cNvSpPr/>
          <p:nvPr/>
        </p:nvSpPr>
        <p:spPr>
          <a:xfrm>
            <a:off x="777240" y="3977640"/>
            <a:ext cx="106063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visibility    "ProfileVisibility"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7"/>
          <p:cNvSpPr/>
          <p:nvPr/>
        </p:nvSpPr>
        <p:spPr>
          <a:xfrm>
            <a:off x="777240" y="4142160"/>
            <a:ext cx="106063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  TIMESTAMPTZ 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18"/>
          <p:cNvSpPr/>
          <p:nvPr/>
        </p:nvSpPr>
        <p:spPr>
          <a:xfrm>
            <a:off x="777240" y="4306680"/>
            <a:ext cx="106063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19"/>
          <p:cNvSpPr/>
          <p:nvPr/>
        </p:nvSpPr>
        <p:spPr>
          <a:xfrm>
            <a:off x="777240" y="4471560"/>
            <a:ext cx="106063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20"/>
          <p:cNvSpPr/>
          <p:nvPr/>
        </p:nvSpPr>
        <p:spPr>
          <a:xfrm>
            <a:off x="777240" y="4636080"/>
            <a:ext cx="106063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"Post"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21"/>
          <p:cNvSpPr/>
          <p:nvPr/>
        </p:nvSpPr>
        <p:spPr>
          <a:xfrm>
            <a:off x="777240" y="4800600"/>
            <a:ext cx="106063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TEXT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22"/>
          <p:cNvSpPr/>
          <p:nvPr/>
        </p:nvSpPr>
        <p:spPr>
          <a:xfrm>
            <a:off x="777240" y="4965120"/>
            <a:ext cx="106063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userId      TEXT NOT NULL REFERENCES "User"(id) ON DELETE CASCADE,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23"/>
          <p:cNvSpPr/>
          <p:nvPr/>
        </p:nvSpPr>
        <p:spPr>
          <a:xfrm>
            <a:off x="777240" y="5129640"/>
            <a:ext cx="106063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message     TEXT NOT NULL CHECK (length(message) &lt;= 5000),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24"/>
          <p:cNvSpPr/>
          <p:nvPr/>
        </p:nvSpPr>
        <p:spPr>
          <a:xfrm>
            <a:off x="777240" y="5294520"/>
            <a:ext cx="106063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visibility  "Visibility"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25"/>
          <p:cNvSpPr/>
          <p:nvPr/>
        </p:nvSpPr>
        <p:spPr>
          <a:xfrm>
            <a:off x="777240" y="5459040"/>
            <a:ext cx="106063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TIMESTAMPTZ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26"/>
          <p:cNvSpPr/>
          <p:nvPr/>
        </p:nvSpPr>
        <p:spPr>
          <a:xfrm>
            <a:off x="777240" y="5623560"/>
            <a:ext cx="106063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27"/>
          <p:cNvSpPr/>
          <p:nvPr/>
        </p:nvSpPr>
        <p:spPr>
          <a:xfrm>
            <a:off x="777240" y="5788080"/>
            <a:ext cx="106063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CREATE INDEX idx_post_user_created ON "Post"(userId, createdAt DESC);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3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3" name="Text 28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4" name="Text 29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16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6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de données — 18 entités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7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38" name="Image 0" descr="/sessions/sweet-funny-newton/mnt/outputs/build/assets/erd.png"/>
          <p:cNvPicPr/>
          <p:nvPr/>
        </p:nvPicPr>
        <p:blipFill>
          <a:blip r:embed="rId1"/>
          <a:stretch/>
        </p:blipFill>
        <p:spPr>
          <a:xfrm>
            <a:off x="548640" y="1691640"/>
            <a:ext cx="7863120" cy="457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9" name="Shape 3"/>
          <p:cNvSpPr/>
          <p:nvPr/>
        </p:nvSpPr>
        <p:spPr>
          <a:xfrm>
            <a:off x="8595360" y="1691640"/>
            <a:ext cx="3016800" cy="4571280"/>
          </a:xfrm>
          <a:prstGeom prst="roundRect">
            <a:avLst>
              <a:gd name="adj" fmla="val 24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0" name="Text 4"/>
          <p:cNvSpPr/>
          <p:nvPr/>
        </p:nvSpPr>
        <p:spPr>
          <a:xfrm>
            <a:off x="8732520" y="1783080"/>
            <a:ext cx="2742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Faits saillants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 5"/>
          <p:cNvSpPr/>
          <p:nvPr/>
        </p:nvSpPr>
        <p:spPr>
          <a:xfrm>
            <a:off x="8732520" y="2148840"/>
            <a:ext cx="913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6"/>
          <p:cNvSpPr/>
          <p:nvPr/>
        </p:nvSpPr>
        <p:spPr>
          <a:xfrm>
            <a:off x="9646920" y="2148840"/>
            <a:ext cx="19195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7"/>
          <p:cNvSpPr/>
          <p:nvPr/>
        </p:nvSpPr>
        <p:spPr>
          <a:xfrm>
            <a:off x="8732520" y="2651760"/>
            <a:ext cx="913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40+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8"/>
          <p:cNvSpPr/>
          <p:nvPr/>
        </p:nvSpPr>
        <p:spPr>
          <a:xfrm>
            <a:off x="9646920" y="2651760"/>
            <a:ext cx="19195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9"/>
          <p:cNvSpPr/>
          <p:nvPr/>
        </p:nvSpPr>
        <p:spPr>
          <a:xfrm>
            <a:off x="8732520" y="3154680"/>
            <a:ext cx="913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10"/>
          <p:cNvSpPr/>
          <p:nvPr/>
        </p:nvSpPr>
        <p:spPr>
          <a:xfrm>
            <a:off x="9646920" y="3154680"/>
            <a:ext cx="19195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11"/>
          <p:cNvSpPr/>
          <p:nvPr/>
        </p:nvSpPr>
        <p:spPr>
          <a:xfrm>
            <a:off x="8732520" y="3657600"/>
            <a:ext cx="913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35+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2"/>
          <p:cNvSpPr/>
          <p:nvPr/>
        </p:nvSpPr>
        <p:spPr>
          <a:xfrm>
            <a:off x="9646920" y="3657600"/>
            <a:ext cx="19195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Attributs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Shape 13"/>
          <p:cNvSpPr/>
          <p:nvPr/>
        </p:nvSpPr>
        <p:spPr>
          <a:xfrm>
            <a:off x="8732520" y="4297680"/>
            <a:ext cx="2742480" cy="1764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0" name="Text 14"/>
          <p:cNvSpPr/>
          <p:nvPr/>
        </p:nvSpPr>
        <p:spPr>
          <a:xfrm>
            <a:off x="8732520" y="4389120"/>
            <a:ext cx="2742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Entités centrales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 15"/>
          <p:cNvSpPr/>
          <p:nvPr/>
        </p:nvSpPr>
        <p:spPr>
          <a:xfrm>
            <a:off x="8732520" y="4663440"/>
            <a:ext cx="2742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16"/>
          <p:cNvSpPr/>
          <p:nvPr/>
        </p:nvSpPr>
        <p:spPr>
          <a:xfrm>
            <a:off x="8732520" y="4919400"/>
            <a:ext cx="2742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Post / Comment / Reaction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17"/>
          <p:cNvSpPr/>
          <p:nvPr/>
        </p:nvSpPr>
        <p:spPr>
          <a:xfrm>
            <a:off x="8732520" y="5175360"/>
            <a:ext cx="2742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Story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8"/>
          <p:cNvSpPr/>
          <p:nvPr/>
        </p:nvSpPr>
        <p:spPr>
          <a:xfrm>
            <a:off x="8732520" y="5431680"/>
            <a:ext cx="2742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Conversation / 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19"/>
          <p:cNvSpPr/>
          <p:nvPr/>
        </p:nvSpPr>
        <p:spPr>
          <a:xfrm>
            <a:off x="8732520" y="5687640"/>
            <a:ext cx="2742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Group / Event /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20"/>
          <p:cNvSpPr/>
          <p:nvPr/>
        </p:nvSpPr>
        <p:spPr>
          <a:xfrm>
            <a:off x="8732520" y="5943600"/>
            <a:ext cx="2742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Notification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7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8" name="Text 21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22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17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au cœur du domaine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3" name="Shape 3"/>
          <p:cNvSpPr/>
          <p:nvPr/>
        </p:nvSpPr>
        <p:spPr>
          <a:xfrm>
            <a:off x="6538680" y="2926800"/>
            <a:ext cx="1736640" cy="1736640"/>
          </a:xfrm>
          <a:prstGeom prst="ellipse">
            <a:avLst/>
          </a:prstGeom>
          <a:solidFill>
            <a:srgbClr val="EC4899">
              <a:alpha val="5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4" name="Text 4"/>
          <p:cNvSpPr/>
          <p:nvPr/>
        </p:nvSpPr>
        <p:spPr>
          <a:xfrm>
            <a:off x="6538680" y="2926800"/>
            <a:ext cx="173664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5" name="Text 5"/>
          <p:cNvSpPr/>
          <p:nvPr/>
        </p:nvSpPr>
        <p:spPr>
          <a:xfrm>
            <a:off x="6538680" y="3978360"/>
            <a:ext cx="17366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entités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Shape 6"/>
          <p:cNvSpPr/>
          <p:nvPr/>
        </p:nvSpPr>
        <p:spPr>
          <a:xfrm flipV="1">
            <a:off x="7407360" y="2167560"/>
            <a:ext cx="720" cy="74088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7" name="Shape 7"/>
          <p:cNvSpPr/>
          <p:nvPr/>
        </p:nvSpPr>
        <p:spPr>
          <a:xfrm>
            <a:off x="6904440" y="1143720"/>
            <a:ext cx="1005120" cy="100512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8" name="Text 8"/>
          <p:cNvSpPr/>
          <p:nvPr/>
        </p:nvSpPr>
        <p:spPr>
          <a:xfrm>
            <a:off x="6904440" y="1143720"/>
            <a:ext cx="10051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9" name="Text 9"/>
          <p:cNvSpPr/>
          <p:nvPr/>
        </p:nvSpPr>
        <p:spPr>
          <a:xfrm>
            <a:off x="6904440" y="1646640"/>
            <a:ext cx="1005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10"/>
          <p:cNvSpPr/>
          <p:nvPr/>
        </p:nvSpPr>
        <p:spPr>
          <a:xfrm>
            <a:off x="6904440" y="1920960"/>
            <a:ext cx="10051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Shape 11"/>
          <p:cNvSpPr/>
          <p:nvPr/>
        </p:nvSpPr>
        <p:spPr>
          <a:xfrm flipV="1">
            <a:off x="803448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2" name="Shape 12"/>
          <p:cNvSpPr/>
          <p:nvPr/>
        </p:nvSpPr>
        <p:spPr>
          <a:xfrm>
            <a:off x="8424000" y="1773000"/>
            <a:ext cx="1005120" cy="100512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3" name="Text 13"/>
          <p:cNvSpPr/>
          <p:nvPr/>
        </p:nvSpPr>
        <p:spPr>
          <a:xfrm>
            <a:off x="8424000" y="1773000"/>
            <a:ext cx="10051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◐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4" name="Text 14"/>
          <p:cNvSpPr/>
          <p:nvPr/>
        </p:nvSpPr>
        <p:spPr>
          <a:xfrm>
            <a:off x="8424000" y="2275920"/>
            <a:ext cx="1005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15"/>
          <p:cNvSpPr/>
          <p:nvPr/>
        </p:nvSpPr>
        <p:spPr>
          <a:xfrm>
            <a:off x="8424000" y="2550240"/>
            <a:ext cx="10051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écrit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Shape 16"/>
          <p:cNvSpPr/>
          <p:nvPr/>
        </p:nvSpPr>
        <p:spPr>
          <a:xfrm>
            <a:off x="8294040" y="3795480"/>
            <a:ext cx="740880" cy="720"/>
          </a:xfrm>
          <a:prstGeom prst="line">
            <a:avLst/>
          </a:prstGeom>
          <a:ln w="19050">
            <a:solidFill>
              <a:srgbClr val="F59E0B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7" name="Shape 17"/>
          <p:cNvSpPr/>
          <p:nvPr/>
        </p:nvSpPr>
        <p:spPr>
          <a:xfrm>
            <a:off x="9053280" y="3292560"/>
            <a:ext cx="1005120" cy="1005120"/>
          </a:xfrm>
          <a:prstGeom prst="ellipse">
            <a:avLst/>
          </a:prstGeom>
          <a:solidFill>
            <a:srgbClr val="F59E0B">
              <a:alpha val="30000"/>
            </a:srgbClr>
          </a:solidFill>
          <a:ln w="254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8" name="Text 18"/>
          <p:cNvSpPr/>
          <p:nvPr/>
        </p:nvSpPr>
        <p:spPr>
          <a:xfrm>
            <a:off x="9053280" y="3292560"/>
            <a:ext cx="10051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♥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9" name="Text 19"/>
          <p:cNvSpPr/>
          <p:nvPr/>
        </p:nvSpPr>
        <p:spPr>
          <a:xfrm>
            <a:off x="9053280" y="3795480"/>
            <a:ext cx="1005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20"/>
          <p:cNvSpPr/>
          <p:nvPr/>
        </p:nvSpPr>
        <p:spPr>
          <a:xfrm>
            <a:off x="9053280" y="4069800"/>
            <a:ext cx="10051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réagit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Shape 21"/>
          <p:cNvSpPr/>
          <p:nvPr/>
        </p:nvSpPr>
        <p:spPr>
          <a:xfrm>
            <a:off x="8034480" y="4422600"/>
            <a:ext cx="523440" cy="523440"/>
          </a:xfrm>
          <a:prstGeom prst="line">
            <a:avLst/>
          </a:prstGeom>
          <a:ln w="19050">
            <a:solidFill>
              <a:srgbClr val="10B981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2" name="Shape 22"/>
          <p:cNvSpPr/>
          <p:nvPr/>
        </p:nvSpPr>
        <p:spPr>
          <a:xfrm>
            <a:off x="8424000" y="4812120"/>
            <a:ext cx="1005120" cy="1005120"/>
          </a:xfrm>
          <a:prstGeom prst="ellipse">
            <a:avLst/>
          </a:prstGeom>
          <a:solidFill>
            <a:srgbClr val="10B981">
              <a:alpha val="30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3" name="Text 23"/>
          <p:cNvSpPr/>
          <p:nvPr/>
        </p:nvSpPr>
        <p:spPr>
          <a:xfrm>
            <a:off x="8424000" y="4812120"/>
            <a:ext cx="10051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4" name="Text 24"/>
          <p:cNvSpPr/>
          <p:nvPr/>
        </p:nvSpPr>
        <p:spPr>
          <a:xfrm>
            <a:off x="8424000" y="5315040"/>
            <a:ext cx="1005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25"/>
          <p:cNvSpPr/>
          <p:nvPr/>
        </p:nvSpPr>
        <p:spPr>
          <a:xfrm>
            <a:off x="8424000" y="5589360"/>
            <a:ext cx="10051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envoie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Shape 26"/>
          <p:cNvSpPr/>
          <p:nvPr/>
        </p:nvSpPr>
        <p:spPr>
          <a:xfrm>
            <a:off x="7407360" y="4682160"/>
            <a:ext cx="720" cy="740880"/>
          </a:xfrm>
          <a:prstGeom prst="line">
            <a:avLst/>
          </a:prstGeom>
          <a:ln w="19050">
            <a:solidFill>
              <a:srgbClr val="F472B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7" name="Shape 27"/>
          <p:cNvSpPr/>
          <p:nvPr/>
        </p:nvSpPr>
        <p:spPr>
          <a:xfrm>
            <a:off x="6904440" y="5441400"/>
            <a:ext cx="1005120" cy="1005120"/>
          </a:xfrm>
          <a:prstGeom prst="ellipse">
            <a:avLst/>
          </a:prstGeom>
          <a:solidFill>
            <a:srgbClr val="F472B6">
              <a:alpha val="30000"/>
            </a:srgbClr>
          </a:solidFill>
          <a:ln w="2540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8" name="Text 28"/>
          <p:cNvSpPr/>
          <p:nvPr/>
        </p:nvSpPr>
        <p:spPr>
          <a:xfrm>
            <a:off x="6904440" y="5441400"/>
            <a:ext cx="10051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❖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9" name="Text 29"/>
          <p:cNvSpPr/>
          <p:nvPr/>
        </p:nvSpPr>
        <p:spPr>
          <a:xfrm>
            <a:off x="6904440" y="5944320"/>
            <a:ext cx="1005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30"/>
          <p:cNvSpPr/>
          <p:nvPr/>
        </p:nvSpPr>
        <p:spPr>
          <a:xfrm>
            <a:off x="6904440" y="6218640"/>
            <a:ext cx="10051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rejoint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Shape 31"/>
          <p:cNvSpPr/>
          <p:nvPr/>
        </p:nvSpPr>
        <p:spPr>
          <a:xfrm flipH="1">
            <a:off x="6256440" y="4422600"/>
            <a:ext cx="523440" cy="523440"/>
          </a:xfrm>
          <a:prstGeom prst="line">
            <a:avLst/>
          </a:prstGeom>
          <a:ln w="19050">
            <a:solidFill>
              <a:srgbClr val="EF444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2" name="Shape 32"/>
          <p:cNvSpPr/>
          <p:nvPr/>
        </p:nvSpPr>
        <p:spPr>
          <a:xfrm>
            <a:off x="5384880" y="4812120"/>
            <a:ext cx="1005120" cy="1005120"/>
          </a:xfrm>
          <a:prstGeom prst="ellipse">
            <a:avLst/>
          </a:prstGeom>
          <a:solidFill>
            <a:srgbClr val="EF4444">
              <a:alpha val="30000"/>
            </a:srgbClr>
          </a:solidFill>
          <a:ln w="254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3" name="Text 33"/>
          <p:cNvSpPr/>
          <p:nvPr/>
        </p:nvSpPr>
        <p:spPr>
          <a:xfrm>
            <a:off x="5384880" y="4812120"/>
            <a:ext cx="10051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4" name="Text 34"/>
          <p:cNvSpPr/>
          <p:nvPr/>
        </p:nvSpPr>
        <p:spPr>
          <a:xfrm>
            <a:off x="5384880" y="5315040"/>
            <a:ext cx="1005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Event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35"/>
          <p:cNvSpPr/>
          <p:nvPr/>
        </p:nvSpPr>
        <p:spPr>
          <a:xfrm>
            <a:off x="5384880" y="5589360"/>
            <a:ext cx="10051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organise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Shape 36"/>
          <p:cNvSpPr/>
          <p:nvPr/>
        </p:nvSpPr>
        <p:spPr>
          <a:xfrm flipH="1">
            <a:off x="5779440" y="3795480"/>
            <a:ext cx="740880" cy="72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7" name="Shape 37"/>
          <p:cNvSpPr/>
          <p:nvPr/>
        </p:nvSpPr>
        <p:spPr>
          <a:xfrm>
            <a:off x="4755600" y="3292560"/>
            <a:ext cx="1005120" cy="100512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8" name="Text 38"/>
          <p:cNvSpPr/>
          <p:nvPr/>
        </p:nvSpPr>
        <p:spPr>
          <a:xfrm>
            <a:off x="4755600" y="3292560"/>
            <a:ext cx="10051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9" name="Text 39"/>
          <p:cNvSpPr/>
          <p:nvPr/>
        </p:nvSpPr>
        <p:spPr>
          <a:xfrm>
            <a:off x="4755600" y="3795480"/>
            <a:ext cx="1005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40"/>
          <p:cNvSpPr/>
          <p:nvPr/>
        </p:nvSpPr>
        <p:spPr>
          <a:xfrm>
            <a:off x="4755600" y="4069800"/>
            <a:ext cx="10051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Shape 41"/>
          <p:cNvSpPr/>
          <p:nvPr/>
        </p:nvSpPr>
        <p:spPr>
          <a:xfrm flipH="1" flipV="1">
            <a:off x="625644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2" name="Shape 42"/>
          <p:cNvSpPr/>
          <p:nvPr/>
        </p:nvSpPr>
        <p:spPr>
          <a:xfrm>
            <a:off x="5384880" y="1773000"/>
            <a:ext cx="1005120" cy="100512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3" name="Text 43"/>
          <p:cNvSpPr/>
          <p:nvPr/>
        </p:nvSpPr>
        <p:spPr>
          <a:xfrm>
            <a:off x="5384880" y="1773000"/>
            <a:ext cx="10051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 44"/>
          <p:cNvSpPr/>
          <p:nvPr/>
        </p:nvSpPr>
        <p:spPr>
          <a:xfrm>
            <a:off x="5384880" y="2275920"/>
            <a:ext cx="1005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45"/>
          <p:cNvSpPr/>
          <p:nvPr/>
        </p:nvSpPr>
        <p:spPr>
          <a:xfrm>
            <a:off x="5384880" y="2550240"/>
            <a:ext cx="10051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reçoit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46"/>
          <p:cNvSpPr/>
          <p:nvPr/>
        </p:nvSpPr>
        <p:spPr>
          <a:xfrm>
            <a:off x="-914400" y="2549520"/>
            <a:ext cx="66294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Diagramme conceptuel simplifié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toutes les entités du domaine gravitent autour de l'utilisateur,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avec des cardinalités explicites côté Prisma.</a:t>
            </a:r>
            <a:endParaRPr lang="en-US" sz="130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8" name="Text 47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9" name="Text 48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18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1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Design system Konekt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2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3" name="Text 3"/>
          <p:cNvSpPr/>
          <p:nvPr/>
        </p:nvSpPr>
        <p:spPr>
          <a:xfrm>
            <a:off x="548640" y="1691640"/>
            <a:ext cx="3656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Palette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4" name="Shape 4"/>
          <p:cNvSpPr/>
          <p:nvPr/>
        </p:nvSpPr>
        <p:spPr>
          <a:xfrm>
            <a:off x="548640" y="2011680"/>
            <a:ext cx="1645200" cy="1005120"/>
          </a:xfrm>
          <a:prstGeom prst="roundRect">
            <a:avLst>
              <a:gd name="adj" fmla="val 7273"/>
            </a:avLst>
          </a:prstGeom>
          <a:solidFill>
            <a:srgbClr val="EC4899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5" name="Text 5"/>
          <p:cNvSpPr/>
          <p:nvPr/>
        </p:nvSpPr>
        <p:spPr>
          <a:xfrm>
            <a:off x="640080" y="2468880"/>
            <a:ext cx="1462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Primary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6" name="Text 6"/>
          <p:cNvSpPr/>
          <p:nvPr/>
        </p:nvSpPr>
        <p:spPr>
          <a:xfrm>
            <a:off x="640080" y="2697480"/>
            <a:ext cx="1462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#EC4899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7" name="Shape 7"/>
          <p:cNvSpPr/>
          <p:nvPr/>
        </p:nvSpPr>
        <p:spPr>
          <a:xfrm>
            <a:off x="2377440" y="2011680"/>
            <a:ext cx="1645200" cy="1005120"/>
          </a:xfrm>
          <a:prstGeom prst="roundRect">
            <a:avLst>
              <a:gd name="adj" fmla="val 7273"/>
            </a:avLst>
          </a:prstGeom>
          <a:solidFill>
            <a:srgbClr val="1A1B23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8" name="Text 8"/>
          <p:cNvSpPr/>
          <p:nvPr/>
        </p:nvSpPr>
        <p:spPr>
          <a:xfrm>
            <a:off x="2468880" y="2468880"/>
            <a:ext cx="1462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Background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9" name="Text 9"/>
          <p:cNvSpPr/>
          <p:nvPr/>
        </p:nvSpPr>
        <p:spPr>
          <a:xfrm>
            <a:off x="2468880" y="2697480"/>
            <a:ext cx="1462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#1A1B23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Shape 10"/>
          <p:cNvSpPr/>
          <p:nvPr/>
        </p:nvSpPr>
        <p:spPr>
          <a:xfrm>
            <a:off x="4206240" y="2011680"/>
            <a:ext cx="1645200" cy="100512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1" name="Text 11"/>
          <p:cNvSpPr/>
          <p:nvPr/>
        </p:nvSpPr>
        <p:spPr>
          <a:xfrm>
            <a:off x="4297680" y="2468880"/>
            <a:ext cx="1462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Surface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2" name="Text 12"/>
          <p:cNvSpPr/>
          <p:nvPr/>
        </p:nvSpPr>
        <p:spPr>
          <a:xfrm>
            <a:off x="4297680" y="2697480"/>
            <a:ext cx="1462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#272730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Shape 13"/>
          <p:cNvSpPr/>
          <p:nvPr/>
        </p:nvSpPr>
        <p:spPr>
          <a:xfrm>
            <a:off x="548640" y="3291840"/>
            <a:ext cx="1645200" cy="10051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4" name="Text 14"/>
          <p:cNvSpPr/>
          <p:nvPr/>
        </p:nvSpPr>
        <p:spPr>
          <a:xfrm>
            <a:off x="640080" y="3749040"/>
            <a:ext cx="1462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1B23"/>
                </a:solidFill>
                <a:effectLst/>
                <a:uFillTx/>
                <a:latin typeface="Calibri"/>
                <a:ea typeface="Calibri"/>
              </a:rPr>
              <a:t>Text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5" name="Text 15"/>
          <p:cNvSpPr/>
          <p:nvPr/>
        </p:nvSpPr>
        <p:spPr>
          <a:xfrm>
            <a:off x="640080" y="3977640"/>
            <a:ext cx="1462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A1B23"/>
                </a:solidFill>
                <a:effectLst/>
                <a:uFillTx/>
                <a:latin typeface="Consolas"/>
                <a:ea typeface="Consolas"/>
              </a:rPr>
              <a:t>#FFFFFF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Shape 16"/>
          <p:cNvSpPr/>
          <p:nvPr/>
        </p:nvSpPr>
        <p:spPr>
          <a:xfrm>
            <a:off x="2377440" y="3291840"/>
            <a:ext cx="1645200" cy="1005120"/>
          </a:xfrm>
          <a:prstGeom prst="roundRect">
            <a:avLst>
              <a:gd name="adj" fmla="val 7273"/>
            </a:avLst>
          </a:prstGeom>
          <a:solidFill>
            <a:srgbClr val="10B981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7" name="Text 17"/>
          <p:cNvSpPr/>
          <p:nvPr/>
        </p:nvSpPr>
        <p:spPr>
          <a:xfrm>
            <a:off x="2468880" y="3749040"/>
            <a:ext cx="1462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Success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8" name="Text 18"/>
          <p:cNvSpPr/>
          <p:nvPr/>
        </p:nvSpPr>
        <p:spPr>
          <a:xfrm>
            <a:off x="2468880" y="3977640"/>
            <a:ext cx="1462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#10B981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Shape 19"/>
          <p:cNvSpPr/>
          <p:nvPr/>
        </p:nvSpPr>
        <p:spPr>
          <a:xfrm>
            <a:off x="4206240" y="3291840"/>
            <a:ext cx="1645200" cy="1005120"/>
          </a:xfrm>
          <a:prstGeom prst="roundRect">
            <a:avLst>
              <a:gd name="adj" fmla="val 7273"/>
            </a:avLst>
          </a:prstGeom>
          <a:solidFill>
            <a:srgbClr val="8B5CF6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0" name="Text 20"/>
          <p:cNvSpPr/>
          <p:nvPr/>
        </p:nvSpPr>
        <p:spPr>
          <a:xfrm>
            <a:off x="4297680" y="3749040"/>
            <a:ext cx="1462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1" name="Text 21"/>
          <p:cNvSpPr/>
          <p:nvPr/>
        </p:nvSpPr>
        <p:spPr>
          <a:xfrm>
            <a:off x="4297680" y="3977640"/>
            <a:ext cx="1462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#8B5CF6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22"/>
          <p:cNvSpPr/>
          <p:nvPr/>
        </p:nvSpPr>
        <p:spPr>
          <a:xfrm>
            <a:off x="6217920" y="1691640"/>
            <a:ext cx="54856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Typographie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Shape 23"/>
          <p:cNvSpPr/>
          <p:nvPr/>
        </p:nvSpPr>
        <p:spPr>
          <a:xfrm>
            <a:off x="6217920" y="2011680"/>
            <a:ext cx="5577120" cy="2651040"/>
          </a:xfrm>
          <a:prstGeom prst="roundRect">
            <a:avLst>
              <a:gd name="adj" fmla="val 275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4" name="Text 24"/>
          <p:cNvSpPr/>
          <p:nvPr/>
        </p:nvSpPr>
        <p:spPr>
          <a:xfrm>
            <a:off x="6355080" y="2103120"/>
            <a:ext cx="146232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Aa</a:t>
            </a:r>
            <a:endParaRPr lang="en-US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5" name="Text 25"/>
          <p:cNvSpPr/>
          <p:nvPr/>
        </p:nvSpPr>
        <p:spPr>
          <a:xfrm>
            <a:off x="7772400" y="2194560"/>
            <a:ext cx="36568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Geist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 26"/>
          <p:cNvSpPr/>
          <p:nvPr/>
        </p:nvSpPr>
        <p:spPr>
          <a:xfrm>
            <a:off x="7772400" y="260604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Font family — Next.js next/font · variable, optimisée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27"/>
          <p:cNvSpPr/>
          <p:nvPr/>
        </p:nvSpPr>
        <p:spPr>
          <a:xfrm>
            <a:off x="6355080" y="3246120"/>
            <a:ext cx="1828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28"/>
          <p:cNvSpPr/>
          <p:nvPr/>
        </p:nvSpPr>
        <p:spPr>
          <a:xfrm>
            <a:off x="8229600" y="324612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32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29"/>
          <p:cNvSpPr/>
          <p:nvPr/>
        </p:nvSpPr>
        <p:spPr>
          <a:xfrm>
            <a:off x="6355080" y="3566160"/>
            <a:ext cx="1828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30"/>
          <p:cNvSpPr/>
          <p:nvPr/>
        </p:nvSpPr>
        <p:spPr>
          <a:xfrm>
            <a:off x="8229600" y="356616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24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31"/>
          <p:cNvSpPr/>
          <p:nvPr/>
        </p:nvSpPr>
        <p:spPr>
          <a:xfrm>
            <a:off x="6355080" y="3886200"/>
            <a:ext cx="1828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Body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32"/>
          <p:cNvSpPr/>
          <p:nvPr/>
        </p:nvSpPr>
        <p:spPr>
          <a:xfrm>
            <a:off x="8229600" y="388620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16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33"/>
          <p:cNvSpPr/>
          <p:nvPr/>
        </p:nvSpPr>
        <p:spPr>
          <a:xfrm>
            <a:off x="6355080" y="4206240"/>
            <a:ext cx="1828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Small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 34"/>
          <p:cNvSpPr/>
          <p:nvPr/>
        </p:nvSpPr>
        <p:spPr>
          <a:xfrm>
            <a:off x="8229600" y="420624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35"/>
          <p:cNvSpPr/>
          <p:nvPr/>
        </p:nvSpPr>
        <p:spPr>
          <a:xfrm>
            <a:off x="548640" y="4800600"/>
            <a:ext cx="54856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Composants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Shape 36"/>
          <p:cNvSpPr/>
          <p:nvPr/>
        </p:nvSpPr>
        <p:spPr>
          <a:xfrm>
            <a:off x="548640" y="5166360"/>
            <a:ext cx="867960" cy="29196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7" name="Text 37"/>
          <p:cNvSpPr/>
          <p:nvPr/>
        </p:nvSpPr>
        <p:spPr>
          <a:xfrm>
            <a:off x="548640" y="5166360"/>
            <a:ext cx="8679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Button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8" name="Shape 38"/>
          <p:cNvSpPr/>
          <p:nvPr/>
        </p:nvSpPr>
        <p:spPr>
          <a:xfrm>
            <a:off x="1508760" y="5166360"/>
            <a:ext cx="867960" cy="29196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9" name="Text 39"/>
          <p:cNvSpPr/>
          <p:nvPr/>
        </p:nvSpPr>
        <p:spPr>
          <a:xfrm>
            <a:off x="1508760" y="5166360"/>
            <a:ext cx="8679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Avatar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0" name="Shape 40"/>
          <p:cNvSpPr/>
          <p:nvPr/>
        </p:nvSpPr>
        <p:spPr>
          <a:xfrm>
            <a:off x="2468880" y="5166360"/>
            <a:ext cx="867960" cy="29196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1" name="Text 41"/>
          <p:cNvSpPr/>
          <p:nvPr/>
        </p:nvSpPr>
        <p:spPr>
          <a:xfrm>
            <a:off x="2468880" y="5166360"/>
            <a:ext cx="8679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2" name="Shape 42"/>
          <p:cNvSpPr/>
          <p:nvPr/>
        </p:nvSpPr>
        <p:spPr>
          <a:xfrm>
            <a:off x="3429000" y="5166360"/>
            <a:ext cx="867960" cy="29196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3" name="Text 43"/>
          <p:cNvSpPr/>
          <p:nvPr/>
        </p:nvSpPr>
        <p:spPr>
          <a:xfrm>
            <a:off x="3429000" y="5166360"/>
            <a:ext cx="8679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Badge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4" name="Shape 44"/>
          <p:cNvSpPr/>
          <p:nvPr/>
        </p:nvSpPr>
        <p:spPr>
          <a:xfrm>
            <a:off x="4389120" y="5166360"/>
            <a:ext cx="867960" cy="29196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5" name="Text 45"/>
          <p:cNvSpPr/>
          <p:nvPr/>
        </p:nvSpPr>
        <p:spPr>
          <a:xfrm>
            <a:off x="4389120" y="5166360"/>
            <a:ext cx="8679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Dialog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6" name="Shape 46"/>
          <p:cNvSpPr/>
          <p:nvPr/>
        </p:nvSpPr>
        <p:spPr>
          <a:xfrm>
            <a:off x="548640" y="5550480"/>
            <a:ext cx="867960" cy="29196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7" name="Text 47"/>
          <p:cNvSpPr/>
          <p:nvPr/>
        </p:nvSpPr>
        <p:spPr>
          <a:xfrm>
            <a:off x="548640" y="5550480"/>
            <a:ext cx="8679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8" name="Shape 48"/>
          <p:cNvSpPr/>
          <p:nvPr/>
        </p:nvSpPr>
        <p:spPr>
          <a:xfrm>
            <a:off x="1508760" y="5550480"/>
            <a:ext cx="867960" cy="29196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9" name="Text 49"/>
          <p:cNvSpPr/>
          <p:nvPr/>
        </p:nvSpPr>
        <p:spPr>
          <a:xfrm>
            <a:off x="1508760" y="5550480"/>
            <a:ext cx="8679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0" name="Shape 50"/>
          <p:cNvSpPr/>
          <p:nvPr/>
        </p:nvSpPr>
        <p:spPr>
          <a:xfrm>
            <a:off x="2468880" y="5550480"/>
            <a:ext cx="867960" cy="29196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1" name="Text 51"/>
          <p:cNvSpPr/>
          <p:nvPr/>
        </p:nvSpPr>
        <p:spPr>
          <a:xfrm>
            <a:off x="2468880" y="5550480"/>
            <a:ext cx="8679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Switch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2" name="Shape 52"/>
          <p:cNvSpPr/>
          <p:nvPr/>
        </p:nvSpPr>
        <p:spPr>
          <a:xfrm>
            <a:off x="3429000" y="5550480"/>
            <a:ext cx="867960" cy="29196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3" name="Text 53"/>
          <p:cNvSpPr/>
          <p:nvPr/>
        </p:nvSpPr>
        <p:spPr>
          <a:xfrm>
            <a:off x="3429000" y="5550480"/>
            <a:ext cx="8679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4" name="Text 54"/>
          <p:cNvSpPr/>
          <p:nvPr/>
        </p:nvSpPr>
        <p:spPr>
          <a:xfrm>
            <a:off x="6217920" y="4800600"/>
            <a:ext cx="54856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Breakpoints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Shape 55"/>
          <p:cNvSpPr/>
          <p:nvPr/>
        </p:nvSpPr>
        <p:spPr>
          <a:xfrm>
            <a:off x="6217920" y="5120640"/>
            <a:ext cx="5577120" cy="100512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6" name="Text 56"/>
          <p:cNvSpPr/>
          <p:nvPr/>
        </p:nvSpPr>
        <p:spPr>
          <a:xfrm>
            <a:off x="6355080" y="5257800"/>
            <a:ext cx="1736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▢ Mobile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7" name="Text 57"/>
          <p:cNvSpPr/>
          <p:nvPr/>
        </p:nvSpPr>
        <p:spPr>
          <a:xfrm>
            <a:off x="6355080" y="5577840"/>
            <a:ext cx="17366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&lt; 640px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Text 58"/>
          <p:cNvSpPr/>
          <p:nvPr/>
        </p:nvSpPr>
        <p:spPr>
          <a:xfrm>
            <a:off x="8183880" y="5257800"/>
            <a:ext cx="1736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 Tablet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 59"/>
          <p:cNvSpPr/>
          <p:nvPr/>
        </p:nvSpPr>
        <p:spPr>
          <a:xfrm>
            <a:off x="8183880" y="5577840"/>
            <a:ext cx="17366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640 –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60"/>
          <p:cNvSpPr/>
          <p:nvPr/>
        </p:nvSpPr>
        <p:spPr>
          <a:xfrm>
            <a:off x="10012680" y="5257800"/>
            <a:ext cx="1736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 Desktop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61"/>
          <p:cNvSpPr/>
          <p:nvPr/>
        </p:nvSpPr>
        <p:spPr>
          <a:xfrm>
            <a:off x="10012680" y="5577840"/>
            <a:ext cx="17366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&gt;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3" name="Text 62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4" name="Text 63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19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6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8" name="Shape 3"/>
          <p:cNvSpPr/>
          <p:nvPr/>
        </p:nvSpPr>
        <p:spPr>
          <a:xfrm>
            <a:off x="548640" y="1691640"/>
            <a:ext cx="5028480" cy="457128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79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1603440" y="1874520"/>
            <a:ext cx="3102120" cy="4251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0" name="Text 4"/>
          <p:cNvSpPr/>
          <p:nvPr/>
        </p:nvSpPr>
        <p:spPr>
          <a:xfrm>
            <a:off x="5852160" y="1691640"/>
            <a:ext cx="57600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1" name="Shape 5"/>
          <p:cNvSpPr/>
          <p:nvPr/>
        </p:nvSpPr>
        <p:spPr>
          <a:xfrm>
            <a:off x="5852160" y="2194560"/>
            <a:ext cx="2285280" cy="3193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2" name="Text 6"/>
          <p:cNvSpPr/>
          <p:nvPr/>
        </p:nvSpPr>
        <p:spPr>
          <a:xfrm>
            <a:off x="5852160" y="2194560"/>
            <a:ext cx="2285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3" name="Text 7"/>
          <p:cNvSpPr/>
          <p:nvPr/>
        </p:nvSpPr>
        <p:spPr>
          <a:xfrm>
            <a:off x="5852160" y="2651760"/>
            <a:ext cx="576000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8"/>
          <p:cNvSpPr/>
          <p:nvPr/>
        </p:nvSpPr>
        <p:spPr>
          <a:xfrm>
            <a:off x="5852160" y="4114800"/>
            <a:ext cx="5760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Shape 9"/>
          <p:cNvSpPr/>
          <p:nvPr/>
        </p:nvSpPr>
        <p:spPr>
          <a:xfrm>
            <a:off x="5852160" y="4434840"/>
            <a:ext cx="2742480" cy="8679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6" name="Shape 10"/>
          <p:cNvSpPr/>
          <p:nvPr/>
        </p:nvSpPr>
        <p:spPr>
          <a:xfrm>
            <a:off x="5852160" y="4434840"/>
            <a:ext cx="54000" cy="86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7" name="Text 11"/>
          <p:cNvSpPr/>
          <p:nvPr/>
        </p:nvSpPr>
        <p:spPr>
          <a:xfrm>
            <a:off x="6016680" y="4526280"/>
            <a:ext cx="2468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8" name="Text 12"/>
          <p:cNvSpPr/>
          <p:nvPr/>
        </p:nvSpPr>
        <p:spPr>
          <a:xfrm>
            <a:off x="6016680" y="4818960"/>
            <a:ext cx="2468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Shape 13"/>
          <p:cNvSpPr/>
          <p:nvPr/>
        </p:nvSpPr>
        <p:spPr>
          <a:xfrm>
            <a:off x="8778240" y="4434840"/>
            <a:ext cx="2742480" cy="8679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0" name="Shape 14"/>
          <p:cNvSpPr/>
          <p:nvPr/>
        </p:nvSpPr>
        <p:spPr>
          <a:xfrm>
            <a:off x="8778240" y="4434840"/>
            <a:ext cx="54000" cy="86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1" name="Text 15"/>
          <p:cNvSpPr/>
          <p:nvPr/>
        </p:nvSpPr>
        <p:spPr>
          <a:xfrm>
            <a:off x="8942760" y="4526280"/>
            <a:ext cx="2468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2" name="Text 16"/>
          <p:cNvSpPr/>
          <p:nvPr/>
        </p:nvSpPr>
        <p:spPr>
          <a:xfrm>
            <a:off x="8942760" y="4818960"/>
            <a:ext cx="2468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3" name="Shape 17"/>
          <p:cNvSpPr/>
          <p:nvPr/>
        </p:nvSpPr>
        <p:spPr>
          <a:xfrm>
            <a:off x="5852160" y="5394960"/>
            <a:ext cx="2742480" cy="8679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4" name="Shape 18"/>
          <p:cNvSpPr/>
          <p:nvPr/>
        </p:nvSpPr>
        <p:spPr>
          <a:xfrm>
            <a:off x="5852160" y="5394960"/>
            <a:ext cx="54000" cy="86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5" name="Text 19"/>
          <p:cNvSpPr/>
          <p:nvPr/>
        </p:nvSpPr>
        <p:spPr>
          <a:xfrm>
            <a:off x="6016680" y="5486400"/>
            <a:ext cx="2468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6" name="Text 20"/>
          <p:cNvSpPr/>
          <p:nvPr/>
        </p:nvSpPr>
        <p:spPr>
          <a:xfrm>
            <a:off x="6016680" y="5779080"/>
            <a:ext cx="2468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7" name="Shape 21"/>
          <p:cNvSpPr/>
          <p:nvPr/>
        </p:nvSpPr>
        <p:spPr>
          <a:xfrm>
            <a:off x="8778240" y="5394960"/>
            <a:ext cx="2742480" cy="8679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8" name="Shape 22"/>
          <p:cNvSpPr/>
          <p:nvPr/>
        </p:nvSpPr>
        <p:spPr>
          <a:xfrm>
            <a:off x="8778240" y="5394960"/>
            <a:ext cx="54000" cy="86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9" name="Text 23"/>
          <p:cNvSpPr/>
          <p:nvPr/>
        </p:nvSpPr>
        <p:spPr>
          <a:xfrm>
            <a:off x="8942760" y="5486400"/>
            <a:ext cx="2468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0" name="Text 24"/>
          <p:cNvSpPr/>
          <p:nvPr/>
        </p:nvSpPr>
        <p:spPr>
          <a:xfrm>
            <a:off x="8942760" y="5779080"/>
            <a:ext cx="2468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2" name="Text 25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3" name="Text 26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5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7" name="Shape 3"/>
          <p:cNvSpPr/>
          <p:nvPr/>
        </p:nvSpPr>
        <p:spPr>
          <a:xfrm>
            <a:off x="548640" y="1691640"/>
            <a:ext cx="5028480" cy="457128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8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5600" cy="235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9" name="Text 4"/>
          <p:cNvSpPr/>
          <p:nvPr/>
        </p:nvSpPr>
        <p:spPr>
          <a:xfrm>
            <a:off x="5852160" y="1691640"/>
            <a:ext cx="57600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0" name="Shape 5"/>
          <p:cNvSpPr/>
          <p:nvPr/>
        </p:nvSpPr>
        <p:spPr>
          <a:xfrm>
            <a:off x="5852160" y="2194560"/>
            <a:ext cx="2285280" cy="3193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1" name="Text 6"/>
          <p:cNvSpPr/>
          <p:nvPr/>
        </p:nvSpPr>
        <p:spPr>
          <a:xfrm>
            <a:off x="5852160" y="2194560"/>
            <a:ext cx="2285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2" name="Text 7"/>
          <p:cNvSpPr/>
          <p:nvPr/>
        </p:nvSpPr>
        <p:spPr>
          <a:xfrm>
            <a:off x="5852160" y="2651760"/>
            <a:ext cx="576000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cursor-based.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8"/>
          <p:cNvSpPr/>
          <p:nvPr/>
        </p:nvSpPr>
        <p:spPr>
          <a:xfrm>
            <a:off x="5852160" y="4114800"/>
            <a:ext cx="5760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Shape 9"/>
          <p:cNvSpPr/>
          <p:nvPr/>
        </p:nvSpPr>
        <p:spPr>
          <a:xfrm>
            <a:off x="5852160" y="4434840"/>
            <a:ext cx="2742480" cy="8679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5" name="Shape 10"/>
          <p:cNvSpPr/>
          <p:nvPr/>
        </p:nvSpPr>
        <p:spPr>
          <a:xfrm>
            <a:off x="5852160" y="4434840"/>
            <a:ext cx="54000" cy="86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6" name="Text 11"/>
          <p:cNvSpPr/>
          <p:nvPr/>
        </p:nvSpPr>
        <p:spPr>
          <a:xfrm>
            <a:off x="6016680" y="4526280"/>
            <a:ext cx="2468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7" name="Text 12"/>
          <p:cNvSpPr/>
          <p:nvPr/>
        </p:nvSpPr>
        <p:spPr>
          <a:xfrm>
            <a:off x="6016680" y="4818960"/>
            <a:ext cx="2468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cursor-based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8" name="Shape 13"/>
          <p:cNvSpPr/>
          <p:nvPr/>
        </p:nvSpPr>
        <p:spPr>
          <a:xfrm>
            <a:off x="8778240" y="4434840"/>
            <a:ext cx="2742480" cy="8679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9" name="Shape 14"/>
          <p:cNvSpPr/>
          <p:nvPr/>
        </p:nvSpPr>
        <p:spPr>
          <a:xfrm>
            <a:off x="8778240" y="4434840"/>
            <a:ext cx="54000" cy="86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0" name="Text 15"/>
          <p:cNvSpPr/>
          <p:nvPr/>
        </p:nvSpPr>
        <p:spPr>
          <a:xfrm>
            <a:off x="8942760" y="4526280"/>
            <a:ext cx="2468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1" name="Text 16"/>
          <p:cNvSpPr/>
          <p:nvPr/>
        </p:nvSpPr>
        <p:spPr>
          <a:xfrm>
            <a:off x="8942760" y="4818960"/>
            <a:ext cx="2468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Shape 17"/>
          <p:cNvSpPr/>
          <p:nvPr/>
        </p:nvSpPr>
        <p:spPr>
          <a:xfrm>
            <a:off x="5852160" y="5394960"/>
            <a:ext cx="2742480" cy="8679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3" name="Shape 18"/>
          <p:cNvSpPr/>
          <p:nvPr/>
        </p:nvSpPr>
        <p:spPr>
          <a:xfrm>
            <a:off x="5852160" y="5394960"/>
            <a:ext cx="54000" cy="86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4" name="Text 19"/>
          <p:cNvSpPr/>
          <p:nvPr/>
        </p:nvSpPr>
        <p:spPr>
          <a:xfrm>
            <a:off x="6016680" y="5486400"/>
            <a:ext cx="2468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5" name="Text 20"/>
          <p:cNvSpPr/>
          <p:nvPr/>
        </p:nvSpPr>
        <p:spPr>
          <a:xfrm>
            <a:off x="6016680" y="5779080"/>
            <a:ext cx="2468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6" name="Shape 21"/>
          <p:cNvSpPr/>
          <p:nvPr/>
        </p:nvSpPr>
        <p:spPr>
          <a:xfrm>
            <a:off x="8778240" y="5394960"/>
            <a:ext cx="2742480" cy="8679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7" name="Shape 22"/>
          <p:cNvSpPr/>
          <p:nvPr/>
        </p:nvSpPr>
        <p:spPr>
          <a:xfrm>
            <a:off x="8778240" y="5394960"/>
            <a:ext cx="54000" cy="86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8" name="Text 23"/>
          <p:cNvSpPr/>
          <p:nvPr/>
        </p:nvSpPr>
        <p:spPr>
          <a:xfrm>
            <a:off x="8942760" y="5486400"/>
            <a:ext cx="2468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9" name="Text 24"/>
          <p:cNvSpPr/>
          <p:nvPr/>
        </p:nvSpPr>
        <p:spPr>
          <a:xfrm>
            <a:off x="8942760" y="5779080"/>
            <a:ext cx="2468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0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1" name="Text 25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2" name="Text 26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21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4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6" name="Shape 3"/>
          <p:cNvSpPr/>
          <p:nvPr/>
        </p:nvSpPr>
        <p:spPr>
          <a:xfrm>
            <a:off x="548640" y="1691640"/>
            <a:ext cx="5028480" cy="457128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37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5600" cy="235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8" name="Text 4"/>
          <p:cNvSpPr/>
          <p:nvPr/>
        </p:nvSpPr>
        <p:spPr>
          <a:xfrm>
            <a:off x="5852160" y="1691640"/>
            <a:ext cx="57600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9" name="Shape 5"/>
          <p:cNvSpPr/>
          <p:nvPr/>
        </p:nvSpPr>
        <p:spPr>
          <a:xfrm>
            <a:off x="5852160" y="2194560"/>
            <a:ext cx="2285280" cy="3193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0" name="Text 6"/>
          <p:cNvSpPr/>
          <p:nvPr/>
        </p:nvSpPr>
        <p:spPr>
          <a:xfrm>
            <a:off x="5852160" y="2194560"/>
            <a:ext cx="2285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1" name="Text 7"/>
          <p:cNvSpPr/>
          <p:nvPr/>
        </p:nvSpPr>
        <p:spPr>
          <a:xfrm>
            <a:off x="5852160" y="2651760"/>
            <a:ext cx="576000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8"/>
          <p:cNvSpPr/>
          <p:nvPr/>
        </p:nvSpPr>
        <p:spPr>
          <a:xfrm>
            <a:off x="5852160" y="4114800"/>
            <a:ext cx="5760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Shape 9"/>
          <p:cNvSpPr/>
          <p:nvPr/>
        </p:nvSpPr>
        <p:spPr>
          <a:xfrm>
            <a:off x="5852160" y="4434840"/>
            <a:ext cx="2742480" cy="8679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4" name="Shape 10"/>
          <p:cNvSpPr/>
          <p:nvPr/>
        </p:nvSpPr>
        <p:spPr>
          <a:xfrm>
            <a:off x="5852160" y="4434840"/>
            <a:ext cx="54000" cy="86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5" name="Text 11"/>
          <p:cNvSpPr/>
          <p:nvPr/>
        </p:nvSpPr>
        <p:spPr>
          <a:xfrm>
            <a:off x="6016680" y="4526280"/>
            <a:ext cx="2468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6" name="Text 12"/>
          <p:cNvSpPr/>
          <p:nvPr/>
        </p:nvSpPr>
        <p:spPr>
          <a:xfrm>
            <a:off x="6016680" y="4818960"/>
            <a:ext cx="2468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Shape 13"/>
          <p:cNvSpPr/>
          <p:nvPr/>
        </p:nvSpPr>
        <p:spPr>
          <a:xfrm>
            <a:off x="8778240" y="4434840"/>
            <a:ext cx="2742480" cy="8679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8" name="Shape 14"/>
          <p:cNvSpPr/>
          <p:nvPr/>
        </p:nvSpPr>
        <p:spPr>
          <a:xfrm>
            <a:off x="8778240" y="4434840"/>
            <a:ext cx="54000" cy="86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9" name="Text 15"/>
          <p:cNvSpPr/>
          <p:nvPr/>
        </p:nvSpPr>
        <p:spPr>
          <a:xfrm>
            <a:off x="8942760" y="4526280"/>
            <a:ext cx="2468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0" name="Text 16"/>
          <p:cNvSpPr/>
          <p:nvPr/>
        </p:nvSpPr>
        <p:spPr>
          <a:xfrm>
            <a:off x="8942760" y="4818960"/>
            <a:ext cx="2468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Shape 17"/>
          <p:cNvSpPr/>
          <p:nvPr/>
        </p:nvSpPr>
        <p:spPr>
          <a:xfrm>
            <a:off x="5852160" y="5394960"/>
            <a:ext cx="2742480" cy="8679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2" name="Shape 18"/>
          <p:cNvSpPr/>
          <p:nvPr/>
        </p:nvSpPr>
        <p:spPr>
          <a:xfrm>
            <a:off x="5852160" y="5394960"/>
            <a:ext cx="54000" cy="86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3" name="Text 19"/>
          <p:cNvSpPr/>
          <p:nvPr/>
        </p:nvSpPr>
        <p:spPr>
          <a:xfrm>
            <a:off x="6016680" y="5486400"/>
            <a:ext cx="2468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4" name="Text 20"/>
          <p:cNvSpPr/>
          <p:nvPr/>
        </p:nvSpPr>
        <p:spPr>
          <a:xfrm>
            <a:off x="6016680" y="5779080"/>
            <a:ext cx="2468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Shape 21"/>
          <p:cNvSpPr/>
          <p:nvPr/>
        </p:nvSpPr>
        <p:spPr>
          <a:xfrm>
            <a:off x="8778240" y="5394960"/>
            <a:ext cx="2742480" cy="8679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6" name="Shape 22"/>
          <p:cNvSpPr/>
          <p:nvPr/>
        </p:nvSpPr>
        <p:spPr>
          <a:xfrm>
            <a:off x="8778240" y="5394960"/>
            <a:ext cx="54000" cy="86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7" name="Text 23"/>
          <p:cNvSpPr/>
          <p:nvPr/>
        </p:nvSpPr>
        <p:spPr>
          <a:xfrm>
            <a:off x="8942760" y="5486400"/>
            <a:ext cx="2468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8" name="Text 24"/>
          <p:cNvSpPr/>
          <p:nvPr/>
        </p:nvSpPr>
        <p:spPr>
          <a:xfrm>
            <a:off x="8942760" y="5779080"/>
            <a:ext cx="2468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59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0" name="Text 25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1" name="Text 26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22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3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4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5" name="Shape 3"/>
          <p:cNvSpPr/>
          <p:nvPr/>
        </p:nvSpPr>
        <p:spPr>
          <a:xfrm>
            <a:off x="548640" y="1691640"/>
            <a:ext cx="5028480" cy="457128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66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5600" cy="235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7" name="Text 4"/>
          <p:cNvSpPr/>
          <p:nvPr/>
        </p:nvSpPr>
        <p:spPr>
          <a:xfrm>
            <a:off x="5852160" y="1691640"/>
            <a:ext cx="57600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8" name="Shape 5"/>
          <p:cNvSpPr/>
          <p:nvPr/>
        </p:nvSpPr>
        <p:spPr>
          <a:xfrm>
            <a:off x="5852160" y="2194560"/>
            <a:ext cx="2285280" cy="3193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9" name="Text 6"/>
          <p:cNvSpPr/>
          <p:nvPr/>
        </p:nvSpPr>
        <p:spPr>
          <a:xfrm>
            <a:off x="5852160" y="2194560"/>
            <a:ext cx="2285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0" name="Text 7"/>
          <p:cNvSpPr/>
          <p:nvPr/>
        </p:nvSpPr>
        <p:spPr>
          <a:xfrm>
            <a:off x="5852160" y="2651760"/>
            <a:ext cx="576000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 8"/>
          <p:cNvSpPr/>
          <p:nvPr/>
        </p:nvSpPr>
        <p:spPr>
          <a:xfrm>
            <a:off x="5852160" y="4114800"/>
            <a:ext cx="5760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2" name="Shape 9"/>
          <p:cNvSpPr/>
          <p:nvPr/>
        </p:nvSpPr>
        <p:spPr>
          <a:xfrm>
            <a:off x="5852160" y="4434840"/>
            <a:ext cx="2742480" cy="8679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3" name="Shape 10"/>
          <p:cNvSpPr/>
          <p:nvPr/>
        </p:nvSpPr>
        <p:spPr>
          <a:xfrm>
            <a:off x="5852160" y="4434840"/>
            <a:ext cx="54000" cy="86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4" name="Text 11"/>
          <p:cNvSpPr/>
          <p:nvPr/>
        </p:nvSpPr>
        <p:spPr>
          <a:xfrm>
            <a:off x="6016680" y="4526280"/>
            <a:ext cx="2468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5" name="Text 12"/>
          <p:cNvSpPr/>
          <p:nvPr/>
        </p:nvSpPr>
        <p:spPr>
          <a:xfrm>
            <a:off x="6016680" y="4818960"/>
            <a:ext cx="2468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Shape 13"/>
          <p:cNvSpPr/>
          <p:nvPr/>
        </p:nvSpPr>
        <p:spPr>
          <a:xfrm>
            <a:off x="8778240" y="4434840"/>
            <a:ext cx="2742480" cy="8679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7" name="Shape 14"/>
          <p:cNvSpPr/>
          <p:nvPr/>
        </p:nvSpPr>
        <p:spPr>
          <a:xfrm>
            <a:off x="8778240" y="4434840"/>
            <a:ext cx="54000" cy="86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8" name="Text 15"/>
          <p:cNvSpPr/>
          <p:nvPr/>
        </p:nvSpPr>
        <p:spPr>
          <a:xfrm>
            <a:off x="8942760" y="4526280"/>
            <a:ext cx="2468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9" name="Text 16"/>
          <p:cNvSpPr/>
          <p:nvPr/>
        </p:nvSpPr>
        <p:spPr>
          <a:xfrm>
            <a:off x="8942760" y="4818960"/>
            <a:ext cx="2468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Shape 17"/>
          <p:cNvSpPr/>
          <p:nvPr/>
        </p:nvSpPr>
        <p:spPr>
          <a:xfrm>
            <a:off x="5852160" y="5394960"/>
            <a:ext cx="2742480" cy="8679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1" name="Shape 18"/>
          <p:cNvSpPr/>
          <p:nvPr/>
        </p:nvSpPr>
        <p:spPr>
          <a:xfrm>
            <a:off x="5852160" y="5394960"/>
            <a:ext cx="54000" cy="86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2" name="Text 19"/>
          <p:cNvSpPr/>
          <p:nvPr/>
        </p:nvSpPr>
        <p:spPr>
          <a:xfrm>
            <a:off x="6016680" y="5486400"/>
            <a:ext cx="2468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3" name="Text 20"/>
          <p:cNvSpPr/>
          <p:nvPr/>
        </p:nvSpPr>
        <p:spPr>
          <a:xfrm>
            <a:off x="6016680" y="5779080"/>
            <a:ext cx="2468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Shape 21"/>
          <p:cNvSpPr/>
          <p:nvPr/>
        </p:nvSpPr>
        <p:spPr>
          <a:xfrm>
            <a:off x="8778240" y="5394960"/>
            <a:ext cx="2742480" cy="8679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5" name="Shape 22"/>
          <p:cNvSpPr/>
          <p:nvPr/>
        </p:nvSpPr>
        <p:spPr>
          <a:xfrm>
            <a:off x="8778240" y="5394960"/>
            <a:ext cx="54000" cy="86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6" name="Text 23"/>
          <p:cNvSpPr/>
          <p:nvPr/>
        </p:nvSpPr>
        <p:spPr>
          <a:xfrm>
            <a:off x="8942760" y="5486400"/>
            <a:ext cx="2468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7" name="Text 24"/>
          <p:cNvSpPr/>
          <p:nvPr/>
        </p:nvSpPr>
        <p:spPr>
          <a:xfrm>
            <a:off x="8942760" y="5779080"/>
            <a:ext cx="2468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9" name="Text 25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0" name="Text 26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23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2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4" name="Shape 3"/>
          <p:cNvSpPr/>
          <p:nvPr/>
        </p:nvSpPr>
        <p:spPr>
          <a:xfrm>
            <a:off x="548640" y="1691640"/>
            <a:ext cx="5028480" cy="457128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5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5600" cy="235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6" name="Text 4"/>
          <p:cNvSpPr/>
          <p:nvPr/>
        </p:nvSpPr>
        <p:spPr>
          <a:xfrm>
            <a:off x="5852160" y="1691640"/>
            <a:ext cx="57600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7" name="Shape 5"/>
          <p:cNvSpPr/>
          <p:nvPr/>
        </p:nvSpPr>
        <p:spPr>
          <a:xfrm>
            <a:off x="5852160" y="2194560"/>
            <a:ext cx="2285280" cy="3193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8" name="Text 6"/>
          <p:cNvSpPr/>
          <p:nvPr/>
        </p:nvSpPr>
        <p:spPr>
          <a:xfrm>
            <a:off x="5852160" y="2194560"/>
            <a:ext cx="2285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9" name="Text 7"/>
          <p:cNvSpPr/>
          <p:nvPr/>
        </p:nvSpPr>
        <p:spPr>
          <a:xfrm>
            <a:off x="5852160" y="2651760"/>
            <a:ext cx="576000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 8"/>
          <p:cNvSpPr/>
          <p:nvPr/>
        </p:nvSpPr>
        <p:spPr>
          <a:xfrm>
            <a:off x="5852160" y="4114800"/>
            <a:ext cx="5760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" name="Shape 9"/>
          <p:cNvSpPr/>
          <p:nvPr/>
        </p:nvSpPr>
        <p:spPr>
          <a:xfrm>
            <a:off x="5852160" y="4434840"/>
            <a:ext cx="2742480" cy="8679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2" name="Shape 10"/>
          <p:cNvSpPr/>
          <p:nvPr/>
        </p:nvSpPr>
        <p:spPr>
          <a:xfrm>
            <a:off x="5852160" y="4434840"/>
            <a:ext cx="54000" cy="86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3" name="Text 11"/>
          <p:cNvSpPr/>
          <p:nvPr/>
        </p:nvSpPr>
        <p:spPr>
          <a:xfrm>
            <a:off x="6016680" y="4526280"/>
            <a:ext cx="2468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4" name="Text 12"/>
          <p:cNvSpPr/>
          <p:nvPr/>
        </p:nvSpPr>
        <p:spPr>
          <a:xfrm>
            <a:off x="6016680" y="4818960"/>
            <a:ext cx="2468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Shape 13"/>
          <p:cNvSpPr/>
          <p:nvPr/>
        </p:nvSpPr>
        <p:spPr>
          <a:xfrm>
            <a:off x="8778240" y="4434840"/>
            <a:ext cx="2742480" cy="8679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6" name="Shape 14"/>
          <p:cNvSpPr/>
          <p:nvPr/>
        </p:nvSpPr>
        <p:spPr>
          <a:xfrm>
            <a:off x="8778240" y="4434840"/>
            <a:ext cx="54000" cy="86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7" name="Text 15"/>
          <p:cNvSpPr/>
          <p:nvPr/>
        </p:nvSpPr>
        <p:spPr>
          <a:xfrm>
            <a:off x="8942760" y="4526280"/>
            <a:ext cx="2468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8" name="Text 16"/>
          <p:cNvSpPr/>
          <p:nvPr/>
        </p:nvSpPr>
        <p:spPr>
          <a:xfrm>
            <a:off x="8942760" y="4818960"/>
            <a:ext cx="2468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Shape 17"/>
          <p:cNvSpPr/>
          <p:nvPr/>
        </p:nvSpPr>
        <p:spPr>
          <a:xfrm>
            <a:off x="5852160" y="5394960"/>
            <a:ext cx="2742480" cy="8679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0" name="Shape 18"/>
          <p:cNvSpPr/>
          <p:nvPr/>
        </p:nvSpPr>
        <p:spPr>
          <a:xfrm>
            <a:off x="5852160" y="5394960"/>
            <a:ext cx="54000" cy="86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1" name="Text 19"/>
          <p:cNvSpPr/>
          <p:nvPr/>
        </p:nvSpPr>
        <p:spPr>
          <a:xfrm>
            <a:off x="6016680" y="5486400"/>
            <a:ext cx="2468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2" name="Text 20"/>
          <p:cNvSpPr/>
          <p:nvPr/>
        </p:nvSpPr>
        <p:spPr>
          <a:xfrm>
            <a:off x="6016680" y="5779080"/>
            <a:ext cx="2468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Shape 21"/>
          <p:cNvSpPr/>
          <p:nvPr/>
        </p:nvSpPr>
        <p:spPr>
          <a:xfrm>
            <a:off x="8778240" y="5394960"/>
            <a:ext cx="2742480" cy="8679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4" name="Shape 22"/>
          <p:cNvSpPr/>
          <p:nvPr/>
        </p:nvSpPr>
        <p:spPr>
          <a:xfrm>
            <a:off x="8778240" y="5394960"/>
            <a:ext cx="54000" cy="86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5" name="Text 23"/>
          <p:cNvSpPr/>
          <p:nvPr/>
        </p:nvSpPr>
        <p:spPr>
          <a:xfrm>
            <a:off x="8942760" y="5486400"/>
            <a:ext cx="2468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6" name="Text 24"/>
          <p:cNvSpPr/>
          <p:nvPr/>
        </p:nvSpPr>
        <p:spPr>
          <a:xfrm>
            <a:off x="8942760" y="5779080"/>
            <a:ext cx="2468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7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8" name="Text 25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9" name="Text 26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24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1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3" name="Shape 3"/>
          <p:cNvSpPr/>
          <p:nvPr/>
        </p:nvSpPr>
        <p:spPr>
          <a:xfrm>
            <a:off x="548640" y="1691640"/>
            <a:ext cx="5028480" cy="457128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24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5600" cy="235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5" name="Text 4"/>
          <p:cNvSpPr/>
          <p:nvPr/>
        </p:nvSpPr>
        <p:spPr>
          <a:xfrm>
            <a:off x="5852160" y="1691640"/>
            <a:ext cx="57600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6" name="Shape 5"/>
          <p:cNvSpPr/>
          <p:nvPr/>
        </p:nvSpPr>
        <p:spPr>
          <a:xfrm>
            <a:off x="5852160" y="2194560"/>
            <a:ext cx="2285280" cy="3193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7" name="Text 6"/>
          <p:cNvSpPr/>
          <p:nvPr/>
        </p:nvSpPr>
        <p:spPr>
          <a:xfrm>
            <a:off x="5852160" y="2194560"/>
            <a:ext cx="2285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8" name="Text 7"/>
          <p:cNvSpPr/>
          <p:nvPr/>
        </p:nvSpPr>
        <p:spPr>
          <a:xfrm>
            <a:off x="5852160" y="2651760"/>
            <a:ext cx="576000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8"/>
          <p:cNvSpPr/>
          <p:nvPr/>
        </p:nvSpPr>
        <p:spPr>
          <a:xfrm>
            <a:off x="5852160" y="4114800"/>
            <a:ext cx="5760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Shape 9"/>
          <p:cNvSpPr/>
          <p:nvPr/>
        </p:nvSpPr>
        <p:spPr>
          <a:xfrm>
            <a:off x="5852160" y="4434840"/>
            <a:ext cx="2742480" cy="8679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1" name="Shape 10"/>
          <p:cNvSpPr/>
          <p:nvPr/>
        </p:nvSpPr>
        <p:spPr>
          <a:xfrm>
            <a:off x="5852160" y="4434840"/>
            <a:ext cx="54000" cy="86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2" name="Text 11"/>
          <p:cNvSpPr/>
          <p:nvPr/>
        </p:nvSpPr>
        <p:spPr>
          <a:xfrm>
            <a:off x="6016680" y="4526280"/>
            <a:ext cx="2468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3" name="Text 12"/>
          <p:cNvSpPr/>
          <p:nvPr/>
        </p:nvSpPr>
        <p:spPr>
          <a:xfrm>
            <a:off x="6016680" y="4818960"/>
            <a:ext cx="2468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Shape 13"/>
          <p:cNvSpPr/>
          <p:nvPr/>
        </p:nvSpPr>
        <p:spPr>
          <a:xfrm>
            <a:off x="8778240" y="4434840"/>
            <a:ext cx="2742480" cy="8679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5" name="Shape 14"/>
          <p:cNvSpPr/>
          <p:nvPr/>
        </p:nvSpPr>
        <p:spPr>
          <a:xfrm>
            <a:off x="8778240" y="4434840"/>
            <a:ext cx="54000" cy="86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6" name="Text 15"/>
          <p:cNvSpPr/>
          <p:nvPr/>
        </p:nvSpPr>
        <p:spPr>
          <a:xfrm>
            <a:off x="8942760" y="4526280"/>
            <a:ext cx="2468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7" name="Text 16"/>
          <p:cNvSpPr/>
          <p:nvPr/>
        </p:nvSpPr>
        <p:spPr>
          <a:xfrm>
            <a:off x="8942760" y="4818960"/>
            <a:ext cx="2468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Shape 17"/>
          <p:cNvSpPr/>
          <p:nvPr/>
        </p:nvSpPr>
        <p:spPr>
          <a:xfrm>
            <a:off x="5852160" y="5394960"/>
            <a:ext cx="2742480" cy="8679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9" name="Shape 18"/>
          <p:cNvSpPr/>
          <p:nvPr/>
        </p:nvSpPr>
        <p:spPr>
          <a:xfrm>
            <a:off x="5852160" y="5394960"/>
            <a:ext cx="54000" cy="86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0" name="Text 19"/>
          <p:cNvSpPr/>
          <p:nvPr/>
        </p:nvSpPr>
        <p:spPr>
          <a:xfrm>
            <a:off x="6016680" y="5486400"/>
            <a:ext cx="2468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1" name="Text 20"/>
          <p:cNvSpPr/>
          <p:nvPr/>
        </p:nvSpPr>
        <p:spPr>
          <a:xfrm>
            <a:off x="6016680" y="5779080"/>
            <a:ext cx="2468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next-intl, dictionnaires lazy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Shape 21"/>
          <p:cNvSpPr/>
          <p:nvPr/>
        </p:nvSpPr>
        <p:spPr>
          <a:xfrm>
            <a:off x="8778240" y="5394960"/>
            <a:ext cx="2742480" cy="8679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3" name="Shape 22"/>
          <p:cNvSpPr/>
          <p:nvPr/>
        </p:nvSpPr>
        <p:spPr>
          <a:xfrm>
            <a:off x="8778240" y="5394960"/>
            <a:ext cx="54000" cy="86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4" name="Text 23"/>
          <p:cNvSpPr/>
          <p:nvPr/>
        </p:nvSpPr>
        <p:spPr>
          <a:xfrm>
            <a:off x="8942760" y="5486400"/>
            <a:ext cx="2468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5" name="Text 24"/>
          <p:cNvSpPr/>
          <p:nvPr/>
        </p:nvSpPr>
        <p:spPr>
          <a:xfrm>
            <a:off x="8942760" y="5779080"/>
            <a:ext cx="2468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6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7" name="Text 25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8" name="Text 26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25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0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implémentées · 14 routes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2" name="Shape 3"/>
          <p:cNvSpPr/>
          <p:nvPr/>
        </p:nvSpPr>
        <p:spPr>
          <a:xfrm>
            <a:off x="548640" y="1691640"/>
            <a:ext cx="5485680" cy="32832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3" name="Shape 4"/>
          <p:cNvSpPr/>
          <p:nvPr/>
        </p:nvSpPr>
        <p:spPr>
          <a:xfrm>
            <a:off x="685800" y="1783080"/>
            <a:ext cx="145440" cy="1454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4" name="Text 5"/>
          <p:cNvSpPr/>
          <p:nvPr/>
        </p:nvSpPr>
        <p:spPr>
          <a:xfrm>
            <a:off x="914400" y="1691640"/>
            <a:ext cx="17366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5" name="Text 6"/>
          <p:cNvSpPr/>
          <p:nvPr/>
        </p:nvSpPr>
        <p:spPr>
          <a:xfrm>
            <a:off x="2651760" y="169164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Feed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Text 7"/>
          <p:cNvSpPr/>
          <p:nvPr/>
        </p:nvSpPr>
        <p:spPr>
          <a:xfrm>
            <a:off x="3931920" y="1691640"/>
            <a:ext cx="21024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Affichage des posts du réseau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7" name="Shape 8"/>
          <p:cNvSpPr/>
          <p:nvPr/>
        </p:nvSpPr>
        <p:spPr>
          <a:xfrm>
            <a:off x="6217920" y="1691640"/>
            <a:ext cx="5485680" cy="32832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8" name="Shape 9"/>
          <p:cNvSpPr/>
          <p:nvPr/>
        </p:nvSpPr>
        <p:spPr>
          <a:xfrm>
            <a:off x="6355080" y="1783080"/>
            <a:ext cx="145440" cy="1454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9" name="Text 10"/>
          <p:cNvSpPr/>
          <p:nvPr/>
        </p:nvSpPr>
        <p:spPr>
          <a:xfrm>
            <a:off x="6583680" y="1691640"/>
            <a:ext cx="17366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/login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0" name="Text 11"/>
          <p:cNvSpPr/>
          <p:nvPr/>
        </p:nvSpPr>
        <p:spPr>
          <a:xfrm>
            <a:off x="8321040" y="169164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1" name="Text 12"/>
          <p:cNvSpPr/>
          <p:nvPr/>
        </p:nvSpPr>
        <p:spPr>
          <a:xfrm>
            <a:off x="9601200" y="1691640"/>
            <a:ext cx="21024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Authentification email + OAuth Google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2" name="Shape 13"/>
          <p:cNvSpPr/>
          <p:nvPr/>
        </p:nvSpPr>
        <p:spPr>
          <a:xfrm>
            <a:off x="548640" y="2057400"/>
            <a:ext cx="5485680" cy="32832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3" name="Shape 14"/>
          <p:cNvSpPr/>
          <p:nvPr/>
        </p:nvSpPr>
        <p:spPr>
          <a:xfrm>
            <a:off x="685800" y="2148840"/>
            <a:ext cx="145440" cy="1454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4" name="Text 15"/>
          <p:cNvSpPr/>
          <p:nvPr/>
        </p:nvSpPr>
        <p:spPr>
          <a:xfrm>
            <a:off x="914400" y="2057400"/>
            <a:ext cx="17366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/register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5" name="Text 16"/>
          <p:cNvSpPr/>
          <p:nvPr/>
        </p:nvSpPr>
        <p:spPr>
          <a:xfrm>
            <a:off x="2651760" y="205740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Register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6" name="Text 17"/>
          <p:cNvSpPr/>
          <p:nvPr/>
        </p:nvSpPr>
        <p:spPr>
          <a:xfrm>
            <a:off x="3931920" y="2057400"/>
            <a:ext cx="21024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Inscription avec vérification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Shape 18"/>
          <p:cNvSpPr/>
          <p:nvPr/>
        </p:nvSpPr>
        <p:spPr>
          <a:xfrm>
            <a:off x="6217920" y="2057400"/>
            <a:ext cx="5485680" cy="32832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8" name="Shape 19"/>
          <p:cNvSpPr/>
          <p:nvPr/>
        </p:nvSpPr>
        <p:spPr>
          <a:xfrm>
            <a:off x="6355080" y="2148840"/>
            <a:ext cx="145440" cy="1454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9" name="Text 20"/>
          <p:cNvSpPr/>
          <p:nvPr/>
        </p:nvSpPr>
        <p:spPr>
          <a:xfrm>
            <a:off x="6583680" y="2057400"/>
            <a:ext cx="17366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/onboarding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0" name="Text 21"/>
          <p:cNvSpPr/>
          <p:nvPr/>
        </p:nvSpPr>
        <p:spPr>
          <a:xfrm>
            <a:off x="8321040" y="205740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Onboarding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22"/>
          <p:cNvSpPr/>
          <p:nvPr/>
        </p:nvSpPr>
        <p:spPr>
          <a:xfrm>
            <a:off x="9601200" y="2057400"/>
            <a:ext cx="21024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Complétion du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Shape 23"/>
          <p:cNvSpPr/>
          <p:nvPr/>
        </p:nvSpPr>
        <p:spPr>
          <a:xfrm>
            <a:off x="548640" y="2423160"/>
            <a:ext cx="5485680" cy="32832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3" name="Shape 24"/>
          <p:cNvSpPr/>
          <p:nvPr/>
        </p:nvSpPr>
        <p:spPr>
          <a:xfrm>
            <a:off x="685800" y="2514600"/>
            <a:ext cx="145440" cy="1454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4" name="Text 25"/>
          <p:cNvSpPr/>
          <p:nvPr/>
        </p:nvSpPr>
        <p:spPr>
          <a:xfrm>
            <a:off x="914400" y="2423160"/>
            <a:ext cx="17366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/profile/[id]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5" name="Text 26"/>
          <p:cNvSpPr/>
          <p:nvPr/>
        </p:nvSpPr>
        <p:spPr>
          <a:xfrm>
            <a:off x="2651760" y="242316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6" name="Text 27"/>
          <p:cNvSpPr/>
          <p:nvPr/>
        </p:nvSpPr>
        <p:spPr>
          <a:xfrm>
            <a:off x="3931920" y="2423160"/>
            <a:ext cx="21024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public/privé, posts, abonnés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7" name="Shape 28"/>
          <p:cNvSpPr/>
          <p:nvPr/>
        </p:nvSpPr>
        <p:spPr>
          <a:xfrm>
            <a:off x="6217920" y="2423160"/>
            <a:ext cx="5485680" cy="32832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8" name="Shape 29"/>
          <p:cNvSpPr/>
          <p:nvPr/>
        </p:nvSpPr>
        <p:spPr>
          <a:xfrm>
            <a:off x="6355080" y="2514600"/>
            <a:ext cx="145440" cy="1454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9" name="Text 30"/>
          <p:cNvSpPr/>
          <p:nvPr/>
        </p:nvSpPr>
        <p:spPr>
          <a:xfrm>
            <a:off x="6583680" y="2423160"/>
            <a:ext cx="17366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0" name="Text 31"/>
          <p:cNvSpPr/>
          <p:nvPr/>
        </p:nvSpPr>
        <p:spPr>
          <a:xfrm>
            <a:off x="8321040" y="242316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Conversations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Text 32"/>
          <p:cNvSpPr/>
          <p:nvPr/>
        </p:nvSpPr>
        <p:spPr>
          <a:xfrm>
            <a:off x="9601200" y="2423160"/>
            <a:ext cx="21024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 des messages 1-to-1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2" name="Shape 33"/>
          <p:cNvSpPr/>
          <p:nvPr/>
        </p:nvSpPr>
        <p:spPr>
          <a:xfrm>
            <a:off x="548640" y="2788920"/>
            <a:ext cx="5485680" cy="32832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3" name="Shape 34"/>
          <p:cNvSpPr/>
          <p:nvPr/>
        </p:nvSpPr>
        <p:spPr>
          <a:xfrm>
            <a:off x="685800" y="2880360"/>
            <a:ext cx="145440" cy="1454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4" name="Text 35"/>
          <p:cNvSpPr/>
          <p:nvPr/>
        </p:nvSpPr>
        <p:spPr>
          <a:xfrm>
            <a:off x="914400" y="2788920"/>
            <a:ext cx="17366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5" name="Text 36"/>
          <p:cNvSpPr/>
          <p:nvPr/>
        </p:nvSpPr>
        <p:spPr>
          <a:xfrm>
            <a:off x="2651760" y="278892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Chat DM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6" name="Text 37"/>
          <p:cNvSpPr/>
          <p:nvPr/>
        </p:nvSpPr>
        <p:spPr>
          <a:xfrm>
            <a:off x="3931920" y="2788920"/>
            <a:ext cx="21024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Messagerie privée temps réel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7" name="Shape 38"/>
          <p:cNvSpPr/>
          <p:nvPr/>
        </p:nvSpPr>
        <p:spPr>
          <a:xfrm>
            <a:off x="6217920" y="2788920"/>
            <a:ext cx="5485680" cy="32832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8" name="Shape 39"/>
          <p:cNvSpPr/>
          <p:nvPr/>
        </p:nvSpPr>
        <p:spPr>
          <a:xfrm>
            <a:off x="6355080" y="2880360"/>
            <a:ext cx="145440" cy="1454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9" name="Text 40"/>
          <p:cNvSpPr/>
          <p:nvPr/>
        </p:nvSpPr>
        <p:spPr>
          <a:xfrm>
            <a:off x="6583680" y="2788920"/>
            <a:ext cx="17366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/reels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0" name="Text 41"/>
          <p:cNvSpPr/>
          <p:nvPr/>
        </p:nvSpPr>
        <p:spPr>
          <a:xfrm>
            <a:off x="8321040" y="278892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1" name="Text 42"/>
          <p:cNvSpPr/>
          <p:nvPr/>
        </p:nvSpPr>
        <p:spPr>
          <a:xfrm>
            <a:off x="9601200" y="2788920"/>
            <a:ext cx="21024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Vidéos courtes verticales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Shape 43"/>
          <p:cNvSpPr/>
          <p:nvPr/>
        </p:nvSpPr>
        <p:spPr>
          <a:xfrm>
            <a:off x="548640" y="3154680"/>
            <a:ext cx="5485680" cy="32832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3" name="Shape 44"/>
          <p:cNvSpPr/>
          <p:nvPr/>
        </p:nvSpPr>
        <p:spPr>
          <a:xfrm>
            <a:off x="685800" y="3246120"/>
            <a:ext cx="145440" cy="1454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4" name="Text 45"/>
          <p:cNvSpPr/>
          <p:nvPr/>
        </p:nvSpPr>
        <p:spPr>
          <a:xfrm>
            <a:off x="914400" y="3154680"/>
            <a:ext cx="17366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/search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5" name="Text 46"/>
          <p:cNvSpPr/>
          <p:nvPr/>
        </p:nvSpPr>
        <p:spPr>
          <a:xfrm>
            <a:off x="2651760" y="315468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Recherche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47"/>
          <p:cNvSpPr/>
          <p:nvPr/>
        </p:nvSpPr>
        <p:spPr>
          <a:xfrm>
            <a:off x="3931920" y="3154680"/>
            <a:ext cx="21024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Users + posts avec historique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Shape 48"/>
          <p:cNvSpPr/>
          <p:nvPr/>
        </p:nvSpPr>
        <p:spPr>
          <a:xfrm>
            <a:off x="6217920" y="3154680"/>
            <a:ext cx="5485680" cy="32832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8" name="Shape 49"/>
          <p:cNvSpPr/>
          <p:nvPr/>
        </p:nvSpPr>
        <p:spPr>
          <a:xfrm>
            <a:off x="6355080" y="3246120"/>
            <a:ext cx="145440" cy="1454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9" name="Text 50"/>
          <p:cNvSpPr/>
          <p:nvPr/>
        </p:nvSpPr>
        <p:spPr>
          <a:xfrm>
            <a:off x="6583680" y="3154680"/>
            <a:ext cx="17366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0" name="Text 51"/>
          <p:cNvSpPr/>
          <p:nvPr/>
        </p:nvSpPr>
        <p:spPr>
          <a:xfrm>
            <a:off x="8321040" y="315468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1" name="Text 52"/>
          <p:cNvSpPr/>
          <p:nvPr/>
        </p:nvSpPr>
        <p:spPr>
          <a:xfrm>
            <a:off x="9601200" y="3154680"/>
            <a:ext cx="21024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Liste, recherche, création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2" name="Shape 53"/>
          <p:cNvSpPr/>
          <p:nvPr/>
        </p:nvSpPr>
        <p:spPr>
          <a:xfrm>
            <a:off x="548640" y="3520440"/>
            <a:ext cx="5485680" cy="32832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3" name="Shape 54"/>
          <p:cNvSpPr/>
          <p:nvPr/>
        </p:nvSpPr>
        <p:spPr>
          <a:xfrm>
            <a:off x="685800" y="3611880"/>
            <a:ext cx="145440" cy="1454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4" name="Text 55"/>
          <p:cNvSpPr/>
          <p:nvPr/>
        </p:nvSpPr>
        <p:spPr>
          <a:xfrm>
            <a:off x="914400" y="3520440"/>
            <a:ext cx="17366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5" name="Text 56"/>
          <p:cNvSpPr/>
          <p:nvPr/>
        </p:nvSpPr>
        <p:spPr>
          <a:xfrm>
            <a:off x="2651760" y="352044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6" name="Text 57"/>
          <p:cNvSpPr/>
          <p:nvPr/>
        </p:nvSpPr>
        <p:spPr>
          <a:xfrm>
            <a:off x="3931920" y="3520440"/>
            <a:ext cx="21024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Feed + chat + membres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Shape 58"/>
          <p:cNvSpPr/>
          <p:nvPr/>
        </p:nvSpPr>
        <p:spPr>
          <a:xfrm>
            <a:off x="6217920" y="3520440"/>
            <a:ext cx="5485680" cy="32832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8" name="Shape 59"/>
          <p:cNvSpPr/>
          <p:nvPr/>
        </p:nvSpPr>
        <p:spPr>
          <a:xfrm>
            <a:off x="6355080" y="3611880"/>
            <a:ext cx="145440" cy="1454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9" name="Text 60"/>
          <p:cNvSpPr/>
          <p:nvPr/>
        </p:nvSpPr>
        <p:spPr>
          <a:xfrm>
            <a:off x="6583680" y="3520440"/>
            <a:ext cx="17366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/events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0" name="Text 61"/>
          <p:cNvSpPr/>
          <p:nvPr/>
        </p:nvSpPr>
        <p:spPr>
          <a:xfrm>
            <a:off x="8321040" y="352044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Événements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1" name="Text 62"/>
          <p:cNvSpPr/>
          <p:nvPr/>
        </p:nvSpPr>
        <p:spPr>
          <a:xfrm>
            <a:off x="9601200" y="3520440"/>
            <a:ext cx="21024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Calendrier +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2" name="Shape 63"/>
          <p:cNvSpPr/>
          <p:nvPr/>
        </p:nvSpPr>
        <p:spPr>
          <a:xfrm>
            <a:off x="548640" y="3886200"/>
            <a:ext cx="5485680" cy="32832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3" name="Shape 64"/>
          <p:cNvSpPr/>
          <p:nvPr/>
        </p:nvSpPr>
        <p:spPr>
          <a:xfrm>
            <a:off x="685800" y="3977640"/>
            <a:ext cx="145440" cy="1454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4" name="Text 65"/>
          <p:cNvSpPr/>
          <p:nvPr/>
        </p:nvSpPr>
        <p:spPr>
          <a:xfrm>
            <a:off x="914400" y="3886200"/>
            <a:ext cx="17366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/settings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5" name="Text 66"/>
          <p:cNvSpPr/>
          <p:nvPr/>
        </p:nvSpPr>
        <p:spPr>
          <a:xfrm>
            <a:off x="2651760" y="388620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67"/>
          <p:cNvSpPr/>
          <p:nvPr/>
        </p:nvSpPr>
        <p:spPr>
          <a:xfrm>
            <a:off x="3931920" y="3886200"/>
            <a:ext cx="21024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Profil, sécurité, langue, thème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7" name="Shape 68"/>
          <p:cNvSpPr/>
          <p:nvPr/>
        </p:nvSpPr>
        <p:spPr>
          <a:xfrm>
            <a:off x="6217920" y="3886200"/>
            <a:ext cx="5485680" cy="32832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8" name="Shape 69"/>
          <p:cNvSpPr/>
          <p:nvPr/>
        </p:nvSpPr>
        <p:spPr>
          <a:xfrm>
            <a:off x="6355080" y="3977640"/>
            <a:ext cx="145440" cy="1454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9" name="Text 70"/>
          <p:cNvSpPr/>
          <p:nvPr/>
        </p:nvSpPr>
        <p:spPr>
          <a:xfrm>
            <a:off x="6583680" y="3886200"/>
            <a:ext cx="17366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/invitations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0" name="Text 71"/>
          <p:cNvSpPr/>
          <p:nvPr/>
        </p:nvSpPr>
        <p:spPr>
          <a:xfrm>
            <a:off x="8321040" y="3886200"/>
            <a:ext cx="12794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Invitations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1" name="Text 72"/>
          <p:cNvSpPr/>
          <p:nvPr/>
        </p:nvSpPr>
        <p:spPr>
          <a:xfrm>
            <a:off x="9601200" y="3886200"/>
            <a:ext cx="21024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Demandes d'amitié et de groupe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2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3" name="Text 73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4" name="Text 74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26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 · DIAGRAMME DE SÉQUENCE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6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Flux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7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8" name="Shape 3"/>
          <p:cNvSpPr/>
          <p:nvPr/>
        </p:nvSpPr>
        <p:spPr>
          <a:xfrm>
            <a:off x="457200" y="1783080"/>
            <a:ext cx="1645200" cy="50220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9" name="Text 4"/>
          <p:cNvSpPr/>
          <p:nvPr/>
        </p:nvSpPr>
        <p:spPr>
          <a:xfrm>
            <a:off x="457200" y="1783080"/>
            <a:ext cx="1645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0" name="Shape 5"/>
          <p:cNvSpPr/>
          <p:nvPr/>
        </p:nvSpPr>
        <p:spPr>
          <a:xfrm>
            <a:off x="128016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1" name="Shape 6"/>
          <p:cNvSpPr/>
          <p:nvPr/>
        </p:nvSpPr>
        <p:spPr>
          <a:xfrm>
            <a:off x="4480560" y="1783080"/>
            <a:ext cx="1645200" cy="50220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2" name="Text 7"/>
          <p:cNvSpPr/>
          <p:nvPr/>
        </p:nvSpPr>
        <p:spPr>
          <a:xfrm>
            <a:off x="4480560" y="1783080"/>
            <a:ext cx="1645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3" name="Shape 8"/>
          <p:cNvSpPr/>
          <p:nvPr/>
        </p:nvSpPr>
        <p:spPr>
          <a:xfrm>
            <a:off x="530352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4" name="Shape 9"/>
          <p:cNvSpPr/>
          <p:nvPr/>
        </p:nvSpPr>
        <p:spPr>
          <a:xfrm>
            <a:off x="8503920" y="1783080"/>
            <a:ext cx="1645200" cy="50220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5" name="Text 10"/>
          <p:cNvSpPr/>
          <p:nvPr/>
        </p:nvSpPr>
        <p:spPr>
          <a:xfrm>
            <a:off x="8503920" y="1783080"/>
            <a:ext cx="1645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(Prisma)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6" name="Shape 11"/>
          <p:cNvSpPr/>
          <p:nvPr/>
        </p:nvSpPr>
        <p:spPr>
          <a:xfrm>
            <a:off x="932688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7" name="Shape 12"/>
          <p:cNvSpPr/>
          <p:nvPr/>
        </p:nvSpPr>
        <p:spPr>
          <a:xfrm>
            <a:off x="1280160" y="2743200"/>
            <a:ext cx="4023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8" name="Text 13"/>
          <p:cNvSpPr/>
          <p:nvPr/>
        </p:nvSpPr>
        <p:spPr>
          <a:xfrm>
            <a:off x="1280160" y="2450520"/>
            <a:ext cx="4022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/api/public/auth/login  { email, password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9" name="Shape 14"/>
          <p:cNvSpPr/>
          <p:nvPr/>
        </p:nvSpPr>
        <p:spPr>
          <a:xfrm>
            <a:off x="5303520" y="3246120"/>
            <a:ext cx="4023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0" name="Text 15"/>
          <p:cNvSpPr/>
          <p:nvPr/>
        </p:nvSpPr>
        <p:spPr>
          <a:xfrm>
            <a:off x="5303520" y="2953440"/>
            <a:ext cx="4022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SELECT user WHERE email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1" name="Shape 16"/>
          <p:cNvSpPr/>
          <p:nvPr/>
        </p:nvSpPr>
        <p:spPr>
          <a:xfrm flipH="1">
            <a:off x="5303520" y="3749040"/>
            <a:ext cx="4023360" cy="360"/>
          </a:xfrm>
          <a:prstGeom prst="line">
            <a:avLst/>
          </a:prstGeom>
          <a:ln w="25400">
            <a:solidFill>
              <a:srgbClr val="8B5CF6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2" name="Text 17"/>
          <p:cNvSpPr/>
          <p:nvPr/>
        </p:nvSpPr>
        <p:spPr>
          <a:xfrm>
            <a:off x="5303520" y="3456360"/>
            <a:ext cx="4022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user row (hashed pwd)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3" name="Shape 18"/>
          <p:cNvSpPr/>
          <p:nvPr/>
        </p:nvSpPr>
        <p:spPr>
          <a:xfrm>
            <a:off x="5349240" y="4023360"/>
            <a:ext cx="3656880" cy="776520"/>
          </a:xfrm>
          <a:prstGeom prst="roundRect">
            <a:avLst>
              <a:gd name="adj" fmla="val 9412"/>
            </a:avLst>
          </a:prstGeom>
          <a:solidFill>
            <a:srgbClr val="272730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4" name="Text 19"/>
          <p:cNvSpPr/>
          <p:nvPr/>
        </p:nvSpPr>
        <p:spPr>
          <a:xfrm>
            <a:off x="5394960" y="4069080"/>
            <a:ext cx="356544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bcrypt.compare(password, user.password)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jose.SignJWT({ userId }) ➜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5" name="Shape 20"/>
          <p:cNvSpPr/>
          <p:nvPr/>
        </p:nvSpPr>
        <p:spPr>
          <a:xfrm flipH="1">
            <a:off x="1280160" y="5074920"/>
            <a:ext cx="40233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6" name="Text 21"/>
          <p:cNvSpPr/>
          <p:nvPr/>
        </p:nvSpPr>
        <p:spPr>
          <a:xfrm>
            <a:off x="1280160" y="4782240"/>
            <a:ext cx="4022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 ·  Set-Cookie: authToken HttpOnly SameSite=Lax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7" name="Shape 22"/>
          <p:cNvSpPr/>
          <p:nvPr/>
        </p:nvSpPr>
        <p:spPr>
          <a:xfrm>
            <a:off x="548640" y="5486400"/>
            <a:ext cx="11063520" cy="776520"/>
          </a:xfrm>
          <a:prstGeom prst="roundRect">
            <a:avLst>
              <a:gd name="adj" fmla="val 9412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8" name="Text 23"/>
          <p:cNvSpPr/>
          <p:nvPr/>
        </p:nvSpPr>
        <p:spPr>
          <a:xfrm>
            <a:off x="777240" y="5532120"/>
            <a:ext cx="106063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—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avec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jose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+ secret applicatif ·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HttpOnly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(pas accessible JS)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bcrypt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cost 12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OAuth Google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via state cookie anti-CSRF · Middleware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qui valide le JWT pour chaque route privée.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4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0" name="Text 24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1" name="Text 25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27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Rectangle 1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3" name="TextBox 2"/>
          <p:cNvSpPr/>
          <p:nvPr/>
        </p:nvSpPr>
        <p:spPr>
          <a:xfrm>
            <a:off x="548640" y="411480"/>
            <a:ext cx="10057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DIAGRAMME DE SÉQUENCE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4" name="TextBox 3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Temps réel — envoi message en SSE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5" name="Rectangle 4"/>
          <p:cNvSpPr/>
          <p:nvPr/>
        </p:nvSpPr>
        <p:spPr>
          <a:xfrm>
            <a:off x="45720" y="1691640"/>
            <a:ext cx="1553760" cy="5022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6" name="TextBox 5"/>
          <p:cNvSpPr/>
          <p:nvPr/>
        </p:nvSpPr>
        <p:spPr>
          <a:xfrm>
            <a:off x="45720" y="1737360"/>
            <a:ext cx="15537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7" name="TextBox 6"/>
          <p:cNvSpPr/>
          <p:nvPr/>
        </p:nvSpPr>
        <p:spPr>
          <a:xfrm>
            <a:off x="45720" y="1947600"/>
            <a:ext cx="15537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Browser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Rectangle 7"/>
          <p:cNvSpPr/>
          <p:nvPr/>
        </p:nvSpPr>
        <p:spPr>
          <a:xfrm>
            <a:off x="804600" y="219456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9" name="Rectangle 8"/>
          <p:cNvSpPr/>
          <p:nvPr/>
        </p:nvSpPr>
        <p:spPr>
          <a:xfrm>
            <a:off x="804600" y="235908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0" name="Rectangle 9"/>
          <p:cNvSpPr/>
          <p:nvPr/>
        </p:nvSpPr>
        <p:spPr>
          <a:xfrm>
            <a:off x="804600" y="252360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1" name="Rectangle 10"/>
          <p:cNvSpPr/>
          <p:nvPr/>
        </p:nvSpPr>
        <p:spPr>
          <a:xfrm>
            <a:off x="804600" y="268848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2" name="Rectangle 11"/>
          <p:cNvSpPr/>
          <p:nvPr/>
        </p:nvSpPr>
        <p:spPr>
          <a:xfrm>
            <a:off x="804600" y="285300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3" name="Rectangle 12"/>
          <p:cNvSpPr/>
          <p:nvPr/>
        </p:nvSpPr>
        <p:spPr>
          <a:xfrm>
            <a:off x="804600" y="301752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4" name="Rectangle 13"/>
          <p:cNvSpPr/>
          <p:nvPr/>
        </p:nvSpPr>
        <p:spPr>
          <a:xfrm>
            <a:off x="804600" y="318204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5" name="Rectangle 14"/>
          <p:cNvSpPr/>
          <p:nvPr/>
        </p:nvSpPr>
        <p:spPr>
          <a:xfrm>
            <a:off x="804600" y="334656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6" name="Rectangle 15"/>
          <p:cNvSpPr/>
          <p:nvPr/>
        </p:nvSpPr>
        <p:spPr>
          <a:xfrm>
            <a:off x="804600" y="351144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7" name="Rectangle 16"/>
          <p:cNvSpPr/>
          <p:nvPr/>
        </p:nvSpPr>
        <p:spPr>
          <a:xfrm>
            <a:off x="804600" y="367596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8" name="Rectangle 17"/>
          <p:cNvSpPr/>
          <p:nvPr/>
        </p:nvSpPr>
        <p:spPr>
          <a:xfrm>
            <a:off x="804600" y="384048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9" name="Rectangle 18"/>
          <p:cNvSpPr/>
          <p:nvPr/>
        </p:nvSpPr>
        <p:spPr>
          <a:xfrm>
            <a:off x="804600" y="400500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0" name="Rectangle 19"/>
          <p:cNvSpPr/>
          <p:nvPr/>
        </p:nvSpPr>
        <p:spPr>
          <a:xfrm>
            <a:off x="804600" y="416952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1" name="Rectangle 20"/>
          <p:cNvSpPr/>
          <p:nvPr/>
        </p:nvSpPr>
        <p:spPr>
          <a:xfrm>
            <a:off x="804600" y="433440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2" name="Rectangle 21"/>
          <p:cNvSpPr/>
          <p:nvPr/>
        </p:nvSpPr>
        <p:spPr>
          <a:xfrm>
            <a:off x="804600" y="449892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3" name="Rectangle 22"/>
          <p:cNvSpPr/>
          <p:nvPr/>
        </p:nvSpPr>
        <p:spPr>
          <a:xfrm>
            <a:off x="804600" y="466344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4" name="Rectangle 23"/>
          <p:cNvSpPr/>
          <p:nvPr/>
        </p:nvSpPr>
        <p:spPr>
          <a:xfrm>
            <a:off x="804600" y="482796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5" name="Rectangle 24"/>
          <p:cNvSpPr/>
          <p:nvPr/>
        </p:nvSpPr>
        <p:spPr>
          <a:xfrm>
            <a:off x="804600" y="499248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6" name="Rectangle 25"/>
          <p:cNvSpPr/>
          <p:nvPr/>
        </p:nvSpPr>
        <p:spPr>
          <a:xfrm>
            <a:off x="804600" y="515736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7" name="Rectangle 26"/>
          <p:cNvSpPr/>
          <p:nvPr/>
        </p:nvSpPr>
        <p:spPr>
          <a:xfrm>
            <a:off x="804600" y="532188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8" name="Rectangle 27"/>
          <p:cNvSpPr/>
          <p:nvPr/>
        </p:nvSpPr>
        <p:spPr>
          <a:xfrm>
            <a:off x="804600" y="548640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9" name="Rectangle 28"/>
          <p:cNvSpPr/>
          <p:nvPr/>
        </p:nvSpPr>
        <p:spPr>
          <a:xfrm>
            <a:off x="804600" y="565092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0" name="Rectangle 29"/>
          <p:cNvSpPr/>
          <p:nvPr/>
        </p:nvSpPr>
        <p:spPr>
          <a:xfrm>
            <a:off x="2423160" y="1691640"/>
            <a:ext cx="1553760" cy="5022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1" name="TextBox 30"/>
          <p:cNvSpPr/>
          <p:nvPr/>
        </p:nvSpPr>
        <p:spPr>
          <a:xfrm>
            <a:off x="2423160" y="1737360"/>
            <a:ext cx="15537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API send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2" name="TextBox 31"/>
          <p:cNvSpPr/>
          <p:nvPr/>
        </p:nvSpPr>
        <p:spPr>
          <a:xfrm>
            <a:off x="2423160" y="1947600"/>
            <a:ext cx="15537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Rectangle 32"/>
          <p:cNvSpPr/>
          <p:nvPr/>
        </p:nvSpPr>
        <p:spPr>
          <a:xfrm>
            <a:off x="3182040" y="219456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4" name="Rectangle 33"/>
          <p:cNvSpPr/>
          <p:nvPr/>
        </p:nvSpPr>
        <p:spPr>
          <a:xfrm>
            <a:off x="3182040" y="235908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5" name="Rectangle 34"/>
          <p:cNvSpPr/>
          <p:nvPr/>
        </p:nvSpPr>
        <p:spPr>
          <a:xfrm>
            <a:off x="3182040" y="252360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6" name="Rectangle 35"/>
          <p:cNvSpPr/>
          <p:nvPr/>
        </p:nvSpPr>
        <p:spPr>
          <a:xfrm>
            <a:off x="3182040" y="268848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7" name="Rectangle 36"/>
          <p:cNvSpPr/>
          <p:nvPr/>
        </p:nvSpPr>
        <p:spPr>
          <a:xfrm>
            <a:off x="3182040" y="285300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8" name="Rectangle 37"/>
          <p:cNvSpPr/>
          <p:nvPr/>
        </p:nvSpPr>
        <p:spPr>
          <a:xfrm>
            <a:off x="3182040" y="301752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9" name="Rectangle 38"/>
          <p:cNvSpPr/>
          <p:nvPr/>
        </p:nvSpPr>
        <p:spPr>
          <a:xfrm>
            <a:off x="3182040" y="318204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0" name="Rectangle 39"/>
          <p:cNvSpPr/>
          <p:nvPr/>
        </p:nvSpPr>
        <p:spPr>
          <a:xfrm>
            <a:off x="3182040" y="334656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1" name="Rectangle 40"/>
          <p:cNvSpPr/>
          <p:nvPr/>
        </p:nvSpPr>
        <p:spPr>
          <a:xfrm>
            <a:off x="3200400" y="3485520"/>
            <a:ext cx="9072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2" name="Rectangle 41"/>
          <p:cNvSpPr/>
          <p:nvPr/>
        </p:nvSpPr>
        <p:spPr>
          <a:xfrm>
            <a:off x="3182040" y="367596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3" name="Rectangle 42"/>
          <p:cNvSpPr/>
          <p:nvPr/>
        </p:nvSpPr>
        <p:spPr>
          <a:xfrm>
            <a:off x="3182040" y="384048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4" name="Rectangle 43"/>
          <p:cNvSpPr/>
          <p:nvPr/>
        </p:nvSpPr>
        <p:spPr>
          <a:xfrm>
            <a:off x="3182040" y="400500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5" name="Rectangle 44"/>
          <p:cNvSpPr/>
          <p:nvPr/>
        </p:nvSpPr>
        <p:spPr>
          <a:xfrm>
            <a:off x="3182040" y="416952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6" name="Rectangle 45"/>
          <p:cNvSpPr/>
          <p:nvPr/>
        </p:nvSpPr>
        <p:spPr>
          <a:xfrm>
            <a:off x="3182040" y="433440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7" name="Rectangle 46"/>
          <p:cNvSpPr/>
          <p:nvPr/>
        </p:nvSpPr>
        <p:spPr>
          <a:xfrm>
            <a:off x="3182040" y="449892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8" name="Rectangle 47"/>
          <p:cNvSpPr/>
          <p:nvPr/>
        </p:nvSpPr>
        <p:spPr>
          <a:xfrm>
            <a:off x="3182040" y="466344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9" name="Rectangle 48"/>
          <p:cNvSpPr/>
          <p:nvPr/>
        </p:nvSpPr>
        <p:spPr>
          <a:xfrm>
            <a:off x="3182040" y="482796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0" name="Rectangle 49"/>
          <p:cNvSpPr/>
          <p:nvPr/>
        </p:nvSpPr>
        <p:spPr>
          <a:xfrm>
            <a:off x="3182040" y="499248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1" name="Rectangle 50"/>
          <p:cNvSpPr/>
          <p:nvPr/>
        </p:nvSpPr>
        <p:spPr>
          <a:xfrm>
            <a:off x="3182040" y="515736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2" name="Rectangle 51"/>
          <p:cNvSpPr/>
          <p:nvPr/>
        </p:nvSpPr>
        <p:spPr>
          <a:xfrm>
            <a:off x="3182040" y="532188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3" name="Rectangle 52"/>
          <p:cNvSpPr/>
          <p:nvPr/>
        </p:nvSpPr>
        <p:spPr>
          <a:xfrm>
            <a:off x="3182040" y="548640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4" name="Rectangle 53"/>
          <p:cNvSpPr/>
          <p:nvPr/>
        </p:nvSpPr>
        <p:spPr>
          <a:xfrm>
            <a:off x="3182040" y="565092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5" name="Rectangle 54"/>
          <p:cNvSpPr/>
          <p:nvPr/>
        </p:nvSpPr>
        <p:spPr>
          <a:xfrm>
            <a:off x="4800600" y="1691640"/>
            <a:ext cx="1553760" cy="5022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6" name="TextBox 55"/>
          <p:cNvSpPr/>
          <p:nvPr/>
        </p:nvSpPr>
        <p:spPr>
          <a:xfrm>
            <a:off x="4800600" y="1737360"/>
            <a:ext cx="15537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7" name="TextBox 56"/>
          <p:cNvSpPr/>
          <p:nvPr/>
        </p:nvSpPr>
        <p:spPr>
          <a:xfrm>
            <a:off x="4800600" y="1947600"/>
            <a:ext cx="15537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Prisma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8" name="Rectangle 57"/>
          <p:cNvSpPr/>
          <p:nvPr/>
        </p:nvSpPr>
        <p:spPr>
          <a:xfrm>
            <a:off x="5559480" y="219456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9" name="Rectangle 58"/>
          <p:cNvSpPr/>
          <p:nvPr/>
        </p:nvSpPr>
        <p:spPr>
          <a:xfrm>
            <a:off x="5559480" y="235908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0" name="Rectangle 59"/>
          <p:cNvSpPr/>
          <p:nvPr/>
        </p:nvSpPr>
        <p:spPr>
          <a:xfrm>
            <a:off x="5559480" y="252360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1" name="Rectangle 60"/>
          <p:cNvSpPr/>
          <p:nvPr/>
        </p:nvSpPr>
        <p:spPr>
          <a:xfrm>
            <a:off x="5559480" y="268848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2" name="Rectangle 61"/>
          <p:cNvSpPr/>
          <p:nvPr/>
        </p:nvSpPr>
        <p:spPr>
          <a:xfrm>
            <a:off x="5559480" y="285300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3" name="Rectangle 62"/>
          <p:cNvSpPr/>
          <p:nvPr/>
        </p:nvSpPr>
        <p:spPr>
          <a:xfrm>
            <a:off x="5486400" y="3028320"/>
            <a:ext cx="9072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4" name="Rectangle 63"/>
          <p:cNvSpPr/>
          <p:nvPr/>
        </p:nvSpPr>
        <p:spPr>
          <a:xfrm>
            <a:off x="5559480" y="318204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5" name="Rectangle 64"/>
          <p:cNvSpPr/>
          <p:nvPr/>
        </p:nvSpPr>
        <p:spPr>
          <a:xfrm>
            <a:off x="5559480" y="334656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6" name="Rectangle 65"/>
          <p:cNvSpPr/>
          <p:nvPr/>
        </p:nvSpPr>
        <p:spPr>
          <a:xfrm>
            <a:off x="5559480" y="351144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7" name="Rectangle 66"/>
          <p:cNvSpPr/>
          <p:nvPr/>
        </p:nvSpPr>
        <p:spPr>
          <a:xfrm>
            <a:off x="5559480" y="367596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8" name="Rectangle 67"/>
          <p:cNvSpPr/>
          <p:nvPr/>
        </p:nvSpPr>
        <p:spPr>
          <a:xfrm>
            <a:off x="5559480" y="384048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9" name="Rectangle 68"/>
          <p:cNvSpPr/>
          <p:nvPr/>
        </p:nvSpPr>
        <p:spPr>
          <a:xfrm>
            <a:off x="5559480" y="400500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0" name="Rectangle 69"/>
          <p:cNvSpPr/>
          <p:nvPr/>
        </p:nvSpPr>
        <p:spPr>
          <a:xfrm>
            <a:off x="5559480" y="416952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1" name="Rectangle 70"/>
          <p:cNvSpPr/>
          <p:nvPr/>
        </p:nvSpPr>
        <p:spPr>
          <a:xfrm>
            <a:off x="5559480" y="433440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2" name="Rectangle 71"/>
          <p:cNvSpPr/>
          <p:nvPr/>
        </p:nvSpPr>
        <p:spPr>
          <a:xfrm>
            <a:off x="5559480" y="449892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3" name="Rectangle 72"/>
          <p:cNvSpPr/>
          <p:nvPr/>
        </p:nvSpPr>
        <p:spPr>
          <a:xfrm>
            <a:off x="5559480" y="466344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4" name="Rectangle 73"/>
          <p:cNvSpPr/>
          <p:nvPr/>
        </p:nvSpPr>
        <p:spPr>
          <a:xfrm>
            <a:off x="5559480" y="482796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5" name="Rectangle 74"/>
          <p:cNvSpPr/>
          <p:nvPr/>
        </p:nvSpPr>
        <p:spPr>
          <a:xfrm>
            <a:off x="5559480" y="499248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6" name="Rectangle 75"/>
          <p:cNvSpPr/>
          <p:nvPr/>
        </p:nvSpPr>
        <p:spPr>
          <a:xfrm>
            <a:off x="5559480" y="515736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7" name="Rectangle 76"/>
          <p:cNvSpPr/>
          <p:nvPr/>
        </p:nvSpPr>
        <p:spPr>
          <a:xfrm>
            <a:off x="5559480" y="532188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8" name="Rectangle 77"/>
          <p:cNvSpPr/>
          <p:nvPr/>
        </p:nvSpPr>
        <p:spPr>
          <a:xfrm>
            <a:off x="5559480" y="548640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9" name="Rectangle 78"/>
          <p:cNvSpPr/>
          <p:nvPr/>
        </p:nvSpPr>
        <p:spPr>
          <a:xfrm>
            <a:off x="5559480" y="565092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0" name="Rectangle 79"/>
          <p:cNvSpPr/>
          <p:nvPr/>
        </p:nvSpPr>
        <p:spPr>
          <a:xfrm>
            <a:off x="7178040" y="1691640"/>
            <a:ext cx="1553760" cy="502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1" name="TextBox 80"/>
          <p:cNvSpPr/>
          <p:nvPr/>
        </p:nvSpPr>
        <p:spPr>
          <a:xfrm>
            <a:off x="7178040" y="1737360"/>
            <a:ext cx="15537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2" name="TextBox 81"/>
          <p:cNvSpPr/>
          <p:nvPr/>
        </p:nvSpPr>
        <p:spPr>
          <a:xfrm>
            <a:off x="7178040" y="1947600"/>
            <a:ext cx="15537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REST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3" name="Rectangle 82"/>
          <p:cNvSpPr/>
          <p:nvPr/>
        </p:nvSpPr>
        <p:spPr>
          <a:xfrm>
            <a:off x="7936920" y="219456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4" name="Rectangle 83"/>
          <p:cNvSpPr/>
          <p:nvPr/>
        </p:nvSpPr>
        <p:spPr>
          <a:xfrm>
            <a:off x="7936920" y="235908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5" name="Rectangle 84"/>
          <p:cNvSpPr/>
          <p:nvPr/>
        </p:nvSpPr>
        <p:spPr>
          <a:xfrm>
            <a:off x="7936920" y="252360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6" name="Rectangle 85"/>
          <p:cNvSpPr/>
          <p:nvPr/>
        </p:nvSpPr>
        <p:spPr>
          <a:xfrm>
            <a:off x="7936920" y="268848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7" name="Rectangle 86"/>
          <p:cNvSpPr/>
          <p:nvPr/>
        </p:nvSpPr>
        <p:spPr>
          <a:xfrm>
            <a:off x="7936920" y="285300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8" name="Rectangle 87"/>
          <p:cNvSpPr/>
          <p:nvPr/>
        </p:nvSpPr>
        <p:spPr>
          <a:xfrm>
            <a:off x="7936920" y="301752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9" name="Rectangle 88"/>
          <p:cNvSpPr/>
          <p:nvPr/>
        </p:nvSpPr>
        <p:spPr>
          <a:xfrm>
            <a:off x="7936920" y="318204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0" name="Rectangle 89"/>
          <p:cNvSpPr/>
          <p:nvPr/>
        </p:nvSpPr>
        <p:spPr>
          <a:xfrm>
            <a:off x="7936920" y="334656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1" name="Rectangle 90"/>
          <p:cNvSpPr/>
          <p:nvPr/>
        </p:nvSpPr>
        <p:spPr>
          <a:xfrm>
            <a:off x="7936920" y="351144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2" name="Rectangle 91"/>
          <p:cNvSpPr/>
          <p:nvPr/>
        </p:nvSpPr>
        <p:spPr>
          <a:xfrm>
            <a:off x="7936920" y="367596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3" name="Rectangle 92"/>
          <p:cNvSpPr/>
          <p:nvPr/>
        </p:nvSpPr>
        <p:spPr>
          <a:xfrm>
            <a:off x="7936920" y="384048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4" name="Rectangle 93"/>
          <p:cNvSpPr/>
          <p:nvPr/>
        </p:nvSpPr>
        <p:spPr>
          <a:xfrm>
            <a:off x="7936920" y="400500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5" name="Rectangle 94"/>
          <p:cNvSpPr/>
          <p:nvPr/>
        </p:nvSpPr>
        <p:spPr>
          <a:xfrm>
            <a:off x="7936920" y="416952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6" name="Rectangle 95"/>
          <p:cNvSpPr/>
          <p:nvPr/>
        </p:nvSpPr>
        <p:spPr>
          <a:xfrm>
            <a:off x="7936920" y="433440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7" name="Rectangle 96"/>
          <p:cNvSpPr/>
          <p:nvPr/>
        </p:nvSpPr>
        <p:spPr>
          <a:xfrm>
            <a:off x="7936920" y="449892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8" name="Rectangle 97"/>
          <p:cNvSpPr/>
          <p:nvPr/>
        </p:nvSpPr>
        <p:spPr>
          <a:xfrm>
            <a:off x="7936920" y="466344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9" name="Rectangle 98"/>
          <p:cNvSpPr/>
          <p:nvPr/>
        </p:nvSpPr>
        <p:spPr>
          <a:xfrm>
            <a:off x="7936920" y="482796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0" name="Rectangle 99"/>
          <p:cNvSpPr/>
          <p:nvPr/>
        </p:nvSpPr>
        <p:spPr>
          <a:xfrm>
            <a:off x="7936920" y="499248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1" name="Rectangle 100"/>
          <p:cNvSpPr/>
          <p:nvPr/>
        </p:nvSpPr>
        <p:spPr>
          <a:xfrm>
            <a:off x="7936920" y="515736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2" name="Rectangle 101"/>
          <p:cNvSpPr/>
          <p:nvPr/>
        </p:nvSpPr>
        <p:spPr>
          <a:xfrm>
            <a:off x="7936920" y="532188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3" name="Rectangle 102"/>
          <p:cNvSpPr/>
          <p:nvPr/>
        </p:nvSpPr>
        <p:spPr>
          <a:xfrm>
            <a:off x="7936920" y="548640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4" name="Rectangle 103"/>
          <p:cNvSpPr/>
          <p:nvPr/>
        </p:nvSpPr>
        <p:spPr>
          <a:xfrm>
            <a:off x="7936920" y="565092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5" name="Rectangle 104"/>
          <p:cNvSpPr/>
          <p:nvPr/>
        </p:nvSpPr>
        <p:spPr>
          <a:xfrm>
            <a:off x="9555480" y="1691640"/>
            <a:ext cx="1553760" cy="502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6" name="TextBox 105"/>
          <p:cNvSpPr/>
          <p:nvPr/>
        </p:nvSpPr>
        <p:spPr>
          <a:xfrm>
            <a:off x="9555480" y="1737360"/>
            <a:ext cx="15537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7" name="TextBox 106"/>
          <p:cNvSpPr/>
          <p:nvPr/>
        </p:nvSpPr>
        <p:spPr>
          <a:xfrm>
            <a:off x="9555480" y="1947600"/>
            <a:ext cx="15537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SSE listener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8" name="Rectangle 107"/>
          <p:cNvSpPr/>
          <p:nvPr/>
        </p:nvSpPr>
        <p:spPr>
          <a:xfrm>
            <a:off x="10314360" y="219456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9" name="Rectangle 108"/>
          <p:cNvSpPr/>
          <p:nvPr/>
        </p:nvSpPr>
        <p:spPr>
          <a:xfrm>
            <a:off x="10314360" y="235908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0" name="Rectangle 109"/>
          <p:cNvSpPr/>
          <p:nvPr/>
        </p:nvSpPr>
        <p:spPr>
          <a:xfrm>
            <a:off x="10314360" y="252360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1" name="Rectangle 110"/>
          <p:cNvSpPr/>
          <p:nvPr/>
        </p:nvSpPr>
        <p:spPr>
          <a:xfrm>
            <a:off x="10314360" y="268848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2" name="Rectangle 111"/>
          <p:cNvSpPr/>
          <p:nvPr/>
        </p:nvSpPr>
        <p:spPr>
          <a:xfrm>
            <a:off x="10314360" y="285300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3" name="Rectangle 112"/>
          <p:cNvSpPr/>
          <p:nvPr/>
        </p:nvSpPr>
        <p:spPr>
          <a:xfrm>
            <a:off x="10314360" y="301752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4" name="Rectangle 113"/>
          <p:cNvSpPr/>
          <p:nvPr/>
        </p:nvSpPr>
        <p:spPr>
          <a:xfrm>
            <a:off x="10314360" y="318204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5" name="Rectangle 114"/>
          <p:cNvSpPr/>
          <p:nvPr/>
        </p:nvSpPr>
        <p:spPr>
          <a:xfrm>
            <a:off x="10314360" y="334656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6" name="Rectangle 115"/>
          <p:cNvSpPr/>
          <p:nvPr/>
        </p:nvSpPr>
        <p:spPr>
          <a:xfrm>
            <a:off x="10314360" y="351144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7" name="Rectangle 116"/>
          <p:cNvSpPr/>
          <p:nvPr/>
        </p:nvSpPr>
        <p:spPr>
          <a:xfrm>
            <a:off x="10314360" y="367596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8" name="Rectangle 117"/>
          <p:cNvSpPr/>
          <p:nvPr/>
        </p:nvSpPr>
        <p:spPr>
          <a:xfrm>
            <a:off x="10314360" y="384048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9" name="Rectangle 118"/>
          <p:cNvSpPr/>
          <p:nvPr/>
        </p:nvSpPr>
        <p:spPr>
          <a:xfrm>
            <a:off x="10314360" y="400500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0" name="Rectangle 119"/>
          <p:cNvSpPr/>
          <p:nvPr/>
        </p:nvSpPr>
        <p:spPr>
          <a:xfrm>
            <a:off x="10314360" y="416952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1" name="Rectangle 120"/>
          <p:cNvSpPr/>
          <p:nvPr/>
        </p:nvSpPr>
        <p:spPr>
          <a:xfrm>
            <a:off x="10314360" y="433440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2" name="Rectangle 121"/>
          <p:cNvSpPr/>
          <p:nvPr/>
        </p:nvSpPr>
        <p:spPr>
          <a:xfrm>
            <a:off x="10314360" y="449892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3" name="Rectangle 122"/>
          <p:cNvSpPr/>
          <p:nvPr/>
        </p:nvSpPr>
        <p:spPr>
          <a:xfrm>
            <a:off x="10314360" y="466344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4" name="Rectangle 123"/>
          <p:cNvSpPr/>
          <p:nvPr/>
        </p:nvSpPr>
        <p:spPr>
          <a:xfrm>
            <a:off x="10314360" y="482796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5" name="Rectangle 124"/>
          <p:cNvSpPr/>
          <p:nvPr/>
        </p:nvSpPr>
        <p:spPr>
          <a:xfrm>
            <a:off x="10314360" y="499248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6" name="Rectangle 125"/>
          <p:cNvSpPr/>
          <p:nvPr/>
        </p:nvSpPr>
        <p:spPr>
          <a:xfrm>
            <a:off x="10314360" y="515736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7" name="Rectangle 126"/>
          <p:cNvSpPr/>
          <p:nvPr/>
        </p:nvSpPr>
        <p:spPr>
          <a:xfrm>
            <a:off x="10314360" y="532188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8" name="Rectangle 127"/>
          <p:cNvSpPr/>
          <p:nvPr/>
        </p:nvSpPr>
        <p:spPr>
          <a:xfrm>
            <a:off x="10314360" y="548640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9" name="Rectangle 128"/>
          <p:cNvSpPr/>
          <p:nvPr/>
        </p:nvSpPr>
        <p:spPr>
          <a:xfrm>
            <a:off x="10314360" y="5650920"/>
            <a:ext cx="36000" cy="907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0" name="Rectangle 129"/>
          <p:cNvSpPr/>
          <p:nvPr/>
        </p:nvSpPr>
        <p:spPr>
          <a:xfrm>
            <a:off x="822960" y="2606040"/>
            <a:ext cx="2376720" cy="223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1" name="Oval 130"/>
          <p:cNvSpPr/>
          <p:nvPr/>
        </p:nvSpPr>
        <p:spPr>
          <a:xfrm>
            <a:off x="3108960" y="2571120"/>
            <a:ext cx="90720" cy="907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19440" rIns="4536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2" name="TextBox 131"/>
          <p:cNvSpPr/>
          <p:nvPr/>
        </p:nvSpPr>
        <p:spPr>
          <a:xfrm>
            <a:off x="914400" y="2313360"/>
            <a:ext cx="2285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POST /chat/send  { to,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3" name="Rectangle 132"/>
          <p:cNvSpPr/>
          <p:nvPr/>
        </p:nvSpPr>
        <p:spPr>
          <a:xfrm>
            <a:off x="3200400" y="3063240"/>
            <a:ext cx="2376720" cy="22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4" name="Oval 133"/>
          <p:cNvSpPr/>
          <p:nvPr/>
        </p:nvSpPr>
        <p:spPr>
          <a:xfrm>
            <a:off x="5486400" y="3028320"/>
            <a:ext cx="90720" cy="907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19440" rIns="4536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5" name="TextBox 134"/>
          <p:cNvSpPr/>
          <p:nvPr/>
        </p:nvSpPr>
        <p:spPr>
          <a:xfrm>
            <a:off x="3291840" y="2770560"/>
            <a:ext cx="2285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INSERT INTO Message (via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6" name="Rectangle 135"/>
          <p:cNvSpPr/>
          <p:nvPr/>
        </p:nvSpPr>
        <p:spPr>
          <a:xfrm>
            <a:off x="3200400" y="3485520"/>
            <a:ext cx="90720" cy="90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7" name="Rectangle 136"/>
          <p:cNvSpPr/>
          <p:nvPr/>
        </p:nvSpPr>
        <p:spPr>
          <a:xfrm>
            <a:off x="3364920" y="3520440"/>
            <a:ext cx="90720" cy="22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8" name="Rectangle 137"/>
          <p:cNvSpPr/>
          <p:nvPr/>
        </p:nvSpPr>
        <p:spPr>
          <a:xfrm>
            <a:off x="3529440" y="3520440"/>
            <a:ext cx="90720" cy="22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9" name="Rectangle 138"/>
          <p:cNvSpPr/>
          <p:nvPr/>
        </p:nvSpPr>
        <p:spPr>
          <a:xfrm>
            <a:off x="3694320" y="3520440"/>
            <a:ext cx="90720" cy="22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0" name="Rectangle 139"/>
          <p:cNvSpPr/>
          <p:nvPr/>
        </p:nvSpPr>
        <p:spPr>
          <a:xfrm>
            <a:off x="3858840" y="3520440"/>
            <a:ext cx="90720" cy="22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1" name="Rectangle 140"/>
          <p:cNvSpPr/>
          <p:nvPr/>
        </p:nvSpPr>
        <p:spPr>
          <a:xfrm>
            <a:off x="4023360" y="3520440"/>
            <a:ext cx="90720" cy="22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2" name="Rectangle 141"/>
          <p:cNvSpPr/>
          <p:nvPr/>
        </p:nvSpPr>
        <p:spPr>
          <a:xfrm>
            <a:off x="4187880" y="3520440"/>
            <a:ext cx="90720" cy="22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3" name="Rectangle 142"/>
          <p:cNvSpPr/>
          <p:nvPr/>
        </p:nvSpPr>
        <p:spPr>
          <a:xfrm>
            <a:off x="4352400" y="3520440"/>
            <a:ext cx="90720" cy="22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4" name="Rectangle 143"/>
          <p:cNvSpPr/>
          <p:nvPr/>
        </p:nvSpPr>
        <p:spPr>
          <a:xfrm>
            <a:off x="4517280" y="3520440"/>
            <a:ext cx="90720" cy="22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5" name="Rectangle 144"/>
          <p:cNvSpPr/>
          <p:nvPr/>
        </p:nvSpPr>
        <p:spPr>
          <a:xfrm>
            <a:off x="4681800" y="3520440"/>
            <a:ext cx="90720" cy="22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6" name="Rectangle 145"/>
          <p:cNvSpPr/>
          <p:nvPr/>
        </p:nvSpPr>
        <p:spPr>
          <a:xfrm>
            <a:off x="4846320" y="3520440"/>
            <a:ext cx="90720" cy="22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7" name="Rectangle 146"/>
          <p:cNvSpPr/>
          <p:nvPr/>
        </p:nvSpPr>
        <p:spPr>
          <a:xfrm>
            <a:off x="5010840" y="3520440"/>
            <a:ext cx="90720" cy="22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8" name="Rectangle 147"/>
          <p:cNvSpPr/>
          <p:nvPr/>
        </p:nvSpPr>
        <p:spPr>
          <a:xfrm>
            <a:off x="5175360" y="3520440"/>
            <a:ext cx="90720" cy="22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9" name="Rectangle 148"/>
          <p:cNvSpPr/>
          <p:nvPr/>
        </p:nvSpPr>
        <p:spPr>
          <a:xfrm>
            <a:off x="5340240" y="3520440"/>
            <a:ext cx="90720" cy="22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0" name="Rectangle 149"/>
          <p:cNvSpPr/>
          <p:nvPr/>
        </p:nvSpPr>
        <p:spPr>
          <a:xfrm>
            <a:off x="5504760" y="3520440"/>
            <a:ext cx="72360" cy="22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-21960" rIns="36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1" name="Oval 150"/>
          <p:cNvSpPr/>
          <p:nvPr/>
        </p:nvSpPr>
        <p:spPr>
          <a:xfrm>
            <a:off x="3200400" y="3485520"/>
            <a:ext cx="90720" cy="9072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19440" rIns="4536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2" name="TextBox 151"/>
          <p:cNvSpPr/>
          <p:nvPr/>
        </p:nvSpPr>
        <p:spPr>
          <a:xfrm>
            <a:off x="3291840" y="3227760"/>
            <a:ext cx="2285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saved message  { id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3" name="Rectangle 152"/>
          <p:cNvSpPr/>
          <p:nvPr/>
        </p:nvSpPr>
        <p:spPr>
          <a:xfrm>
            <a:off x="3200400" y="3977640"/>
            <a:ext cx="4754160" cy="22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4" name="Oval 153"/>
          <p:cNvSpPr/>
          <p:nvPr/>
        </p:nvSpPr>
        <p:spPr>
          <a:xfrm>
            <a:off x="7863840" y="3942720"/>
            <a:ext cx="90720" cy="907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19440" rIns="4536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5" name="TextBox 154"/>
          <p:cNvSpPr/>
          <p:nvPr/>
        </p:nvSpPr>
        <p:spPr>
          <a:xfrm>
            <a:off x="3291840" y="3684960"/>
            <a:ext cx="46627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SET latest:chat:&lt;from&gt;:&lt;to&gt; = msg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6" name="Rectangle 155"/>
          <p:cNvSpPr/>
          <p:nvPr/>
        </p:nvSpPr>
        <p:spPr>
          <a:xfrm>
            <a:off x="822960" y="4399920"/>
            <a:ext cx="90720" cy="90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7" name="Rectangle 156"/>
          <p:cNvSpPr/>
          <p:nvPr/>
        </p:nvSpPr>
        <p:spPr>
          <a:xfrm>
            <a:off x="987480" y="4434840"/>
            <a:ext cx="90720" cy="22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8" name="Rectangle 157"/>
          <p:cNvSpPr/>
          <p:nvPr/>
        </p:nvSpPr>
        <p:spPr>
          <a:xfrm>
            <a:off x="1152000" y="4434840"/>
            <a:ext cx="90720" cy="22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9" name="Rectangle 158"/>
          <p:cNvSpPr/>
          <p:nvPr/>
        </p:nvSpPr>
        <p:spPr>
          <a:xfrm>
            <a:off x="1316880" y="4434840"/>
            <a:ext cx="90720" cy="22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0" name="Rectangle 159"/>
          <p:cNvSpPr/>
          <p:nvPr/>
        </p:nvSpPr>
        <p:spPr>
          <a:xfrm>
            <a:off x="1481400" y="4434840"/>
            <a:ext cx="90720" cy="22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1" name="Rectangle 160"/>
          <p:cNvSpPr/>
          <p:nvPr/>
        </p:nvSpPr>
        <p:spPr>
          <a:xfrm>
            <a:off x="1645920" y="4434840"/>
            <a:ext cx="90720" cy="22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2" name="Rectangle 161"/>
          <p:cNvSpPr/>
          <p:nvPr/>
        </p:nvSpPr>
        <p:spPr>
          <a:xfrm>
            <a:off x="1810440" y="4434840"/>
            <a:ext cx="90720" cy="22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3" name="Rectangle 162"/>
          <p:cNvSpPr/>
          <p:nvPr/>
        </p:nvSpPr>
        <p:spPr>
          <a:xfrm>
            <a:off x="1974960" y="4434840"/>
            <a:ext cx="90720" cy="22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4" name="Rectangle 163"/>
          <p:cNvSpPr/>
          <p:nvPr/>
        </p:nvSpPr>
        <p:spPr>
          <a:xfrm>
            <a:off x="2139840" y="4434840"/>
            <a:ext cx="90720" cy="22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5" name="Rectangle 164"/>
          <p:cNvSpPr/>
          <p:nvPr/>
        </p:nvSpPr>
        <p:spPr>
          <a:xfrm>
            <a:off x="2304360" y="4434840"/>
            <a:ext cx="90720" cy="22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6" name="Rectangle 165"/>
          <p:cNvSpPr/>
          <p:nvPr/>
        </p:nvSpPr>
        <p:spPr>
          <a:xfrm>
            <a:off x="2468880" y="4434840"/>
            <a:ext cx="90720" cy="22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7" name="Rectangle 166"/>
          <p:cNvSpPr/>
          <p:nvPr/>
        </p:nvSpPr>
        <p:spPr>
          <a:xfrm>
            <a:off x="2633400" y="4434840"/>
            <a:ext cx="90720" cy="22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8" name="Rectangle 167"/>
          <p:cNvSpPr/>
          <p:nvPr/>
        </p:nvSpPr>
        <p:spPr>
          <a:xfrm>
            <a:off x="2797920" y="4434840"/>
            <a:ext cx="90720" cy="22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9" name="Rectangle 168"/>
          <p:cNvSpPr/>
          <p:nvPr/>
        </p:nvSpPr>
        <p:spPr>
          <a:xfrm>
            <a:off x="2962800" y="4434840"/>
            <a:ext cx="90720" cy="22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0" name="Rectangle 169"/>
          <p:cNvSpPr/>
          <p:nvPr/>
        </p:nvSpPr>
        <p:spPr>
          <a:xfrm>
            <a:off x="3127320" y="4434840"/>
            <a:ext cx="72360" cy="22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-21960" rIns="36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1" name="Oval 170"/>
          <p:cNvSpPr/>
          <p:nvPr/>
        </p:nvSpPr>
        <p:spPr>
          <a:xfrm>
            <a:off x="822960" y="4399920"/>
            <a:ext cx="90720" cy="907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19440" rIns="4536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2" name="TextBox 171"/>
          <p:cNvSpPr/>
          <p:nvPr/>
        </p:nvSpPr>
        <p:spPr>
          <a:xfrm>
            <a:off x="914400" y="4480560"/>
            <a:ext cx="2285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200 OK { status: SENT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3" name="Rectangle 172"/>
          <p:cNvSpPr/>
          <p:nvPr/>
        </p:nvSpPr>
        <p:spPr>
          <a:xfrm>
            <a:off x="7498080" y="4754880"/>
            <a:ext cx="3291120" cy="867960"/>
          </a:xfrm>
          <a:prstGeom prst="rect">
            <a:avLst/>
          </a:prstGeom>
          <a:noFill/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4" name="Rectangle 173"/>
          <p:cNvSpPr/>
          <p:nvPr/>
        </p:nvSpPr>
        <p:spPr>
          <a:xfrm>
            <a:off x="7498080" y="4754880"/>
            <a:ext cx="593640" cy="2278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5" name="TextBox 174"/>
          <p:cNvSpPr/>
          <p:nvPr/>
        </p:nvSpPr>
        <p:spPr>
          <a:xfrm>
            <a:off x="7498080" y="4754880"/>
            <a:ext cx="593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loop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6" name="TextBox 175"/>
          <p:cNvSpPr/>
          <p:nvPr/>
        </p:nvSpPr>
        <p:spPr>
          <a:xfrm>
            <a:off x="8138160" y="4754880"/>
            <a:ext cx="2285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[polling 1s]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7" name="Rectangle 176"/>
          <p:cNvSpPr/>
          <p:nvPr/>
        </p:nvSpPr>
        <p:spPr>
          <a:xfrm>
            <a:off x="7955280" y="5120640"/>
            <a:ext cx="2376720" cy="22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8" name="Oval 177"/>
          <p:cNvSpPr/>
          <p:nvPr/>
        </p:nvSpPr>
        <p:spPr>
          <a:xfrm>
            <a:off x="7955280" y="5085720"/>
            <a:ext cx="90720" cy="907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19440" rIns="4536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9" name="TextBox 178"/>
          <p:cNvSpPr/>
          <p:nvPr/>
        </p:nvSpPr>
        <p:spPr>
          <a:xfrm>
            <a:off x="8046720" y="4827960"/>
            <a:ext cx="2285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GET latest:chat:*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0" name="Rectangle 179"/>
          <p:cNvSpPr/>
          <p:nvPr/>
        </p:nvSpPr>
        <p:spPr>
          <a:xfrm>
            <a:off x="7955280" y="5440680"/>
            <a:ext cx="90720" cy="22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1" name="Rectangle 180"/>
          <p:cNvSpPr/>
          <p:nvPr/>
        </p:nvSpPr>
        <p:spPr>
          <a:xfrm>
            <a:off x="8119800" y="5440680"/>
            <a:ext cx="90720" cy="22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2" name="Rectangle 181"/>
          <p:cNvSpPr/>
          <p:nvPr/>
        </p:nvSpPr>
        <p:spPr>
          <a:xfrm>
            <a:off x="8284320" y="5440680"/>
            <a:ext cx="90720" cy="22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3" name="Rectangle 182"/>
          <p:cNvSpPr/>
          <p:nvPr/>
        </p:nvSpPr>
        <p:spPr>
          <a:xfrm>
            <a:off x="8449200" y="5440680"/>
            <a:ext cx="90720" cy="22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4" name="Rectangle 183"/>
          <p:cNvSpPr/>
          <p:nvPr/>
        </p:nvSpPr>
        <p:spPr>
          <a:xfrm>
            <a:off x="8613720" y="5440680"/>
            <a:ext cx="90720" cy="22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5" name="Rectangle 184"/>
          <p:cNvSpPr/>
          <p:nvPr/>
        </p:nvSpPr>
        <p:spPr>
          <a:xfrm>
            <a:off x="8778240" y="5440680"/>
            <a:ext cx="90720" cy="22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6" name="Rectangle 185"/>
          <p:cNvSpPr/>
          <p:nvPr/>
        </p:nvSpPr>
        <p:spPr>
          <a:xfrm>
            <a:off x="8942760" y="5440680"/>
            <a:ext cx="90720" cy="22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7" name="Rectangle 186"/>
          <p:cNvSpPr/>
          <p:nvPr/>
        </p:nvSpPr>
        <p:spPr>
          <a:xfrm>
            <a:off x="9107280" y="5440680"/>
            <a:ext cx="90720" cy="22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8" name="Rectangle 187"/>
          <p:cNvSpPr/>
          <p:nvPr/>
        </p:nvSpPr>
        <p:spPr>
          <a:xfrm>
            <a:off x="9272160" y="5440680"/>
            <a:ext cx="90720" cy="22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9" name="Rectangle 188"/>
          <p:cNvSpPr/>
          <p:nvPr/>
        </p:nvSpPr>
        <p:spPr>
          <a:xfrm>
            <a:off x="9436680" y="5440680"/>
            <a:ext cx="90720" cy="22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0" name="Rectangle 189"/>
          <p:cNvSpPr/>
          <p:nvPr/>
        </p:nvSpPr>
        <p:spPr>
          <a:xfrm>
            <a:off x="9601200" y="5440680"/>
            <a:ext cx="90720" cy="22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1" name="Rectangle 190"/>
          <p:cNvSpPr/>
          <p:nvPr/>
        </p:nvSpPr>
        <p:spPr>
          <a:xfrm>
            <a:off x="9765720" y="5440680"/>
            <a:ext cx="90720" cy="22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2" name="Rectangle 191"/>
          <p:cNvSpPr/>
          <p:nvPr/>
        </p:nvSpPr>
        <p:spPr>
          <a:xfrm>
            <a:off x="9930240" y="5440680"/>
            <a:ext cx="90720" cy="22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3" name="Rectangle 192"/>
          <p:cNvSpPr/>
          <p:nvPr/>
        </p:nvSpPr>
        <p:spPr>
          <a:xfrm>
            <a:off x="10095120" y="5440680"/>
            <a:ext cx="90720" cy="22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4" name="Rectangle 193"/>
          <p:cNvSpPr/>
          <p:nvPr/>
        </p:nvSpPr>
        <p:spPr>
          <a:xfrm>
            <a:off x="10241280" y="5405760"/>
            <a:ext cx="90720" cy="90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-21960" rIns="36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5" name="Oval 194"/>
          <p:cNvSpPr/>
          <p:nvPr/>
        </p:nvSpPr>
        <p:spPr>
          <a:xfrm>
            <a:off x="10241280" y="5405760"/>
            <a:ext cx="90720" cy="907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19440" rIns="4536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6" name="TextBox 195"/>
          <p:cNvSpPr/>
          <p:nvPr/>
        </p:nvSpPr>
        <p:spPr>
          <a:xfrm>
            <a:off x="8046720" y="5148000"/>
            <a:ext cx="2285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data { id,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7" name="TextBox 196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8" name="TextBox 197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28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4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0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1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— signature JWT (jose)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2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3" name="Shape 3"/>
          <p:cNvSpPr/>
          <p:nvPr/>
        </p:nvSpPr>
        <p:spPr>
          <a:xfrm>
            <a:off x="548640" y="1691640"/>
            <a:ext cx="7314480" cy="457128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4" name="Shape 4"/>
          <p:cNvSpPr/>
          <p:nvPr/>
        </p:nvSpPr>
        <p:spPr>
          <a:xfrm>
            <a:off x="777240" y="1874520"/>
            <a:ext cx="136440" cy="13644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45000" rIns="684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5" name="Shape 5"/>
          <p:cNvSpPr/>
          <p:nvPr/>
        </p:nvSpPr>
        <p:spPr>
          <a:xfrm>
            <a:off x="960120" y="1874520"/>
            <a:ext cx="136440" cy="13644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45000" rIns="684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6" name="Shape 6"/>
          <p:cNvSpPr/>
          <p:nvPr/>
        </p:nvSpPr>
        <p:spPr>
          <a:xfrm>
            <a:off x="1143000" y="1874520"/>
            <a:ext cx="136440" cy="13644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45000" rIns="684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7" name="Text 7"/>
          <p:cNvSpPr/>
          <p:nvPr/>
        </p:nvSpPr>
        <p:spPr>
          <a:xfrm>
            <a:off x="1371600" y="1783080"/>
            <a:ext cx="54856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src/lib/server/user/login.ts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8" name="Text 8"/>
          <p:cNvSpPr/>
          <p:nvPr/>
        </p:nvSpPr>
        <p:spPr>
          <a:xfrm>
            <a:off x="777240" y="224028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{ SignJWT } from 'jose';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9" name="Text 9"/>
          <p:cNvSpPr/>
          <p:nvPr/>
        </p:nvSpPr>
        <p:spPr>
          <a:xfrm>
            <a:off x="777240" y="244152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bcrypt from 'bcrypt';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0" name="Text 10"/>
          <p:cNvSpPr/>
          <p:nvPr/>
        </p:nvSpPr>
        <p:spPr>
          <a:xfrm>
            <a:off x="777240" y="264276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1" name="Text 11"/>
          <p:cNvSpPr/>
          <p:nvPr/>
        </p:nvSpPr>
        <p:spPr>
          <a:xfrm>
            <a:off x="777240" y="284364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export async function login(email: string, password: string)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2" name="Text 12"/>
          <p:cNvSpPr/>
          <p:nvPr/>
        </p:nvSpPr>
        <p:spPr>
          <a:xfrm>
            <a:off x="777240" y="304488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user = await db.user.findUnique({ where: { email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3" name="Text 13"/>
          <p:cNvSpPr/>
          <p:nvPr/>
        </p:nvSpPr>
        <p:spPr>
          <a:xfrm>
            <a:off x="777240" y="324612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(!user)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4" name="Text 14"/>
          <p:cNvSpPr/>
          <p:nvPr/>
        </p:nvSpPr>
        <p:spPr>
          <a:xfrm>
            <a:off x="777240" y="344736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5" name="Text 15"/>
          <p:cNvSpPr/>
          <p:nvPr/>
        </p:nvSpPr>
        <p:spPr>
          <a:xfrm>
            <a:off x="777240" y="364860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ok = await bcrypt.compare(password, user.password);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6" name="Text 16"/>
          <p:cNvSpPr/>
          <p:nvPr/>
        </p:nvSpPr>
        <p:spPr>
          <a:xfrm>
            <a:off x="777240" y="384948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(!ok) 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7" name="Text 17"/>
          <p:cNvSpPr/>
          <p:nvPr/>
        </p:nvSpPr>
        <p:spPr>
          <a:xfrm>
            <a:off x="777240" y="405072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8" name="Text 18"/>
          <p:cNvSpPr/>
          <p:nvPr/>
        </p:nvSpPr>
        <p:spPr>
          <a:xfrm>
            <a:off x="777240" y="425196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const secret = new TextEncoder().encode(process.env.JWT_SECRET);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9" name="Text 19"/>
          <p:cNvSpPr/>
          <p:nvPr/>
        </p:nvSpPr>
        <p:spPr>
          <a:xfrm>
            <a:off x="777240" y="445320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token  = await new SignJWT({ userId: user.id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0" name="Text 20"/>
          <p:cNvSpPr/>
          <p:nvPr/>
        </p:nvSpPr>
        <p:spPr>
          <a:xfrm>
            <a:off x="777240" y="465444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.setProtectedHeader({ alg: 'HS256'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1" name="Text 21"/>
          <p:cNvSpPr/>
          <p:nvPr/>
        </p:nvSpPr>
        <p:spPr>
          <a:xfrm>
            <a:off x="777240" y="485532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.setIssuedAt()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2" name="Text 22"/>
          <p:cNvSpPr/>
          <p:nvPr/>
        </p:nvSpPr>
        <p:spPr>
          <a:xfrm>
            <a:off x="777240" y="505656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.setExpirationTime('7d')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3" name="Text 23"/>
          <p:cNvSpPr/>
          <p:nvPr/>
        </p:nvSpPr>
        <p:spPr>
          <a:xfrm>
            <a:off x="777240" y="525780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.sign(secret);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4" name="Text 24"/>
          <p:cNvSpPr/>
          <p:nvPr/>
        </p:nvSpPr>
        <p:spPr>
          <a:xfrm>
            <a:off x="777240" y="545904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5" name="Text 25"/>
          <p:cNvSpPr/>
          <p:nvPr/>
        </p:nvSpPr>
        <p:spPr>
          <a:xfrm>
            <a:off x="777240" y="566028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return { token, user };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6" name="Text 26"/>
          <p:cNvSpPr/>
          <p:nvPr/>
        </p:nvSpPr>
        <p:spPr>
          <a:xfrm>
            <a:off x="777240" y="586116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7" name="Shape 27"/>
          <p:cNvSpPr/>
          <p:nvPr/>
        </p:nvSpPr>
        <p:spPr>
          <a:xfrm>
            <a:off x="8092440" y="1691640"/>
            <a:ext cx="3519720" cy="457128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8" name="Text 28"/>
          <p:cNvSpPr/>
          <p:nvPr/>
        </p:nvSpPr>
        <p:spPr>
          <a:xfrm>
            <a:off x="8275320" y="1783080"/>
            <a:ext cx="31996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9" name="Shape 29"/>
          <p:cNvSpPr/>
          <p:nvPr/>
        </p:nvSpPr>
        <p:spPr>
          <a:xfrm>
            <a:off x="8275320" y="2240280"/>
            <a:ext cx="410760" cy="41076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0" name="Text 30"/>
          <p:cNvSpPr/>
          <p:nvPr/>
        </p:nvSpPr>
        <p:spPr>
          <a:xfrm>
            <a:off x="8275320" y="22402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1" name="Text 31"/>
          <p:cNvSpPr/>
          <p:nvPr/>
        </p:nvSpPr>
        <p:spPr>
          <a:xfrm>
            <a:off x="8778240" y="219456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bcrypt.compare en temps constant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2" name="Shape 32"/>
          <p:cNvSpPr/>
          <p:nvPr/>
        </p:nvSpPr>
        <p:spPr>
          <a:xfrm>
            <a:off x="8275320" y="2880360"/>
            <a:ext cx="410760" cy="41076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3" name="Text 33"/>
          <p:cNvSpPr/>
          <p:nvPr/>
        </p:nvSpPr>
        <p:spPr>
          <a:xfrm>
            <a:off x="8275320" y="288036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4" name="Text 34"/>
          <p:cNvSpPr/>
          <p:nvPr/>
        </p:nvSpPr>
        <p:spPr>
          <a:xfrm>
            <a:off x="8778240" y="283464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Même message si user inconnu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5" name="Shape 35"/>
          <p:cNvSpPr/>
          <p:nvPr/>
        </p:nvSpPr>
        <p:spPr>
          <a:xfrm>
            <a:off x="8275320" y="3520440"/>
            <a:ext cx="410760" cy="41076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6" name="Text 36"/>
          <p:cNvSpPr/>
          <p:nvPr/>
        </p:nvSpPr>
        <p:spPr>
          <a:xfrm>
            <a:off x="8275320" y="352044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7" name="Text 37"/>
          <p:cNvSpPr/>
          <p:nvPr/>
        </p:nvSpPr>
        <p:spPr>
          <a:xfrm>
            <a:off x="8778240" y="347472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HS256 (jose)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8" name="Shape 38"/>
          <p:cNvSpPr/>
          <p:nvPr/>
        </p:nvSpPr>
        <p:spPr>
          <a:xfrm>
            <a:off x="8275320" y="4160520"/>
            <a:ext cx="410760" cy="41076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9" name="Text 39"/>
          <p:cNvSpPr/>
          <p:nvPr/>
        </p:nvSpPr>
        <p:spPr>
          <a:xfrm>
            <a:off x="8275320" y="416052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0" name="Text 40"/>
          <p:cNvSpPr/>
          <p:nvPr/>
        </p:nvSpPr>
        <p:spPr>
          <a:xfrm>
            <a:off x="8778240" y="411480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Expiration explicite 7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1" name="Shape 41"/>
          <p:cNvSpPr/>
          <p:nvPr/>
        </p:nvSpPr>
        <p:spPr>
          <a:xfrm>
            <a:off x="8275320" y="4800600"/>
            <a:ext cx="410760" cy="41076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2" name="Text 42"/>
          <p:cNvSpPr/>
          <p:nvPr/>
        </p:nvSpPr>
        <p:spPr>
          <a:xfrm>
            <a:off x="8275320" y="480060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3" name="Text 43"/>
          <p:cNvSpPr/>
          <p:nvPr/>
        </p:nvSpPr>
        <p:spPr>
          <a:xfrm>
            <a:off x="8778240" y="475488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Secret env var jamais commité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4" name="Shape 44"/>
          <p:cNvSpPr/>
          <p:nvPr/>
        </p:nvSpPr>
        <p:spPr>
          <a:xfrm>
            <a:off x="8275320" y="5440680"/>
            <a:ext cx="410760" cy="41076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5" name="Text 45"/>
          <p:cNvSpPr/>
          <p:nvPr/>
        </p:nvSpPr>
        <p:spPr>
          <a:xfrm>
            <a:off x="8275320" y="54406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6" name="Text 46"/>
          <p:cNvSpPr/>
          <p:nvPr/>
        </p:nvSpPr>
        <p:spPr>
          <a:xfrm>
            <a:off x="8778240" y="539496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Erreurs typées (AuthError)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8" name="Text 47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9" name="Text 48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29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1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— Server-Sent Events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2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3" name="Shape 3"/>
          <p:cNvSpPr/>
          <p:nvPr/>
        </p:nvSpPr>
        <p:spPr>
          <a:xfrm>
            <a:off x="274320" y="1691640"/>
            <a:ext cx="1279440" cy="50220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4" name="Text 4"/>
          <p:cNvSpPr/>
          <p:nvPr/>
        </p:nvSpPr>
        <p:spPr>
          <a:xfrm>
            <a:off x="274320" y="1691640"/>
            <a:ext cx="12794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5" name="Shape 5"/>
          <p:cNvSpPr/>
          <p:nvPr/>
        </p:nvSpPr>
        <p:spPr>
          <a:xfrm>
            <a:off x="91440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6" name="Shape 6"/>
          <p:cNvSpPr/>
          <p:nvPr/>
        </p:nvSpPr>
        <p:spPr>
          <a:xfrm>
            <a:off x="3383280" y="1691640"/>
            <a:ext cx="1279440" cy="50220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7" name="Text 7"/>
          <p:cNvSpPr/>
          <p:nvPr/>
        </p:nvSpPr>
        <p:spPr>
          <a:xfrm>
            <a:off x="3383280" y="1691640"/>
            <a:ext cx="12794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8" name="Shape 8"/>
          <p:cNvSpPr/>
          <p:nvPr/>
        </p:nvSpPr>
        <p:spPr>
          <a:xfrm>
            <a:off x="402336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9" name="Shape 9"/>
          <p:cNvSpPr/>
          <p:nvPr/>
        </p:nvSpPr>
        <p:spPr>
          <a:xfrm>
            <a:off x="6126480" y="1691640"/>
            <a:ext cx="1279440" cy="50220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0" name="Text 10"/>
          <p:cNvSpPr/>
          <p:nvPr/>
        </p:nvSpPr>
        <p:spPr>
          <a:xfrm>
            <a:off x="6126480" y="1691640"/>
            <a:ext cx="12794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1" name="Shape 11"/>
          <p:cNvSpPr/>
          <p:nvPr/>
        </p:nvSpPr>
        <p:spPr>
          <a:xfrm>
            <a:off x="676656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2" name="Shape 12"/>
          <p:cNvSpPr/>
          <p:nvPr/>
        </p:nvSpPr>
        <p:spPr>
          <a:xfrm>
            <a:off x="8503920" y="1691640"/>
            <a:ext cx="1279440" cy="502200"/>
          </a:xfrm>
          <a:prstGeom prst="roundRect">
            <a:avLst>
              <a:gd name="adj" fmla="val 14545"/>
            </a:avLst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3" name="Text 13"/>
          <p:cNvSpPr/>
          <p:nvPr/>
        </p:nvSpPr>
        <p:spPr>
          <a:xfrm>
            <a:off x="8503920" y="1691640"/>
            <a:ext cx="12794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4" name="Shape 14"/>
          <p:cNvSpPr/>
          <p:nvPr/>
        </p:nvSpPr>
        <p:spPr>
          <a:xfrm>
            <a:off x="914400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5" name="Shape 15"/>
          <p:cNvSpPr/>
          <p:nvPr/>
        </p:nvSpPr>
        <p:spPr>
          <a:xfrm>
            <a:off x="10881360" y="1691640"/>
            <a:ext cx="1279440" cy="502200"/>
          </a:xfrm>
          <a:prstGeom prst="roundRect">
            <a:avLst>
              <a:gd name="adj" fmla="val 14545"/>
            </a:avLst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6" name="Text 16"/>
          <p:cNvSpPr/>
          <p:nvPr/>
        </p:nvSpPr>
        <p:spPr>
          <a:xfrm>
            <a:off x="10881360" y="1691640"/>
            <a:ext cx="12794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B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(SSE)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7" name="Shape 17"/>
          <p:cNvSpPr/>
          <p:nvPr/>
        </p:nvSpPr>
        <p:spPr>
          <a:xfrm>
            <a:off x="1152144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8" name="Shape 18"/>
          <p:cNvSpPr/>
          <p:nvPr/>
        </p:nvSpPr>
        <p:spPr>
          <a:xfrm>
            <a:off x="914400" y="2651760"/>
            <a:ext cx="31089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9" name="Text 19"/>
          <p:cNvSpPr/>
          <p:nvPr/>
        </p:nvSpPr>
        <p:spPr>
          <a:xfrm>
            <a:off x="914400" y="2359080"/>
            <a:ext cx="31082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0" name="Shape 20"/>
          <p:cNvSpPr/>
          <p:nvPr/>
        </p:nvSpPr>
        <p:spPr>
          <a:xfrm>
            <a:off x="4023360" y="3063240"/>
            <a:ext cx="274320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1" name="Text 21"/>
          <p:cNvSpPr/>
          <p:nvPr/>
        </p:nvSpPr>
        <p:spPr>
          <a:xfrm>
            <a:off x="4023360" y="2770560"/>
            <a:ext cx="2742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INSERT message (Prisma)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2" name="Shape 22"/>
          <p:cNvSpPr/>
          <p:nvPr/>
        </p:nvSpPr>
        <p:spPr>
          <a:xfrm>
            <a:off x="4023360" y="3474720"/>
            <a:ext cx="51206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3" name="Text 23"/>
          <p:cNvSpPr/>
          <p:nvPr/>
        </p:nvSpPr>
        <p:spPr>
          <a:xfrm>
            <a:off x="4023360" y="3182040"/>
            <a:ext cx="5119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SET latest:chat:{from}:{to}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4" name="Shape 24"/>
          <p:cNvSpPr/>
          <p:nvPr/>
        </p:nvSpPr>
        <p:spPr>
          <a:xfrm flipH="1">
            <a:off x="914400" y="3886200"/>
            <a:ext cx="31089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5" name="Text 25"/>
          <p:cNvSpPr/>
          <p:nvPr/>
        </p:nvSpPr>
        <p:spPr>
          <a:xfrm>
            <a:off x="914400" y="3593520"/>
            <a:ext cx="31082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status SENT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6" name="Shape 26"/>
          <p:cNvSpPr/>
          <p:nvPr/>
        </p:nvSpPr>
        <p:spPr>
          <a:xfrm flipH="1">
            <a:off x="9144000" y="4343400"/>
            <a:ext cx="237744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7" name="Text 27"/>
          <p:cNvSpPr/>
          <p:nvPr/>
        </p:nvSpPr>
        <p:spPr>
          <a:xfrm>
            <a:off x="9144000" y="4050720"/>
            <a:ext cx="23767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GET latest:chat:* (polling REST)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8" name="Shape 28"/>
          <p:cNvSpPr/>
          <p:nvPr/>
        </p:nvSpPr>
        <p:spPr>
          <a:xfrm>
            <a:off x="9144000" y="4754880"/>
            <a:ext cx="23774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9" name="Text 29"/>
          <p:cNvSpPr/>
          <p:nvPr/>
        </p:nvSpPr>
        <p:spPr>
          <a:xfrm>
            <a:off x="9144000" y="4462200"/>
            <a:ext cx="23767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payload SSE  data: {...}\n\n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0" name="Shape 30"/>
          <p:cNvSpPr/>
          <p:nvPr/>
        </p:nvSpPr>
        <p:spPr>
          <a:xfrm>
            <a:off x="548640" y="5349240"/>
            <a:ext cx="11063520" cy="959400"/>
          </a:xfrm>
          <a:prstGeom prst="roundRect">
            <a:avLst>
              <a:gd name="adj" fmla="val 761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1" name="Text 31"/>
          <p:cNvSpPr/>
          <p:nvPr/>
        </p:nvSpPr>
        <p:spPr>
          <a:xfrm>
            <a:off x="777240" y="5440680"/>
            <a:ext cx="1060632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Compromis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assumé ·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est un service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REST (pas de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pub/sub TCP)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on poll la clé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latest:chat:*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depuis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l'endpoint SSE,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ce qui reste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compatible avec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serverless et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suffit pour le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volume du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projet.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Roadmap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 classique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 pub/sub si la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charge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augmente.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3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3" name="Text 32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4" name="Text 33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30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5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6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SSE — endpoint /chat/listen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7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8" name="Shape 3"/>
          <p:cNvSpPr/>
          <p:nvPr/>
        </p:nvSpPr>
        <p:spPr>
          <a:xfrm>
            <a:off x="548640" y="1691640"/>
            <a:ext cx="7314480" cy="457128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9" name="Shape 4"/>
          <p:cNvSpPr/>
          <p:nvPr/>
        </p:nvSpPr>
        <p:spPr>
          <a:xfrm>
            <a:off x="777240" y="1874520"/>
            <a:ext cx="136440" cy="13644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45000" rIns="684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0" name="Shape 5"/>
          <p:cNvSpPr/>
          <p:nvPr/>
        </p:nvSpPr>
        <p:spPr>
          <a:xfrm>
            <a:off x="960120" y="1874520"/>
            <a:ext cx="136440" cy="13644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45000" rIns="684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1" name="Shape 6"/>
          <p:cNvSpPr/>
          <p:nvPr/>
        </p:nvSpPr>
        <p:spPr>
          <a:xfrm>
            <a:off x="1143000" y="1874520"/>
            <a:ext cx="136440" cy="13644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45000" rIns="684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2" name="Text 7"/>
          <p:cNvSpPr/>
          <p:nvPr/>
        </p:nvSpPr>
        <p:spPr>
          <a:xfrm>
            <a:off x="1371600" y="1783080"/>
            <a:ext cx="54856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src/app/api/private/chat/listen/route.ts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3" name="Text 8"/>
          <p:cNvSpPr/>
          <p:nvPr/>
        </p:nvSpPr>
        <p:spPr>
          <a:xfrm>
            <a:off x="777240" y="2240280"/>
            <a:ext cx="69487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GET(req: NextRequest)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4" name="Text 9"/>
          <p:cNvSpPr/>
          <p:nvPr/>
        </p:nvSpPr>
        <p:spPr>
          <a:xfrm>
            <a:off x="777240" y="2382120"/>
            <a:ext cx="69487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userId = await getUserIdFromRequest(req);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5" name="Text 10"/>
          <p:cNvSpPr/>
          <p:nvPr/>
        </p:nvSpPr>
        <p:spPr>
          <a:xfrm>
            <a:off x="777240" y="2523600"/>
            <a:ext cx="69487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(!userId) return new Response('Unauthorized', { status: 401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6" name="Text 11"/>
          <p:cNvSpPr/>
          <p:nvPr/>
        </p:nvSpPr>
        <p:spPr>
          <a:xfrm>
            <a:off x="777240" y="2665440"/>
            <a:ext cx="69487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7" name="Text 12"/>
          <p:cNvSpPr/>
          <p:nvPr/>
        </p:nvSpPr>
        <p:spPr>
          <a:xfrm>
            <a:off x="777240" y="2807280"/>
            <a:ext cx="69487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conversationId, type } = parseParams(req.url);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8" name="Text 13"/>
          <p:cNvSpPr/>
          <p:nvPr/>
        </p:nvSpPr>
        <p:spPr>
          <a:xfrm>
            <a:off x="777240" y="2949120"/>
            <a:ext cx="69487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9" name="Text 14"/>
          <p:cNvSpPr/>
          <p:nvPr/>
        </p:nvSpPr>
        <p:spPr>
          <a:xfrm>
            <a:off x="777240" y="3090600"/>
            <a:ext cx="69487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stream = new ReadableStream({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0" name="Text 15"/>
          <p:cNvSpPr/>
          <p:nvPr/>
        </p:nvSpPr>
        <p:spPr>
          <a:xfrm>
            <a:off x="777240" y="3232440"/>
            <a:ext cx="69487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start(controller)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1" name="Text 16"/>
          <p:cNvSpPr/>
          <p:nvPr/>
        </p:nvSpPr>
        <p:spPr>
          <a:xfrm>
            <a:off x="777240" y="3374280"/>
            <a:ext cx="69487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const enc = new TextEncoder();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2" name="Text 17"/>
          <p:cNvSpPr/>
          <p:nvPr/>
        </p:nvSpPr>
        <p:spPr>
          <a:xfrm>
            <a:off x="777240" y="3515760"/>
            <a:ext cx="69487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controller.enqueue(enc.encode('data: {"type":"connected"}\n\n'));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3" name="Text 18"/>
          <p:cNvSpPr/>
          <p:nvPr/>
        </p:nvSpPr>
        <p:spPr>
          <a:xfrm>
            <a:off x="777240" y="3657600"/>
            <a:ext cx="69487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4" name="Text 19"/>
          <p:cNvSpPr/>
          <p:nvPr/>
        </p:nvSpPr>
        <p:spPr>
          <a:xfrm>
            <a:off x="777240" y="3799440"/>
            <a:ext cx="69487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let active = true, lastId = '';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5" name="Text 20"/>
          <p:cNvSpPr/>
          <p:nvPr/>
        </p:nvSpPr>
        <p:spPr>
          <a:xfrm>
            <a:off x="777240" y="3940920"/>
            <a:ext cx="69487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(async function poll()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6" name="Text 21"/>
          <p:cNvSpPr/>
          <p:nvPr/>
        </p:nvSpPr>
        <p:spPr>
          <a:xfrm>
            <a:off x="777240" y="4082760"/>
            <a:ext cx="69487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while (active)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7" name="Text 22"/>
          <p:cNvSpPr/>
          <p:nvPr/>
        </p:nvSpPr>
        <p:spPr>
          <a:xfrm>
            <a:off x="777240" y="4224600"/>
            <a:ext cx="69487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    const key = `latest:chat:${userId}:${conversationId}`;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8" name="Text 23"/>
          <p:cNvSpPr/>
          <p:nvPr/>
        </p:nvSpPr>
        <p:spPr>
          <a:xfrm>
            <a:off x="777240" y="4366440"/>
            <a:ext cx="69487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const data = await redis.get(key);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9" name="Text 24"/>
          <p:cNvSpPr/>
          <p:nvPr/>
        </p:nvSpPr>
        <p:spPr>
          <a:xfrm>
            <a:off x="777240" y="4507920"/>
            <a:ext cx="69487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if (data &amp;&amp; data.id !== lastId)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0" name="Text 25"/>
          <p:cNvSpPr/>
          <p:nvPr/>
        </p:nvSpPr>
        <p:spPr>
          <a:xfrm>
            <a:off x="777240" y="4649760"/>
            <a:ext cx="69487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      lastId = data.id;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1" name="Text 26"/>
          <p:cNvSpPr/>
          <p:nvPr/>
        </p:nvSpPr>
        <p:spPr>
          <a:xfrm>
            <a:off x="777240" y="4791600"/>
            <a:ext cx="69487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  controller.enqueue(enc.encode(`data: ${JSON.stringify(data)}\n\n`));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2" name="Text 27"/>
          <p:cNvSpPr/>
          <p:nvPr/>
        </p:nvSpPr>
        <p:spPr>
          <a:xfrm>
            <a:off x="777240" y="4933080"/>
            <a:ext cx="69487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3" name="Text 28"/>
          <p:cNvSpPr/>
          <p:nvPr/>
        </p:nvSpPr>
        <p:spPr>
          <a:xfrm>
            <a:off x="777240" y="5074920"/>
            <a:ext cx="69487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await sleep(1000);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4" name="Text 29"/>
          <p:cNvSpPr/>
          <p:nvPr/>
        </p:nvSpPr>
        <p:spPr>
          <a:xfrm>
            <a:off x="777240" y="5216760"/>
            <a:ext cx="69487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5" name="Text 30"/>
          <p:cNvSpPr/>
          <p:nvPr/>
        </p:nvSpPr>
        <p:spPr>
          <a:xfrm>
            <a:off x="777240" y="5358240"/>
            <a:ext cx="69487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})();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6" name="Text 31"/>
          <p:cNvSpPr/>
          <p:nvPr/>
        </p:nvSpPr>
        <p:spPr>
          <a:xfrm>
            <a:off x="777240" y="5500080"/>
            <a:ext cx="69487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req.signal.addEventListener('abort', () =&gt; { active = false; controller.close();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7" name="Text 32"/>
          <p:cNvSpPr/>
          <p:nvPr/>
        </p:nvSpPr>
        <p:spPr>
          <a:xfrm>
            <a:off x="777240" y="5641920"/>
            <a:ext cx="69487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},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8" name="Text 33"/>
          <p:cNvSpPr/>
          <p:nvPr/>
        </p:nvSpPr>
        <p:spPr>
          <a:xfrm>
            <a:off x="777240" y="5783760"/>
            <a:ext cx="69487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9" name="Text 34"/>
          <p:cNvSpPr/>
          <p:nvPr/>
        </p:nvSpPr>
        <p:spPr>
          <a:xfrm>
            <a:off x="777240" y="5925240"/>
            <a:ext cx="69487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return new Response(stream, { headers: { 'Content-Type': 'text/event-stream' }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0" name="Text 35"/>
          <p:cNvSpPr/>
          <p:nvPr/>
        </p:nvSpPr>
        <p:spPr>
          <a:xfrm>
            <a:off x="777240" y="6067080"/>
            <a:ext cx="69487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1" name="Shape 36"/>
          <p:cNvSpPr/>
          <p:nvPr/>
        </p:nvSpPr>
        <p:spPr>
          <a:xfrm>
            <a:off x="8092440" y="1691640"/>
            <a:ext cx="3519720" cy="457128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2" name="Text 37"/>
          <p:cNvSpPr/>
          <p:nvPr/>
        </p:nvSpPr>
        <p:spPr>
          <a:xfrm>
            <a:off x="8275320" y="1783080"/>
            <a:ext cx="31996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Mécanique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3" name="Shape 38"/>
          <p:cNvSpPr/>
          <p:nvPr/>
        </p:nvSpPr>
        <p:spPr>
          <a:xfrm>
            <a:off x="8275320" y="2240280"/>
            <a:ext cx="410760" cy="41076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4" name="Text 39"/>
          <p:cNvSpPr/>
          <p:nvPr/>
        </p:nvSpPr>
        <p:spPr>
          <a:xfrm>
            <a:off x="8275320" y="22402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▶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5" name="Text 40"/>
          <p:cNvSpPr/>
          <p:nvPr/>
        </p:nvSpPr>
        <p:spPr>
          <a:xfrm>
            <a:off x="8778240" y="219456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ReadableStream Web standard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6" name="Shape 41"/>
          <p:cNvSpPr/>
          <p:nvPr/>
        </p:nvSpPr>
        <p:spPr>
          <a:xfrm>
            <a:off x="8275320" y="2880360"/>
            <a:ext cx="410760" cy="41076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7" name="Text 42"/>
          <p:cNvSpPr/>
          <p:nvPr/>
        </p:nvSpPr>
        <p:spPr>
          <a:xfrm>
            <a:off x="8275320" y="288036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8" name="Text 43"/>
          <p:cNvSpPr/>
          <p:nvPr/>
        </p:nvSpPr>
        <p:spPr>
          <a:xfrm>
            <a:off x="8778240" y="283464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Polling Redis 1s (REST)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9" name="Shape 44"/>
          <p:cNvSpPr/>
          <p:nvPr/>
        </p:nvSpPr>
        <p:spPr>
          <a:xfrm>
            <a:off x="8275320" y="3520440"/>
            <a:ext cx="410760" cy="41076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0" name="Text 45"/>
          <p:cNvSpPr/>
          <p:nvPr/>
        </p:nvSpPr>
        <p:spPr>
          <a:xfrm>
            <a:off x="8275320" y="352044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1" name="Text 46"/>
          <p:cNvSpPr/>
          <p:nvPr/>
        </p:nvSpPr>
        <p:spPr>
          <a:xfrm>
            <a:off x="8778240" y="347472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latest:chat:&lt;from&gt;:&lt;to&gt;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2" name="Shape 47"/>
          <p:cNvSpPr/>
          <p:nvPr/>
        </p:nvSpPr>
        <p:spPr>
          <a:xfrm>
            <a:off x="8275320" y="4160520"/>
            <a:ext cx="410760" cy="41076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3" name="Text 48"/>
          <p:cNvSpPr/>
          <p:nvPr/>
        </p:nvSpPr>
        <p:spPr>
          <a:xfrm>
            <a:off x="8275320" y="416052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4" name="Text 49"/>
          <p:cNvSpPr/>
          <p:nvPr/>
        </p:nvSpPr>
        <p:spPr>
          <a:xfrm>
            <a:off x="8778240" y="411480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Déduplication par lastId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5" name="Shape 50"/>
          <p:cNvSpPr/>
          <p:nvPr/>
        </p:nvSpPr>
        <p:spPr>
          <a:xfrm>
            <a:off x="8275320" y="4800600"/>
            <a:ext cx="410760" cy="41076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6" name="Text 51"/>
          <p:cNvSpPr/>
          <p:nvPr/>
        </p:nvSpPr>
        <p:spPr>
          <a:xfrm>
            <a:off x="8275320" y="480060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⊘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7" name="Text 52"/>
          <p:cNvSpPr/>
          <p:nvPr/>
        </p:nvSpPr>
        <p:spPr>
          <a:xfrm>
            <a:off x="8778240" y="475488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abort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→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cleanu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 poll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8" name="Shape 53"/>
          <p:cNvSpPr/>
          <p:nvPr/>
        </p:nvSpPr>
        <p:spPr>
          <a:xfrm>
            <a:off x="8275320" y="5440680"/>
            <a:ext cx="410760" cy="41076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9" name="Text 54"/>
          <p:cNvSpPr/>
          <p:nvPr/>
        </p:nvSpPr>
        <p:spPr>
          <a:xfrm>
            <a:off x="8275320" y="54406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0" name="Text 55"/>
          <p:cNvSpPr/>
          <p:nvPr/>
        </p:nvSpPr>
        <p:spPr>
          <a:xfrm>
            <a:off x="8778240" y="539496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userId injecté par middleware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9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92" name="Text 56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3" name="Text 57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31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4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5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 · 60+ endpoints REST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6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7" name="Shape 3"/>
          <p:cNvSpPr/>
          <p:nvPr/>
        </p:nvSpPr>
        <p:spPr>
          <a:xfrm>
            <a:off x="457200" y="1691640"/>
            <a:ext cx="3656880" cy="22395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8" name="Shape 4"/>
          <p:cNvSpPr/>
          <p:nvPr/>
        </p:nvSpPr>
        <p:spPr>
          <a:xfrm>
            <a:off x="457200" y="1691640"/>
            <a:ext cx="72360" cy="2239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9" name="Text 5"/>
          <p:cNvSpPr/>
          <p:nvPr/>
        </p:nvSpPr>
        <p:spPr>
          <a:xfrm>
            <a:off x="685800" y="1783080"/>
            <a:ext cx="3291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0" name="Shape 6"/>
          <p:cNvSpPr/>
          <p:nvPr/>
        </p:nvSpPr>
        <p:spPr>
          <a:xfrm>
            <a:off x="685800" y="2194560"/>
            <a:ext cx="593640" cy="29196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1" name="Text 7"/>
          <p:cNvSpPr/>
          <p:nvPr/>
        </p:nvSpPr>
        <p:spPr>
          <a:xfrm>
            <a:off x="685800" y="2194560"/>
            <a:ext cx="593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2" name="Text 8"/>
          <p:cNvSpPr/>
          <p:nvPr/>
        </p:nvSpPr>
        <p:spPr>
          <a:xfrm>
            <a:off x="1325880" y="2194560"/>
            <a:ext cx="26510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/api/public/auth/register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3" name="Shape 9"/>
          <p:cNvSpPr/>
          <p:nvPr/>
        </p:nvSpPr>
        <p:spPr>
          <a:xfrm>
            <a:off x="685800" y="2606040"/>
            <a:ext cx="593640" cy="29196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4" name="Text 10"/>
          <p:cNvSpPr/>
          <p:nvPr/>
        </p:nvSpPr>
        <p:spPr>
          <a:xfrm>
            <a:off x="685800" y="2606040"/>
            <a:ext cx="593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5" name="Text 11"/>
          <p:cNvSpPr/>
          <p:nvPr/>
        </p:nvSpPr>
        <p:spPr>
          <a:xfrm>
            <a:off x="1325880" y="2606040"/>
            <a:ext cx="26510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6" name="Shape 12"/>
          <p:cNvSpPr/>
          <p:nvPr/>
        </p:nvSpPr>
        <p:spPr>
          <a:xfrm>
            <a:off x="685800" y="3017520"/>
            <a:ext cx="593640" cy="29196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7" name="Text 13"/>
          <p:cNvSpPr/>
          <p:nvPr/>
        </p:nvSpPr>
        <p:spPr>
          <a:xfrm>
            <a:off x="685800" y="3017520"/>
            <a:ext cx="593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8" name="Text 14"/>
          <p:cNvSpPr/>
          <p:nvPr/>
        </p:nvSpPr>
        <p:spPr>
          <a:xfrm>
            <a:off x="1325880" y="3017520"/>
            <a:ext cx="26510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/api/public/auth/logout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9" name="Shape 15"/>
          <p:cNvSpPr/>
          <p:nvPr/>
        </p:nvSpPr>
        <p:spPr>
          <a:xfrm>
            <a:off x="685800" y="3429000"/>
            <a:ext cx="593640" cy="2919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0" name="Text 16"/>
          <p:cNvSpPr/>
          <p:nvPr/>
        </p:nvSpPr>
        <p:spPr>
          <a:xfrm>
            <a:off x="685800" y="3429000"/>
            <a:ext cx="593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1" name="Text 17"/>
          <p:cNvSpPr/>
          <p:nvPr/>
        </p:nvSpPr>
        <p:spPr>
          <a:xfrm>
            <a:off x="1325880" y="3429000"/>
            <a:ext cx="26510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/api/public/auth/callback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2" name="Shape 18"/>
          <p:cNvSpPr/>
          <p:nvPr/>
        </p:nvSpPr>
        <p:spPr>
          <a:xfrm>
            <a:off x="4251960" y="1691640"/>
            <a:ext cx="3656880" cy="22395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3" name="Shape 19"/>
          <p:cNvSpPr/>
          <p:nvPr/>
        </p:nvSpPr>
        <p:spPr>
          <a:xfrm>
            <a:off x="4251960" y="1691640"/>
            <a:ext cx="72360" cy="22395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4" name="Text 20"/>
          <p:cNvSpPr/>
          <p:nvPr/>
        </p:nvSpPr>
        <p:spPr>
          <a:xfrm>
            <a:off x="4480560" y="1783080"/>
            <a:ext cx="3291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User &amp; 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5" name="Shape 21"/>
          <p:cNvSpPr/>
          <p:nvPr/>
        </p:nvSpPr>
        <p:spPr>
          <a:xfrm>
            <a:off x="4480560" y="2194560"/>
            <a:ext cx="593640" cy="2919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6" name="Text 22"/>
          <p:cNvSpPr/>
          <p:nvPr/>
        </p:nvSpPr>
        <p:spPr>
          <a:xfrm>
            <a:off x="4480560" y="2194560"/>
            <a:ext cx="593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7" name="Text 23"/>
          <p:cNvSpPr/>
          <p:nvPr/>
        </p:nvSpPr>
        <p:spPr>
          <a:xfrm>
            <a:off x="5120640" y="2194560"/>
            <a:ext cx="26510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8" name="Shape 24"/>
          <p:cNvSpPr/>
          <p:nvPr/>
        </p:nvSpPr>
        <p:spPr>
          <a:xfrm>
            <a:off x="4480560" y="2606040"/>
            <a:ext cx="593640" cy="291960"/>
          </a:xfrm>
          <a:prstGeom prst="roundRect">
            <a:avLst>
              <a:gd name="adj" fmla="val 18750"/>
            </a:avLst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9" name="Text 25"/>
          <p:cNvSpPr/>
          <p:nvPr/>
        </p:nvSpPr>
        <p:spPr>
          <a:xfrm>
            <a:off x="4480560" y="2606040"/>
            <a:ext cx="593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0" name="Text 26"/>
          <p:cNvSpPr/>
          <p:nvPr/>
        </p:nvSpPr>
        <p:spPr>
          <a:xfrm>
            <a:off x="5120640" y="2606040"/>
            <a:ext cx="26510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1" name="Shape 27"/>
          <p:cNvSpPr/>
          <p:nvPr/>
        </p:nvSpPr>
        <p:spPr>
          <a:xfrm>
            <a:off x="4480560" y="3017520"/>
            <a:ext cx="593640" cy="2919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2" name="Text 28"/>
          <p:cNvSpPr/>
          <p:nvPr/>
        </p:nvSpPr>
        <p:spPr>
          <a:xfrm>
            <a:off x="4480560" y="3017520"/>
            <a:ext cx="593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3" name="Text 29"/>
          <p:cNvSpPr/>
          <p:nvPr/>
        </p:nvSpPr>
        <p:spPr>
          <a:xfrm>
            <a:off x="5120640" y="3017520"/>
            <a:ext cx="26510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4" name="Shape 30"/>
          <p:cNvSpPr/>
          <p:nvPr/>
        </p:nvSpPr>
        <p:spPr>
          <a:xfrm>
            <a:off x="4480560" y="3429000"/>
            <a:ext cx="593640" cy="29196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5" name="Text 31"/>
          <p:cNvSpPr/>
          <p:nvPr/>
        </p:nvSpPr>
        <p:spPr>
          <a:xfrm>
            <a:off x="4480560" y="3429000"/>
            <a:ext cx="593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6" name="Text 32"/>
          <p:cNvSpPr/>
          <p:nvPr/>
        </p:nvSpPr>
        <p:spPr>
          <a:xfrm>
            <a:off x="5120640" y="3429000"/>
            <a:ext cx="26510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7" name="Shape 33"/>
          <p:cNvSpPr/>
          <p:nvPr/>
        </p:nvSpPr>
        <p:spPr>
          <a:xfrm>
            <a:off x="8046720" y="1691640"/>
            <a:ext cx="3656880" cy="22395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8" name="Shape 34"/>
          <p:cNvSpPr/>
          <p:nvPr/>
        </p:nvSpPr>
        <p:spPr>
          <a:xfrm>
            <a:off x="8046720" y="1691640"/>
            <a:ext cx="72360" cy="22395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9" name="Text 35"/>
          <p:cNvSpPr/>
          <p:nvPr/>
        </p:nvSpPr>
        <p:spPr>
          <a:xfrm>
            <a:off x="8275320" y="1783080"/>
            <a:ext cx="3291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Contenu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0" name="Shape 36"/>
          <p:cNvSpPr/>
          <p:nvPr/>
        </p:nvSpPr>
        <p:spPr>
          <a:xfrm>
            <a:off x="8275320" y="2194560"/>
            <a:ext cx="593640" cy="2919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1" name="Text 37"/>
          <p:cNvSpPr/>
          <p:nvPr/>
        </p:nvSpPr>
        <p:spPr>
          <a:xfrm>
            <a:off x="8275320" y="2194560"/>
            <a:ext cx="593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2" name="Text 38"/>
          <p:cNvSpPr/>
          <p:nvPr/>
        </p:nvSpPr>
        <p:spPr>
          <a:xfrm>
            <a:off x="8915400" y="2194560"/>
            <a:ext cx="26510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3" name="Shape 39"/>
          <p:cNvSpPr/>
          <p:nvPr/>
        </p:nvSpPr>
        <p:spPr>
          <a:xfrm>
            <a:off x="8275320" y="2606040"/>
            <a:ext cx="593640" cy="29196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4" name="Text 40"/>
          <p:cNvSpPr/>
          <p:nvPr/>
        </p:nvSpPr>
        <p:spPr>
          <a:xfrm>
            <a:off x="8275320" y="2606040"/>
            <a:ext cx="593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5" name="Text 41"/>
          <p:cNvSpPr/>
          <p:nvPr/>
        </p:nvSpPr>
        <p:spPr>
          <a:xfrm>
            <a:off x="8915400" y="2606040"/>
            <a:ext cx="26510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6" name="Shape 42"/>
          <p:cNvSpPr/>
          <p:nvPr/>
        </p:nvSpPr>
        <p:spPr>
          <a:xfrm>
            <a:off x="8275320" y="3017520"/>
            <a:ext cx="593640" cy="2919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7" name="Text 43"/>
          <p:cNvSpPr/>
          <p:nvPr/>
        </p:nvSpPr>
        <p:spPr>
          <a:xfrm>
            <a:off x="8275320" y="3017520"/>
            <a:ext cx="593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8" name="Text 44"/>
          <p:cNvSpPr/>
          <p:nvPr/>
        </p:nvSpPr>
        <p:spPr>
          <a:xfrm>
            <a:off x="8915400" y="3017520"/>
            <a:ext cx="26510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9" name="Shape 45"/>
          <p:cNvSpPr/>
          <p:nvPr/>
        </p:nvSpPr>
        <p:spPr>
          <a:xfrm>
            <a:off x="8275320" y="3429000"/>
            <a:ext cx="593640" cy="29196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0" name="Text 46"/>
          <p:cNvSpPr/>
          <p:nvPr/>
        </p:nvSpPr>
        <p:spPr>
          <a:xfrm>
            <a:off x="8275320" y="3429000"/>
            <a:ext cx="593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1" name="Text 47"/>
          <p:cNvSpPr/>
          <p:nvPr/>
        </p:nvSpPr>
        <p:spPr>
          <a:xfrm>
            <a:off x="8915400" y="3429000"/>
            <a:ext cx="26510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2" name="Shape 48"/>
          <p:cNvSpPr/>
          <p:nvPr/>
        </p:nvSpPr>
        <p:spPr>
          <a:xfrm>
            <a:off x="457200" y="4069080"/>
            <a:ext cx="3656880" cy="22395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3" name="Shape 49"/>
          <p:cNvSpPr/>
          <p:nvPr/>
        </p:nvSpPr>
        <p:spPr>
          <a:xfrm>
            <a:off x="457200" y="4069080"/>
            <a:ext cx="72360" cy="223956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4" name="Text 50"/>
          <p:cNvSpPr/>
          <p:nvPr/>
        </p:nvSpPr>
        <p:spPr>
          <a:xfrm>
            <a:off x="685800" y="4160520"/>
            <a:ext cx="3291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Messagerie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5" name="Shape 51"/>
          <p:cNvSpPr/>
          <p:nvPr/>
        </p:nvSpPr>
        <p:spPr>
          <a:xfrm>
            <a:off x="685800" y="4572000"/>
            <a:ext cx="593640" cy="2919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6" name="Text 52"/>
          <p:cNvSpPr/>
          <p:nvPr/>
        </p:nvSpPr>
        <p:spPr>
          <a:xfrm>
            <a:off x="685800" y="4572000"/>
            <a:ext cx="593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7" name="Text 53"/>
          <p:cNvSpPr/>
          <p:nvPr/>
        </p:nvSpPr>
        <p:spPr>
          <a:xfrm>
            <a:off x="1325880" y="4572000"/>
            <a:ext cx="26510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/api/private/conversations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8" name="Shape 54"/>
          <p:cNvSpPr/>
          <p:nvPr/>
        </p:nvSpPr>
        <p:spPr>
          <a:xfrm>
            <a:off x="685800" y="4983480"/>
            <a:ext cx="593640" cy="29196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9" name="Text 55"/>
          <p:cNvSpPr/>
          <p:nvPr/>
        </p:nvSpPr>
        <p:spPr>
          <a:xfrm>
            <a:off x="685800" y="4983480"/>
            <a:ext cx="593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0" name="Text 56"/>
          <p:cNvSpPr/>
          <p:nvPr/>
        </p:nvSpPr>
        <p:spPr>
          <a:xfrm>
            <a:off x="1325880" y="4983480"/>
            <a:ext cx="26510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1" name="Shape 57"/>
          <p:cNvSpPr/>
          <p:nvPr/>
        </p:nvSpPr>
        <p:spPr>
          <a:xfrm>
            <a:off x="685800" y="5394960"/>
            <a:ext cx="593640" cy="29196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2" name="Text 58"/>
          <p:cNvSpPr/>
          <p:nvPr/>
        </p:nvSpPr>
        <p:spPr>
          <a:xfrm>
            <a:off x="685800" y="5394960"/>
            <a:ext cx="593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3" name="Text 59"/>
          <p:cNvSpPr/>
          <p:nvPr/>
        </p:nvSpPr>
        <p:spPr>
          <a:xfrm>
            <a:off x="1325880" y="5394960"/>
            <a:ext cx="26510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4" name="Shape 60"/>
          <p:cNvSpPr/>
          <p:nvPr/>
        </p:nvSpPr>
        <p:spPr>
          <a:xfrm>
            <a:off x="685800" y="5806440"/>
            <a:ext cx="593640" cy="29196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5" name="Text 61"/>
          <p:cNvSpPr/>
          <p:nvPr/>
        </p:nvSpPr>
        <p:spPr>
          <a:xfrm>
            <a:off x="685800" y="5806440"/>
            <a:ext cx="593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6" name="Text 62"/>
          <p:cNvSpPr/>
          <p:nvPr/>
        </p:nvSpPr>
        <p:spPr>
          <a:xfrm>
            <a:off x="1325880" y="5806440"/>
            <a:ext cx="26510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/api/private/chat/typing/listen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7" name="Shape 63"/>
          <p:cNvSpPr/>
          <p:nvPr/>
        </p:nvSpPr>
        <p:spPr>
          <a:xfrm>
            <a:off x="4251960" y="4069080"/>
            <a:ext cx="3656880" cy="22395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8" name="Shape 64"/>
          <p:cNvSpPr/>
          <p:nvPr/>
        </p:nvSpPr>
        <p:spPr>
          <a:xfrm>
            <a:off x="4251960" y="4069080"/>
            <a:ext cx="72360" cy="22395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9" name="Text 65"/>
          <p:cNvSpPr/>
          <p:nvPr/>
        </p:nvSpPr>
        <p:spPr>
          <a:xfrm>
            <a:off x="4480560" y="4160520"/>
            <a:ext cx="3291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0" name="Shape 66"/>
          <p:cNvSpPr/>
          <p:nvPr/>
        </p:nvSpPr>
        <p:spPr>
          <a:xfrm>
            <a:off x="4480560" y="4572000"/>
            <a:ext cx="593640" cy="2919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1" name="Text 67"/>
          <p:cNvSpPr/>
          <p:nvPr/>
        </p:nvSpPr>
        <p:spPr>
          <a:xfrm>
            <a:off x="4480560" y="4572000"/>
            <a:ext cx="593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2" name="Text 68"/>
          <p:cNvSpPr/>
          <p:nvPr/>
        </p:nvSpPr>
        <p:spPr>
          <a:xfrm>
            <a:off x="5120640" y="4572000"/>
            <a:ext cx="26510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3" name="Shape 69"/>
          <p:cNvSpPr/>
          <p:nvPr/>
        </p:nvSpPr>
        <p:spPr>
          <a:xfrm>
            <a:off x="4480560" y="4983480"/>
            <a:ext cx="593640" cy="29196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4" name="Text 70"/>
          <p:cNvSpPr/>
          <p:nvPr/>
        </p:nvSpPr>
        <p:spPr>
          <a:xfrm>
            <a:off x="4480560" y="4983480"/>
            <a:ext cx="593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5" name="Text 71"/>
          <p:cNvSpPr/>
          <p:nvPr/>
        </p:nvSpPr>
        <p:spPr>
          <a:xfrm>
            <a:off x="5120640" y="4983480"/>
            <a:ext cx="26510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6" name="Shape 72"/>
          <p:cNvSpPr/>
          <p:nvPr/>
        </p:nvSpPr>
        <p:spPr>
          <a:xfrm>
            <a:off x="4480560" y="5394960"/>
            <a:ext cx="593640" cy="2919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7" name="Text 73"/>
          <p:cNvSpPr/>
          <p:nvPr/>
        </p:nvSpPr>
        <p:spPr>
          <a:xfrm>
            <a:off x="4480560" y="5394960"/>
            <a:ext cx="593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8" name="Text 74"/>
          <p:cNvSpPr/>
          <p:nvPr/>
        </p:nvSpPr>
        <p:spPr>
          <a:xfrm>
            <a:off x="5120640" y="5394960"/>
            <a:ext cx="26510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private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9" name="Shape 75"/>
          <p:cNvSpPr/>
          <p:nvPr/>
        </p:nvSpPr>
        <p:spPr>
          <a:xfrm>
            <a:off x="4480560" y="5806440"/>
            <a:ext cx="593640" cy="29196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0" name="Text 76"/>
          <p:cNvSpPr/>
          <p:nvPr/>
        </p:nvSpPr>
        <p:spPr>
          <a:xfrm>
            <a:off x="4480560" y="5806440"/>
            <a:ext cx="593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1" name="Text 77"/>
          <p:cNvSpPr/>
          <p:nvPr/>
        </p:nvSpPr>
        <p:spPr>
          <a:xfrm>
            <a:off x="5120640" y="5806440"/>
            <a:ext cx="26510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2" name="Shape 78"/>
          <p:cNvSpPr/>
          <p:nvPr/>
        </p:nvSpPr>
        <p:spPr>
          <a:xfrm>
            <a:off x="8046720" y="4069080"/>
            <a:ext cx="3656880" cy="22395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3" name="Shape 79"/>
          <p:cNvSpPr/>
          <p:nvPr/>
        </p:nvSpPr>
        <p:spPr>
          <a:xfrm>
            <a:off x="8046720" y="4069080"/>
            <a:ext cx="72360" cy="223956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4" name="Text 80"/>
          <p:cNvSpPr/>
          <p:nvPr/>
        </p:nvSpPr>
        <p:spPr>
          <a:xfrm>
            <a:off x="8275320" y="4160520"/>
            <a:ext cx="3291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Recherche &amp; Notif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5" name="Shape 81"/>
          <p:cNvSpPr/>
          <p:nvPr/>
        </p:nvSpPr>
        <p:spPr>
          <a:xfrm>
            <a:off x="8275320" y="4572000"/>
            <a:ext cx="593640" cy="2919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6" name="Text 82"/>
          <p:cNvSpPr/>
          <p:nvPr/>
        </p:nvSpPr>
        <p:spPr>
          <a:xfrm>
            <a:off x="8275320" y="4572000"/>
            <a:ext cx="593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7" name="Text 83"/>
          <p:cNvSpPr/>
          <p:nvPr/>
        </p:nvSpPr>
        <p:spPr>
          <a:xfrm>
            <a:off x="8915400" y="4572000"/>
            <a:ext cx="26510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search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8" name="Shape 84"/>
          <p:cNvSpPr/>
          <p:nvPr/>
        </p:nvSpPr>
        <p:spPr>
          <a:xfrm>
            <a:off x="8275320" y="4983480"/>
            <a:ext cx="593640" cy="2919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9" name="Text 85"/>
          <p:cNvSpPr/>
          <p:nvPr/>
        </p:nvSpPr>
        <p:spPr>
          <a:xfrm>
            <a:off x="8275320" y="4983480"/>
            <a:ext cx="593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0" name="Text 86"/>
          <p:cNvSpPr/>
          <p:nvPr/>
        </p:nvSpPr>
        <p:spPr>
          <a:xfrm>
            <a:off x="8915400" y="4983480"/>
            <a:ext cx="26510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/api/private/invitations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1" name="Shape 87"/>
          <p:cNvSpPr/>
          <p:nvPr/>
        </p:nvSpPr>
        <p:spPr>
          <a:xfrm>
            <a:off x="8275320" y="5394960"/>
            <a:ext cx="593640" cy="2919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2" name="Text 88"/>
          <p:cNvSpPr/>
          <p:nvPr/>
        </p:nvSpPr>
        <p:spPr>
          <a:xfrm>
            <a:off x="8275320" y="5394960"/>
            <a:ext cx="593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3" name="Text 89"/>
          <p:cNvSpPr/>
          <p:nvPr/>
        </p:nvSpPr>
        <p:spPr>
          <a:xfrm>
            <a:off x="8915400" y="5394960"/>
            <a:ext cx="26510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4" name="Shape 90"/>
          <p:cNvSpPr/>
          <p:nvPr/>
        </p:nvSpPr>
        <p:spPr>
          <a:xfrm>
            <a:off x="8275320" y="5806440"/>
            <a:ext cx="593640" cy="291960"/>
          </a:xfrm>
          <a:prstGeom prst="roundRect">
            <a:avLst>
              <a:gd name="adj" fmla="val 18750"/>
            </a:avLst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5" name="Text 91"/>
          <p:cNvSpPr/>
          <p:nvPr/>
        </p:nvSpPr>
        <p:spPr>
          <a:xfrm>
            <a:off x="8275320" y="5806440"/>
            <a:ext cx="593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PATCH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6" name="Text 92"/>
          <p:cNvSpPr/>
          <p:nvPr/>
        </p:nvSpPr>
        <p:spPr>
          <a:xfrm>
            <a:off x="8915400" y="5806440"/>
            <a:ext cx="26510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/api/private/notifications/:id/read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8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8" name="Text 93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9" name="Text 94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32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0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1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Middleware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2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3" name="Shape 3"/>
          <p:cNvSpPr/>
          <p:nvPr/>
        </p:nvSpPr>
        <p:spPr>
          <a:xfrm>
            <a:off x="548640" y="1691640"/>
            <a:ext cx="7314480" cy="457128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4" name="Shape 4"/>
          <p:cNvSpPr/>
          <p:nvPr/>
        </p:nvSpPr>
        <p:spPr>
          <a:xfrm>
            <a:off x="777240" y="1874520"/>
            <a:ext cx="136440" cy="13644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45000" rIns="684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5" name="Shape 5"/>
          <p:cNvSpPr/>
          <p:nvPr/>
        </p:nvSpPr>
        <p:spPr>
          <a:xfrm>
            <a:off x="960120" y="1874520"/>
            <a:ext cx="136440" cy="13644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45000" rIns="684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6" name="Shape 6"/>
          <p:cNvSpPr/>
          <p:nvPr/>
        </p:nvSpPr>
        <p:spPr>
          <a:xfrm>
            <a:off x="1143000" y="1874520"/>
            <a:ext cx="136440" cy="13644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45000" rIns="684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7" name="Text 7"/>
          <p:cNvSpPr/>
          <p:nvPr/>
        </p:nvSpPr>
        <p:spPr>
          <a:xfrm>
            <a:off x="1371600" y="1783080"/>
            <a:ext cx="54856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src/middleware.ts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8" name="Text 8"/>
          <p:cNvSpPr/>
          <p:nvPr/>
        </p:nvSpPr>
        <p:spPr>
          <a:xfrm>
            <a:off x="777240" y="224028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middleware(req: NextRequest)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9" name="Text 9"/>
          <p:cNvSpPr/>
          <p:nvPr/>
        </p:nvSpPr>
        <p:spPr>
          <a:xfrm>
            <a:off x="777240" y="245052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pathname } = req.nextUrl;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0" name="Text 10"/>
          <p:cNvSpPr/>
          <p:nvPr/>
        </p:nvSpPr>
        <p:spPr>
          <a:xfrm>
            <a:off x="777240" y="266076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isPublic = pathname.startsWith('/api/public')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1" name="Text 11"/>
          <p:cNvSpPr/>
          <p:nvPr/>
        </p:nvSpPr>
        <p:spPr>
          <a:xfrm>
            <a:off x="777240" y="287136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|| ['/login', '/register'].some(r =&gt; pathname.startsWith(r));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2" name="Text 12"/>
          <p:cNvSpPr/>
          <p:nvPr/>
        </p:nvSpPr>
        <p:spPr>
          <a:xfrm>
            <a:off x="777240" y="308160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if (isPublic) return NextResponse.next();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3" name="Text 13"/>
          <p:cNvSpPr/>
          <p:nvPr/>
        </p:nvSpPr>
        <p:spPr>
          <a:xfrm>
            <a:off x="777240" y="329184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4" name="Text 14"/>
          <p:cNvSpPr/>
          <p:nvPr/>
        </p:nvSpPr>
        <p:spPr>
          <a:xfrm>
            <a:off x="777240" y="350208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token = req.cookies.get('authToken')?.value;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5" name="Text 15"/>
          <p:cNvSpPr/>
          <p:nvPr/>
        </p:nvSpPr>
        <p:spPr>
          <a:xfrm>
            <a:off x="777240" y="371232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(!token)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6" name="Text 16"/>
          <p:cNvSpPr/>
          <p:nvPr/>
        </p:nvSpPr>
        <p:spPr>
          <a:xfrm>
            <a:off x="777240" y="392292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7" name="Text 17"/>
          <p:cNvSpPr/>
          <p:nvPr/>
        </p:nvSpPr>
        <p:spPr>
          <a:xfrm>
            <a:off x="777240" y="413316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try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8" name="Text 18"/>
          <p:cNvSpPr/>
          <p:nvPr/>
        </p:nvSpPr>
        <p:spPr>
          <a:xfrm>
            <a:off x="777240" y="434340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const { userId } = await verifyJwt(token);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9" name="Text 19"/>
          <p:cNvSpPr/>
          <p:nvPr/>
        </p:nvSpPr>
        <p:spPr>
          <a:xfrm>
            <a:off x="777240" y="455364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const headers = new Headers(req.headers);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0" name="Text 20"/>
          <p:cNvSpPr/>
          <p:nvPr/>
        </p:nvSpPr>
        <p:spPr>
          <a:xfrm>
            <a:off x="777240" y="476388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headers.set('x-user-id', userId);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1" name="Text 21"/>
          <p:cNvSpPr/>
          <p:nvPr/>
        </p:nvSpPr>
        <p:spPr>
          <a:xfrm>
            <a:off x="777240" y="497448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return NextResponse.next({ request: { headers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2" name="Text 22"/>
          <p:cNvSpPr/>
          <p:nvPr/>
        </p:nvSpPr>
        <p:spPr>
          <a:xfrm>
            <a:off x="777240" y="518472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 catch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3" name="Text 23"/>
          <p:cNvSpPr/>
          <p:nvPr/>
        </p:nvSpPr>
        <p:spPr>
          <a:xfrm>
            <a:off x="777240" y="539496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4" name="Text 24"/>
          <p:cNvSpPr/>
          <p:nvPr/>
        </p:nvSpPr>
        <p:spPr>
          <a:xfrm>
            <a:off x="777240" y="560520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5" name="Text 25"/>
          <p:cNvSpPr/>
          <p:nvPr/>
        </p:nvSpPr>
        <p:spPr>
          <a:xfrm>
            <a:off x="777240" y="5815440"/>
            <a:ext cx="6948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6" name="Shape 26"/>
          <p:cNvSpPr/>
          <p:nvPr/>
        </p:nvSpPr>
        <p:spPr>
          <a:xfrm>
            <a:off x="8092440" y="1691640"/>
            <a:ext cx="3519720" cy="457128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7" name="Text 27"/>
          <p:cNvSpPr/>
          <p:nvPr/>
        </p:nvSpPr>
        <p:spPr>
          <a:xfrm>
            <a:off x="8275320" y="1783080"/>
            <a:ext cx="31996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8" name="Shape 28"/>
          <p:cNvSpPr/>
          <p:nvPr/>
        </p:nvSpPr>
        <p:spPr>
          <a:xfrm>
            <a:off x="8275320" y="2240280"/>
            <a:ext cx="410760" cy="41076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9" name="Text 29"/>
          <p:cNvSpPr/>
          <p:nvPr/>
        </p:nvSpPr>
        <p:spPr>
          <a:xfrm>
            <a:off x="8275320" y="22402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0" name="Text 30"/>
          <p:cNvSpPr/>
          <p:nvPr/>
        </p:nvSpPr>
        <p:spPr>
          <a:xfrm>
            <a:off x="8778240" y="219456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Allow-list pour routes publiques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1" name="Shape 31"/>
          <p:cNvSpPr/>
          <p:nvPr/>
        </p:nvSpPr>
        <p:spPr>
          <a:xfrm>
            <a:off x="8275320" y="2880360"/>
            <a:ext cx="410760" cy="41076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2" name="Text 32"/>
          <p:cNvSpPr/>
          <p:nvPr/>
        </p:nvSpPr>
        <p:spPr>
          <a:xfrm>
            <a:off x="8275320" y="288036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3" name="Text 33"/>
          <p:cNvSpPr/>
          <p:nvPr/>
        </p:nvSpPr>
        <p:spPr>
          <a:xfrm>
            <a:off x="8778240" y="283464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4" name="Shape 34"/>
          <p:cNvSpPr/>
          <p:nvPr/>
        </p:nvSpPr>
        <p:spPr>
          <a:xfrm>
            <a:off x="8275320" y="3520440"/>
            <a:ext cx="410760" cy="41076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5" name="Text 35"/>
          <p:cNvSpPr/>
          <p:nvPr/>
        </p:nvSpPr>
        <p:spPr>
          <a:xfrm>
            <a:off x="8275320" y="352044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6" name="Text 36"/>
          <p:cNvSpPr/>
          <p:nvPr/>
        </p:nvSpPr>
        <p:spPr>
          <a:xfrm>
            <a:off x="8778240" y="347472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Vérification JWT via jose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7" name="Shape 37"/>
          <p:cNvSpPr/>
          <p:nvPr/>
        </p:nvSpPr>
        <p:spPr>
          <a:xfrm>
            <a:off x="8275320" y="4160520"/>
            <a:ext cx="410760" cy="41076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8" name="Text 38"/>
          <p:cNvSpPr/>
          <p:nvPr/>
        </p:nvSpPr>
        <p:spPr>
          <a:xfrm>
            <a:off x="8275320" y="416052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↩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9" name="Text 39"/>
          <p:cNvSpPr/>
          <p:nvPr/>
        </p:nvSpPr>
        <p:spPr>
          <a:xfrm>
            <a:off x="8778240" y="411480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Redirect /login si invalide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0" name="Shape 40"/>
          <p:cNvSpPr/>
          <p:nvPr/>
        </p:nvSpPr>
        <p:spPr>
          <a:xfrm>
            <a:off x="8275320" y="4800600"/>
            <a:ext cx="410760" cy="41076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1" name="Text 41"/>
          <p:cNvSpPr/>
          <p:nvPr/>
        </p:nvSpPr>
        <p:spPr>
          <a:xfrm>
            <a:off x="8275320" y="480060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2" name="Text 42"/>
          <p:cNvSpPr/>
          <p:nvPr/>
        </p:nvSpPr>
        <p:spPr>
          <a:xfrm>
            <a:off x="8778240" y="475488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Injection x-user-id header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3" name="Shape 43"/>
          <p:cNvSpPr/>
          <p:nvPr/>
        </p:nvSpPr>
        <p:spPr>
          <a:xfrm>
            <a:off x="8275320" y="5440680"/>
            <a:ext cx="410760" cy="41076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4" name="Text 44"/>
          <p:cNvSpPr/>
          <p:nvPr/>
        </p:nvSpPr>
        <p:spPr>
          <a:xfrm>
            <a:off x="8275320" y="54406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5" name="Text 45"/>
          <p:cNvSpPr/>
          <p:nvPr/>
        </p:nvSpPr>
        <p:spPr>
          <a:xfrm>
            <a:off x="8778240" y="539496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par défaut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3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7" name="Text 46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RNCP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37873 -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CDA  · 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Christophe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8" name="Text 47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33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9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0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&amp; RGPD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1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2" name="Shape 3"/>
          <p:cNvSpPr/>
          <p:nvPr/>
        </p:nvSpPr>
        <p:spPr>
          <a:xfrm>
            <a:off x="548640" y="1691640"/>
            <a:ext cx="5531400" cy="457128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3" name="Text 4"/>
          <p:cNvSpPr/>
          <p:nvPr/>
        </p:nvSpPr>
        <p:spPr>
          <a:xfrm>
            <a:off x="731520" y="178308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Mesures en place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4" name="Text 5"/>
          <p:cNvSpPr/>
          <p:nvPr/>
        </p:nvSpPr>
        <p:spPr>
          <a:xfrm>
            <a:off x="777240" y="2194560"/>
            <a:ext cx="3650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5" name="Text 6"/>
          <p:cNvSpPr/>
          <p:nvPr/>
        </p:nvSpPr>
        <p:spPr>
          <a:xfrm>
            <a:off x="1188720" y="2194560"/>
            <a:ext cx="4845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(jose) · cookies HttpOnly · SameSite=Lax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6" name="Text 7"/>
          <p:cNvSpPr/>
          <p:nvPr/>
        </p:nvSpPr>
        <p:spPr>
          <a:xfrm>
            <a:off x="777240" y="2743200"/>
            <a:ext cx="3650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7" name="Text 8"/>
          <p:cNvSpPr/>
          <p:nvPr/>
        </p:nvSpPr>
        <p:spPr>
          <a:xfrm>
            <a:off x="1188720" y="2743200"/>
            <a:ext cx="4845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 sur tous les mots de passe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8" name="Text 9"/>
          <p:cNvSpPr/>
          <p:nvPr/>
        </p:nvSpPr>
        <p:spPr>
          <a:xfrm>
            <a:off x="777240" y="3291840"/>
            <a:ext cx="3650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9" name="Text 10"/>
          <p:cNvSpPr/>
          <p:nvPr/>
        </p:nvSpPr>
        <p:spPr>
          <a:xfrm>
            <a:off x="1188720" y="3291840"/>
            <a:ext cx="4845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 systématique des payloads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0" name="Text 11"/>
          <p:cNvSpPr/>
          <p:nvPr/>
        </p:nvSpPr>
        <p:spPr>
          <a:xfrm>
            <a:off x="777240" y="3840480"/>
            <a:ext cx="3650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1" name="Text 12"/>
          <p:cNvSpPr/>
          <p:nvPr/>
        </p:nvSpPr>
        <p:spPr>
          <a:xfrm>
            <a:off x="1188720" y="3840480"/>
            <a:ext cx="4845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 avec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2" name="Text 13"/>
          <p:cNvSpPr/>
          <p:nvPr/>
        </p:nvSpPr>
        <p:spPr>
          <a:xfrm>
            <a:off x="777240" y="4389120"/>
            <a:ext cx="3650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⊘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3" name="Text 14"/>
          <p:cNvSpPr/>
          <p:nvPr/>
        </p:nvSpPr>
        <p:spPr>
          <a:xfrm>
            <a:off x="1188720" y="4389120"/>
            <a:ext cx="4845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SQL injection bloquée par Prisma (paramétrage)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4" name="Text 15"/>
          <p:cNvSpPr/>
          <p:nvPr/>
        </p:nvSpPr>
        <p:spPr>
          <a:xfrm>
            <a:off x="777240" y="4937760"/>
            <a:ext cx="3650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5" name="Text 16"/>
          <p:cNvSpPr/>
          <p:nvPr/>
        </p:nvSpPr>
        <p:spPr>
          <a:xfrm>
            <a:off x="1188720" y="4937760"/>
            <a:ext cx="4845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Top 10 audité — voir securite-rgpd.md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6" name="Text 17"/>
          <p:cNvSpPr/>
          <p:nvPr/>
        </p:nvSpPr>
        <p:spPr>
          <a:xfrm>
            <a:off x="777240" y="5486400"/>
            <a:ext cx="3650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◌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7" name="Text 18"/>
          <p:cNvSpPr/>
          <p:nvPr/>
        </p:nvSpPr>
        <p:spPr>
          <a:xfrm>
            <a:off x="1188720" y="5486400"/>
            <a:ext cx="4845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HTTPS forcé en production via Vercel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8" name="Shape 19"/>
          <p:cNvSpPr/>
          <p:nvPr/>
        </p:nvSpPr>
        <p:spPr>
          <a:xfrm>
            <a:off x="6263640" y="1691640"/>
            <a:ext cx="5531400" cy="457128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9" name="Text 20"/>
          <p:cNvSpPr/>
          <p:nvPr/>
        </p:nvSpPr>
        <p:spPr>
          <a:xfrm>
            <a:off x="6446520" y="178308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Conformité RGPD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0" name="Text 21"/>
          <p:cNvSpPr/>
          <p:nvPr/>
        </p:nvSpPr>
        <p:spPr>
          <a:xfrm>
            <a:off x="6446520" y="2194560"/>
            <a:ext cx="5028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Données collectées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1" name="Text 22"/>
          <p:cNvSpPr/>
          <p:nvPr/>
        </p:nvSpPr>
        <p:spPr>
          <a:xfrm>
            <a:off x="6446520" y="2468880"/>
            <a:ext cx="52113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Email,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nom, date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naissance,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contenus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publiés.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Aucun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traitement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marketing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; aucune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donnée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sensible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 sens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art. 9.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2" name="Text 23"/>
          <p:cNvSpPr/>
          <p:nvPr/>
        </p:nvSpPr>
        <p:spPr>
          <a:xfrm>
            <a:off x="6446520" y="3108960"/>
            <a:ext cx="5028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Droits de la personne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3" name="Text 24"/>
          <p:cNvSpPr/>
          <p:nvPr/>
        </p:nvSpPr>
        <p:spPr>
          <a:xfrm>
            <a:off x="6446520" y="338328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Accès &amp; consultation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4" name="Shape 25"/>
          <p:cNvSpPr/>
          <p:nvPr/>
        </p:nvSpPr>
        <p:spPr>
          <a:xfrm>
            <a:off x="10058400" y="3410640"/>
            <a:ext cx="1370880" cy="25524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5" name="Text 26"/>
          <p:cNvSpPr/>
          <p:nvPr/>
        </p:nvSpPr>
        <p:spPr>
          <a:xfrm>
            <a:off x="10058400" y="3410640"/>
            <a:ext cx="13708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6" name="Text 27"/>
          <p:cNvSpPr/>
          <p:nvPr/>
        </p:nvSpPr>
        <p:spPr>
          <a:xfrm>
            <a:off x="6446520" y="374904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Rectification (settings)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7" name="Shape 28"/>
          <p:cNvSpPr/>
          <p:nvPr/>
        </p:nvSpPr>
        <p:spPr>
          <a:xfrm>
            <a:off x="10058400" y="3776400"/>
            <a:ext cx="1370880" cy="25524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8" name="Text 29"/>
          <p:cNvSpPr/>
          <p:nvPr/>
        </p:nvSpPr>
        <p:spPr>
          <a:xfrm>
            <a:off x="10058400" y="3776400"/>
            <a:ext cx="13708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9" name="Text 30"/>
          <p:cNvSpPr/>
          <p:nvPr/>
        </p:nvSpPr>
        <p:spPr>
          <a:xfrm>
            <a:off x="6446520" y="411480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Effacement / droit à l'oubli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0" name="Shape 31"/>
          <p:cNvSpPr/>
          <p:nvPr/>
        </p:nvSpPr>
        <p:spPr>
          <a:xfrm>
            <a:off x="10058400" y="4142160"/>
            <a:ext cx="1370880" cy="25524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1" name="Text 32"/>
          <p:cNvSpPr/>
          <p:nvPr/>
        </p:nvSpPr>
        <p:spPr>
          <a:xfrm>
            <a:off x="10058400" y="4142160"/>
            <a:ext cx="13708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2" name="Text 33"/>
          <p:cNvSpPr/>
          <p:nvPr/>
        </p:nvSpPr>
        <p:spPr>
          <a:xfrm>
            <a:off x="6446520" y="448056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Portabilité (export JSON)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3" name="Shape 34"/>
          <p:cNvSpPr/>
          <p:nvPr/>
        </p:nvSpPr>
        <p:spPr>
          <a:xfrm>
            <a:off x="10058400" y="4507920"/>
            <a:ext cx="1370880" cy="25524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4" name="Text 35"/>
          <p:cNvSpPr/>
          <p:nvPr/>
        </p:nvSpPr>
        <p:spPr>
          <a:xfrm>
            <a:off x="10058400" y="4507920"/>
            <a:ext cx="13708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5" name="Text 36"/>
          <p:cNvSpPr/>
          <p:nvPr/>
        </p:nvSpPr>
        <p:spPr>
          <a:xfrm>
            <a:off x="6446520" y="484632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Opposition / consentement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6" name="Shape 37"/>
          <p:cNvSpPr/>
          <p:nvPr/>
        </p:nvSpPr>
        <p:spPr>
          <a:xfrm>
            <a:off x="10058400" y="4873680"/>
            <a:ext cx="1370880" cy="25524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7" name="Text 38"/>
          <p:cNvSpPr/>
          <p:nvPr/>
        </p:nvSpPr>
        <p:spPr>
          <a:xfrm>
            <a:off x="10058400" y="4873680"/>
            <a:ext cx="13708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8" name="Text 39"/>
          <p:cNvSpPr/>
          <p:nvPr/>
        </p:nvSpPr>
        <p:spPr>
          <a:xfrm>
            <a:off x="6446520" y="5349240"/>
            <a:ext cx="52113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Roadmap durcissement : rate-limit, headers CSP, sanitization markdown (DOMPurify).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7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0" name="Text 40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37873 - CDA  · 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1" name="Text 41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34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Rectangle 1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3" name="TextBox 2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4" name="TextBox 3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Cheminement d'une requête SQL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5" name="Rectangle 4"/>
          <p:cNvSpPr/>
          <p:nvPr/>
        </p:nvSpPr>
        <p:spPr>
          <a:xfrm>
            <a:off x="548640" y="1691640"/>
            <a:ext cx="7314480" cy="4571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6" name="Oval 5"/>
          <p:cNvSpPr/>
          <p:nvPr/>
        </p:nvSpPr>
        <p:spPr>
          <a:xfrm>
            <a:off x="777240" y="1874520"/>
            <a:ext cx="136440" cy="13644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400" tIns="45000" rIns="684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7" name="Oval 6"/>
          <p:cNvSpPr/>
          <p:nvPr/>
        </p:nvSpPr>
        <p:spPr>
          <a:xfrm>
            <a:off x="960120" y="1874520"/>
            <a:ext cx="136440" cy="136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400" tIns="45000" rIns="684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8" name="Oval 7"/>
          <p:cNvSpPr/>
          <p:nvPr/>
        </p:nvSpPr>
        <p:spPr>
          <a:xfrm>
            <a:off x="1143000" y="1874520"/>
            <a:ext cx="136440" cy="13644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400" tIns="45000" rIns="684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9" name="TextBox 8"/>
          <p:cNvSpPr/>
          <p:nvPr/>
        </p:nvSpPr>
        <p:spPr>
          <a:xfrm>
            <a:off x="1371600" y="1783080"/>
            <a:ext cx="64000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src/app/api/private/post/[id]/route.ts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0" name="TextBox 9"/>
          <p:cNvSpPr/>
          <p:nvPr/>
        </p:nvSpPr>
        <p:spPr>
          <a:xfrm>
            <a:off x="777240" y="224028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db } from '@/lib/db';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1" name="TextBox 10"/>
          <p:cNvSpPr/>
          <p:nvPr/>
        </p:nvSpPr>
        <p:spPr>
          <a:xfrm>
            <a:off x="777240" y="244152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getUserIdFromRequest } from '@/lib/server/api/getUserId';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2" name="TextBox 12"/>
          <p:cNvSpPr/>
          <p:nvPr/>
        </p:nvSpPr>
        <p:spPr>
          <a:xfrm>
            <a:off x="777240" y="264276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export async function GET(req: NextRequest, ctx)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3" name="TextBox 13"/>
          <p:cNvSpPr/>
          <p:nvPr/>
        </p:nvSpPr>
        <p:spPr>
          <a:xfrm>
            <a:off x="777240" y="284364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userId = await getUserIdFromRequest(req);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4" name="TextBox 14"/>
          <p:cNvSpPr/>
          <p:nvPr/>
        </p:nvSpPr>
        <p:spPr>
          <a:xfrm>
            <a:off x="777240" y="304488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if (!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userId) 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return 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respondError(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'Unauthorized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', 401);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5" name="TextBox 16"/>
          <p:cNvSpPr/>
          <p:nvPr/>
        </p:nvSpPr>
        <p:spPr>
          <a:xfrm>
            <a:off x="777240" y="324612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{ id } = await ctx.params;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6" name="TextBox 18"/>
          <p:cNvSpPr/>
          <p:nvPr/>
        </p:nvSpPr>
        <p:spPr>
          <a:xfrm>
            <a:off x="777240" y="344736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1. Validation entrée —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7" name="TextBox 19"/>
          <p:cNvSpPr/>
          <p:nvPr/>
        </p:nvSpPr>
        <p:spPr>
          <a:xfrm>
            <a:off x="777240" y="364860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const params = z.object({ id: z.string().cuid() }).parse({ id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8" name="TextBox 21"/>
          <p:cNvSpPr/>
          <p:nvPr/>
        </p:nvSpPr>
        <p:spPr>
          <a:xfrm>
            <a:off x="777240" y="384948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2. Query Prisma type-safe → SQL paramétré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9" name="TextBox 22"/>
          <p:cNvSpPr/>
          <p:nvPr/>
        </p:nvSpPr>
        <p:spPr>
          <a:xfrm>
            <a:off x="777240" y="405072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const post = await db.post.findUnique({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0" name="TextBox 23"/>
          <p:cNvSpPr/>
          <p:nvPr/>
        </p:nvSpPr>
        <p:spPr>
          <a:xfrm>
            <a:off x="777240" y="425196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where: { id: params.id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1" name="TextBox 24"/>
          <p:cNvSpPr/>
          <p:nvPr/>
        </p:nvSpPr>
        <p:spPr>
          <a:xfrm>
            <a:off x="777240" y="445320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include: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2" name="TextBox 25"/>
          <p:cNvSpPr/>
          <p:nvPr/>
        </p:nvSpPr>
        <p:spPr>
          <a:xfrm>
            <a:off x="777240" y="465444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user:     { select: { id, username, avatar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3" name="TextBox 26"/>
          <p:cNvSpPr/>
          <p:nvPr/>
        </p:nvSpPr>
        <p:spPr>
          <a:xfrm>
            <a:off x="777240" y="485532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comments: { select: { id, message, datetime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4" name="TextBox 27"/>
          <p:cNvSpPr/>
          <p:nvPr/>
        </p:nvSpPr>
        <p:spPr>
          <a:xfrm>
            <a:off x="777240" y="505656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reactions: true,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5" name="TextBox 28"/>
          <p:cNvSpPr/>
          <p:nvPr/>
        </p:nvSpPr>
        <p:spPr>
          <a:xfrm>
            <a:off x="777240" y="525780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6" name="TextBox 29"/>
          <p:cNvSpPr/>
          <p:nvPr/>
        </p:nvSpPr>
        <p:spPr>
          <a:xfrm>
            <a:off x="777240" y="545904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7" name="TextBox 31"/>
          <p:cNvSpPr/>
          <p:nvPr/>
        </p:nvSpPr>
        <p:spPr>
          <a:xfrm>
            <a:off x="777240" y="566028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3. Retour structuré + types inférés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8" name="TextBox 32"/>
          <p:cNvSpPr/>
          <p:nvPr/>
        </p:nvSpPr>
        <p:spPr>
          <a:xfrm>
            <a:off x="777240" y="586116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return respondSuccess(post);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9" name="TextBox 33"/>
          <p:cNvSpPr/>
          <p:nvPr/>
        </p:nvSpPr>
        <p:spPr>
          <a:xfrm>
            <a:off x="777240" y="606240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0" name="Rectangle 34"/>
          <p:cNvSpPr/>
          <p:nvPr/>
        </p:nvSpPr>
        <p:spPr>
          <a:xfrm>
            <a:off x="8092440" y="1691640"/>
            <a:ext cx="3519720" cy="45712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1" name="TextBox 35"/>
          <p:cNvSpPr/>
          <p:nvPr/>
        </p:nvSpPr>
        <p:spPr>
          <a:xfrm>
            <a:off x="8275320" y="1783080"/>
            <a:ext cx="3153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Pipeline en 5 étapes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2" name="Oval 36"/>
          <p:cNvSpPr/>
          <p:nvPr/>
        </p:nvSpPr>
        <p:spPr>
          <a:xfrm>
            <a:off x="8275320" y="2240280"/>
            <a:ext cx="410760" cy="410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3" name="TextBox 37"/>
          <p:cNvSpPr/>
          <p:nvPr/>
        </p:nvSpPr>
        <p:spPr>
          <a:xfrm>
            <a:off x="8275320" y="22402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4" name="TextBox 38"/>
          <p:cNvSpPr/>
          <p:nvPr/>
        </p:nvSpPr>
        <p:spPr>
          <a:xfrm>
            <a:off x="8778240" y="2194560"/>
            <a:ext cx="26510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Middleware → x-user-id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5" name="Oval 39"/>
          <p:cNvSpPr/>
          <p:nvPr/>
        </p:nvSpPr>
        <p:spPr>
          <a:xfrm>
            <a:off x="8275320" y="2880360"/>
            <a:ext cx="410760" cy="410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6" name="TextBox 40"/>
          <p:cNvSpPr/>
          <p:nvPr/>
        </p:nvSpPr>
        <p:spPr>
          <a:xfrm>
            <a:off x="8275320" y="288036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7" name="TextBox 41"/>
          <p:cNvSpPr/>
          <p:nvPr/>
        </p:nvSpPr>
        <p:spPr>
          <a:xfrm>
            <a:off x="8778240" y="2834640"/>
            <a:ext cx="26510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valide l'entrée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8" name="Oval 42"/>
          <p:cNvSpPr/>
          <p:nvPr/>
        </p:nvSpPr>
        <p:spPr>
          <a:xfrm>
            <a:off x="8275320" y="3520440"/>
            <a:ext cx="410760" cy="4107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9" name="TextBox 43"/>
          <p:cNvSpPr/>
          <p:nvPr/>
        </p:nvSpPr>
        <p:spPr>
          <a:xfrm>
            <a:off x="8275320" y="352044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0" name="TextBox 44"/>
          <p:cNvSpPr/>
          <p:nvPr/>
        </p:nvSpPr>
        <p:spPr>
          <a:xfrm>
            <a:off x="8778240" y="3474720"/>
            <a:ext cx="26510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compose le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1" name="Oval 45"/>
          <p:cNvSpPr/>
          <p:nvPr/>
        </p:nvSpPr>
        <p:spPr>
          <a:xfrm>
            <a:off x="8275320" y="4160520"/>
            <a:ext cx="410760" cy="410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2" name="TextBox 46"/>
          <p:cNvSpPr/>
          <p:nvPr/>
        </p:nvSpPr>
        <p:spPr>
          <a:xfrm>
            <a:off x="8275320" y="416052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3" name="TextBox 47"/>
          <p:cNvSpPr/>
          <p:nvPr/>
        </p:nvSpPr>
        <p:spPr>
          <a:xfrm>
            <a:off x="8778240" y="4114800"/>
            <a:ext cx="26510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envoie SQL paramétré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4" name="Oval 48"/>
          <p:cNvSpPr/>
          <p:nvPr/>
        </p:nvSpPr>
        <p:spPr>
          <a:xfrm>
            <a:off x="8275320" y="4800600"/>
            <a:ext cx="410760" cy="4107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5" name="TextBox 49"/>
          <p:cNvSpPr/>
          <p:nvPr/>
        </p:nvSpPr>
        <p:spPr>
          <a:xfrm>
            <a:off x="8275320" y="480060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6" name="TextBox 50"/>
          <p:cNvSpPr/>
          <p:nvPr/>
        </p:nvSpPr>
        <p:spPr>
          <a:xfrm>
            <a:off x="8778240" y="4754880"/>
            <a:ext cx="26510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Réponse typée TypeScript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7" name="TextBox 51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8" name="TextBox 52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35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2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0" name="Rectangle 1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1" name="TextBox 2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2" name="TextBox 3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Requête préparée : pourquoi c'est sûr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3" name="Rectangle 4"/>
          <p:cNvSpPr/>
          <p:nvPr/>
        </p:nvSpPr>
        <p:spPr>
          <a:xfrm>
            <a:off x="548640" y="1691640"/>
            <a:ext cx="5348520" cy="4571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4" name="Rectangle 5"/>
          <p:cNvSpPr/>
          <p:nvPr/>
        </p:nvSpPr>
        <p:spPr>
          <a:xfrm>
            <a:off x="548640" y="1691640"/>
            <a:ext cx="5348520" cy="3650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5" name="TextBox 6"/>
          <p:cNvSpPr/>
          <p:nvPr/>
        </p:nvSpPr>
        <p:spPr>
          <a:xfrm>
            <a:off x="685800" y="1755720"/>
            <a:ext cx="5028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 Requête naïve — VULNÉRABLE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6" name="TextBox 7"/>
          <p:cNvSpPr/>
          <p:nvPr/>
        </p:nvSpPr>
        <p:spPr>
          <a:xfrm>
            <a:off x="731520" y="2240280"/>
            <a:ext cx="5074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⚠️ N'EST PAS dans notre code, illustration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7" name="TextBox 8"/>
          <p:cNvSpPr/>
          <p:nvPr/>
        </p:nvSpPr>
        <p:spPr>
          <a:xfrm>
            <a:off x="731520" y="2514600"/>
            <a:ext cx="5074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8" name="TextBox 9"/>
          <p:cNvSpPr/>
          <p:nvPr/>
        </p:nvSpPr>
        <p:spPr>
          <a:xfrm>
            <a:off x="731520" y="2788920"/>
            <a:ext cx="5074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9" name="TextBox 10"/>
          <p:cNvSpPr/>
          <p:nvPr/>
        </p:nvSpPr>
        <p:spPr>
          <a:xfrm>
            <a:off x="731520" y="3063240"/>
            <a:ext cx="5074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0" name="TextBox 11"/>
          <p:cNvSpPr/>
          <p:nvPr/>
        </p:nvSpPr>
        <p:spPr>
          <a:xfrm>
            <a:off x="731520" y="3337560"/>
            <a:ext cx="5074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const result = await db.$queryRawUnsafe(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1" name="TextBox 12"/>
          <p:cNvSpPr/>
          <p:nvPr/>
        </p:nvSpPr>
        <p:spPr>
          <a:xfrm>
            <a:off x="731520" y="3611880"/>
            <a:ext cx="5074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`SELECT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2" name="TextBox 13"/>
          <p:cNvSpPr/>
          <p:nvPr/>
        </p:nvSpPr>
        <p:spPr>
          <a:xfrm>
            <a:off x="731520" y="3886200"/>
            <a:ext cx="5074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 WHERE email = '${email}'`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3" name="TextBox 14"/>
          <p:cNvSpPr/>
          <p:nvPr/>
        </p:nvSpPr>
        <p:spPr>
          <a:xfrm>
            <a:off x="731520" y="4160520"/>
            <a:ext cx="5074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4" name="TextBox 15"/>
          <p:cNvSpPr/>
          <p:nvPr/>
        </p:nvSpPr>
        <p:spPr>
          <a:xfrm>
            <a:off x="731520" y="4434840"/>
            <a:ext cx="5074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5" name="TextBox 16"/>
          <p:cNvSpPr/>
          <p:nvPr/>
        </p:nvSpPr>
        <p:spPr>
          <a:xfrm>
            <a:off x="731520" y="4709160"/>
            <a:ext cx="5074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Si email = "x' OR '1'='1"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6" name="TextBox 17"/>
          <p:cNvSpPr/>
          <p:nvPr/>
        </p:nvSpPr>
        <p:spPr>
          <a:xfrm>
            <a:off x="731520" y="4983480"/>
            <a:ext cx="5074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→ 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7" name="TextBox 18"/>
          <p:cNvSpPr/>
          <p:nvPr/>
        </p:nvSpPr>
        <p:spPr>
          <a:xfrm>
            <a:off x="731520" y="5257800"/>
            <a:ext cx="5074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  WHERE email = 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'x' OR '1'='1'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8" name="TextBox 19"/>
          <p:cNvSpPr/>
          <p:nvPr/>
        </p:nvSpPr>
        <p:spPr>
          <a:xfrm>
            <a:off x="731520" y="5532120"/>
            <a:ext cx="5074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// → renvoie TOUS les utilisateurs ☠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9" name="Rectangle 20"/>
          <p:cNvSpPr/>
          <p:nvPr/>
        </p:nvSpPr>
        <p:spPr>
          <a:xfrm>
            <a:off x="6080760" y="1691640"/>
            <a:ext cx="5348520" cy="4571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0" name="Rectangle 21"/>
          <p:cNvSpPr/>
          <p:nvPr/>
        </p:nvSpPr>
        <p:spPr>
          <a:xfrm>
            <a:off x="6080760" y="1691640"/>
            <a:ext cx="5348520" cy="3650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1" name="TextBox 22"/>
          <p:cNvSpPr/>
          <p:nvPr/>
        </p:nvSpPr>
        <p:spPr>
          <a:xfrm>
            <a:off x="6217920" y="1755720"/>
            <a:ext cx="5028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—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PROTÉ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GÉ par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défaut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2" name="TextBox 23"/>
          <p:cNvSpPr/>
          <p:nvPr/>
        </p:nvSpPr>
        <p:spPr>
          <a:xfrm>
            <a:off x="6263640" y="2240280"/>
            <a:ext cx="5074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✅ Le pattern utilisé partout dans le projet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3" name="TextBox 24"/>
          <p:cNvSpPr/>
          <p:nvPr/>
        </p:nvSpPr>
        <p:spPr>
          <a:xfrm>
            <a:off x="6263640" y="2514600"/>
            <a:ext cx="5074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4" name="TextBox 25"/>
          <p:cNvSpPr/>
          <p:nvPr/>
        </p:nvSpPr>
        <p:spPr>
          <a:xfrm>
            <a:off x="6263640" y="2788920"/>
            <a:ext cx="5074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5" name="TextBox 26"/>
          <p:cNvSpPr/>
          <p:nvPr/>
        </p:nvSpPr>
        <p:spPr>
          <a:xfrm>
            <a:off x="6263640" y="3063240"/>
            <a:ext cx="5074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6" name="TextBox 27"/>
          <p:cNvSpPr/>
          <p:nvPr/>
        </p:nvSpPr>
        <p:spPr>
          <a:xfrm>
            <a:off x="6263640" y="3337560"/>
            <a:ext cx="5074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const user = await db.user.findUnique({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7" name="TextBox 28"/>
          <p:cNvSpPr/>
          <p:nvPr/>
        </p:nvSpPr>
        <p:spPr>
          <a:xfrm>
            <a:off x="6263640" y="3611880"/>
            <a:ext cx="5074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where: { email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8" name="TextBox 29"/>
          <p:cNvSpPr/>
          <p:nvPr/>
        </p:nvSpPr>
        <p:spPr>
          <a:xfrm>
            <a:off x="6263640" y="3886200"/>
            <a:ext cx="5074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9" name="TextBox 30"/>
          <p:cNvSpPr/>
          <p:nvPr/>
        </p:nvSpPr>
        <p:spPr>
          <a:xfrm>
            <a:off x="6263640" y="4160520"/>
            <a:ext cx="5074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0" name="TextBox 31"/>
          <p:cNvSpPr/>
          <p:nvPr/>
        </p:nvSpPr>
        <p:spPr>
          <a:xfrm>
            <a:off x="6263640" y="4434840"/>
            <a:ext cx="5074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Prisma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envoie au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driver pg 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1" name="TextBox 32"/>
          <p:cNvSpPr/>
          <p:nvPr/>
        </p:nvSpPr>
        <p:spPr>
          <a:xfrm>
            <a:off x="6263640" y="4709160"/>
            <a:ext cx="5074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SELECT * FROM users WHERE email = $1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2" name="TextBox 33"/>
          <p:cNvSpPr/>
          <p:nvPr/>
        </p:nvSpPr>
        <p:spPr>
          <a:xfrm>
            <a:off x="6263640" y="4983480"/>
            <a:ext cx="5074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avec params = ['x' OR ''1''=''1']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3" name="TextBox 34"/>
          <p:cNvSpPr/>
          <p:nvPr/>
        </p:nvSpPr>
        <p:spPr>
          <a:xfrm>
            <a:off x="6263640" y="5257800"/>
            <a:ext cx="5074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4" name="TextBox 35"/>
          <p:cNvSpPr/>
          <p:nvPr/>
        </p:nvSpPr>
        <p:spPr>
          <a:xfrm>
            <a:off x="6263640" y="5532120"/>
            <a:ext cx="5074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PostgreSQL traite $1 comme STRING littérale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5" name="TextBox 36"/>
          <p:cNvSpPr/>
          <p:nvPr/>
        </p:nvSpPr>
        <p:spPr>
          <a:xfrm>
            <a:off x="6263640" y="5806440"/>
            <a:ext cx="5074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→ 0 ligne renvoyée 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6" name="TextBox 37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7" name="TextBox 38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36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6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" name="Rectangle 1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0" name="TextBox 2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1" name="TextBox 3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Anti-SQLi : défense en profondeur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2" name="Rectangle 4"/>
          <p:cNvSpPr/>
          <p:nvPr/>
        </p:nvSpPr>
        <p:spPr>
          <a:xfrm>
            <a:off x="548640" y="1691640"/>
            <a:ext cx="7314480" cy="8679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3" name="Rectangle 5"/>
          <p:cNvSpPr/>
          <p:nvPr/>
        </p:nvSpPr>
        <p:spPr>
          <a:xfrm>
            <a:off x="548640" y="1691640"/>
            <a:ext cx="109080" cy="867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45000" rIns="54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4" name="TextBox 6"/>
          <p:cNvSpPr/>
          <p:nvPr/>
        </p:nvSpPr>
        <p:spPr>
          <a:xfrm>
            <a:off x="822960" y="1783080"/>
            <a:ext cx="456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5" name="TextBox 7"/>
          <p:cNvSpPr/>
          <p:nvPr/>
        </p:nvSpPr>
        <p:spPr>
          <a:xfrm>
            <a:off x="1417320" y="1783080"/>
            <a:ext cx="2285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6" name="TextBox 8"/>
          <p:cNvSpPr/>
          <p:nvPr/>
        </p:nvSpPr>
        <p:spPr>
          <a:xfrm>
            <a:off x="1417320" y="2057400"/>
            <a:ext cx="5028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Validation type + format avant tout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7" name="TextBox 9"/>
          <p:cNvSpPr/>
          <p:nvPr/>
        </p:nvSpPr>
        <p:spPr>
          <a:xfrm>
            <a:off x="3749040" y="2194560"/>
            <a:ext cx="40226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z.string().email().min(6)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8" name="Rectangle 10"/>
          <p:cNvSpPr/>
          <p:nvPr/>
        </p:nvSpPr>
        <p:spPr>
          <a:xfrm>
            <a:off x="548640" y="2743200"/>
            <a:ext cx="7314480" cy="8679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9" name="Rectangle 11"/>
          <p:cNvSpPr/>
          <p:nvPr/>
        </p:nvSpPr>
        <p:spPr>
          <a:xfrm>
            <a:off x="548640" y="2743200"/>
            <a:ext cx="109080" cy="8679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45000" rIns="54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0" name="TextBox 12"/>
          <p:cNvSpPr/>
          <p:nvPr/>
        </p:nvSpPr>
        <p:spPr>
          <a:xfrm>
            <a:off x="822960" y="2834640"/>
            <a:ext cx="456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1" name="TextBox 13"/>
          <p:cNvSpPr/>
          <p:nvPr/>
        </p:nvSpPr>
        <p:spPr>
          <a:xfrm>
            <a:off x="1417320" y="2834640"/>
            <a:ext cx="2285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2" name="TextBox 14"/>
          <p:cNvSpPr/>
          <p:nvPr/>
        </p:nvSpPr>
        <p:spPr>
          <a:xfrm>
            <a:off x="1417320" y="3108960"/>
            <a:ext cx="5028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Compose un SQL paramétré (jamais de concat)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3" name="TextBox 15"/>
          <p:cNvSpPr/>
          <p:nvPr/>
        </p:nvSpPr>
        <p:spPr>
          <a:xfrm>
            <a:off x="3749040" y="3246120"/>
            <a:ext cx="40226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db.user.findUnique({ where: { email }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4" name="Rectangle 16"/>
          <p:cNvSpPr/>
          <p:nvPr/>
        </p:nvSpPr>
        <p:spPr>
          <a:xfrm>
            <a:off x="548640" y="3794760"/>
            <a:ext cx="7314480" cy="8679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5" name="Rectangle 17"/>
          <p:cNvSpPr/>
          <p:nvPr/>
        </p:nvSpPr>
        <p:spPr>
          <a:xfrm>
            <a:off x="548640" y="3794760"/>
            <a:ext cx="109080" cy="867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45000" rIns="54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6" name="TextBox 18"/>
          <p:cNvSpPr/>
          <p:nvPr/>
        </p:nvSpPr>
        <p:spPr>
          <a:xfrm>
            <a:off x="822960" y="3886200"/>
            <a:ext cx="456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7" name="TextBox 19"/>
          <p:cNvSpPr/>
          <p:nvPr/>
        </p:nvSpPr>
        <p:spPr>
          <a:xfrm>
            <a:off x="1417320" y="3886200"/>
            <a:ext cx="2285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PG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8" name="TextBox 20"/>
          <p:cNvSpPr/>
          <p:nvPr/>
        </p:nvSpPr>
        <p:spPr>
          <a:xfrm>
            <a:off x="1417320" y="4160520"/>
            <a:ext cx="5028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Sépare query texte + array de params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9" name="TextBox 21"/>
          <p:cNvSpPr/>
          <p:nvPr/>
        </p:nvSpPr>
        <p:spPr>
          <a:xfrm>
            <a:off x="3749040" y="4297680"/>
            <a:ext cx="40226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PREPARE → EXECUTE($1, $2, ...)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0" name="Rectangle 22"/>
          <p:cNvSpPr/>
          <p:nvPr/>
        </p:nvSpPr>
        <p:spPr>
          <a:xfrm>
            <a:off x="548640" y="4846320"/>
            <a:ext cx="7314480" cy="8679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1" name="Rectangle 23"/>
          <p:cNvSpPr/>
          <p:nvPr/>
        </p:nvSpPr>
        <p:spPr>
          <a:xfrm>
            <a:off x="548640" y="4846320"/>
            <a:ext cx="109080" cy="867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45000" rIns="54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2" name="TextBox 24"/>
          <p:cNvSpPr/>
          <p:nvPr/>
        </p:nvSpPr>
        <p:spPr>
          <a:xfrm>
            <a:off x="822960" y="4937760"/>
            <a:ext cx="456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3" name="TextBox 25"/>
          <p:cNvSpPr/>
          <p:nvPr/>
        </p:nvSpPr>
        <p:spPr>
          <a:xfrm>
            <a:off x="1417320" y="4937760"/>
            <a:ext cx="2285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4" name="TextBox 26"/>
          <p:cNvSpPr/>
          <p:nvPr/>
        </p:nvSpPr>
        <p:spPr>
          <a:xfrm>
            <a:off x="1417320" y="5212080"/>
            <a:ext cx="5028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Traite chaque param comme littéral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5" name="TextBox 27"/>
          <p:cNvSpPr/>
          <p:nvPr/>
        </p:nvSpPr>
        <p:spPr>
          <a:xfrm>
            <a:off x="3749040" y="5349240"/>
            <a:ext cx="40226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WHERE email = $1   (binding)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6" name="Rectangle 28"/>
          <p:cNvSpPr/>
          <p:nvPr/>
        </p:nvSpPr>
        <p:spPr>
          <a:xfrm>
            <a:off x="8092440" y="1691640"/>
            <a:ext cx="3519720" cy="45712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7" name="TextBox 29"/>
          <p:cNvSpPr/>
          <p:nvPr/>
        </p:nvSpPr>
        <p:spPr>
          <a:xfrm>
            <a:off x="8275320" y="1783080"/>
            <a:ext cx="3153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Payload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attaque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8" name="Oval 30"/>
          <p:cNvSpPr/>
          <p:nvPr/>
        </p:nvSpPr>
        <p:spPr>
          <a:xfrm>
            <a:off x="8275320" y="2240280"/>
            <a:ext cx="410760" cy="410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9" name="TextBox 31"/>
          <p:cNvSpPr/>
          <p:nvPr/>
        </p:nvSpPr>
        <p:spPr>
          <a:xfrm>
            <a:off x="8275320" y="22402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0" name="TextBox 32"/>
          <p:cNvSpPr/>
          <p:nvPr/>
        </p:nvSpPr>
        <p:spPr>
          <a:xfrm>
            <a:off x="8778240" y="2194560"/>
            <a:ext cx="26510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' OR 1=1-- envoyé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1" name="Oval 33"/>
          <p:cNvSpPr/>
          <p:nvPr/>
        </p:nvSpPr>
        <p:spPr>
          <a:xfrm>
            <a:off x="8275320" y="2880360"/>
            <a:ext cx="410760" cy="410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2" name="TextBox 34"/>
          <p:cNvSpPr/>
          <p:nvPr/>
        </p:nvSpPr>
        <p:spPr>
          <a:xfrm>
            <a:off x="8275320" y="288036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3" name="TextBox 35"/>
          <p:cNvSpPr/>
          <p:nvPr/>
        </p:nvSpPr>
        <p:spPr>
          <a:xfrm>
            <a:off x="8778240" y="2834640"/>
            <a:ext cx="26510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: pas un 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4" name="Oval 36"/>
          <p:cNvSpPr/>
          <p:nvPr/>
        </p:nvSpPr>
        <p:spPr>
          <a:xfrm>
            <a:off x="8275320" y="3520440"/>
            <a:ext cx="410760" cy="4107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5" name="TextBox 37"/>
          <p:cNvSpPr/>
          <p:nvPr/>
        </p:nvSpPr>
        <p:spPr>
          <a:xfrm>
            <a:off x="8275320" y="352044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6" name="TextBox 38"/>
          <p:cNvSpPr/>
          <p:nvPr/>
        </p:nvSpPr>
        <p:spPr>
          <a:xfrm>
            <a:off x="8778240" y="3474720"/>
            <a:ext cx="26510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: paramètre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7" name="Oval 39"/>
          <p:cNvSpPr/>
          <p:nvPr/>
        </p:nvSpPr>
        <p:spPr>
          <a:xfrm>
            <a:off x="8275320" y="4160520"/>
            <a:ext cx="410760" cy="410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8" name="TextBox 40"/>
          <p:cNvSpPr/>
          <p:nvPr/>
        </p:nvSpPr>
        <p:spPr>
          <a:xfrm>
            <a:off x="8275320" y="416052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9" name="TextBox 41"/>
          <p:cNvSpPr/>
          <p:nvPr/>
        </p:nvSpPr>
        <p:spPr>
          <a:xfrm>
            <a:off x="8778240" y="4114800"/>
            <a:ext cx="26510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: binding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0" name="Oval 42"/>
          <p:cNvSpPr/>
          <p:nvPr/>
        </p:nvSpPr>
        <p:spPr>
          <a:xfrm>
            <a:off x="8275320" y="4800600"/>
            <a:ext cx="410760" cy="410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11" name="TextBox 43"/>
          <p:cNvSpPr/>
          <p:nvPr/>
        </p:nvSpPr>
        <p:spPr>
          <a:xfrm>
            <a:off x="8275320" y="480060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2" name="TextBox 44"/>
          <p:cNvSpPr/>
          <p:nvPr/>
        </p:nvSpPr>
        <p:spPr>
          <a:xfrm>
            <a:off x="8778240" y="4754880"/>
            <a:ext cx="26510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: 0 résultat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3" name="TextBox 45"/>
          <p:cNvSpPr/>
          <p:nvPr/>
        </p:nvSpPr>
        <p:spPr>
          <a:xfrm>
            <a:off x="548640" y="59893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OWASP Top 10 — A03:2021 Injection · neutralisée structurellement par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4" name="TextBox 46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5" name="TextBox 47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37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7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8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Stratégie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 tests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9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0" name="Shape 3"/>
          <p:cNvSpPr/>
          <p:nvPr/>
        </p:nvSpPr>
        <p:spPr>
          <a:xfrm>
            <a:off x="4000680" y="1828800"/>
            <a:ext cx="1233720" cy="913680"/>
          </a:xfrm>
          <a:prstGeom prst="rect">
            <a:avLst/>
          </a:prstGeom>
          <a:solidFill>
            <a:srgbClr val="EF4444">
              <a:alpha val="4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1" name="Text 4"/>
          <p:cNvSpPr/>
          <p:nvPr/>
        </p:nvSpPr>
        <p:spPr>
          <a:xfrm>
            <a:off x="4000680" y="1828800"/>
            <a:ext cx="123372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2" name="Shape 5"/>
          <p:cNvSpPr/>
          <p:nvPr/>
        </p:nvSpPr>
        <p:spPr>
          <a:xfrm>
            <a:off x="3383280" y="2743200"/>
            <a:ext cx="2468160" cy="1279440"/>
          </a:xfrm>
          <a:prstGeom prst="rect">
            <a:avLst/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3" name="Text 6"/>
          <p:cNvSpPr/>
          <p:nvPr/>
        </p:nvSpPr>
        <p:spPr>
          <a:xfrm>
            <a:off x="3383280" y="2743200"/>
            <a:ext cx="246816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d'intégration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4" name="Shape 7"/>
          <p:cNvSpPr/>
          <p:nvPr/>
        </p:nvSpPr>
        <p:spPr>
          <a:xfrm>
            <a:off x="2560320" y="4023360"/>
            <a:ext cx="4114080" cy="1462320"/>
          </a:xfrm>
          <a:prstGeom prst="rect">
            <a:avLst/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5" name="Text 8"/>
          <p:cNvSpPr/>
          <p:nvPr/>
        </p:nvSpPr>
        <p:spPr>
          <a:xfrm>
            <a:off x="2560320" y="4023360"/>
            <a:ext cx="411408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6" name="Shape 9"/>
          <p:cNvSpPr/>
          <p:nvPr/>
        </p:nvSpPr>
        <p:spPr>
          <a:xfrm>
            <a:off x="7315200" y="1783080"/>
            <a:ext cx="4479840" cy="4479840"/>
          </a:xfrm>
          <a:prstGeom prst="roundRect">
            <a:avLst>
              <a:gd name="adj" fmla="val 16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7" name="Text 10"/>
          <p:cNvSpPr/>
          <p:nvPr/>
        </p:nvSpPr>
        <p:spPr>
          <a:xfrm>
            <a:off x="7498080" y="1874520"/>
            <a:ext cx="41140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Pyramide adoptée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8" name="Shape 11"/>
          <p:cNvSpPr/>
          <p:nvPr/>
        </p:nvSpPr>
        <p:spPr>
          <a:xfrm>
            <a:off x="7498080" y="2331720"/>
            <a:ext cx="90720" cy="82224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9" name="Text 12"/>
          <p:cNvSpPr/>
          <p:nvPr/>
        </p:nvSpPr>
        <p:spPr>
          <a:xfrm>
            <a:off x="7680960" y="2331720"/>
            <a:ext cx="2742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 (Playwright)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0" name="Shape 13"/>
          <p:cNvSpPr/>
          <p:nvPr/>
        </p:nvSpPr>
        <p:spPr>
          <a:xfrm>
            <a:off x="10469880" y="2377440"/>
            <a:ext cx="1142280" cy="273600"/>
          </a:xfrm>
          <a:prstGeom prst="roundRect">
            <a:avLst>
              <a:gd name="adj" fmla="val 50000"/>
            </a:avLst>
          </a:prstGeom>
          <a:solidFill>
            <a:srgbClr val="EF4444">
              <a:alpha val="25000"/>
            </a:srgbClr>
          </a:solidFill>
          <a:ln w="9525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1" name="Text 14"/>
          <p:cNvSpPr/>
          <p:nvPr/>
        </p:nvSpPr>
        <p:spPr>
          <a:xfrm>
            <a:off x="10469880" y="2377440"/>
            <a:ext cx="1142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2" name="Text 15"/>
          <p:cNvSpPr/>
          <p:nvPr/>
        </p:nvSpPr>
        <p:spPr>
          <a:xfrm>
            <a:off x="7680960" y="2697480"/>
            <a:ext cx="39312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 critiques : inscription, post, chat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3" name="Shape 16"/>
          <p:cNvSpPr/>
          <p:nvPr/>
        </p:nvSpPr>
        <p:spPr>
          <a:xfrm>
            <a:off x="7498080" y="3246120"/>
            <a:ext cx="90720" cy="82224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4" name="Text 17"/>
          <p:cNvSpPr/>
          <p:nvPr/>
        </p:nvSpPr>
        <p:spPr>
          <a:xfrm>
            <a:off x="7680960" y="3246120"/>
            <a:ext cx="2742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Intégration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5" name="Shape 18"/>
          <p:cNvSpPr/>
          <p:nvPr/>
        </p:nvSpPr>
        <p:spPr>
          <a:xfrm>
            <a:off x="10469880" y="3291840"/>
            <a:ext cx="1142280" cy="273600"/>
          </a:xfrm>
          <a:prstGeom prst="roundRect">
            <a:avLst>
              <a:gd name="adj" fmla="val 50000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6" name="Text 19"/>
          <p:cNvSpPr/>
          <p:nvPr/>
        </p:nvSpPr>
        <p:spPr>
          <a:xfrm>
            <a:off x="10469880" y="3291840"/>
            <a:ext cx="1142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7" name="Text 20"/>
          <p:cNvSpPr/>
          <p:nvPr/>
        </p:nvSpPr>
        <p:spPr>
          <a:xfrm>
            <a:off x="7680960" y="3611880"/>
            <a:ext cx="39312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Jest +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ts-jest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sur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/api/* 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(auth,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8" name="Shape 21"/>
          <p:cNvSpPr/>
          <p:nvPr/>
        </p:nvSpPr>
        <p:spPr>
          <a:xfrm>
            <a:off x="7498080" y="4160520"/>
            <a:ext cx="90720" cy="8222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9" name="Text 22"/>
          <p:cNvSpPr/>
          <p:nvPr/>
        </p:nvSpPr>
        <p:spPr>
          <a:xfrm>
            <a:off x="7680960" y="4160520"/>
            <a:ext cx="2742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0" name="Shape 23"/>
          <p:cNvSpPr/>
          <p:nvPr/>
        </p:nvSpPr>
        <p:spPr>
          <a:xfrm>
            <a:off x="10469880" y="4206240"/>
            <a:ext cx="1142280" cy="27360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1" name="Text 24"/>
          <p:cNvSpPr/>
          <p:nvPr/>
        </p:nvSpPr>
        <p:spPr>
          <a:xfrm>
            <a:off x="10469880" y="4206240"/>
            <a:ext cx="1142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2" name="Text 25"/>
          <p:cNvSpPr/>
          <p:nvPr/>
        </p:nvSpPr>
        <p:spPr>
          <a:xfrm>
            <a:off x="7680960" y="4526280"/>
            <a:ext cx="39312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Helpers, validators Zod,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hashing,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3" name="Shape 26"/>
          <p:cNvSpPr/>
          <p:nvPr/>
        </p:nvSpPr>
        <p:spPr>
          <a:xfrm>
            <a:off x="7498080" y="5074920"/>
            <a:ext cx="90720" cy="8222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4" name="Text 27"/>
          <p:cNvSpPr/>
          <p:nvPr/>
        </p:nvSpPr>
        <p:spPr>
          <a:xfrm>
            <a:off x="7680960" y="5074920"/>
            <a:ext cx="2742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 &amp; types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5" name="Shape 28"/>
          <p:cNvSpPr/>
          <p:nvPr/>
        </p:nvSpPr>
        <p:spPr>
          <a:xfrm>
            <a:off x="10469880" y="5120640"/>
            <a:ext cx="1142280" cy="27360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6" name="Text 29"/>
          <p:cNvSpPr/>
          <p:nvPr/>
        </p:nvSpPr>
        <p:spPr>
          <a:xfrm>
            <a:off x="10469880" y="5120640"/>
            <a:ext cx="1142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CI bloquant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7" name="Text 30"/>
          <p:cNvSpPr/>
          <p:nvPr/>
        </p:nvSpPr>
        <p:spPr>
          <a:xfrm>
            <a:off x="7680960" y="5440680"/>
            <a:ext cx="39312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ESLint + TypeScript strict,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8" name="Shape 31"/>
          <p:cNvSpPr/>
          <p:nvPr/>
        </p:nvSpPr>
        <p:spPr>
          <a:xfrm>
            <a:off x="548640" y="5577840"/>
            <a:ext cx="11063520" cy="685080"/>
          </a:xfrm>
          <a:prstGeom prst="roundRect">
            <a:avLst>
              <a:gd name="adj" fmla="val 10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9" name="Text 32"/>
          <p:cNvSpPr/>
          <p:nvPr/>
        </p:nvSpPr>
        <p:spPr>
          <a:xfrm>
            <a:off x="777240" y="5623560"/>
            <a:ext cx="106063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Coverage cible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80% sur les modules critiques (auth, chat, persistence).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Jeux d'essai documentés dans tests-strategy.md.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1" name="Text 33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2" name="Text 34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38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3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4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Pipeline CI/CD GitHub Actions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5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6" name="Shape 3"/>
          <p:cNvSpPr/>
          <p:nvPr/>
        </p:nvSpPr>
        <p:spPr>
          <a:xfrm>
            <a:off x="434520" y="2194560"/>
            <a:ext cx="1370880" cy="21938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7" name="Shape 4"/>
          <p:cNvSpPr/>
          <p:nvPr/>
        </p:nvSpPr>
        <p:spPr>
          <a:xfrm>
            <a:off x="800280" y="2423160"/>
            <a:ext cx="639360" cy="63936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8" name="Text 5"/>
          <p:cNvSpPr/>
          <p:nvPr/>
        </p:nvSpPr>
        <p:spPr>
          <a:xfrm>
            <a:off x="800280" y="2423160"/>
            <a:ext cx="6393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↗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9" name="Text 6"/>
          <p:cNvSpPr/>
          <p:nvPr/>
        </p:nvSpPr>
        <p:spPr>
          <a:xfrm>
            <a:off x="480240" y="3154680"/>
            <a:ext cx="12794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Push / PR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0" name="Text 7"/>
          <p:cNvSpPr/>
          <p:nvPr/>
        </p:nvSpPr>
        <p:spPr>
          <a:xfrm>
            <a:off x="480240" y="3520440"/>
            <a:ext cx="12794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 · feature-*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1" name="Shape 8"/>
          <p:cNvSpPr/>
          <p:nvPr/>
        </p:nvSpPr>
        <p:spPr>
          <a:xfrm>
            <a:off x="18057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2" name="Shape 9"/>
          <p:cNvSpPr/>
          <p:nvPr/>
        </p:nvSpPr>
        <p:spPr>
          <a:xfrm>
            <a:off x="1851840" y="2194560"/>
            <a:ext cx="1370880" cy="21938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3" name="Shape 10"/>
          <p:cNvSpPr/>
          <p:nvPr/>
        </p:nvSpPr>
        <p:spPr>
          <a:xfrm>
            <a:off x="2217600" y="2423160"/>
            <a:ext cx="639360" cy="6393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4" name="Text 11"/>
          <p:cNvSpPr/>
          <p:nvPr/>
        </p:nvSpPr>
        <p:spPr>
          <a:xfrm>
            <a:off x="2217600" y="2423160"/>
            <a:ext cx="6393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5" name="Text 12"/>
          <p:cNvSpPr/>
          <p:nvPr/>
        </p:nvSpPr>
        <p:spPr>
          <a:xfrm>
            <a:off x="1897560" y="3154680"/>
            <a:ext cx="12794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Checkout &amp;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6" name="Text 13"/>
          <p:cNvSpPr/>
          <p:nvPr/>
        </p:nvSpPr>
        <p:spPr>
          <a:xfrm>
            <a:off x="1897560" y="3520440"/>
            <a:ext cx="12794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actions/checkout · setup-bun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7" name="Shape 14"/>
          <p:cNvSpPr/>
          <p:nvPr/>
        </p:nvSpPr>
        <p:spPr>
          <a:xfrm>
            <a:off x="32230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8" name="Shape 15"/>
          <p:cNvSpPr/>
          <p:nvPr/>
        </p:nvSpPr>
        <p:spPr>
          <a:xfrm>
            <a:off x="3269160" y="2194560"/>
            <a:ext cx="1370880" cy="21938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9" name="Shape 16"/>
          <p:cNvSpPr/>
          <p:nvPr/>
        </p:nvSpPr>
        <p:spPr>
          <a:xfrm>
            <a:off x="3634920" y="2423160"/>
            <a:ext cx="639360" cy="63936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0" name="Text 17"/>
          <p:cNvSpPr/>
          <p:nvPr/>
        </p:nvSpPr>
        <p:spPr>
          <a:xfrm>
            <a:off x="3634920" y="2423160"/>
            <a:ext cx="6393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1" name="Text 18"/>
          <p:cNvSpPr/>
          <p:nvPr/>
        </p:nvSpPr>
        <p:spPr>
          <a:xfrm>
            <a:off x="3314880" y="3154680"/>
            <a:ext cx="12794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Install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2" name="Text 19"/>
          <p:cNvSpPr/>
          <p:nvPr/>
        </p:nvSpPr>
        <p:spPr>
          <a:xfrm>
            <a:off x="3314880" y="3520440"/>
            <a:ext cx="12794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install --frozen-lockfile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3" name="Shape 20"/>
          <p:cNvSpPr/>
          <p:nvPr/>
        </p:nvSpPr>
        <p:spPr>
          <a:xfrm>
            <a:off x="464040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4" name="Shape 21"/>
          <p:cNvSpPr/>
          <p:nvPr/>
        </p:nvSpPr>
        <p:spPr>
          <a:xfrm>
            <a:off x="4686480" y="2194560"/>
            <a:ext cx="1370880" cy="21938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5" name="Shape 22"/>
          <p:cNvSpPr/>
          <p:nvPr/>
        </p:nvSpPr>
        <p:spPr>
          <a:xfrm>
            <a:off x="5052240" y="2423160"/>
            <a:ext cx="639360" cy="63936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6" name="Text 23"/>
          <p:cNvSpPr/>
          <p:nvPr/>
        </p:nvSpPr>
        <p:spPr>
          <a:xfrm>
            <a:off x="5052240" y="2423160"/>
            <a:ext cx="6393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7" name="Text 24"/>
          <p:cNvSpPr/>
          <p:nvPr/>
        </p:nvSpPr>
        <p:spPr>
          <a:xfrm>
            <a:off x="4732200" y="3154680"/>
            <a:ext cx="12794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8" name="Text 25"/>
          <p:cNvSpPr/>
          <p:nvPr/>
        </p:nvSpPr>
        <p:spPr>
          <a:xfrm>
            <a:off x="4732200" y="3520440"/>
            <a:ext cx="12794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bunx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9" name="Shape 26"/>
          <p:cNvSpPr/>
          <p:nvPr/>
        </p:nvSpPr>
        <p:spPr>
          <a:xfrm>
            <a:off x="605772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0" name="Shape 27"/>
          <p:cNvSpPr/>
          <p:nvPr/>
        </p:nvSpPr>
        <p:spPr>
          <a:xfrm>
            <a:off x="6103800" y="2194560"/>
            <a:ext cx="1370880" cy="21938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1" name="Shape 28"/>
          <p:cNvSpPr/>
          <p:nvPr/>
        </p:nvSpPr>
        <p:spPr>
          <a:xfrm>
            <a:off x="6469560" y="2423160"/>
            <a:ext cx="639360" cy="6393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2" name="Text 29"/>
          <p:cNvSpPr/>
          <p:nvPr/>
        </p:nvSpPr>
        <p:spPr>
          <a:xfrm>
            <a:off x="6469560" y="2423160"/>
            <a:ext cx="6393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3" name="Text 30"/>
          <p:cNvSpPr/>
          <p:nvPr/>
        </p:nvSpPr>
        <p:spPr>
          <a:xfrm>
            <a:off x="6149520" y="3154680"/>
            <a:ext cx="12794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4" name="Text 31"/>
          <p:cNvSpPr/>
          <p:nvPr/>
        </p:nvSpPr>
        <p:spPr>
          <a:xfrm>
            <a:off x="6149520" y="3520440"/>
            <a:ext cx="12794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lint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5" name="Shape 32"/>
          <p:cNvSpPr/>
          <p:nvPr/>
        </p:nvSpPr>
        <p:spPr>
          <a:xfrm>
            <a:off x="747504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6" name="Shape 33"/>
          <p:cNvSpPr/>
          <p:nvPr/>
        </p:nvSpPr>
        <p:spPr>
          <a:xfrm>
            <a:off x="7521120" y="2194560"/>
            <a:ext cx="1370880" cy="21938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7" name="Shape 34"/>
          <p:cNvSpPr/>
          <p:nvPr/>
        </p:nvSpPr>
        <p:spPr>
          <a:xfrm>
            <a:off x="7886880" y="2423160"/>
            <a:ext cx="639360" cy="63936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8" name="Text 35"/>
          <p:cNvSpPr/>
          <p:nvPr/>
        </p:nvSpPr>
        <p:spPr>
          <a:xfrm>
            <a:off x="7886880" y="2423160"/>
            <a:ext cx="6393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9" name="Text 36"/>
          <p:cNvSpPr/>
          <p:nvPr/>
        </p:nvSpPr>
        <p:spPr>
          <a:xfrm>
            <a:off x="7566840" y="3154680"/>
            <a:ext cx="12794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0" name="Text 37"/>
          <p:cNvSpPr/>
          <p:nvPr/>
        </p:nvSpPr>
        <p:spPr>
          <a:xfrm>
            <a:off x="7566840" y="3520440"/>
            <a:ext cx="12794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1" name="Shape 38"/>
          <p:cNvSpPr/>
          <p:nvPr/>
        </p:nvSpPr>
        <p:spPr>
          <a:xfrm>
            <a:off x="88923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2" name="Shape 39"/>
          <p:cNvSpPr/>
          <p:nvPr/>
        </p:nvSpPr>
        <p:spPr>
          <a:xfrm>
            <a:off x="8938440" y="2194560"/>
            <a:ext cx="1370880" cy="21938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3" name="Shape 40"/>
          <p:cNvSpPr/>
          <p:nvPr/>
        </p:nvSpPr>
        <p:spPr>
          <a:xfrm>
            <a:off x="9304200" y="2423160"/>
            <a:ext cx="639360" cy="639360"/>
          </a:xfrm>
          <a:prstGeom prst="ellipse">
            <a:avLst/>
          </a:prstGeom>
          <a:solidFill>
            <a:srgbClr val="F472B6">
              <a:alpha val="30000"/>
            </a:srgbClr>
          </a:solidFill>
          <a:ln w="1905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4" name="Text 41"/>
          <p:cNvSpPr/>
          <p:nvPr/>
        </p:nvSpPr>
        <p:spPr>
          <a:xfrm>
            <a:off x="9304200" y="2423160"/>
            <a:ext cx="6393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◧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5" name="Text 42"/>
          <p:cNvSpPr/>
          <p:nvPr/>
        </p:nvSpPr>
        <p:spPr>
          <a:xfrm>
            <a:off x="8984160" y="3154680"/>
            <a:ext cx="12794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Build Next.js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6" name="Text 43"/>
          <p:cNvSpPr/>
          <p:nvPr/>
        </p:nvSpPr>
        <p:spPr>
          <a:xfrm>
            <a:off x="8984160" y="3520440"/>
            <a:ext cx="12794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7" name="Shape 44"/>
          <p:cNvSpPr/>
          <p:nvPr/>
        </p:nvSpPr>
        <p:spPr>
          <a:xfrm>
            <a:off x="103096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8" name="Shape 45"/>
          <p:cNvSpPr/>
          <p:nvPr/>
        </p:nvSpPr>
        <p:spPr>
          <a:xfrm>
            <a:off x="10355760" y="2194560"/>
            <a:ext cx="1370880" cy="21938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9" name="Shape 46"/>
          <p:cNvSpPr/>
          <p:nvPr/>
        </p:nvSpPr>
        <p:spPr>
          <a:xfrm>
            <a:off x="10721520" y="2423160"/>
            <a:ext cx="639360" cy="63936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0" name="Text 47"/>
          <p:cNvSpPr/>
          <p:nvPr/>
        </p:nvSpPr>
        <p:spPr>
          <a:xfrm>
            <a:off x="10721520" y="2423160"/>
            <a:ext cx="6393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1" name="Text 48"/>
          <p:cNvSpPr/>
          <p:nvPr/>
        </p:nvSpPr>
        <p:spPr>
          <a:xfrm>
            <a:off x="10401480" y="3154680"/>
            <a:ext cx="12794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Deploy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2" name="Text 49"/>
          <p:cNvSpPr/>
          <p:nvPr/>
        </p:nvSpPr>
        <p:spPr>
          <a:xfrm>
            <a:off x="10401480" y="3520440"/>
            <a:ext cx="12794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ou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3" name="Shape 50"/>
          <p:cNvSpPr/>
          <p:nvPr/>
        </p:nvSpPr>
        <p:spPr>
          <a:xfrm>
            <a:off x="548640" y="4754880"/>
            <a:ext cx="11063520" cy="1553760"/>
          </a:xfrm>
          <a:prstGeom prst="roundRect">
            <a:avLst>
              <a:gd name="adj" fmla="val 5882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4" name="Text 51"/>
          <p:cNvSpPr/>
          <p:nvPr/>
        </p:nvSpPr>
        <p:spPr>
          <a:xfrm>
            <a:off x="731520" y="484632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5" name="Text 52"/>
          <p:cNvSpPr/>
          <p:nvPr/>
        </p:nvSpPr>
        <p:spPr>
          <a:xfrm>
            <a:off x="731520" y="5120640"/>
            <a:ext cx="1069776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6" name="Text 53"/>
          <p:cNvSpPr/>
          <p:nvPr/>
        </p:nvSpPr>
        <p:spPr>
          <a:xfrm>
            <a:off x="731520" y="5312520"/>
            <a:ext cx="1069776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on: [push, pull_request]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7" name="Text 54"/>
          <p:cNvSpPr/>
          <p:nvPr/>
        </p:nvSpPr>
        <p:spPr>
          <a:xfrm>
            <a:off x="731520" y="5504760"/>
            <a:ext cx="1069776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8" name="Text 55"/>
          <p:cNvSpPr/>
          <p:nvPr/>
        </p:nvSpPr>
        <p:spPr>
          <a:xfrm>
            <a:off x="731520" y="5696640"/>
            <a:ext cx="1069776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9" name="Text 56"/>
          <p:cNvSpPr/>
          <p:nvPr/>
        </p:nvSpPr>
        <p:spPr>
          <a:xfrm>
            <a:off x="731520" y="5888880"/>
            <a:ext cx="1069776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0" name="Text 57"/>
          <p:cNvSpPr/>
          <p:nvPr/>
        </p:nvSpPr>
        <p:spPr>
          <a:xfrm>
            <a:off x="731520" y="6080760"/>
            <a:ext cx="1069776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steps: [checkout, setup-bun, install, prisma:generate, lint, test, build]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1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2" name="Text 58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3" name="Text 59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39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4" name="Rectangle 1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5" name="TextBox 2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6" name="TextBox 3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Du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commit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à la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producti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7" name="Rectangle 4"/>
          <p:cNvSpPr/>
          <p:nvPr/>
        </p:nvSpPr>
        <p:spPr>
          <a:xfrm>
            <a:off x="548640" y="2011680"/>
            <a:ext cx="1508040" cy="11880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8" name="Rectangle 5"/>
          <p:cNvSpPr/>
          <p:nvPr/>
        </p:nvSpPr>
        <p:spPr>
          <a:xfrm>
            <a:off x="548640" y="2011680"/>
            <a:ext cx="1508040" cy="723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9" name="TextBox 6"/>
          <p:cNvSpPr/>
          <p:nvPr/>
        </p:nvSpPr>
        <p:spPr>
          <a:xfrm>
            <a:off x="548640" y="2194560"/>
            <a:ext cx="15080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⟳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0" name="TextBox 7"/>
          <p:cNvSpPr/>
          <p:nvPr/>
        </p:nvSpPr>
        <p:spPr>
          <a:xfrm>
            <a:off x="548640" y="2743200"/>
            <a:ext cx="15080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 push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1" name="TextBox 8"/>
          <p:cNvSpPr/>
          <p:nvPr/>
        </p:nvSpPr>
        <p:spPr>
          <a:xfrm>
            <a:off x="548640" y="2971800"/>
            <a:ext cx="15080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main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2" name="TextBox 9"/>
          <p:cNvSpPr/>
          <p:nvPr/>
        </p:nvSpPr>
        <p:spPr>
          <a:xfrm>
            <a:off x="2075760" y="2514600"/>
            <a:ext cx="182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3" name="Rectangle 10"/>
          <p:cNvSpPr/>
          <p:nvPr/>
        </p:nvSpPr>
        <p:spPr>
          <a:xfrm>
            <a:off x="2194560" y="2011680"/>
            <a:ext cx="1508040" cy="11880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4" name="Rectangle 11"/>
          <p:cNvSpPr/>
          <p:nvPr/>
        </p:nvSpPr>
        <p:spPr>
          <a:xfrm>
            <a:off x="2194560" y="2011680"/>
            <a:ext cx="1508040" cy="723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5" name="TextBox 12"/>
          <p:cNvSpPr/>
          <p:nvPr/>
        </p:nvSpPr>
        <p:spPr>
          <a:xfrm>
            <a:off x="2194560" y="2194560"/>
            <a:ext cx="15080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◉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6" name="TextBox 13"/>
          <p:cNvSpPr/>
          <p:nvPr/>
        </p:nvSpPr>
        <p:spPr>
          <a:xfrm>
            <a:off x="2194560" y="2743200"/>
            <a:ext cx="15080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GitHu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Action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7" name="TextBox 14"/>
          <p:cNvSpPr/>
          <p:nvPr/>
        </p:nvSpPr>
        <p:spPr>
          <a:xfrm>
            <a:off x="2194560" y="2971800"/>
            <a:ext cx="15080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ci.yml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8" name="TextBox 15"/>
          <p:cNvSpPr/>
          <p:nvPr/>
        </p:nvSpPr>
        <p:spPr>
          <a:xfrm>
            <a:off x="3721680" y="2514600"/>
            <a:ext cx="182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9" name="Rectangle 16"/>
          <p:cNvSpPr/>
          <p:nvPr/>
        </p:nvSpPr>
        <p:spPr>
          <a:xfrm>
            <a:off x="3840480" y="2011680"/>
            <a:ext cx="1508040" cy="11880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0" name="Rectangle 17"/>
          <p:cNvSpPr/>
          <p:nvPr/>
        </p:nvSpPr>
        <p:spPr>
          <a:xfrm>
            <a:off x="3840480" y="2011680"/>
            <a:ext cx="1508040" cy="723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1" name="TextBox 18"/>
          <p:cNvSpPr/>
          <p:nvPr/>
        </p:nvSpPr>
        <p:spPr>
          <a:xfrm>
            <a:off x="3840480" y="2194560"/>
            <a:ext cx="15080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2" name="TextBox 19"/>
          <p:cNvSpPr/>
          <p:nvPr/>
        </p:nvSpPr>
        <p:spPr>
          <a:xfrm>
            <a:off x="3840480" y="2743200"/>
            <a:ext cx="15080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3" name="TextBox 20"/>
          <p:cNvSpPr/>
          <p:nvPr/>
        </p:nvSpPr>
        <p:spPr>
          <a:xfrm>
            <a:off x="3840480" y="2971800"/>
            <a:ext cx="15080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Jest passe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4" name="TextBox 21"/>
          <p:cNvSpPr/>
          <p:nvPr/>
        </p:nvSpPr>
        <p:spPr>
          <a:xfrm>
            <a:off x="5367600" y="2514600"/>
            <a:ext cx="182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5" name="Rectangle 22"/>
          <p:cNvSpPr/>
          <p:nvPr/>
        </p:nvSpPr>
        <p:spPr>
          <a:xfrm>
            <a:off x="5486400" y="2011680"/>
            <a:ext cx="1508040" cy="11880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6" name="Rectangle 23"/>
          <p:cNvSpPr/>
          <p:nvPr/>
        </p:nvSpPr>
        <p:spPr>
          <a:xfrm>
            <a:off x="5486400" y="2011680"/>
            <a:ext cx="1508040" cy="72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7" name="TextBox 24"/>
          <p:cNvSpPr/>
          <p:nvPr/>
        </p:nvSpPr>
        <p:spPr>
          <a:xfrm>
            <a:off x="5486400" y="2194560"/>
            <a:ext cx="15080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8" name="TextBox 25"/>
          <p:cNvSpPr/>
          <p:nvPr/>
        </p:nvSpPr>
        <p:spPr>
          <a:xfrm>
            <a:off x="5486400" y="2743200"/>
            <a:ext cx="15080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9" name="TextBox 26"/>
          <p:cNvSpPr/>
          <p:nvPr/>
        </p:nvSpPr>
        <p:spPr>
          <a:xfrm>
            <a:off x="5486400" y="2971800"/>
            <a:ext cx="15080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next build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0" name="TextBox 27"/>
          <p:cNvSpPr/>
          <p:nvPr/>
        </p:nvSpPr>
        <p:spPr>
          <a:xfrm>
            <a:off x="7013520" y="2514600"/>
            <a:ext cx="182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1" name="Rectangle 28"/>
          <p:cNvSpPr/>
          <p:nvPr/>
        </p:nvSpPr>
        <p:spPr>
          <a:xfrm>
            <a:off x="7132320" y="2011680"/>
            <a:ext cx="1508040" cy="11880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2" name="Rectangle 29"/>
          <p:cNvSpPr/>
          <p:nvPr/>
        </p:nvSpPr>
        <p:spPr>
          <a:xfrm>
            <a:off x="7132320" y="2011680"/>
            <a:ext cx="1508040" cy="7236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3" name="TextBox 30"/>
          <p:cNvSpPr/>
          <p:nvPr/>
        </p:nvSpPr>
        <p:spPr>
          <a:xfrm>
            <a:off x="7132320" y="2194560"/>
            <a:ext cx="15080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4" name="TextBox 31"/>
          <p:cNvSpPr/>
          <p:nvPr/>
        </p:nvSpPr>
        <p:spPr>
          <a:xfrm>
            <a:off x="7132320" y="2743200"/>
            <a:ext cx="15080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deploy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5" name="TextBox 32"/>
          <p:cNvSpPr/>
          <p:nvPr/>
        </p:nvSpPr>
        <p:spPr>
          <a:xfrm>
            <a:off x="7132320" y="2971800"/>
            <a:ext cx="15080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Edge runtime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6" name="TextBox 33"/>
          <p:cNvSpPr/>
          <p:nvPr/>
        </p:nvSpPr>
        <p:spPr>
          <a:xfrm>
            <a:off x="8659440" y="2514600"/>
            <a:ext cx="182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7" name="Rectangle 34"/>
          <p:cNvSpPr/>
          <p:nvPr/>
        </p:nvSpPr>
        <p:spPr>
          <a:xfrm>
            <a:off x="8778240" y="2011680"/>
            <a:ext cx="1508040" cy="11880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8" name="Rectangle 35"/>
          <p:cNvSpPr/>
          <p:nvPr/>
        </p:nvSpPr>
        <p:spPr>
          <a:xfrm>
            <a:off x="8778240" y="2011680"/>
            <a:ext cx="1508040" cy="723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9" name="TextBox 36"/>
          <p:cNvSpPr/>
          <p:nvPr/>
        </p:nvSpPr>
        <p:spPr>
          <a:xfrm>
            <a:off x="8778240" y="2194560"/>
            <a:ext cx="15080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0" name="TextBox 37"/>
          <p:cNvSpPr/>
          <p:nvPr/>
        </p:nvSpPr>
        <p:spPr>
          <a:xfrm>
            <a:off x="8778240" y="2743200"/>
            <a:ext cx="15080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Production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1" name="TextBox 38"/>
          <p:cNvSpPr/>
          <p:nvPr/>
        </p:nvSpPr>
        <p:spPr>
          <a:xfrm>
            <a:off x="8778240" y="2971800"/>
            <a:ext cx="15080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URL live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2" name="Rectangle 39"/>
          <p:cNvSpPr/>
          <p:nvPr/>
        </p:nvSpPr>
        <p:spPr>
          <a:xfrm>
            <a:off x="548640" y="3749040"/>
            <a:ext cx="6857280" cy="24681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3" name="Oval 40"/>
          <p:cNvSpPr/>
          <p:nvPr/>
        </p:nvSpPr>
        <p:spPr>
          <a:xfrm>
            <a:off x="777240" y="3931920"/>
            <a:ext cx="136440" cy="13644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400" tIns="45000" rIns="684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4" name="Oval 41"/>
          <p:cNvSpPr/>
          <p:nvPr/>
        </p:nvSpPr>
        <p:spPr>
          <a:xfrm>
            <a:off x="960120" y="3931920"/>
            <a:ext cx="136440" cy="136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400" tIns="45000" rIns="684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5" name="Oval 42"/>
          <p:cNvSpPr/>
          <p:nvPr/>
        </p:nvSpPr>
        <p:spPr>
          <a:xfrm>
            <a:off x="1143000" y="3931920"/>
            <a:ext cx="136440" cy="13644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400" tIns="45000" rIns="684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6" name="TextBox 43"/>
          <p:cNvSpPr/>
          <p:nvPr/>
        </p:nvSpPr>
        <p:spPr>
          <a:xfrm>
            <a:off x="1371600" y="3840480"/>
            <a:ext cx="5942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 — déclencheurs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7" name="TextBox 44"/>
          <p:cNvSpPr/>
          <p:nvPr/>
        </p:nvSpPr>
        <p:spPr>
          <a:xfrm>
            <a:off x="777240" y="4297680"/>
            <a:ext cx="64000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8" name="TextBox 45"/>
          <p:cNvSpPr/>
          <p:nvPr/>
        </p:nvSpPr>
        <p:spPr>
          <a:xfrm>
            <a:off x="777240" y="4498920"/>
            <a:ext cx="64000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9" name="TextBox 46"/>
          <p:cNvSpPr/>
          <p:nvPr/>
        </p:nvSpPr>
        <p:spPr>
          <a:xfrm>
            <a:off x="777240" y="4700160"/>
            <a:ext cx="64000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0" name="TextBox 47"/>
          <p:cNvSpPr/>
          <p:nvPr/>
        </p:nvSpPr>
        <p:spPr>
          <a:xfrm>
            <a:off x="777240" y="4901040"/>
            <a:ext cx="64000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1" name="TextBox 48"/>
          <p:cNvSpPr/>
          <p:nvPr/>
        </p:nvSpPr>
        <p:spPr>
          <a:xfrm>
            <a:off x="777240" y="5102280"/>
            <a:ext cx="64000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[main]              # auto-deploy sur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2" name="TextBox 49"/>
          <p:cNvSpPr/>
          <p:nvPr/>
        </p:nvSpPr>
        <p:spPr>
          <a:xfrm>
            <a:off x="777240" y="5303520"/>
            <a:ext cx="64000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                   # check sur PR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3" name="TextBox 50"/>
          <p:cNvSpPr/>
          <p:nvPr/>
        </p:nvSpPr>
        <p:spPr>
          <a:xfrm>
            <a:off x="777240" y="5504760"/>
            <a:ext cx="64000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4" name="TextBox 51"/>
          <p:cNvSpPr/>
          <p:nvPr/>
        </p:nvSpPr>
        <p:spPr>
          <a:xfrm>
            <a:off x="777240" y="5706000"/>
            <a:ext cx="64000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              # bouton manuel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5" name="Rectangle 52"/>
          <p:cNvSpPr/>
          <p:nvPr/>
        </p:nvSpPr>
        <p:spPr>
          <a:xfrm>
            <a:off x="8092440" y="3749040"/>
            <a:ext cx="3519720" cy="24681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6" name="TextBox 53"/>
          <p:cNvSpPr/>
          <p:nvPr/>
        </p:nvSpPr>
        <p:spPr>
          <a:xfrm>
            <a:off x="8275320" y="3840480"/>
            <a:ext cx="3153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Chiffres clés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7" name="Oval 54"/>
          <p:cNvSpPr/>
          <p:nvPr/>
        </p:nvSpPr>
        <p:spPr>
          <a:xfrm>
            <a:off x="8275320" y="4297680"/>
            <a:ext cx="410760" cy="410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8" name="TextBox 55"/>
          <p:cNvSpPr/>
          <p:nvPr/>
        </p:nvSpPr>
        <p:spPr>
          <a:xfrm>
            <a:off x="8275320" y="42976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9" name="TextBox 56"/>
          <p:cNvSpPr/>
          <p:nvPr/>
        </p:nvSpPr>
        <p:spPr>
          <a:xfrm>
            <a:off x="8778240" y="4251960"/>
            <a:ext cx="26510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~2 min commit → preview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0" name="Oval 57"/>
          <p:cNvSpPr/>
          <p:nvPr/>
        </p:nvSpPr>
        <p:spPr>
          <a:xfrm>
            <a:off x="8275320" y="4937760"/>
            <a:ext cx="410760" cy="410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1" name="TextBox 58"/>
          <p:cNvSpPr/>
          <p:nvPr/>
        </p:nvSpPr>
        <p:spPr>
          <a:xfrm>
            <a:off x="8275320" y="493776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2" name="TextBox 59"/>
          <p:cNvSpPr/>
          <p:nvPr/>
        </p:nvSpPr>
        <p:spPr>
          <a:xfrm>
            <a:off x="8778240" y="4892040"/>
            <a:ext cx="26510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bloquants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3" name="Oval 60"/>
          <p:cNvSpPr/>
          <p:nvPr/>
        </p:nvSpPr>
        <p:spPr>
          <a:xfrm>
            <a:off x="8275320" y="5577840"/>
            <a:ext cx="410760" cy="41076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4" name="TextBox 61"/>
          <p:cNvSpPr/>
          <p:nvPr/>
        </p:nvSpPr>
        <p:spPr>
          <a:xfrm>
            <a:off x="8275320" y="557784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5" name="TextBox 62"/>
          <p:cNvSpPr/>
          <p:nvPr/>
        </p:nvSpPr>
        <p:spPr>
          <a:xfrm>
            <a:off x="8778240" y="5532120"/>
            <a:ext cx="26510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preview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6" name="TextBox 63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7" name="TextBox 64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40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9" name="Rectangle 1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0" name="TextBox 2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1" name="TextBox 3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GitHub Actions — détail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2" name="Rectangle 4"/>
          <p:cNvSpPr/>
          <p:nvPr/>
        </p:nvSpPr>
        <p:spPr>
          <a:xfrm>
            <a:off x="548640" y="1691640"/>
            <a:ext cx="7314480" cy="4571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3" name="Oval 5"/>
          <p:cNvSpPr/>
          <p:nvPr/>
        </p:nvSpPr>
        <p:spPr>
          <a:xfrm>
            <a:off x="777240" y="1874520"/>
            <a:ext cx="136440" cy="13644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400" tIns="45000" rIns="684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4" name="Oval 6"/>
          <p:cNvSpPr/>
          <p:nvPr/>
        </p:nvSpPr>
        <p:spPr>
          <a:xfrm>
            <a:off x="960120" y="1874520"/>
            <a:ext cx="136440" cy="136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400" tIns="45000" rIns="684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5" name="Oval 7"/>
          <p:cNvSpPr/>
          <p:nvPr/>
        </p:nvSpPr>
        <p:spPr>
          <a:xfrm>
            <a:off x="1143000" y="1874520"/>
            <a:ext cx="136440" cy="13644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400" tIns="45000" rIns="684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6" name="TextBox 8"/>
          <p:cNvSpPr/>
          <p:nvPr/>
        </p:nvSpPr>
        <p:spPr>
          <a:xfrm>
            <a:off x="1371600" y="1783080"/>
            <a:ext cx="64000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7" name="TextBox 9"/>
          <p:cNvSpPr/>
          <p:nvPr/>
        </p:nvSpPr>
        <p:spPr>
          <a:xfrm>
            <a:off x="777240" y="219456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8" name="TextBox 11"/>
          <p:cNvSpPr/>
          <p:nvPr/>
        </p:nvSpPr>
        <p:spPr>
          <a:xfrm>
            <a:off x="777240" y="237744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9" name="TextBox 12"/>
          <p:cNvSpPr/>
          <p:nvPr/>
        </p:nvSpPr>
        <p:spPr>
          <a:xfrm>
            <a:off x="777240" y="256032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push:        { branches: [main]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0" name="TextBox 13"/>
          <p:cNvSpPr/>
          <p:nvPr/>
        </p:nvSpPr>
        <p:spPr>
          <a:xfrm>
            <a:off x="777240" y="274320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1" name="TextBox 15"/>
          <p:cNvSpPr/>
          <p:nvPr/>
        </p:nvSpPr>
        <p:spPr>
          <a:xfrm>
            <a:off x="777240" y="292608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2" name="TextBox 16"/>
          <p:cNvSpPr/>
          <p:nvPr/>
        </p:nvSpPr>
        <p:spPr>
          <a:xfrm>
            <a:off x="777240" y="310896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3" name="TextBox 17"/>
          <p:cNvSpPr/>
          <p:nvPr/>
        </p:nvSpPr>
        <p:spPr>
          <a:xfrm>
            <a:off x="777240" y="329184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4" name="TextBox 18"/>
          <p:cNvSpPr/>
          <p:nvPr/>
        </p:nvSpPr>
        <p:spPr>
          <a:xfrm>
            <a:off x="777240" y="347472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timeout-minutes: 10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5" name="TextBox 20"/>
          <p:cNvSpPr/>
          <p:nvPr/>
        </p:nvSpPr>
        <p:spPr>
          <a:xfrm>
            <a:off x="777240" y="365760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  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steps: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6" name="TextBox 21"/>
          <p:cNvSpPr/>
          <p:nvPr/>
        </p:nvSpPr>
        <p:spPr>
          <a:xfrm>
            <a:off x="777240" y="384048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actions/checkout@v4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7" name="TextBox 23"/>
          <p:cNvSpPr/>
          <p:nvPr/>
        </p:nvSpPr>
        <p:spPr>
          <a:xfrm>
            <a:off x="777240" y="402336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oven-sh/setup-bun@v1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8" name="TextBox 24"/>
          <p:cNvSpPr/>
          <p:nvPr/>
        </p:nvSpPr>
        <p:spPr>
          <a:xfrm>
            <a:off x="777240" y="420624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  with: { bun-version: '1'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9" name="TextBox 26"/>
          <p:cNvSpPr/>
          <p:nvPr/>
        </p:nvSpPr>
        <p:spPr>
          <a:xfrm>
            <a:off x="777240" y="438912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Install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0" name="TextBox 27"/>
          <p:cNvSpPr/>
          <p:nvPr/>
        </p:nvSpPr>
        <p:spPr>
          <a:xfrm>
            <a:off x="777240" y="457200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1" name="TextBox 29"/>
          <p:cNvSpPr/>
          <p:nvPr/>
        </p:nvSpPr>
        <p:spPr>
          <a:xfrm>
            <a:off x="777240" y="475488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2" name="TextBox 30"/>
          <p:cNvSpPr/>
          <p:nvPr/>
        </p:nvSpPr>
        <p:spPr>
          <a:xfrm>
            <a:off x="777240" y="493776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bunx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3" name="TextBox 32"/>
          <p:cNvSpPr/>
          <p:nvPr/>
        </p:nvSpPr>
        <p:spPr>
          <a:xfrm>
            <a:off x="777240" y="512064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4" name="TextBox 33"/>
          <p:cNvSpPr/>
          <p:nvPr/>
        </p:nvSpPr>
        <p:spPr>
          <a:xfrm>
            <a:off x="777240" y="530352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5" name="TextBox 35"/>
          <p:cNvSpPr/>
          <p:nvPr/>
        </p:nvSpPr>
        <p:spPr>
          <a:xfrm>
            <a:off x="777240" y="548640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Tests d'intégration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6" name="TextBox 36"/>
          <p:cNvSpPr/>
          <p:nvPr/>
        </p:nvSpPr>
        <p:spPr>
          <a:xfrm>
            <a:off x="777240" y="566928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7" name="TextBox 38"/>
          <p:cNvSpPr/>
          <p:nvPr/>
        </p:nvSpPr>
        <p:spPr>
          <a:xfrm>
            <a:off x="777240" y="585216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Build 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8" name="TextBox 39"/>
          <p:cNvSpPr/>
          <p:nvPr/>
        </p:nvSpPr>
        <p:spPr>
          <a:xfrm>
            <a:off x="777240" y="6035040"/>
            <a:ext cx="6857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9" name="Rectangle 40"/>
          <p:cNvSpPr/>
          <p:nvPr/>
        </p:nvSpPr>
        <p:spPr>
          <a:xfrm>
            <a:off x="8092440" y="1691640"/>
            <a:ext cx="3519720" cy="45712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0" name="TextBox 41"/>
          <p:cNvSpPr/>
          <p:nvPr/>
        </p:nvSpPr>
        <p:spPr>
          <a:xfrm>
            <a:off x="8275320" y="1783080"/>
            <a:ext cx="3153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Que fait chaque étape ?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1" name="Oval 42"/>
          <p:cNvSpPr/>
          <p:nvPr/>
        </p:nvSpPr>
        <p:spPr>
          <a:xfrm>
            <a:off x="8275320" y="2240280"/>
            <a:ext cx="410760" cy="4107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2" name="TextBox 43"/>
          <p:cNvSpPr/>
          <p:nvPr/>
        </p:nvSpPr>
        <p:spPr>
          <a:xfrm>
            <a:off x="8275320" y="22402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3" name="TextBox 44"/>
          <p:cNvSpPr/>
          <p:nvPr/>
        </p:nvSpPr>
        <p:spPr>
          <a:xfrm>
            <a:off x="8778240" y="2194560"/>
            <a:ext cx="26510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checkout : clone le repo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4" name="Oval 45"/>
          <p:cNvSpPr/>
          <p:nvPr/>
        </p:nvSpPr>
        <p:spPr>
          <a:xfrm>
            <a:off x="8275320" y="2880360"/>
            <a:ext cx="410760" cy="410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5" name="TextBox 46"/>
          <p:cNvSpPr/>
          <p:nvPr/>
        </p:nvSpPr>
        <p:spPr>
          <a:xfrm>
            <a:off x="8275320" y="288036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6" name="TextBox 47"/>
          <p:cNvSpPr/>
          <p:nvPr/>
        </p:nvSpPr>
        <p:spPr>
          <a:xfrm>
            <a:off x="8778240" y="2834640"/>
            <a:ext cx="26510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setup-bun : runtime CI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7" name="Oval 48"/>
          <p:cNvSpPr/>
          <p:nvPr/>
        </p:nvSpPr>
        <p:spPr>
          <a:xfrm>
            <a:off x="8275320" y="3520440"/>
            <a:ext cx="410760" cy="410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8" name="TextBox 49"/>
          <p:cNvSpPr/>
          <p:nvPr/>
        </p:nvSpPr>
        <p:spPr>
          <a:xfrm>
            <a:off x="8275320" y="352044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9" name="TextBox 50"/>
          <p:cNvSpPr/>
          <p:nvPr/>
        </p:nvSpPr>
        <p:spPr>
          <a:xfrm>
            <a:off x="8778240" y="3474720"/>
            <a:ext cx="26510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bun install : deps lockées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0" name="Oval 51"/>
          <p:cNvSpPr/>
          <p:nvPr/>
        </p:nvSpPr>
        <p:spPr>
          <a:xfrm>
            <a:off x="8275320" y="4160520"/>
            <a:ext cx="410760" cy="4107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1" name="TextBox 52"/>
          <p:cNvSpPr/>
          <p:nvPr/>
        </p:nvSpPr>
        <p:spPr>
          <a:xfrm>
            <a:off x="8275320" y="416052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2" name="TextBox 53"/>
          <p:cNvSpPr/>
          <p:nvPr/>
        </p:nvSpPr>
        <p:spPr>
          <a:xfrm>
            <a:off x="8778240" y="4114800"/>
            <a:ext cx="26510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generate : types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3" name="Oval 54"/>
          <p:cNvSpPr/>
          <p:nvPr/>
        </p:nvSpPr>
        <p:spPr>
          <a:xfrm>
            <a:off x="8275320" y="4800600"/>
            <a:ext cx="410760" cy="410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4" name="TextBox 55"/>
          <p:cNvSpPr/>
          <p:nvPr/>
        </p:nvSpPr>
        <p:spPr>
          <a:xfrm>
            <a:off x="8275320" y="480060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5" name="TextBox 56"/>
          <p:cNvSpPr/>
          <p:nvPr/>
        </p:nvSpPr>
        <p:spPr>
          <a:xfrm>
            <a:off x="8778240" y="4754880"/>
            <a:ext cx="26510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: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6" name="Oval 57"/>
          <p:cNvSpPr/>
          <p:nvPr/>
        </p:nvSpPr>
        <p:spPr>
          <a:xfrm>
            <a:off x="8275320" y="5440680"/>
            <a:ext cx="410760" cy="41076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7" name="TextBox 58"/>
          <p:cNvSpPr/>
          <p:nvPr/>
        </p:nvSpPr>
        <p:spPr>
          <a:xfrm>
            <a:off x="8275320" y="54406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8" name="TextBox 59"/>
          <p:cNvSpPr/>
          <p:nvPr/>
        </p:nvSpPr>
        <p:spPr>
          <a:xfrm>
            <a:off x="8778240" y="5394960"/>
            <a:ext cx="26510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 : artefact .next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9" name="TextBox 60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0" name="TextBox 61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41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3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2" name="Rectangle 1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3" name="TextBox 2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4" name="TextBox 3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Triggers : 3 façons de déclencher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5" name="Rectangle 4"/>
          <p:cNvSpPr/>
          <p:nvPr/>
        </p:nvSpPr>
        <p:spPr>
          <a:xfrm>
            <a:off x="548640" y="1691640"/>
            <a:ext cx="3656880" cy="4571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6" name="Rectangle 5"/>
          <p:cNvSpPr/>
          <p:nvPr/>
        </p:nvSpPr>
        <p:spPr>
          <a:xfrm>
            <a:off x="548640" y="1691640"/>
            <a:ext cx="3656880" cy="90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7" name="TextBox 6"/>
          <p:cNvSpPr/>
          <p:nvPr/>
        </p:nvSpPr>
        <p:spPr>
          <a:xfrm>
            <a:off x="731520" y="1965960"/>
            <a:ext cx="7308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⟳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8" name="TextBox 7"/>
          <p:cNvSpPr/>
          <p:nvPr/>
        </p:nvSpPr>
        <p:spPr>
          <a:xfrm>
            <a:off x="1508760" y="1965960"/>
            <a:ext cx="2513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push sur main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9" name="TextBox 8"/>
          <p:cNvSpPr/>
          <p:nvPr/>
        </p:nvSpPr>
        <p:spPr>
          <a:xfrm>
            <a:off x="1508760" y="2331720"/>
            <a:ext cx="2513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Merge d'une PR sur main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0" name="Rectangle 9"/>
          <p:cNvSpPr/>
          <p:nvPr/>
        </p:nvSpPr>
        <p:spPr>
          <a:xfrm>
            <a:off x="731520" y="2788920"/>
            <a:ext cx="3291120" cy="4564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41" name="TextBox 10"/>
          <p:cNvSpPr/>
          <p:nvPr/>
        </p:nvSpPr>
        <p:spPr>
          <a:xfrm>
            <a:off x="822960" y="2853000"/>
            <a:ext cx="31082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complet + auto-deploy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2" name="TextBox 11"/>
          <p:cNvSpPr/>
          <p:nvPr/>
        </p:nvSpPr>
        <p:spPr>
          <a:xfrm>
            <a:off x="777240" y="3520440"/>
            <a:ext cx="3199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3" name="TextBox 12"/>
          <p:cNvSpPr/>
          <p:nvPr/>
        </p:nvSpPr>
        <p:spPr>
          <a:xfrm>
            <a:off x="777240" y="3776400"/>
            <a:ext cx="3199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4" name="TextBox 13"/>
          <p:cNvSpPr/>
          <p:nvPr/>
        </p:nvSpPr>
        <p:spPr>
          <a:xfrm>
            <a:off x="777240" y="4032360"/>
            <a:ext cx="3199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5" name="TextBox 14"/>
          <p:cNvSpPr/>
          <p:nvPr/>
        </p:nvSpPr>
        <p:spPr>
          <a:xfrm>
            <a:off x="777240" y="4288680"/>
            <a:ext cx="3199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-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6" name="TextBox 15"/>
          <p:cNvSpPr/>
          <p:nvPr/>
        </p:nvSpPr>
        <p:spPr>
          <a:xfrm>
            <a:off x="731520" y="4983480"/>
            <a:ext cx="3291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7" name="TextBox 16"/>
          <p:cNvSpPr/>
          <p:nvPr/>
        </p:nvSpPr>
        <p:spPr>
          <a:xfrm>
            <a:off x="731520" y="5349240"/>
            <a:ext cx="3291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Déploiement auto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8" name="TextBox 17"/>
          <p:cNvSpPr/>
          <p:nvPr/>
        </p:nvSpPr>
        <p:spPr>
          <a:xfrm>
            <a:off x="731520" y="5623560"/>
            <a:ext cx="3291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en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9" name="Rectangle 18"/>
          <p:cNvSpPr/>
          <p:nvPr/>
        </p:nvSpPr>
        <p:spPr>
          <a:xfrm>
            <a:off x="4343400" y="1691640"/>
            <a:ext cx="3656880" cy="4571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0" name="Rectangle 19"/>
          <p:cNvSpPr/>
          <p:nvPr/>
        </p:nvSpPr>
        <p:spPr>
          <a:xfrm>
            <a:off x="4343400" y="1691640"/>
            <a:ext cx="3656880" cy="90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1" name="TextBox 20"/>
          <p:cNvSpPr/>
          <p:nvPr/>
        </p:nvSpPr>
        <p:spPr>
          <a:xfrm>
            <a:off x="4526280" y="1965960"/>
            <a:ext cx="7308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⊕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2" name="TextBox 21"/>
          <p:cNvSpPr/>
          <p:nvPr/>
        </p:nvSpPr>
        <p:spPr>
          <a:xfrm>
            <a:off x="5303520" y="1965960"/>
            <a:ext cx="2513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pull_request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3" name="TextBox 22"/>
          <p:cNvSpPr/>
          <p:nvPr/>
        </p:nvSpPr>
        <p:spPr>
          <a:xfrm>
            <a:off x="5303520" y="2331720"/>
            <a:ext cx="2513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Ouverture / update d'une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4" name="Rectangle 23"/>
          <p:cNvSpPr/>
          <p:nvPr/>
        </p:nvSpPr>
        <p:spPr>
          <a:xfrm>
            <a:off x="4526280" y="2788920"/>
            <a:ext cx="3291120" cy="4564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5" name="TextBox 24"/>
          <p:cNvSpPr/>
          <p:nvPr/>
        </p:nvSpPr>
        <p:spPr>
          <a:xfrm>
            <a:off x="4617720" y="2853000"/>
            <a:ext cx="31082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+ Preview Vercel + Neon branch isolée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6" name="TextBox 25"/>
          <p:cNvSpPr/>
          <p:nvPr/>
        </p:nvSpPr>
        <p:spPr>
          <a:xfrm>
            <a:off x="4572000" y="3520440"/>
            <a:ext cx="3199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7" name="TextBox 26"/>
          <p:cNvSpPr/>
          <p:nvPr/>
        </p:nvSpPr>
        <p:spPr>
          <a:xfrm>
            <a:off x="4572000" y="3776400"/>
            <a:ext cx="3199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8" name="TextBox 27"/>
          <p:cNvSpPr/>
          <p:nvPr/>
        </p:nvSpPr>
        <p:spPr>
          <a:xfrm>
            <a:off x="4572000" y="4032360"/>
            <a:ext cx="3199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9" name="TextBox 28"/>
          <p:cNvSpPr/>
          <p:nvPr/>
        </p:nvSpPr>
        <p:spPr>
          <a:xfrm>
            <a:off x="4572000" y="4288680"/>
            <a:ext cx="3199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types: [opened, synchronize]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0" name="TextBox 29"/>
          <p:cNvSpPr/>
          <p:nvPr/>
        </p:nvSpPr>
        <p:spPr>
          <a:xfrm>
            <a:off x="4526280" y="4983480"/>
            <a:ext cx="3291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1" name="TextBox 30"/>
          <p:cNvSpPr/>
          <p:nvPr/>
        </p:nvSpPr>
        <p:spPr>
          <a:xfrm>
            <a:off x="4526280" y="5349240"/>
            <a:ext cx="3291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Status check obligatoire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2" name="TextBox 31"/>
          <p:cNvSpPr/>
          <p:nvPr/>
        </p:nvSpPr>
        <p:spPr>
          <a:xfrm>
            <a:off x="4526280" y="5623560"/>
            <a:ext cx="3291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3" name="Rectangle 32"/>
          <p:cNvSpPr/>
          <p:nvPr/>
        </p:nvSpPr>
        <p:spPr>
          <a:xfrm>
            <a:off x="8138160" y="1691640"/>
            <a:ext cx="3656880" cy="4571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4" name="Rectangle 33"/>
          <p:cNvSpPr/>
          <p:nvPr/>
        </p:nvSpPr>
        <p:spPr>
          <a:xfrm>
            <a:off x="8138160" y="1691640"/>
            <a:ext cx="3656880" cy="9072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5" name="TextBox 34"/>
          <p:cNvSpPr/>
          <p:nvPr/>
        </p:nvSpPr>
        <p:spPr>
          <a:xfrm>
            <a:off x="8321040" y="1965960"/>
            <a:ext cx="7308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◉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6" name="TextBox 35"/>
          <p:cNvSpPr/>
          <p:nvPr/>
        </p:nvSpPr>
        <p:spPr>
          <a:xfrm>
            <a:off x="9098280" y="1965960"/>
            <a:ext cx="2513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workflow_dispatch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7" name="TextBox 36"/>
          <p:cNvSpPr/>
          <p:nvPr/>
        </p:nvSpPr>
        <p:spPr>
          <a:xfrm>
            <a:off x="9098280" y="2331720"/>
            <a:ext cx="2513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Bouton manuel dans GitHub 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8" name="Rectangle 37"/>
          <p:cNvSpPr/>
          <p:nvPr/>
        </p:nvSpPr>
        <p:spPr>
          <a:xfrm>
            <a:off x="8321040" y="2788920"/>
            <a:ext cx="3291120" cy="4564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9" name="TextBox 38"/>
          <p:cNvSpPr/>
          <p:nvPr/>
        </p:nvSpPr>
        <p:spPr>
          <a:xfrm>
            <a:off x="8412480" y="2853000"/>
            <a:ext cx="31082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Rejeu d'un déploiement, debug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0" name="TextBox 39"/>
          <p:cNvSpPr/>
          <p:nvPr/>
        </p:nvSpPr>
        <p:spPr>
          <a:xfrm>
            <a:off x="8366760" y="3520440"/>
            <a:ext cx="3199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1" name="TextBox 40"/>
          <p:cNvSpPr/>
          <p:nvPr/>
        </p:nvSpPr>
        <p:spPr>
          <a:xfrm>
            <a:off x="8366760" y="3776400"/>
            <a:ext cx="3199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2" name="TextBox 41"/>
          <p:cNvSpPr/>
          <p:nvPr/>
        </p:nvSpPr>
        <p:spPr>
          <a:xfrm>
            <a:off x="8366760" y="4032360"/>
            <a:ext cx="3199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inputs: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3" name="TextBox 42"/>
          <p:cNvSpPr/>
          <p:nvPr/>
        </p:nvSpPr>
        <p:spPr>
          <a:xfrm>
            <a:off x="8366760" y="4288680"/>
            <a:ext cx="3199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env: { type: choice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4" name="TextBox 43"/>
          <p:cNvSpPr/>
          <p:nvPr/>
        </p:nvSpPr>
        <p:spPr>
          <a:xfrm>
            <a:off x="8321040" y="4983480"/>
            <a:ext cx="3291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5" name="TextBox 44"/>
          <p:cNvSpPr/>
          <p:nvPr/>
        </p:nvSpPr>
        <p:spPr>
          <a:xfrm>
            <a:off x="8321040" y="5349240"/>
            <a:ext cx="3291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Lancement manuel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6" name="TextBox 45"/>
          <p:cNvSpPr/>
          <p:nvPr/>
        </p:nvSpPr>
        <p:spPr>
          <a:xfrm>
            <a:off x="8321040" y="5623560"/>
            <a:ext cx="3291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pour rebuild d'urgence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7" name="TextBox 46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8" name="TextBox 47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42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7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0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1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Dockerfile — image applicative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2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3" name="Shape 3"/>
          <p:cNvSpPr/>
          <p:nvPr/>
        </p:nvSpPr>
        <p:spPr>
          <a:xfrm>
            <a:off x="548640" y="1691640"/>
            <a:ext cx="7314480" cy="457128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4" name="Shape 4"/>
          <p:cNvSpPr/>
          <p:nvPr/>
        </p:nvSpPr>
        <p:spPr>
          <a:xfrm>
            <a:off x="777240" y="1874520"/>
            <a:ext cx="136440" cy="13644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45000" rIns="684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5" name="Shape 5"/>
          <p:cNvSpPr/>
          <p:nvPr/>
        </p:nvSpPr>
        <p:spPr>
          <a:xfrm>
            <a:off x="960120" y="1874520"/>
            <a:ext cx="136440" cy="13644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45000" rIns="684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6" name="Shape 6"/>
          <p:cNvSpPr/>
          <p:nvPr/>
        </p:nvSpPr>
        <p:spPr>
          <a:xfrm>
            <a:off x="1143000" y="1874520"/>
            <a:ext cx="136440" cy="13644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45000" rIns="684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7" name="Text 7"/>
          <p:cNvSpPr/>
          <p:nvPr/>
        </p:nvSpPr>
        <p:spPr>
          <a:xfrm>
            <a:off x="1371600" y="1783080"/>
            <a:ext cx="54856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8" name="Text 8"/>
          <p:cNvSpPr/>
          <p:nvPr/>
        </p:nvSpPr>
        <p:spPr>
          <a:xfrm>
            <a:off x="777240" y="224028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1 — deps (cache layer)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9" name="Text 9"/>
          <p:cNvSpPr/>
          <p:nvPr/>
        </p:nvSpPr>
        <p:spPr>
          <a:xfrm>
            <a:off x="777240" y="241416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0" name="Text 10"/>
          <p:cNvSpPr/>
          <p:nvPr/>
        </p:nvSpPr>
        <p:spPr>
          <a:xfrm>
            <a:off x="777240" y="258768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1" name="Text 11"/>
          <p:cNvSpPr/>
          <p:nvPr/>
        </p:nvSpPr>
        <p:spPr>
          <a:xfrm>
            <a:off x="777240" y="276156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package.json bun.lock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2" name="Text 12"/>
          <p:cNvSpPr/>
          <p:nvPr/>
        </p:nvSpPr>
        <p:spPr>
          <a:xfrm>
            <a:off x="777240" y="293508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3" name="Text 13"/>
          <p:cNvSpPr/>
          <p:nvPr/>
        </p:nvSpPr>
        <p:spPr>
          <a:xfrm>
            <a:off x="777240" y="310896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4" name="Text 14"/>
          <p:cNvSpPr/>
          <p:nvPr/>
        </p:nvSpPr>
        <p:spPr>
          <a:xfrm>
            <a:off x="777240" y="328284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2 —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5" name="Text 15"/>
          <p:cNvSpPr/>
          <p:nvPr/>
        </p:nvSpPr>
        <p:spPr>
          <a:xfrm>
            <a:off x="777240" y="345636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6" name="Text 16"/>
          <p:cNvSpPr/>
          <p:nvPr/>
        </p:nvSpPr>
        <p:spPr>
          <a:xfrm>
            <a:off x="777240" y="363024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7" name="Text 17"/>
          <p:cNvSpPr/>
          <p:nvPr/>
        </p:nvSpPr>
        <p:spPr>
          <a:xfrm>
            <a:off x="777240" y="380376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--from=deps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8" name="Text 18"/>
          <p:cNvSpPr/>
          <p:nvPr/>
        </p:nvSpPr>
        <p:spPr>
          <a:xfrm>
            <a:off x="777240" y="397764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.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9" name="Text 19"/>
          <p:cNvSpPr/>
          <p:nvPr/>
        </p:nvSpPr>
        <p:spPr>
          <a:xfrm>
            <a:off x="777240" y="415152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bunx prisma generate &amp;&amp;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0" name="Text 20"/>
          <p:cNvSpPr/>
          <p:nvPr/>
        </p:nvSpPr>
        <p:spPr>
          <a:xfrm>
            <a:off x="777240" y="432504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1" name="Text 21"/>
          <p:cNvSpPr/>
          <p:nvPr/>
        </p:nvSpPr>
        <p:spPr>
          <a:xfrm>
            <a:off x="777240" y="449892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3 — runner (image légère)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2" name="Text 22"/>
          <p:cNvSpPr/>
          <p:nvPr/>
        </p:nvSpPr>
        <p:spPr>
          <a:xfrm>
            <a:off x="777240" y="467244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oven/bun:1-slim AS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3" name="Text 23"/>
          <p:cNvSpPr/>
          <p:nvPr/>
        </p:nvSpPr>
        <p:spPr>
          <a:xfrm>
            <a:off x="777240" y="484632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4" name="Text 24"/>
          <p:cNvSpPr/>
          <p:nvPr/>
        </p:nvSpPr>
        <p:spPr>
          <a:xfrm>
            <a:off x="777240" y="502020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ENV NODE_ENV=production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5" name="Text 25"/>
          <p:cNvSpPr/>
          <p:nvPr/>
        </p:nvSpPr>
        <p:spPr>
          <a:xfrm>
            <a:off x="777240" y="519372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/app/.next ./.next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6" name="Text 26"/>
          <p:cNvSpPr/>
          <p:nvPr/>
        </p:nvSpPr>
        <p:spPr>
          <a:xfrm>
            <a:off x="777240" y="536760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7" name="Text 27"/>
          <p:cNvSpPr/>
          <p:nvPr/>
        </p:nvSpPr>
        <p:spPr>
          <a:xfrm>
            <a:off x="777240" y="554112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/app/package.json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8" name="Text 28"/>
          <p:cNvSpPr/>
          <p:nvPr/>
        </p:nvSpPr>
        <p:spPr>
          <a:xfrm>
            <a:off x="777240" y="571500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EXPOSE 3000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9" name="Text 29"/>
          <p:cNvSpPr/>
          <p:nvPr/>
        </p:nvSpPr>
        <p:spPr>
          <a:xfrm>
            <a:off x="777240" y="588888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CMD ["bun", "run", "start"]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0" name="Shape 30"/>
          <p:cNvSpPr/>
          <p:nvPr/>
        </p:nvSpPr>
        <p:spPr>
          <a:xfrm>
            <a:off x="8092440" y="1691640"/>
            <a:ext cx="3519720" cy="457128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1" name="Text 31"/>
          <p:cNvSpPr/>
          <p:nvPr/>
        </p:nvSpPr>
        <p:spPr>
          <a:xfrm>
            <a:off x="8275320" y="1783080"/>
            <a:ext cx="31996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Choix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2" name="Shape 32"/>
          <p:cNvSpPr/>
          <p:nvPr/>
        </p:nvSpPr>
        <p:spPr>
          <a:xfrm>
            <a:off x="8275320" y="2240280"/>
            <a:ext cx="410760" cy="41076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3" name="Text 33"/>
          <p:cNvSpPr/>
          <p:nvPr/>
        </p:nvSpPr>
        <p:spPr>
          <a:xfrm>
            <a:off x="8275320" y="22402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4" name="Text 34"/>
          <p:cNvSpPr/>
          <p:nvPr/>
        </p:nvSpPr>
        <p:spPr>
          <a:xfrm>
            <a:off x="8778240" y="219456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Multi-stage : cache deps séparé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5" name="Shape 35"/>
          <p:cNvSpPr/>
          <p:nvPr/>
        </p:nvSpPr>
        <p:spPr>
          <a:xfrm>
            <a:off x="8275320" y="2880360"/>
            <a:ext cx="410760" cy="41076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6" name="Text 36"/>
          <p:cNvSpPr/>
          <p:nvPr/>
        </p:nvSpPr>
        <p:spPr>
          <a:xfrm>
            <a:off x="8275320" y="288036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7" name="Text 37"/>
          <p:cNvSpPr/>
          <p:nvPr/>
        </p:nvSpPr>
        <p:spPr>
          <a:xfrm>
            <a:off x="8778240" y="283464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runtime (build &amp; run)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8" name="Shape 38"/>
          <p:cNvSpPr/>
          <p:nvPr/>
        </p:nvSpPr>
        <p:spPr>
          <a:xfrm>
            <a:off x="8275320" y="3520440"/>
            <a:ext cx="410760" cy="41076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9" name="Text 39"/>
          <p:cNvSpPr/>
          <p:nvPr/>
        </p:nvSpPr>
        <p:spPr>
          <a:xfrm>
            <a:off x="8275320" y="352044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0" name="Text 40"/>
          <p:cNvSpPr/>
          <p:nvPr/>
        </p:nvSpPr>
        <p:spPr>
          <a:xfrm>
            <a:off x="8778240" y="347472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 avant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1" name="Shape 41"/>
          <p:cNvSpPr/>
          <p:nvPr/>
        </p:nvSpPr>
        <p:spPr>
          <a:xfrm>
            <a:off x="8275320" y="4160520"/>
            <a:ext cx="410760" cy="41076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2" name="Text 42"/>
          <p:cNvSpPr/>
          <p:nvPr/>
        </p:nvSpPr>
        <p:spPr>
          <a:xfrm>
            <a:off x="8275320" y="416052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3" name="Text 43"/>
          <p:cNvSpPr/>
          <p:nvPr/>
        </p:nvSpPr>
        <p:spPr>
          <a:xfrm>
            <a:off x="8778240" y="411480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slim finale (~150 Mo)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4" name="Shape 44"/>
          <p:cNvSpPr/>
          <p:nvPr/>
        </p:nvSpPr>
        <p:spPr>
          <a:xfrm>
            <a:off x="8275320" y="4800600"/>
            <a:ext cx="410760" cy="41076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5" name="Text 45"/>
          <p:cNvSpPr/>
          <p:nvPr/>
        </p:nvSpPr>
        <p:spPr>
          <a:xfrm>
            <a:off x="8275320" y="480060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6" name="Text 46"/>
          <p:cNvSpPr/>
          <p:nvPr/>
        </p:nvSpPr>
        <p:spPr>
          <a:xfrm>
            <a:off x="8778240" y="475488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Pas de secret dans l'image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7" name="Shape 47"/>
          <p:cNvSpPr/>
          <p:nvPr/>
        </p:nvSpPr>
        <p:spPr>
          <a:xfrm>
            <a:off x="8275320" y="5440680"/>
            <a:ext cx="410760" cy="41076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8" name="Text 48"/>
          <p:cNvSpPr/>
          <p:nvPr/>
        </p:nvSpPr>
        <p:spPr>
          <a:xfrm>
            <a:off x="8275320" y="54406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↗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9" name="Text 49"/>
          <p:cNvSpPr/>
          <p:nvPr/>
        </p:nvSpPr>
        <p:spPr>
          <a:xfrm>
            <a:off x="8778240" y="539496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 3000 explicite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3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31" name="Text 50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2" name="Text 51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43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3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4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 — env local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5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6" name="Shape 3"/>
          <p:cNvSpPr/>
          <p:nvPr/>
        </p:nvSpPr>
        <p:spPr>
          <a:xfrm>
            <a:off x="548640" y="1691640"/>
            <a:ext cx="7314480" cy="457128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7" name="Shape 4"/>
          <p:cNvSpPr/>
          <p:nvPr/>
        </p:nvSpPr>
        <p:spPr>
          <a:xfrm>
            <a:off x="777240" y="1874520"/>
            <a:ext cx="136440" cy="13644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45000" rIns="684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8" name="Shape 5"/>
          <p:cNvSpPr/>
          <p:nvPr/>
        </p:nvSpPr>
        <p:spPr>
          <a:xfrm>
            <a:off x="960120" y="1874520"/>
            <a:ext cx="136440" cy="13644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45000" rIns="684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9" name="Shape 6"/>
          <p:cNvSpPr/>
          <p:nvPr/>
        </p:nvSpPr>
        <p:spPr>
          <a:xfrm>
            <a:off x="1143000" y="1874520"/>
            <a:ext cx="136440" cy="13644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45000" rIns="684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0" name="Text 7"/>
          <p:cNvSpPr/>
          <p:nvPr/>
        </p:nvSpPr>
        <p:spPr>
          <a:xfrm>
            <a:off x="1371600" y="1783080"/>
            <a:ext cx="54856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docker-compose.yml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1" name="Text 8"/>
          <p:cNvSpPr/>
          <p:nvPr/>
        </p:nvSpPr>
        <p:spPr>
          <a:xfrm>
            <a:off x="777240" y="224028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services: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2" name="Text 9"/>
          <p:cNvSpPr/>
          <p:nvPr/>
        </p:nvSpPr>
        <p:spPr>
          <a:xfrm>
            <a:off x="777240" y="241416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app: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3" name="Text 10"/>
          <p:cNvSpPr/>
          <p:nvPr/>
        </p:nvSpPr>
        <p:spPr>
          <a:xfrm>
            <a:off x="777240" y="258768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build: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4" name="Text 11"/>
          <p:cNvSpPr/>
          <p:nvPr/>
        </p:nvSpPr>
        <p:spPr>
          <a:xfrm>
            <a:off x="777240" y="276156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ports: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5" name="Text 12"/>
          <p:cNvSpPr/>
          <p:nvPr/>
        </p:nvSpPr>
        <p:spPr>
          <a:xfrm>
            <a:off x="777240" y="293508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- "3000:3000"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6" name="Text 13"/>
          <p:cNvSpPr/>
          <p:nvPr/>
        </p:nvSpPr>
        <p:spPr>
          <a:xfrm>
            <a:off x="777240" y="310896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7" name="Text 14"/>
          <p:cNvSpPr/>
          <p:nvPr/>
        </p:nvSpPr>
        <p:spPr>
          <a:xfrm>
            <a:off x="777240" y="328284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DATABASE_URL: postgresql://postgres:postgres@db:5432/social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8" name="Text 15"/>
          <p:cNvSpPr/>
          <p:nvPr/>
        </p:nvSpPr>
        <p:spPr>
          <a:xfrm>
            <a:off x="777240" y="345636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REDIS_URL: Upstash Redis REST (UPSTASH_REDIS_REST_URL)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9" name="Text 16"/>
          <p:cNvSpPr/>
          <p:nvPr/>
        </p:nvSpPr>
        <p:spPr>
          <a:xfrm>
            <a:off x="777240" y="363024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JWT_SECRET: ${JWT_SECRET}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0" name="Text 17"/>
          <p:cNvSpPr/>
          <p:nvPr/>
        </p:nvSpPr>
        <p:spPr>
          <a:xfrm>
            <a:off x="777240" y="380376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depends_on: [db, redis]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1" name="Text 18"/>
          <p:cNvSpPr/>
          <p:nvPr/>
        </p:nvSpPr>
        <p:spPr>
          <a:xfrm>
            <a:off x="777240" y="397764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2" name="Text 19"/>
          <p:cNvSpPr/>
          <p:nvPr/>
        </p:nvSpPr>
        <p:spPr>
          <a:xfrm>
            <a:off x="777240" y="415152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db: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3" name="Text 20"/>
          <p:cNvSpPr/>
          <p:nvPr/>
        </p:nvSpPr>
        <p:spPr>
          <a:xfrm>
            <a:off x="777240" y="432504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postgres:16-alpine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4" name="Text 21"/>
          <p:cNvSpPr/>
          <p:nvPr/>
        </p:nvSpPr>
        <p:spPr>
          <a:xfrm>
            <a:off x="777240" y="449892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["5432:5432"]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5" name="Text 22"/>
          <p:cNvSpPr/>
          <p:nvPr/>
        </p:nvSpPr>
        <p:spPr>
          <a:xfrm>
            <a:off x="777240" y="467244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6" name="Text 23"/>
          <p:cNvSpPr/>
          <p:nvPr/>
        </p:nvSpPr>
        <p:spPr>
          <a:xfrm>
            <a:off x="777240" y="484632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POSTGRES_DB: social-network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7" name="Text 24"/>
          <p:cNvSpPr/>
          <p:nvPr/>
        </p:nvSpPr>
        <p:spPr>
          <a:xfrm>
            <a:off x="777240" y="502020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POSTGRES_USER: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8" name="Text 25"/>
          <p:cNvSpPr/>
          <p:nvPr/>
        </p:nvSpPr>
        <p:spPr>
          <a:xfrm>
            <a:off x="777240" y="519372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POSTGRES_PASSWORD: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9" name="Text 26"/>
          <p:cNvSpPr/>
          <p:nvPr/>
        </p:nvSpPr>
        <p:spPr>
          <a:xfrm>
            <a:off x="777240" y="536760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0" name="Text 27"/>
          <p:cNvSpPr/>
          <p:nvPr/>
        </p:nvSpPr>
        <p:spPr>
          <a:xfrm>
            <a:off x="777240" y="554112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redis: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1" name="Text 28"/>
          <p:cNvSpPr/>
          <p:nvPr/>
        </p:nvSpPr>
        <p:spPr>
          <a:xfrm>
            <a:off x="777240" y="571500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redis:7-alpine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2" name="Text 29"/>
          <p:cNvSpPr/>
          <p:nvPr/>
        </p:nvSpPr>
        <p:spPr>
          <a:xfrm>
            <a:off x="777240" y="5888880"/>
            <a:ext cx="69487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["6379:6379"]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3" name="Shape 30"/>
          <p:cNvSpPr/>
          <p:nvPr/>
        </p:nvSpPr>
        <p:spPr>
          <a:xfrm>
            <a:off x="8092440" y="1691640"/>
            <a:ext cx="3519720" cy="457128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64" name="Text 31"/>
          <p:cNvSpPr/>
          <p:nvPr/>
        </p:nvSpPr>
        <p:spPr>
          <a:xfrm>
            <a:off x="8275320" y="1783080"/>
            <a:ext cx="31996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Pourquoi compose ?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5" name="Shape 32"/>
          <p:cNvSpPr/>
          <p:nvPr/>
        </p:nvSpPr>
        <p:spPr>
          <a:xfrm>
            <a:off x="8275320" y="2240280"/>
            <a:ext cx="410760" cy="41076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66" name="Text 33"/>
          <p:cNvSpPr/>
          <p:nvPr/>
        </p:nvSpPr>
        <p:spPr>
          <a:xfrm>
            <a:off x="8275320" y="22402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7" name="Text 34"/>
          <p:cNvSpPr/>
          <p:nvPr/>
        </p:nvSpPr>
        <p:spPr>
          <a:xfrm>
            <a:off x="8778240" y="219456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Reproduit prod en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8" name="Shape 35"/>
          <p:cNvSpPr/>
          <p:nvPr/>
        </p:nvSpPr>
        <p:spPr>
          <a:xfrm>
            <a:off x="8275320" y="2880360"/>
            <a:ext cx="410760" cy="41076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69" name="Text 36"/>
          <p:cNvSpPr/>
          <p:nvPr/>
        </p:nvSpPr>
        <p:spPr>
          <a:xfrm>
            <a:off x="8275320" y="288036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0" name="Text 37"/>
          <p:cNvSpPr/>
          <p:nvPr/>
        </p:nvSpPr>
        <p:spPr>
          <a:xfrm>
            <a:off x="8778240" y="283464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DB + Redis + App orchestrés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1" name="Shape 38"/>
          <p:cNvSpPr/>
          <p:nvPr/>
        </p:nvSpPr>
        <p:spPr>
          <a:xfrm>
            <a:off x="8275320" y="3520440"/>
            <a:ext cx="410760" cy="41076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2" name="Text 39"/>
          <p:cNvSpPr/>
          <p:nvPr/>
        </p:nvSpPr>
        <p:spPr>
          <a:xfrm>
            <a:off x="8275320" y="352044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3" name="Text 40"/>
          <p:cNvSpPr/>
          <p:nvPr/>
        </p:nvSpPr>
        <p:spPr>
          <a:xfrm>
            <a:off x="8778240" y="347472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depends_on respecté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4" name="Shape 41"/>
          <p:cNvSpPr/>
          <p:nvPr/>
        </p:nvSpPr>
        <p:spPr>
          <a:xfrm>
            <a:off x="8275320" y="4160520"/>
            <a:ext cx="410760" cy="41076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5" name="Text 42"/>
          <p:cNvSpPr/>
          <p:nvPr/>
        </p:nvSpPr>
        <p:spPr>
          <a:xfrm>
            <a:off x="8275320" y="416052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6" name="Text 43"/>
          <p:cNvSpPr/>
          <p:nvPr/>
        </p:nvSpPr>
        <p:spPr>
          <a:xfrm>
            <a:off x="8778240" y="411480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Variables d'env via .env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7" name="Shape 44"/>
          <p:cNvSpPr/>
          <p:nvPr/>
        </p:nvSpPr>
        <p:spPr>
          <a:xfrm>
            <a:off x="8275320" y="4800600"/>
            <a:ext cx="410760" cy="41076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8" name="Text 45"/>
          <p:cNvSpPr/>
          <p:nvPr/>
        </p:nvSpPr>
        <p:spPr>
          <a:xfrm>
            <a:off x="8275320" y="480060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9" name="Text 46"/>
          <p:cNvSpPr/>
          <p:nvPr/>
        </p:nvSpPr>
        <p:spPr>
          <a:xfrm>
            <a:off x="8778240" y="475488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compose up = ready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0" name="Shape 47"/>
          <p:cNvSpPr/>
          <p:nvPr/>
        </p:nvSpPr>
        <p:spPr>
          <a:xfrm>
            <a:off x="8275320" y="5440680"/>
            <a:ext cx="410760" cy="41076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81" name="Text 48"/>
          <p:cNvSpPr/>
          <p:nvPr/>
        </p:nvSpPr>
        <p:spPr>
          <a:xfrm>
            <a:off x="8275320" y="54406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2" name="Text 49"/>
          <p:cNvSpPr/>
          <p:nvPr/>
        </p:nvSpPr>
        <p:spPr>
          <a:xfrm>
            <a:off x="8778240" y="5394960"/>
            <a:ext cx="2742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dev (hot reload)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8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4" name="Text 50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5" name="Text 51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44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6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7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 · Vercel + Neon + Upstash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8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89" name="Shape 3"/>
          <p:cNvSpPr/>
          <p:nvPr/>
        </p:nvSpPr>
        <p:spPr>
          <a:xfrm>
            <a:off x="480240" y="1691640"/>
            <a:ext cx="3702600" cy="420552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0" name="Shape 4"/>
          <p:cNvSpPr/>
          <p:nvPr/>
        </p:nvSpPr>
        <p:spPr>
          <a:xfrm>
            <a:off x="480240" y="1691640"/>
            <a:ext cx="3702600" cy="4564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1" name="Text 5"/>
          <p:cNvSpPr/>
          <p:nvPr/>
        </p:nvSpPr>
        <p:spPr>
          <a:xfrm>
            <a:off x="480240" y="1691640"/>
            <a:ext cx="37026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DÉVELOPPEMENT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2" name="Shape 6"/>
          <p:cNvSpPr/>
          <p:nvPr/>
        </p:nvSpPr>
        <p:spPr>
          <a:xfrm>
            <a:off x="708840" y="2331720"/>
            <a:ext cx="547920" cy="5479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3" name="Text 7"/>
          <p:cNvSpPr/>
          <p:nvPr/>
        </p:nvSpPr>
        <p:spPr>
          <a:xfrm>
            <a:off x="708840" y="233172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⚓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4" name="Text 8"/>
          <p:cNvSpPr/>
          <p:nvPr/>
        </p:nvSpPr>
        <p:spPr>
          <a:xfrm>
            <a:off x="1348920" y="2331720"/>
            <a:ext cx="2696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5" name="Text 9"/>
          <p:cNvSpPr/>
          <p:nvPr/>
        </p:nvSpPr>
        <p:spPr>
          <a:xfrm>
            <a:off x="1348920" y="2651760"/>
            <a:ext cx="2696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 + Redis + App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6" name="Shape 10"/>
          <p:cNvSpPr/>
          <p:nvPr/>
        </p:nvSpPr>
        <p:spPr>
          <a:xfrm>
            <a:off x="708840" y="3474720"/>
            <a:ext cx="547920" cy="5479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7" name="Text 11"/>
          <p:cNvSpPr/>
          <p:nvPr/>
        </p:nvSpPr>
        <p:spPr>
          <a:xfrm>
            <a:off x="708840" y="347472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8" name="Text 12"/>
          <p:cNvSpPr/>
          <p:nvPr/>
        </p:nvSpPr>
        <p:spPr>
          <a:xfrm>
            <a:off x="1348920" y="3474720"/>
            <a:ext cx="2696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+ hot 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9" name="Text 13"/>
          <p:cNvSpPr/>
          <p:nvPr/>
        </p:nvSpPr>
        <p:spPr>
          <a:xfrm>
            <a:off x="1348920" y="3794760"/>
            <a:ext cx="2696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dev profil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0" name="Shape 14"/>
          <p:cNvSpPr/>
          <p:nvPr/>
        </p:nvSpPr>
        <p:spPr>
          <a:xfrm>
            <a:off x="708840" y="4617720"/>
            <a:ext cx="547920" cy="5479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1" name="Text 15"/>
          <p:cNvSpPr/>
          <p:nvPr/>
        </p:nvSpPr>
        <p:spPr>
          <a:xfrm>
            <a:off x="708840" y="461772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2" name="Text 16"/>
          <p:cNvSpPr/>
          <p:nvPr/>
        </p:nvSpPr>
        <p:spPr>
          <a:xfrm>
            <a:off x="1348920" y="4617720"/>
            <a:ext cx="2696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auto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3" name="Text 17"/>
          <p:cNvSpPr/>
          <p:nvPr/>
        </p:nvSpPr>
        <p:spPr>
          <a:xfrm>
            <a:off x="1348920" y="4937760"/>
            <a:ext cx="2696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migrate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4" name="Shape 18"/>
          <p:cNvSpPr/>
          <p:nvPr/>
        </p:nvSpPr>
        <p:spPr>
          <a:xfrm>
            <a:off x="415584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5" name="Shape 19"/>
          <p:cNvSpPr/>
          <p:nvPr/>
        </p:nvSpPr>
        <p:spPr>
          <a:xfrm>
            <a:off x="4229280" y="1691640"/>
            <a:ext cx="3702600" cy="420552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6" name="Shape 20"/>
          <p:cNvSpPr/>
          <p:nvPr/>
        </p:nvSpPr>
        <p:spPr>
          <a:xfrm>
            <a:off x="4229280" y="1691640"/>
            <a:ext cx="3702600" cy="4564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7" name="Text 21"/>
          <p:cNvSpPr/>
          <p:nvPr/>
        </p:nvSpPr>
        <p:spPr>
          <a:xfrm>
            <a:off x="4229280" y="1691640"/>
            <a:ext cx="37026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PRÉ-PROD / CI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8" name="Shape 22"/>
          <p:cNvSpPr/>
          <p:nvPr/>
        </p:nvSpPr>
        <p:spPr>
          <a:xfrm>
            <a:off x="4457880" y="2331720"/>
            <a:ext cx="547920" cy="5479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9" name="Text 23"/>
          <p:cNvSpPr/>
          <p:nvPr/>
        </p:nvSpPr>
        <p:spPr>
          <a:xfrm>
            <a:off x="4457880" y="233172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0" name="Text 24"/>
          <p:cNvSpPr/>
          <p:nvPr/>
        </p:nvSpPr>
        <p:spPr>
          <a:xfrm>
            <a:off x="5097960" y="2331720"/>
            <a:ext cx="2696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1" name="Text 25"/>
          <p:cNvSpPr/>
          <p:nvPr/>
        </p:nvSpPr>
        <p:spPr>
          <a:xfrm>
            <a:off x="5097960" y="2651760"/>
            <a:ext cx="2696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2" name="Shape 26"/>
          <p:cNvSpPr/>
          <p:nvPr/>
        </p:nvSpPr>
        <p:spPr>
          <a:xfrm>
            <a:off x="4457880" y="3474720"/>
            <a:ext cx="547920" cy="5479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3" name="Text 27"/>
          <p:cNvSpPr/>
          <p:nvPr/>
        </p:nvSpPr>
        <p:spPr>
          <a:xfrm>
            <a:off x="4457880" y="347472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❀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4" name="Text 28"/>
          <p:cNvSpPr/>
          <p:nvPr/>
        </p:nvSpPr>
        <p:spPr>
          <a:xfrm>
            <a:off x="5097960" y="3474720"/>
            <a:ext cx="2696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Preview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5" name="Text 29"/>
          <p:cNvSpPr/>
          <p:nvPr/>
        </p:nvSpPr>
        <p:spPr>
          <a:xfrm>
            <a:off x="5097960" y="3794760"/>
            <a:ext cx="2696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URL unique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6" name="Shape 30"/>
          <p:cNvSpPr/>
          <p:nvPr/>
        </p:nvSpPr>
        <p:spPr>
          <a:xfrm>
            <a:off x="4457880" y="4617720"/>
            <a:ext cx="547920" cy="5479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7" name="Text 31"/>
          <p:cNvSpPr/>
          <p:nvPr/>
        </p:nvSpPr>
        <p:spPr>
          <a:xfrm>
            <a:off x="4457880" y="461772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8" name="Text 32"/>
          <p:cNvSpPr/>
          <p:nvPr/>
        </p:nvSpPr>
        <p:spPr>
          <a:xfrm>
            <a:off x="5097960" y="4617720"/>
            <a:ext cx="2696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Branching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9" name="Text 33"/>
          <p:cNvSpPr/>
          <p:nvPr/>
        </p:nvSpPr>
        <p:spPr>
          <a:xfrm>
            <a:off x="5097960" y="4937760"/>
            <a:ext cx="2696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0" name="Shape 34"/>
          <p:cNvSpPr/>
          <p:nvPr/>
        </p:nvSpPr>
        <p:spPr>
          <a:xfrm>
            <a:off x="790488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1" name="Shape 35"/>
          <p:cNvSpPr/>
          <p:nvPr/>
        </p:nvSpPr>
        <p:spPr>
          <a:xfrm>
            <a:off x="7978320" y="1691640"/>
            <a:ext cx="3702600" cy="420552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2" name="Shape 36"/>
          <p:cNvSpPr/>
          <p:nvPr/>
        </p:nvSpPr>
        <p:spPr>
          <a:xfrm>
            <a:off x="7978320" y="1691640"/>
            <a:ext cx="3702600" cy="4564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3" name="Text 37"/>
          <p:cNvSpPr/>
          <p:nvPr/>
        </p:nvSpPr>
        <p:spPr>
          <a:xfrm>
            <a:off x="7978320" y="1691640"/>
            <a:ext cx="37026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4" name="Shape 38"/>
          <p:cNvSpPr/>
          <p:nvPr/>
        </p:nvSpPr>
        <p:spPr>
          <a:xfrm>
            <a:off x="8206920" y="2331720"/>
            <a:ext cx="547920" cy="5479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5" name="Text 39"/>
          <p:cNvSpPr/>
          <p:nvPr/>
        </p:nvSpPr>
        <p:spPr>
          <a:xfrm>
            <a:off x="8206920" y="233172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6" name="Text 40"/>
          <p:cNvSpPr/>
          <p:nvPr/>
        </p:nvSpPr>
        <p:spPr>
          <a:xfrm>
            <a:off x="8847000" y="2331720"/>
            <a:ext cx="2696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7" name="Text 41"/>
          <p:cNvSpPr/>
          <p:nvPr/>
        </p:nvSpPr>
        <p:spPr>
          <a:xfrm>
            <a:off x="8847000" y="2651760"/>
            <a:ext cx="2696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+ edge functions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8" name="Shape 42"/>
          <p:cNvSpPr/>
          <p:nvPr/>
        </p:nvSpPr>
        <p:spPr>
          <a:xfrm>
            <a:off x="8206920" y="3474720"/>
            <a:ext cx="547920" cy="5479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9" name="Text 43"/>
          <p:cNvSpPr/>
          <p:nvPr/>
        </p:nvSpPr>
        <p:spPr>
          <a:xfrm>
            <a:off x="8206920" y="347472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0" name="Text 44"/>
          <p:cNvSpPr/>
          <p:nvPr/>
        </p:nvSpPr>
        <p:spPr>
          <a:xfrm>
            <a:off x="8847000" y="3474720"/>
            <a:ext cx="2696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1" name="Text 45"/>
          <p:cNvSpPr/>
          <p:nvPr/>
        </p:nvSpPr>
        <p:spPr>
          <a:xfrm>
            <a:off x="8847000" y="3794760"/>
            <a:ext cx="2696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Branches main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2" name="Shape 46"/>
          <p:cNvSpPr/>
          <p:nvPr/>
        </p:nvSpPr>
        <p:spPr>
          <a:xfrm>
            <a:off x="8206920" y="4617720"/>
            <a:ext cx="547920" cy="5479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3" name="Text 47"/>
          <p:cNvSpPr/>
          <p:nvPr/>
        </p:nvSpPr>
        <p:spPr>
          <a:xfrm>
            <a:off x="8206920" y="461772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4" name="Text 48"/>
          <p:cNvSpPr/>
          <p:nvPr/>
        </p:nvSpPr>
        <p:spPr>
          <a:xfrm>
            <a:off x="8847000" y="4617720"/>
            <a:ext cx="2696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5" name="Text 49"/>
          <p:cNvSpPr/>
          <p:nvPr/>
        </p:nvSpPr>
        <p:spPr>
          <a:xfrm>
            <a:off x="8847000" y="4937760"/>
            <a:ext cx="2696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· pay-as-you-go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6" name="Shape 50"/>
          <p:cNvSpPr/>
          <p:nvPr/>
        </p:nvSpPr>
        <p:spPr>
          <a:xfrm>
            <a:off x="548640" y="6035040"/>
            <a:ext cx="11063520" cy="273600"/>
          </a:xfrm>
          <a:prstGeom prst="roundRect">
            <a:avLst>
              <a:gd name="adj" fmla="val 26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7" name="Text 51"/>
          <p:cNvSpPr/>
          <p:nvPr/>
        </p:nvSpPr>
        <p:spPr>
          <a:xfrm>
            <a:off x="777240" y="6035040"/>
            <a:ext cx="10606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Rollback Vercel one-click · Healthcheck applicatif · Secrets via env vars (jamais committés) · SSL automatique.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3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39" name="Text 52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0" name="Text 53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45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1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2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3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44" name="Shape 3"/>
          <p:cNvSpPr/>
          <p:nvPr/>
        </p:nvSpPr>
        <p:spPr>
          <a:xfrm>
            <a:off x="548640" y="1691640"/>
            <a:ext cx="5531400" cy="457128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45" name="Text 4"/>
          <p:cNvSpPr/>
          <p:nvPr/>
        </p:nvSpPr>
        <p:spPr>
          <a:xfrm>
            <a:off x="731520" y="178308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Sources suivies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6" name="Text 5"/>
          <p:cNvSpPr/>
          <p:nvPr/>
        </p:nvSpPr>
        <p:spPr>
          <a:xfrm>
            <a:off x="777240" y="2240280"/>
            <a:ext cx="456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7" name="Text 6"/>
          <p:cNvSpPr/>
          <p:nvPr/>
        </p:nvSpPr>
        <p:spPr>
          <a:xfrm>
            <a:off x="1280160" y="2240280"/>
            <a:ext cx="4571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Blog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8" name="Text 7"/>
          <p:cNvSpPr/>
          <p:nvPr/>
        </p:nvSpPr>
        <p:spPr>
          <a:xfrm>
            <a:off x="1280160" y="2514600"/>
            <a:ext cx="4571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Annonces Next.js,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9" name="Text 8"/>
          <p:cNvSpPr/>
          <p:nvPr/>
        </p:nvSpPr>
        <p:spPr>
          <a:xfrm>
            <a:off x="777240" y="2880360"/>
            <a:ext cx="456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0" name="Text 9"/>
          <p:cNvSpPr/>
          <p:nvPr/>
        </p:nvSpPr>
        <p:spPr>
          <a:xfrm>
            <a:off x="1280160" y="2880360"/>
            <a:ext cx="4571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Docs (canary)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1" name="Text 10"/>
          <p:cNvSpPr/>
          <p:nvPr/>
        </p:nvSpPr>
        <p:spPr>
          <a:xfrm>
            <a:off x="1280160" y="3154680"/>
            <a:ext cx="4571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2" name="Text 11"/>
          <p:cNvSpPr/>
          <p:nvPr/>
        </p:nvSpPr>
        <p:spPr>
          <a:xfrm>
            <a:off x="777240" y="3520440"/>
            <a:ext cx="456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3" name="Text 12"/>
          <p:cNvSpPr/>
          <p:nvPr/>
        </p:nvSpPr>
        <p:spPr>
          <a:xfrm>
            <a:off x="1280160" y="3520440"/>
            <a:ext cx="4571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Cheat Sheets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4" name="Text 13"/>
          <p:cNvSpPr/>
          <p:nvPr/>
        </p:nvSpPr>
        <p:spPr>
          <a:xfrm>
            <a:off x="1280160" y="3794760"/>
            <a:ext cx="4571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5" name="Text 14"/>
          <p:cNvSpPr/>
          <p:nvPr/>
        </p:nvSpPr>
        <p:spPr>
          <a:xfrm>
            <a:off x="777240" y="4160520"/>
            <a:ext cx="456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6" name="Text 15"/>
          <p:cNvSpPr/>
          <p:nvPr/>
        </p:nvSpPr>
        <p:spPr>
          <a:xfrm>
            <a:off x="1280160" y="4160520"/>
            <a:ext cx="4571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RFC / WHATWG specs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7" name="Text 16"/>
          <p:cNvSpPr/>
          <p:nvPr/>
        </p:nvSpPr>
        <p:spPr>
          <a:xfrm>
            <a:off x="1280160" y="4434840"/>
            <a:ext cx="4571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HTTP, cookies,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8" name="Text 17"/>
          <p:cNvSpPr/>
          <p:nvPr/>
        </p:nvSpPr>
        <p:spPr>
          <a:xfrm>
            <a:off x="777240" y="4800600"/>
            <a:ext cx="456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9" name="Text 18"/>
          <p:cNvSpPr/>
          <p:nvPr/>
        </p:nvSpPr>
        <p:spPr>
          <a:xfrm>
            <a:off x="1280160" y="4800600"/>
            <a:ext cx="4571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Twitter dev community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0" name="Text 19"/>
          <p:cNvSpPr/>
          <p:nvPr/>
        </p:nvSpPr>
        <p:spPr>
          <a:xfrm>
            <a:off x="1280160" y="5074920"/>
            <a:ext cx="4571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Theo, Lee Robinson, Dan Abramov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1" name="Text 20"/>
          <p:cNvSpPr/>
          <p:nvPr/>
        </p:nvSpPr>
        <p:spPr>
          <a:xfrm>
            <a:off x="777240" y="5440680"/>
            <a:ext cx="456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2" name="Text 21"/>
          <p:cNvSpPr/>
          <p:nvPr/>
        </p:nvSpPr>
        <p:spPr>
          <a:xfrm>
            <a:off x="1280160" y="5440680"/>
            <a:ext cx="4571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YouTube — Theo, Fireship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3" name="Text 22"/>
          <p:cNvSpPr/>
          <p:nvPr/>
        </p:nvSpPr>
        <p:spPr>
          <a:xfrm>
            <a:off x="1280160" y="5715000"/>
            <a:ext cx="4571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Synthèses &amp; démos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4" name="Shape 23"/>
          <p:cNvSpPr/>
          <p:nvPr/>
        </p:nvSpPr>
        <p:spPr>
          <a:xfrm>
            <a:off x="6263640" y="1691640"/>
            <a:ext cx="5531400" cy="457128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5" name="Text 24"/>
          <p:cNvSpPr/>
          <p:nvPr/>
        </p:nvSpPr>
        <p:spPr>
          <a:xfrm>
            <a:off x="6446520" y="178308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6" name="Shape 25"/>
          <p:cNvSpPr/>
          <p:nvPr/>
        </p:nvSpPr>
        <p:spPr>
          <a:xfrm>
            <a:off x="6446520" y="2240280"/>
            <a:ext cx="502200" cy="50220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7" name="Text 26"/>
          <p:cNvSpPr/>
          <p:nvPr/>
        </p:nvSpPr>
        <p:spPr>
          <a:xfrm>
            <a:off x="6446520" y="22402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8" name="Text 27"/>
          <p:cNvSpPr/>
          <p:nvPr/>
        </p:nvSpPr>
        <p:spPr>
          <a:xfrm>
            <a:off x="7040880" y="2240280"/>
            <a:ext cx="4571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Filtrer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9" name="Text 28"/>
          <p:cNvSpPr/>
          <p:nvPr/>
        </p:nvSpPr>
        <p:spPr>
          <a:xfrm>
            <a:off x="7040880" y="2514600"/>
            <a:ext cx="4571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Critère : signal-to-noise élevé, sources primaires d'abord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0" name="Shape 29"/>
          <p:cNvSpPr/>
          <p:nvPr/>
        </p:nvSpPr>
        <p:spPr>
          <a:xfrm>
            <a:off x="6446520" y="3017520"/>
            <a:ext cx="502200" cy="50220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71" name="Text 30"/>
          <p:cNvSpPr/>
          <p:nvPr/>
        </p:nvSpPr>
        <p:spPr>
          <a:xfrm>
            <a:off x="6446520" y="301752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2" name="Text 31"/>
          <p:cNvSpPr/>
          <p:nvPr/>
        </p:nvSpPr>
        <p:spPr>
          <a:xfrm>
            <a:off x="7040880" y="3017520"/>
            <a:ext cx="4571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3" name="Text 32"/>
          <p:cNvSpPr/>
          <p:nvPr/>
        </p:nvSpPr>
        <p:spPr>
          <a:xfrm>
            <a:off x="7040880" y="3291840"/>
            <a:ext cx="4571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30 min / matin, Pocket pour le offline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4" name="Shape 33"/>
          <p:cNvSpPr/>
          <p:nvPr/>
        </p:nvSpPr>
        <p:spPr>
          <a:xfrm>
            <a:off x="6446520" y="3794760"/>
            <a:ext cx="502200" cy="50220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75" name="Text 34"/>
          <p:cNvSpPr/>
          <p:nvPr/>
        </p:nvSpPr>
        <p:spPr>
          <a:xfrm>
            <a:off x="6446520" y="379476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6" name="Text 35"/>
          <p:cNvSpPr/>
          <p:nvPr/>
        </p:nvSpPr>
        <p:spPr>
          <a:xfrm>
            <a:off x="7040880" y="3794760"/>
            <a:ext cx="4571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7" name="Text 36"/>
          <p:cNvSpPr/>
          <p:nvPr/>
        </p:nvSpPr>
        <p:spPr>
          <a:xfrm>
            <a:off x="7040880" y="4069080"/>
            <a:ext cx="4571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Petite preuve de concept si la techno entre dans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8" name="Shape 37"/>
          <p:cNvSpPr/>
          <p:nvPr/>
        </p:nvSpPr>
        <p:spPr>
          <a:xfrm>
            <a:off x="6446520" y="4572000"/>
            <a:ext cx="502200" cy="50220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79" name="Text 38"/>
          <p:cNvSpPr/>
          <p:nvPr/>
        </p:nvSpPr>
        <p:spPr>
          <a:xfrm>
            <a:off x="6446520" y="457200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0" name="Text 39"/>
          <p:cNvSpPr/>
          <p:nvPr/>
        </p:nvSpPr>
        <p:spPr>
          <a:xfrm>
            <a:off x="7040880" y="4572000"/>
            <a:ext cx="4571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1" name="Text 40"/>
          <p:cNvSpPr/>
          <p:nvPr/>
        </p:nvSpPr>
        <p:spPr>
          <a:xfrm>
            <a:off x="7040880" y="4846320"/>
            <a:ext cx="4571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Notes dans Obsidian, lien vers la source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2" name="Shape 41"/>
          <p:cNvSpPr/>
          <p:nvPr/>
        </p:nvSpPr>
        <p:spPr>
          <a:xfrm>
            <a:off x="6446520" y="5349240"/>
            <a:ext cx="502200" cy="50220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3" name="Text 42"/>
          <p:cNvSpPr/>
          <p:nvPr/>
        </p:nvSpPr>
        <p:spPr>
          <a:xfrm>
            <a:off x="6446520" y="534924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4" name="Text 43"/>
          <p:cNvSpPr/>
          <p:nvPr/>
        </p:nvSpPr>
        <p:spPr>
          <a:xfrm>
            <a:off x="7040880" y="5349240"/>
            <a:ext cx="4571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Partager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5" name="Text 44"/>
          <p:cNvSpPr/>
          <p:nvPr/>
        </p:nvSpPr>
        <p:spPr>
          <a:xfrm>
            <a:off x="7040880" y="5623560"/>
            <a:ext cx="4571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Discussion équipe sur les choix structurants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8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7" name="Text 45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8" name="Text 46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46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9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0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du projet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1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2" name="Shape 3"/>
          <p:cNvSpPr/>
          <p:nvPr/>
        </p:nvSpPr>
        <p:spPr>
          <a:xfrm>
            <a:off x="548640" y="1691640"/>
            <a:ext cx="2696760" cy="164520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3" name="Text 4"/>
          <p:cNvSpPr/>
          <p:nvPr/>
        </p:nvSpPr>
        <p:spPr>
          <a:xfrm>
            <a:off x="548640" y="1783080"/>
            <a:ext cx="26967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4" name="Text 5"/>
          <p:cNvSpPr/>
          <p:nvPr/>
        </p:nvSpPr>
        <p:spPr>
          <a:xfrm>
            <a:off x="548640" y="2697480"/>
            <a:ext cx="269676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5" name="Shape 6"/>
          <p:cNvSpPr/>
          <p:nvPr/>
        </p:nvSpPr>
        <p:spPr>
          <a:xfrm>
            <a:off x="3383280" y="1691640"/>
            <a:ext cx="2696760" cy="164520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6" name="Text 7"/>
          <p:cNvSpPr/>
          <p:nvPr/>
        </p:nvSpPr>
        <p:spPr>
          <a:xfrm>
            <a:off x="3383280" y="1783080"/>
            <a:ext cx="26967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7" name="Text 8"/>
          <p:cNvSpPr/>
          <p:nvPr/>
        </p:nvSpPr>
        <p:spPr>
          <a:xfrm>
            <a:off x="3383280" y="2697480"/>
            <a:ext cx="269676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8" name="Shape 9"/>
          <p:cNvSpPr/>
          <p:nvPr/>
        </p:nvSpPr>
        <p:spPr>
          <a:xfrm>
            <a:off x="6217920" y="1691640"/>
            <a:ext cx="2696760" cy="164520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9" name="Text 10"/>
          <p:cNvSpPr/>
          <p:nvPr/>
        </p:nvSpPr>
        <p:spPr>
          <a:xfrm>
            <a:off x="6217920" y="1783080"/>
            <a:ext cx="26967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12+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0" name="Text 11"/>
          <p:cNvSpPr/>
          <p:nvPr/>
        </p:nvSpPr>
        <p:spPr>
          <a:xfrm>
            <a:off x="6217920" y="2697480"/>
            <a:ext cx="269676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1" name="Shape 12"/>
          <p:cNvSpPr/>
          <p:nvPr/>
        </p:nvSpPr>
        <p:spPr>
          <a:xfrm>
            <a:off x="9052560" y="1691640"/>
            <a:ext cx="2696760" cy="164520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2" name="Text 13"/>
          <p:cNvSpPr/>
          <p:nvPr/>
        </p:nvSpPr>
        <p:spPr>
          <a:xfrm>
            <a:off x="9052560" y="1783080"/>
            <a:ext cx="26967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3" name="Text 14"/>
          <p:cNvSpPr/>
          <p:nvPr/>
        </p:nvSpPr>
        <p:spPr>
          <a:xfrm>
            <a:off x="9052560" y="2697480"/>
            <a:ext cx="269676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4" name="Text 15"/>
          <p:cNvSpPr/>
          <p:nvPr/>
        </p:nvSpPr>
        <p:spPr>
          <a:xfrm>
            <a:off x="548640" y="3611880"/>
            <a:ext cx="10972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Répartition des features livrées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5" name="Shape 16"/>
          <p:cNvSpPr/>
          <p:nvPr/>
        </p:nvSpPr>
        <p:spPr>
          <a:xfrm>
            <a:off x="548640" y="3977640"/>
            <a:ext cx="5531400" cy="233100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206" name="Chart 0"/>
          <p:cNvGraphicFramePr/>
          <p:nvPr/>
        </p:nvGraphicFramePr>
        <p:xfrm>
          <a:off x="640080" y="4069080"/>
          <a:ext cx="5348520" cy="2148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207" name="Shape 17"/>
          <p:cNvSpPr/>
          <p:nvPr/>
        </p:nvSpPr>
        <p:spPr>
          <a:xfrm>
            <a:off x="6263640" y="3977640"/>
            <a:ext cx="5531400" cy="233100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8" name="Text 18"/>
          <p:cNvSpPr/>
          <p:nvPr/>
        </p:nvSpPr>
        <p:spPr>
          <a:xfrm>
            <a:off x="6400800" y="4069080"/>
            <a:ext cx="53485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Charge de travail par phase (jours)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09" name="Chart 1"/>
          <p:cNvGraphicFramePr/>
          <p:nvPr/>
        </p:nvGraphicFramePr>
        <p:xfrm>
          <a:off x="6400800" y="4343400"/>
          <a:ext cx="5211360" cy="1873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2210" name="Image 0" descr="/sessions/sweet-funny-newton/mnt/outputs/build/assets/konekt-logo.png"/>
          <p:cNvPicPr/>
          <p:nvPr/>
        </p:nvPicPr>
        <p:blipFill>
          <a:blip r:embed="rId3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11" name="Text 19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2" name="Text 20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47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3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4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5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6" name="Shape 3"/>
          <p:cNvSpPr/>
          <p:nvPr/>
        </p:nvSpPr>
        <p:spPr>
          <a:xfrm>
            <a:off x="548640" y="1691640"/>
            <a:ext cx="3656880" cy="1553760"/>
          </a:xfrm>
          <a:prstGeom prst="roundRect">
            <a:avLst>
              <a:gd name="adj" fmla="val 7059"/>
            </a:avLst>
          </a:prstGeom>
          <a:solidFill>
            <a:srgbClr val="EC4899">
              <a:alpha val="3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7" name="Text 4"/>
          <p:cNvSpPr/>
          <p:nvPr/>
        </p:nvSpPr>
        <p:spPr>
          <a:xfrm>
            <a:off x="548640" y="1691640"/>
            <a:ext cx="36568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BC01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8" name="Text 5"/>
          <p:cNvSpPr/>
          <p:nvPr/>
        </p:nvSpPr>
        <p:spPr>
          <a:xfrm>
            <a:off x="548640" y="260604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9" name="Text 6"/>
          <p:cNvSpPr/>
          <p:nvPr/>
        </p:nvSpPr>
        <p:spPr>
          <a:xfrm>
            <a:off x="548640" y="288036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0" name="Shape 7"/>
          <p:cNvSpPr/>
          <p:nvPr/>
        </p:nvSpPr>
        <p:spPr>
          <a:xfrm>
            <a:off x="4389120" y="1691640"/>
            <a:ext cx="7223040" cy="155376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1" name="Text 8"/>
          <p:cNvSpPr/>
          <p:nvPr/>
        </p:nvSpPr>
        <p:spPr>
          <a:xfrm>
            <a:off x="4572000" y="1783080"/>
            <a:ext cx="6857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2" name="Text 9"/>
          <p:cNvSpPr/>
          <p:nvPr/>
        </p:nvSpPr>
        <p:spPr>
          <a:xfrm>
            <a:off x="4572000" y="2103120"/>
            <a:ext cx="685728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Concevoir, développer et tester une application en intégrant les principes de sécurité dès la phase de conception.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3" name="Text 10"/>
          <p:cNvSpPr/>
          <p:nvPr/>
        </p:nvSpPr>
        <p:spPr>
          <a:xfrm>
            <a:off x="548640" y="3383280"/>
            <a:ext cx="10972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4" name="Shape 11"/>
          <p:cNvSpPr/>
          <p:nvPr/>
        </p:nvSpPr>
        <p:spPr>
          <a:xfrm>
            <a:off x="548640" y="3703320"/>
            <a:ext cx="5531400" cy="10508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5" name="Shape 12"/>
          <p:cNvSpPr/>
          <p:nvPr/>
        </p:nvSpPr>
        <p:spPr>
          <a:xfrm>
            <a:off x="548640" y="3703320"/>
            <a:ext cx="90720" cy="1050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6" name="Text 13"/>
          <p:cNvSpPr/>
          <p:nvPr/>
        </p:nvSpPr>
        <p:spPr>
          <a:xfrm>
            <a:off x="777240" y="3840480"/>
            <a:ext cx="5165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Maquetter une 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7" name="Text 14"/>
          <p:cNvSpPr/>
          <p:nvPr/>
        </p:nvSpPr>
        <p:spPr>
          <a:xfrm>
            <a:off x="777240" y="4160520"/>
            <a:ext cx="5165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Wireframes + mockups 6 pages principales, design system Konekt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8" name="Shape 15"/>
          <p:cNvSpPr/>
          <p:nvPr/>
        </p:nvSpPr>
        <p:spPr>
          <a:xfrm>
            <a:off x="6217920" y="3703320"/>
            <a:ext cx="5531400" cy="10508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9" name="Shape 16"/>
          <p:cNvSpPr/>
          <p:nvPr/>
        </p:nvSpPr>
        <p:spPr>
          <a:xfrm>
            <a:off x="6217920" y="3703320"/>
            <a:ext cx="90720" cy="1050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0" name="Text 17"/>
          <p:cNvSpPr/>
          <p:nvPr/>
        </p:nvSpPr>
        <p:spPr>
          <a:xfrm>
            <a:off x="6446520" y="3840480"/>
            <a:ext cx="5165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interface utilisateur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1" name="Text 18"/>
          <p:cNvSpPr/>
          <p:nvPr/>
        </p:nvSpPr>
        <p:spPr>
          <a:xfrm>
            <a:off x="6446520" y="4160520"/>
            <a:ext cx="5165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Router, React Server Components, Tailwind + shadcn/ui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2" name="Shape 19"/>
          <p:cNvSpPr/>
          <p:nvPr/>
        </p:nvSpPr>
        <p:spPr>
          <a:xfrm>
            <a:off x="548640" y="4846320"/>
            <a:ext cx="5531400" cy="10508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3" name="Shape 20"/>
          <p:cNvSpPr/>
          <p:nvPr/>
        </p:nvSpPr>
        <p:spPr>
          <a:xfrm>
            <a:off x="548640" y="4846320"/>
            <a:ext cx="90720" cy="1050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4" name="Text 21"/>
          <p:cNvSpPr/>
          <p:nvPr/>
        </p:nvSpPr>
        <p:spPr>
          <a:xfrm>
            <a:off x="777240" y="4983480"/>
            <a:ext cx="5165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réutilisables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5" name="Text 22"/>
          <p:cNvSpPr/>
          <p:nvPr/>
        </p:nvSpPr>
        <p:spPr>
          <a:xfrm>
            <a:off x="777240" y="5303520"/>
            <a:ext cx="5165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Button, Avatar, Card, Dialog, Input — bibliothèque cohérente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6" name="Shape 23"/>
          <p:cNvSpPr/>
          <p:nvPr/>
        </p:nvSpPr>
        <p:spPr>
          <a:xfrm>
            <a:off x="6217920" y="4846320"/>
            <a:ext cx="5531400" cy="10508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7" name="Shape 24"/>
          <p:cNvSpPr/>
          <p:nvPr/>
        </p:nvSpPr>
        <p:spPr>
          <a:xfrm>
            <a:off x="6217920" y="4846320"/>
            <a:ext cx="90720" cy="1050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8" name="Text 25"/>
          <p:cNvSpPr/>
          <p:nvPr/>
        </p:nvSpPr>
        <p:spPr>
          <a:xfrm>
            <a:off x="6446520" y="4983480"/>
            <a:ext cx="5165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Intégrer la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9" name="Text 26"/>
          <p:cNvSpPr/>
          <p:nvPr/>
        </p:nvSpPr>
        <p:spPr>
          <a:xfrm>
            <a:off x="6446520" y="5303520"/>
            <a:ext cx="5165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JWT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signé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(jose),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bcrypt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cost 12,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cookies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HttpOnl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y,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validati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on Zod,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OWASP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Top 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0" name="Text 27"/>
          <p:cNvSpPr/>
          <p:nvPr/>
        </p:nvSpPr>
        <p:spPr>
          <a:xfrm>
            <a:off x="548640" y="598932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1" name="Shape 28"/>
          <p:cNvSpPr/>
          <p:nvPr/>
        </p:nvSpPr>
        <p:spPr>
          <a:xfrm>
            <a:off x="2743200" y="5989320"/>
            <a:ext cx="2193840" cy="27360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2" name="Text 29"/>
          <p:cNvSpPr/>
          <p:nvPr/>
        </p:nvSpPr>
        <p:spPr>
          <a:xfrm>
            <a:off x="2743200" y="5989320"/>
            <a:ext cx="2193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3" name="Shape 30"/>
          <p:cNvSpPr/>
          <p:nvPr/>
        </p:nvSpPr>
        <p:spPr>
          <a:xfrm>
            <a:off x="5029200" y="5989320"/>
            <a:ext cx="2193840" cy="27360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4" name="Text 31"/>
          <p:cNvSpPr/>
          <p:nvPr/>
        </p:nvSpPr>
        <p:spPr>
          <a:xfrm>
            <a:off x="5029200" y="5989320"/>
            <a:ext cx="2193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5" name="Shape 32"/>
          <p:cNvSpPr/>
          <p:nvPr/>
        </p:nvSpPr>
        <p:spPr>
          <a:xfrm>
            <a:off x="7315200" y="5989320"/>
            <a:ext cx="2193840" cy="27360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6" name="Text 33"/>
          <p:cNvSpPr/>
          <p:nvPr/>
        </p:nvSpPr>
        <p:spPr>
          <a:xfrm>
            <a:off x="7315200" y="5989320"/>
            <a:ext cx="2193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7" name="Shape 34"/>
          <p:cNvSpPr/>
          <p:nvPr/>
        </p:nvSpPr>
        <p:spPr>
          <a:xfrm>
            <a:off x="9601200" y="5989320"/>
            <a:ext cx="2193840" cy="27360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8" name="Text 35"/>
          <p:cNvSpPr/>
          <p:nvPr/>
        </p:nvSpPr>
        <p:spPr>
          <a:xfrm>
            <a:off x="9601200" y="5989320"/>
            <a:ext cx="2193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Audit RGPD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4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0" name="Text 36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1" name="Text 37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48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3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la persistance des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4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5" name="Shape 3"/>
          <p:cNvSpPr/>
          <p:nvPr/>
        </p:nvSpPr>
        <p:spPr>
          <a:xfrm>
            <a:off x="548640" y="1691640"/>
            <a:ext cx="3656880" cy="1553760"/>
          </a:xfrm>
          <a:prstGeom prst="roundRect">
            <a:avLst>
              <a:gd name="adj" fmla="val 7059"/>
            </a:avLst>
          </a:prstGeom>
          <a:solidFill>
            <a:srgbClr val="06B6D4">
              <a:alpha val="3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6" name="Text 4"/>
          <p:cNvSpPr/>
          <p:nvPr/>
        </p:nvSpPr>
        <p:spPr>
          <a:xfrm>
            <a:off x="548640" y="1691640"/>
            <a:ext cx="36568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BC02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7" name="Text 5"/>
          <p:cNvSpPr/>
          <p:nvPr/>
        </p:nvSpPr>
        <p:spPr>
          <a:xfrm>
            <a:off x="548640" y="260604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8" name="Text 6"/>
          <p:cNvSpPr/>
          <p:nvPr/>
        </p:nvSpPr>
        <p:spPr>
          <a:xfrm>
            <a:off x="548640" y="288036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9" name="Shape 7"/>
          <p:cNvSpPr/>
          <p:nvPr/>
        </p:nvSpPr>
        <p:spPr>
          <a:xfrm>
            <a:off x="4389120" y="1691640"/>
            <a:ext cx="7223040" cy="155376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0" name="Text 8"/>
          <p:cNvSpPr/>
          <p:nvPr/>
        </p:nvSpPr>
        <p:spPr>
          <a:xfrm>
            <a:off x="4572000" y="1783080"/>
            <a:ext cx="6857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1" name="Text 9"/>
          <p:cNvSpPr/>
          <p:nvPr/>
        </p:nvSpPr>
        <p:spPr>
          <a:xfrm>
            <a:off x="4572000" y="2103120"/>
            <a:ext cx="685728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Modéliser une base de données relationnelle, écrire les requêtes optimisées et garantir l'intégrité.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2" name="Text 10"/>
          <p:cNvSpPr/>
          <p:nvPr/>
        </p:nvSpPr>
        <p:spPr>
          <a:xfrm>
            <a:off x="548640" y="3383280"/>
            <a:ext cx="10972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3" name="Shape 11"/>
          <p:cNvSpPr/>
          <p:nvPr/>
        </p:nvSpPr>
        <p:spPr>
          <a:xfrm>
            <a:off x="548640" y="3703320"/>
            <a:ext cx="5531400" cy="10508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4" name="Shape 12"/>
          <p:cNvSpPr/>
          <p:nvPr/>
        </p:nvSpPr>
        <p:spPr>
          <a:xfrm>
            <a:off x="548640" y="3703320"/>
            <a:ext cx="90720" cy="10508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5" name="Text 13"/>
          <p:cNvSpPr/>
          <p:nvPr/>
        </p:nvSpPr>
        <p:spPr>
          <a:xfrm>
            <a:off x="777240" y="3840480"/>
            <a:ext cx="5165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Analyser le besoin et concevoir un MCD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6" name="Text 14"/>
          <p:cNvSpPr/>
          <p:nvPr/>
        </p:nvSpPr>
        <p:spPr>
          <a:xfrm>
            <a:off x="777240" y="4160520"/>
            <a:ext cx="5165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43 user stories → 18 entités identifiées, cardinalités explicites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7" name="Shape 15"/>
          <p:cNvSpPr/>
          <p:nvPr/>
        </p:nvSpPr>
        <p:spPr>
          <a:xfrm>
            <a:off x="6217920" y="3703320"/>
            <a:ext cx="5531400" cy="10508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8" name="Shape 16"/>
          <p:cNvSpPr/>
          <p:nvPr/>
        </p:nvSpPr>
        <p:spPr>
          <a:xfrm>
            <a:off x="6217920" y="3703320"/>
            <a:ext cx="90720" cy="10508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9" name="Text 17"/>
          <p:cNvSpPr/>
          <p:nvPr/>
        </p:nvSpPr>
        <p:spPr>
          <a:xfrm>
            <a:off x="6446520" y="3840480"/>
            <a:ext cx="5165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base relationnelle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0" name="Text 18"/>
          <p:cNvSpPr/>
          <p:nvPr/>
        </p:nvSpPr>
        <p:spPr>
          <a:xfrm>
            <a:off x="6446520" y="4160520"/>
            <a:ext cx="5165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PostgreSQL Neon, 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1" name="Shape 19"/>
          <p:cNvSpPr/>
          <p:nvPr/>
        </p:nvSpPr>
        <p:spPr>
          <a:xfrm>
            <a:off x="548640" y="4846320"/>
            <a:ext cx="5531400" cy="10508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2" name="Shape 20"/>
          <p:cNvSpPr/>
          <p:nvPr/>
        </p:nvSpPr>
        <p:spPr>
          <a:xfrm>
            <a:off x="548640" y="4846320"/>
            <a:ext cx="90720" cy="10508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3" name="Text 21"/>
          <p:cNvSpPr/>
          <p:nvPr/>
        </p:nvSpPr>
        <p:spPr>
          <a:xfrm>
            <a:off x="777240" y="4983480"/>
            <a:ext cx="5165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d'accès aux données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4" name="Text 22"/>
          <p:cNvSpPr/>
          <p:nvPr/>
        </p:nvSpPr>
        <p:spPr>
          <a:xfrm>
            <a:off x="777240" y="5303520"/>
            <a:ext cx="5165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ORM type-safe, 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5" name="Shape 23"/>
          <p:cNvSpPr/>
          <p:nvPr/>
        </p:nvSpPr>
        <p:spPr>
          <a:xfrm>
            <a:off x="6217920" y="4846320"/>
            <a:ext cx="5531400" cy="10508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6" name="Shape 24"/>
          <p:cNvSpPr/>
          <p:nvPr/>
        </p:nvSpPr>
        <p:spPr>
          <a:xfrm>
            <a:off x="6217920" y="4846320"/>
            <a:ext cx="90720" cy="10508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7" name="Text 25"/>
          <p:cNvSpPr/>
          <p:nvPr/>
        </p:nvSpPr>
        <p:spPr>
          <a:xfrm>
            <a:off x="6446520" y="4983480"/>
            <a:ext cx="5165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l'intégrité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8" name="Text 26"/>
          <p:cNvSpPr/>
          <p:nvPr/>
        </p:nvSpPr>
        <p:spPr>
          <a:xfrm>
            <a:off x="6446520" y="5303520"/>
            <a:ext cx="5165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PK, FK, UNIQUE composées (réactions), ENUM métier, cascades maîtrisées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9" name="Text 27"/>
          <p:cNvSpPr/>
          <p:nvPr/>
        </p:nvSpPr>
        <p:spPr>
          <a:xfrm>
            <a:off x="548640" y="598932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0" name="Shape 28"/>
          <p:cNvSpPr/>
          <p:nvPr/>
        </p:nvSpPr>
        <p:spPr>
          <a:xfrm>
            <a:off x="2743200" y="5989320"/>
            <a:ext cx="2193840" cy="27360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1" name="Text 29"/>
          <p:cNvSpPr/>
          <p:nvPr/>
        </p:nvSpPr>
        <p:spPr>
          <a:xfrm>
            <a:off x="2743200" y="5989320"/>
            <a:ext cx="2193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MCD / MLD / MPD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2" name="Shape 30"/>
          <p:cNvSpPr/>
          <p:nvPr/>
        </p:nvSpPr>
        <p:spPr>
          <a:xfrm>
            <a:off x="5029200" y="5989320"/>
            <a:ext cx="2193840" cy="27360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3" name="Text 31"/>
          <p:cNvSpPr/>
          <p:nvPr/>
        </p:nvSpPr>
        <p:spPr>
          <a:xfrm>
            <a:off x="5029200" y="5989320"/>
            <a:ext cx="2193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18 modèles Prisma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4" name="Shape 32"/>
          <p:cNvSpPr/>
          <p:nvPr/>
        </p:nvSpPr>
        <p:spPr>
          <a:xfrm>
            <a:off x="7315200" y="5989320"/>
            <a:ext cx="2193840" cy="27360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5" name="Text 33"/>
          <p:cNvSpPr/>
          <p:nvPr/>
        </p:nvSpPr>
        <p:spPr>
          <a:xfrm>
            <a:off x="7315200" y="5989320"/>
            <a:ext cx="2193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6" name="Shape 34"/>
          <p:cNvSpPr/>
          <p:nvPr/>
        </p:nvSpPr>
        <p:spPr>
          <a:xfrm>
            <a:off x="9601200" y="5989320"/>
            <a:ext cx="2193840" cy="27360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7" name="Text 35"/>
          <p:cNvSpPr/>
          <p:nvPr/>
        </p:nvSpPr>
        <p:spPr>
          <a:xfrm>
            <a:off x="9601200" y="5989320"/>
            <a:ext cx="2193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7 enums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8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89" name="Text 36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0" name="Text 37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49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1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2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une application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3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4" name="Shape 3"/>
          <p:cNvSpPr/>
          <p:nvPr/>
        </p:nvSpPr>
        <p:spPr>
          <a:xfrm>
            <a:off x="548640" y="1691640"/>
            <a:ext cx="3656880" cy="1553760"/>
          </a:xfrm>
          <a:prstGeom prst="roundRect">
            <a:avLst>
              <a:gd name="adj" fmla="val 7059"/>
            </a:avLst>
          </a:prstGeom>
          <a:solidFill>
            <a:srgbClr val="8B5CF6">
              <a:alpha val="3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5" name="Text 4"/>
          <p:cNvSpPr/>
          <p:nvPr/>
        </p:nvSpPr>
        <p:spPr>
          <a:xfrm>
            <a:off x="548640" y="1691640"/>
            <a:ext cx="36568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6" name="Text 5"/>
          <p:cNvSpPr/>
          <p:nvPr/>
        </p:nvSpPr>
        <p:spPr>
          <a:xfrm>
            <a:off x="548640" y="260604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7" name="Text 6"/>
          <p:cNvSpPr/>
          <p:nvPr/>
        </p:nvSpPr>
        <p:spPr>
          <a:xfrm>
            <a:off x="548640" y="288036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8" name="Shape 7"/>
          <p:cNvSpPr/>
          <p:nvPr/>
        </p:nvSpPr>
        <p:spPr>
          <a:xfrm>
            <a:off x="4389120" y="1691640"/>
            <a:ext cx="7223040" cy="155376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9" name="Text 8"/>
          <p:cNvSpPr/>
          <p:nvPr/>
        </p:nvSpPr>
        <p:spPr>
          <a:xfrm>
            <a:off x="4572000" y="1783080"/>
            <a:ext cx="6857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0" name="Text 9"/>
          <p:cNvSpPr/>
          <p:nvPr/>
        </p:nvSpPr>
        <p:spPr>
          <a:xfrm>
            <a:off x="4572000" y="2103120"/>
            <a:ext cx="685728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Construire une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application répartie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front + back avec une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logique métier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propre, des API et du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1" name="Text 10"/>
          <p:cNvSpPr/>
          <p:nvPr/>
        </p:nvSpPr>
        <p:spPr>
          <a:xfrm>
            <a:off x="548640" y="3383280"/>
            <a:ext cx="10972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2" name="Shape 11"/>
          <p:cNvSpPr/>
          <p:nvPr/>
        </p:nvSpPr>
        <p:spPr>
          <a:xfrm>
            <a:off x="548640" y="3703320"/>
            <a:ext cx="5531400" cy="10508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3" name="Shape 12"/>
          <p:cNvSpPr/>
          <p:nvPr/>
        </p:nvSpPr>
        <p:spPr>
          <a:xfrm>
            <a:off x="548640" y="3703320"/>
            <a:ext cx="90720" cy="10508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4" name="Text 13"/>
          <p:cNvSpPr/>
          <p:nvPr/>
        </p:nvSpPr>
        <p:spPr>
          <a:xfrm>
            <a:off x="777240" y="3840480"/>
            <a:ext cx="5165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5" name="Text 14"/>
          <p:cNvSpPr/>
          <p:nvPr/>
        </p:nvSpPr>
        <p:spPr>
          <a:xfrm>
            <a:off x="777240" y="4160520"/>
            <a:ext cx="5165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Présentation → Métier → Persistance → Infrastructure, frontières claires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6" name="Shape 15"/>
          <p:cNvSpPr/>
          <p:nvPr/>
        </p:nvSpPr>
        <p:spPr>
          <a:xfrm>
            <a:off x="6217920" y="3703320"/>
            <a:ext cx="5531400" cy="10508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7" name="Shape 16"/>
          <p:cNvSpPr/>
          <p:nvPr/>
        </p:nvSpPr>
        <p:spPr>
          <a:xfrm>
            <a:off x="6217920" y="3703320"/>
            <a:ext cx="90720" cy="10508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8" name="Text 17"/>
          <p:cNvSpPr/>
          <p:nvPr/>
        </p:nvSpPr>
        <p:spPr>
          <a:xfrm>
            <a:off x="6446520" y="3840480"/>
            <a:ext cx="5165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front-end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9" name="Text 18"/>
          <p:cNvSpPr/>
          <p:nvPr/>
        </p:nvSpPr>
        <p:spPr>
          <a:xfrm>
            <a:off x="6446520" y="4160520"/>
            <a:ext cx="5165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Router, Server Components, hooks personnalisés (use-real-time-chat…)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0" name="Shape 19"/>
          <p:cNvSpPr/>
          <p:nvPr/>
        </p:nvSpPr>
        <p:spPr>
          <a:xfrm>
            <a:off x="548640" y="4846320"/>
            <a:ext cx="5531400" cy="10508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1" name="Shape 20"/>
          <p:cNvSpPr/>
          <p:nvPr/>
        </p:nvSpPr>
        <p:spPr>
          <a:xfrm>
            <a:off x="548640" y="4846320"/>
            <a:ext cx="90720" cy="10508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2" name="Text 21"/>
          <p:cNvSpPr/>
          <p:nvPr/>
        </p:nvSpPr>
        <p:spPr>
          <a:xfrm>
            <a:off x="777240" y="4983480"/>
            <a:ext cx="5165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back-end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3" name="Text 22"/>
          <p:cNvSpPr/>
          <p:nvPr/>
        </p:nvSpPr>
        <p:spPr>
          <a:xfrm>
            <a:off x="777240" y="5303520"/>
            <a:ext cx="5165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Route Handlers REST + SSE, Server Actions, validation Zod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4" name="Shape 23"/>
          <p:cNvSpPr/>
          <p:nvPr/>
        </p:nvSpPr>
        <p:spPr>
          <a:xfrm>
            <a:off x="6217920" y="4846320"/>
            <a:ext cx="5531400" cy="10508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5" name="Shape 24"/>
          <p:cNvSpPr/>
          <p:nvPr/>
        </p:nvSpPr>
        <p:spPr>
          <a:xfrm>
            <a:off x="6217920" y="4846320"/>
            <a:ext cx="90720" cy="10508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6" name="Text 25"/>
          <p:cNvSpPr/>
          <p:nvPr/>
        </p:nvSpPr>
        <p:spPr>
          <a:xfrm>
            <a:off x="6446520" y="4983480"/>
            <a:ext cx="5165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7" name="Text 26"/>
          <p:cNvSpPr/>
          <p:nvPr/>
        </p:nvSpPr>
        <p:spPr>
          <a:xfrm>
            <a:off x="6446520" y="5303520"/>
            <a:ext cx="5165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Server-Sent Events + Upstash Redis (compatible serverless Vercel)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8" name="Text 27"/>
          <p:cNvSpPr/>
          <p:nvPr/>
        </p:nvSpPr>
        <p:spPr>
          <a:xfrm>
            <a:off x="548640" y="598932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9" name="Shape 28"/>
          <p:cNvSpPr/>
          <p:nvPr/>
        </p:nvSpPr>
        <p:spPr>
          <a:xfrm>
            <a:off x="2743200" y="5989320"/>
            <a:ext cx="2193840" cy="27360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0" name="Text 29"/>
          <p:cNvSpPr/>
          <p:nvPr/>
        </p:nvSpPr>
        <p:spPr>
          <a:xfrm>
            <a:off x="2743200" y="5989320"/>
            <a:ext cx="2193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20+ endpoints 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1" name="Shape 30"/>
          <p:cNvSpPr/>
          <p:nvPr/>
        </p:nvSpPr>
        <p:spPr>
          <a:xfrm>
            <a:off x="5029200" y="5989320"/>
            <a:ext cx="2193840" cy="27360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2" name="Text 31"/>
          <p:cNvSpPr/>
          <p:nvPr/>
        </p:nvSpPr>
        <p:spPr>
          <a:xfrm>
            <a:off x="5029200" y="5989320"/>
            <a:ext cx="2193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Architecture 4 couches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3" name="Shape 32"/>
          <p:cNvSpPr/>
          <p:nvPr/>
        </p:nvSpPr>
        <p:spPr>
          <a:xfrm>
            <a:off x="7315200" y="5989320"/>
            <a:ext cx="2193840" cy="27360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4" name="Text 33"/>
          <p:cNvSpPr/>
          <p:nvPr/>
        </p:nvSpPr>
        <p:spPr>
          <a:xfrm>
            <a:off x="7315200" y="5989320"/>
            <a:ext cx="2193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Push SSE temps réel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5" name="Shape 34"/>
          <p:cNvSpPr/>
          <p:nvPr/>
        </p:nvSpPr>
        <p:spPr>
          <a:xfrm>
            <a:off x="9601200" y="5989320"/>
            <a:ext cx="2193840" cy="27360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6" name="Text 35"/>
          <p:cNvSpPr/>
          <p:nvPr/>
        </p:nvSpPr>
        <p:spPr>
          <a:xfrm>
            <a:off x="9601200" y="5989320"/>
            <a:ext cx="2193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2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8" name="Text 36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9" name="Text 37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50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0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1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le déploiement d'une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2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3" name="Shape 3"/>
          <p:cNvSpPr/>
          <p:nvPr/>
        </p:nvSpPr>
        <p:spPr>
          <a:xfrm>
            <a:off x="548640" y="1691640"/>
            <a:ext cx="3656880" cy="1553760"/>
          </a:xfrm>
          <a:prstGeom prst="roundRect">
            <a:avLst>
              <a:gd name="adj" fmla="val 7059"/>
            </a:avLst>
          </a:prstGeom>
          <a:solidFill>
            <a:srgbClr val="10B981">
              <a:alpha val="35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4" name="Text 4"/>
          <p:cNvSpPr/>
          <p:nvPr/>
        </p:nvSpPr>
        <p:spPr>
          <a:xfrm>
            <a:off x="548640" y="1691640"/>
            <a:ext cx="36568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5" name="Text 5"/>
          <p:cNvSpPr/>
          <p:nvPr/>
        </p:nvSpPr>
        <p:spPr>
          <a:xfrm>
            <a:off x="548640" y="260604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6" name="Text 6"/>
          <p:cNvSpPr/>
          <p:nvPr/>
        </p:nvSpPr>
        <p:spPr>
          <a:xfrm>
            <a:off x="548640" y="288036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7" name="Shape 7"/>
          <p:cNvSpPr/>
          <p:nvPr/>
        </p:nvSpPr>
        <p:spPr>
          <a:xfrm>
            <a:off x="4389120" y="1691640"/>
            <a:ext cx="7223040" cy="155376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8" name="Text 8"/>
          <p:cNvSpPr/>
          <p:nvPr/>
        </p:nvSpPr>
        <p:spPr>
          <a:xfrm>
            <a:off x="4572000" y="1783080"/>
            <a:ext cx="6857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9" name="Text 9"/>
          <p:cNvSpPr/>
          <p:nvPr/>
        </p:nvSpPr>
        <p:spPr>
          <a:xfrm>
            <a:off x="4572000" y="2103120"/>
            <a:ext cx="685728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chaîne CI/CD complète, conteneuriser et déployer en environnement de production sécurisé.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0" name="Text 10"/>
          <p:cNvSpPr/>
          <p:nvPr/>
        </p:nvSpPr>
        <p:spPr>
          <a:xfrm>
            <a:off x="548640" y="3383280"/>
            <a:ext cx="10972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1" name="Shape 11"/>
          <p:cNvSpPr/>
          <p:nvPr/>
        </p:nvSpPr>
        <p:spPr>
          <a:xfrm>
            <a:off x="548640" y="3703320"/>
            <a:ext cx="5531400" cy="10508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2" name="Shape 12"/>
          <p:cNvSpPr/>
          <p:nvPr/>
        </p:nvSpPr>
        <p:spPr>
          <a:xfrm>
            <a:off x="548640" y="3703320"/>
            <a:ext cx="90720" cy="10508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3" name="Text 13"/>
          <p:cNvSpPr/>
          <p:nvPr/>
        </p:nvSpPr>
        <p:spPr>
          <a:xfrm>
            <a:off x="777240" y="3840480"/>
            <a:ext cx="5165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et documenter le déploiement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4" name="Text 14"/>
          <p:cNvSpPr/>
          <p:nvPr/>
        </p:nvSpPr>
        <p:spPr>
          <a:xfrm>
            <a:off x="777240" y="4160520"/>
            <a:ext cx="5165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Dockerfile multi-stage, docker-compose, variables d'env documentées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5" name="Shape 15"/>
          <p:cNvSpPr/>
          <p:nvPr/>
        </p:nvSpPr>
        <p:spPr>
          <a:xfrm>
            <a:off x="6217920" y="3703320"/>
            <a:ext cx="5531400" cy="10508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6" name="Shape 16"/>
          <p:cNvSpPr/>
          <p:nvPr/>
        </p:nvSpPr>
        <p:spPr>
          <a:xfrm>
            <a:off x="6217920" y="3703320"/>
            <a:ext cx="90720" cy="10508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7" name="Text 17"/>
          <p:cNvSpPr/>
          <p:nvPr/>
        </p:nvSpPr>
        <p:spPr>
          <a:xfrm>
            <a:off x="6446520" y="3840480"/>
            <a:ext cx="5165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Contribuer à la mise en production DevOps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8" name="Text 18"/>
          <p:cNvSpPr/>
          <p:nvPr/>
        </p:nvSpPr>
        <p:spPr>
          <a:xfrm>
            <a:off x="6446520" y="4160520"/>
            <a:ext cx="5165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GitHub Actions : lint + test + build + deploy, secrets cloisonnés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9" name="Shape 19"/>
          <p:cNvSpPr/>
          <p:nvPr/>
        </p:nvSpPr>
        <p:spPr>
          <a:xfrm>
            <a:off x="548640" y="4846320"/>
            <a:ext cx="5531400" cy="10508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0" name="Shape 20"/>
          <p:cNvSpPr/>
          <p:nvPr/>
        </p:nvSpPr>
        <p:spPr>
          <a:xfrm>
            <a:off x="548640" y="4846320"/>
            <a:ext cx="90720" cy="10508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1" name="Text 21"/>
          <p:cNvSpPr/>
          <p:nvPr/>
        </p:nvSpPr>
        <p:spPr>
          <a:xfrm>
            <a:off x="777240" y="4983480"/>
            <a:ext cx="5165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Industrialiser la livraison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2" name="Text 22"/>
          <p:cNvSpPr/>
          <p:nvPr/>
        </p:nvSpPr>
        <p:spPr>
          <a:xfrm>
            <a:off x="777240" y="5303520"/>
            <a:ext cx="5165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(preview par PR + prod), Neon branching pour 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3" name="Shape 23"/>
          <p:cNvSpPr/>
          <p:nvPr/>
        </p:nvSpPr>
        <p:spPr>
          <a:xfrm>
            <a:off x="6217920" y="4846320"/>
            <a:ext cx="5531400" cy="10508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4" name="Shape 24"/>
          <p:cNvSpPr/>
          <p:nvPr/>
        </p:nvSpPr>
        <p:spPr>
          <a:xfrm>
            <a:off x="6217920" y="4846320"/>
            <a:ext cx="90720" cy="10508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5" name="Text 25"/>
          <p:cNvSpPr/>
          <p:nvPr/>
        </p:nvSpPr>
        <p:spPr>
          <a:xfrm>
            <a:off x="6446520" y="4983480"/>
            <a:ext cx="5165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l'exploitabilité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6" name="Text 26"/>
          <p:cNvSpPr/>
          <p:nvPr/>
        </p:nvSpPr>
        <p:spPr>
          <a:xfrm>
            <a:off x="6446520" y="5303520"/>
            <a:ext cx="5165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Healthcheck, rollback Vercel one-click, logs structurés, monitoring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7" name="Text 27"/>
          <p:cNvSpPr/>
          <p:nvPr/>
        </p:nvSpPr>
        <p:spPr>
          <a:xfrm>
            <a:off x="548640" y="598932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8" name="Shape 28"/>
          <p:cNvSpPr/>
          <p:nvPr/>
        </p:nvSpPr>
        <p:spPr>
          <a:xfrm>
            <a:off x="2743200" y="5989320"/>
            <a:ext cx="2193840" cy="27360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9" name="Text 29"/>
          <p:cNvSpPr/>
          <p:nvPr/>
        </p:nvSpPr>
        <p:spPr>
          <a:xfrm>
            <a:off x="2743200" y="5989320"/>
            <a:ext cx="2193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0" name="Shape 30"/>
          <p:cNvSpPr/>
          <p:nvPr/>
        </p:nvSpPr>
        <p:spPr>
          <a:xfrm>
            <a:off x="5029200" y="5989320"/>
            <a:ext cx="2193840" cy="27360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1" name="Text 31"/>
          <p:cNvSpPr/>
          <p:nvPr/>
        </p:nvSpPr>
        <p:spPr>
          <a:xfrm>
            <a:off x="5029200" y="5989320"/>
            <a:ext cx="2193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CI/CD GitHub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2" name="Shape 32"/>
          <p:cNvSpPr/>
          <p:nvPr/>
        </p:nvSpPr>
        <p:spPr>
          <a:xfrm>
            <a:off x="7315200" y="5989320"/>
            <a:ext cx="2193840" cy="27360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3" name="Text 33"/>
          <p:cNvSpPr/>
          <p:nvPr/>
        </p:nvSpPr>
        <p:spPr>
          <a:xfrm>
            <a:off x="7315200" y="5989320"/>
            <a:ext cx="2193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4" name="Shape 34"/>
          <p:cNvSpPr/>
          <p:nvPr/>
        </p:nvSpPr>
        <p:spPr>
          <a:xfrm>
            <a:off x="9601200" y="5989320"/>
            <a:ext cx="2193840" cy="27360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5" name="Text 35"/>
          <p:cNvSpPr/>
          <p:nvPr/>
        </p:nvSpPr>
        <p:spPr>
          <a:xfrm>
            <a:off x="9601200" y="5989320"/>
            <a:ext cx="2193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Rollback + monitoring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7" name="Text 36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8" name="Text 37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51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9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0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Difficultés rencontrées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1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2" name="Shape 3"/>
          <p:cNvSpPr/>
          <p:nvPr/>
        </p:nvSpPr>
        <p:spPr>
          <a:xfrm>
            <a:off x="548640" y="1691640"/>
            <a:ext cx="5531400" cy="219384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3" name="Shape 4"/>
          <p:cNvSpPr/>
          <p:nvPr/>
        </p:nvSpPr>
        <p:spPr>
          <a:xfrm>
            <a:off x="777240" y="1920240"/>
            <a:ext cx="867960" cy="8679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4" name="Text 5"/>
          <p:cNvSpPr/>
          <p:nvPr/>
        </p:nvSpPr>
        <p:spPr>
          <a:xfrm>
            <a:off x="777240" y="1920240"/>
            <a:ext cx="86796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5" name="Text 6"/>
          <p:cNvSpPr/>
          <p:nvPr/>
        </p:nvSpPr>
        <p:spPr>
          <a:xfrm>
            <a:off x="1783080" y="1965960"/>
            <a:ext cx="42055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sans WebSocket persistant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6" name="Text 7"/>
          <p:cNvSpPr/>
          <p:nvPr/>
        </p:nvSpPr>
        <p:spPr>
          <a:xfrm>
            <a:off x="777240" y="2880360"/>
            <a:ext cx="516564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serverless + Upstash Redis REST = pas de pub/sub TCP. J'ai construit un mécanisme SSE + polling Redis qui reste compatible serverless tout en garantissant l'ordre d'arrivée et la persistance Prisma avant push.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7" name="Shape 8"/>
          <p:cNvSpPr/>
          <p:nvPr/>
        </p:nvSpPr>
        <p:spPr>
          <a:xfrm>
            <a:off x="6217920" y="1691640"/>
            <a:ext cx="5531400" cy="219384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8" name="Shape 9"/>
          <p:cNvSpPr/>
          <p:nvPr/>
        </p:nvSpPr>
        <p:spPr>
          <a:xfrm>
            <a:off x="6446520" y="1920240"/>
            <a:ext cx="867960" cy="8679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9" name="Text 10"/>
          <p:cNvSpPr/>
          <p:nvPr/>
        </p:nvSpPr>
        <p:spPr>
          <a:xfrm>
            <a:off x="6446520" y="1920240"/>
            <a:ext cx="86796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0" name="Text 11"/>
          <p:cNvSpPr/>
          <p:nvPr/>
        </p:nvSpPr>
        <p:spPr>
          <a:xfrm>
            <a:off x="7452360" y="1965960"/>
            <a:ext cx="42055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Modélisation Prisma de bout en bout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1" name="Text 12"/>
          <p:cNvSpPr/>
          <p:nvPr/>
        </p:nvSpPr>
        <p:spPr>
          <a:xfrm>
            <a:off x="6446520" y="2880360"/>
            <a:ext cx="516564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modèles avec des contraintes d'unicité, des cascades à choisir avec soin et des enums métier. J'ai itéré sur le MCD plusieurs fois avant d'arriver à un schéma équilibré.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2" name="Shape 13"/>
          <p:cNvSpPr/>
          <p:nvPr/>
        </p:nvSpPr>
        <p:spPr>
          <a:xfrm>
            <a:off x="548640" y="4023360"/>
            <a:ext cx="5531400" cy="219384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3" name="Shape 14"/>
          <p:cNvSpPr/>
          <p:nvPr/>
        </p:nvSpPr>
        <p:spPr>
          <a:xfrm>
            <a:off x="777240" y="4251960"/>
            <a:ext cx="867960" cy="86796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4" name="Text 15"/>
          <p:cNvSpPr/>
          <p:nvPr/>
        </p:nvSpPr>
        <p:spPr>
          <a:xfrm>
            <a:off x="777240" y="4251960"/>
            <a:ext cx="86796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5" name="Text 16"/>
          <p:cNvSpPr/>
          <p:nvPr/>
        </p:nvSpPr>
        <p:spPr>
          <a:xfrm>
            <a:off x="1783080" y="4297680"/>
            <a:ext cx="42055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custom sans NextAuth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6" name="Text 17"/>
          <p:cNvSpPr/>
          <p:nvPr/>
        </p:nvSpPr>
        <p:spPr>
          <a:xfrm>
            <a:off x="777240" y="5212080"/>
            <a:ext cx="516564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Choix assumé pour comprendre le fonctionnement du JWT. Il a fallu gérer le middleware, le state OAuth, l'injection de headers et l'éventuelle révocation — toujours en roadmap.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7" name="Shape 18"/>
          <p:cNvSpPr/>
          <p:nvPr/>
        </p:nvSpPr>
        <p:spPr>
          <a:xfrm>
            <a:off x="6217920" y="4023360"/>
            <a:ext cx="5531400" cy="219384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8" name="Shape 19"/>
          <p:cNvSpPr/>
          <p:nvPr/>
        </p:nvSpPr>
        <p:spPr>
          <a:xfrm>
            <a:off x="6446520" y="4251960"/>
            <a:ext cx="867960" cy="86796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9" name="Text 20"/>
          <p:cNvSpPr/>
          <p:nvPr/>
        </p:nvSpPr>
        <p:spPr>
          <a:xfrm>
            <a:off x="6446520" y="4251960"/>
            <a:ext cx="86796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0" name="Text 21"/>
          <p:cNvSpPr/>
          <p:nvPr/>
        </p:nvSpPr>
        <p:spPr>
          <a:xfrm>
            <a:off x="7452360" y="4297680"/>
            <a:ext cx="42055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jury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1" name="Text 22"/>
          <p:cNvSpPr/>
          <p:nvPr/>
        </p:nvSpPr>
        <p:spPr>
          <a:xfrm>
            <a:off x="6446520" y="5212080"/>
            <a:ext cx="516564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Structurer le dossier de certification pour qu'il reste lisible par un jury non technique tout en étant suffisamment précis pour la partie technique. Beaucoup d'allers-retours sur la table des matières.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9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93" name="Text 23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4" name="Text 24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52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5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6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Ce que j'ai appris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7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8" name="Shape 3"/>
          <p:cNvSpPr/>
          <p:nvPr/>
        </p:nvSpPr>
        <p:spPr>
          <a:xfrm>
            <a:off x="548640" y="1691640"/>
            <a:ext cx="5531400" cy="457128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9" name="Text 4"/>
          <p:cNvSpPr/>
          <p:nvPr/>
        </p:nvSpPr>
        <p:spPr>
          <a:xfrm>
            <a:off x="731520" y="178308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0" name="Shape 5"/>
          <p:cNvSpPr/>
          <p:nvPr/>
        </p:nvSpPr>
        <p:spPr>
          <a:xfrm>
            <a:off x="777240" y="2350080"/>
            <a:ext cx="145440" cy="1454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1" name="Text 6"/>
          <p:cNvSpPr/>
          <p:nvPr/>
        </p:nvSpPr>
        <p:spPr>
          <a:xfrm>
            <a:off x="1005840" y="2240280"/>
            <a:ext cx="4845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TypeScript strict, génériques, schémas Zod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2" name="Shape 7"/>
          <p:cNvSpPr/>
          <p:nvPr/>
        </p:nvSpPr>
        <p:spPr>
          <a:xfrm>
            <a:off x="777240" y="2807280"/>
            <a:ext cx="145440" cy="1454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3" name="Text 8"/>
          <p:cNvSpPr/>
          <p:nvPr/>
        </p:nvSpPr>
        <p:spPr>
          <a:xfrm>
            <a:off x="1005840" y="2697480"/>
            <a:ext cx="4845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 — App Router, 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4" name="Shape 9"/>
          <p:cNvSpPr/>
          <p:nvPr/>
        </p:nvSpPr>
        <p:spPr>
          <a:xfrm>
            <a:off x="777240" y="3264480"/>
            <a:ext cx="145440" cy="1454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5" name="Text 10"/>
          <p:cNvSpPr/>
          <p:nvPr/>
        </p:nvSpPr>
        <p:spPr>
          <a:xfrm>
            <a:off x="1005840" y="3154680"/>
            <a:ext cx="4845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— modélisation, migrations, requêtes complexes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6" name="Shape 11"/>
          <p:cNvSpPr/>
          <p:nvPr/>
        </p:nvSpPr>
        <p:spPr>
          <a:xfrm>
            <a:off x="777240" y="3721680"/>
            <a:ext cx="145440" cy="1454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7" name="Text 12"/>
          <p:cNvSpPr/>
          <p:nvPr/>
        </p:nvSpPr>
        <p:spPr>
          <a:xfrm>
            <a:off x="1005840" y="3611880"/>
            <a:ext cx="4845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— relations riches, contraintes, indexation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8" name="Shape 13"/>
          <p:cNvSpPr/>
          <p:nvPr/>
        </p:nvSpPr>
        <p:spPr>
          <a:xfrm>
            <a:off x="777240" y="4178880"/>
            <a:ext cx="145440" cy="1454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9" name="Text 14"/>
          <p:cNvSpPr/>
          <p:nvPr/>
        </p:nvSpPr>
        <p:spPr>
          <a:xfrm>
            <a:off x="1005840" y="4069080"/>
            <a:ext cx="4845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 — cache + buffer SSE serverless-compatible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0" name="Shape 15"/>
          <p:cNvSpPr/>
          <p:nvPr/>
        </p:nvSpPr>
        <p:spPr>
          <a:xfrm>
            <a:off x="777240" y="4636080"/>
            <a:ext cx="145440" cy="1454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1" name="Text 16"/>
          <p:cNvSpPr/>
          <p:nvPr/>
        </p:nvSpPr>
        <p:spPr>
          <a:xfrm>
            <a:off x="1005840" y="4526280"/>
            <a:ext cx="4845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— OWASP, RGPD, JWT, bcrypt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2" name="Shape 17"/>
          <p:cNvSpPr/>
          <p:nvPr/>
        </p:nvSpPr>
        <p:spPr>
          <a:xfrm>
            <a:off x="777240" y="5093280"/>
            <a:ext cx="145440" cy="1454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3" name="Text 18"/>
          <p:cNvSpPr/>
          <p:nvPr/>
        </p:nvSpPr>
        <p:spPr>
          <a:xfrm>
            <a:off x="1005840" y="4983480"/>
            <a:ext cx="4845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— multi-stage, compose, healthcheck, secrets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4" name="Shape 19"/>
          <p:cNvSpPr/>
          <p:nvPr/>
        </p:nvSpPr>
        <p:spPr>
          <a:xfrm>
            <a:off x="777240" y="5550480"/>
            <a:ext cx="145440" cy="1454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5" name="Text 20"/>
          <p:cNvSpPr/>
          <p:nvPr/>
        </p:nvSpPr>
        <p:spPr>
          <a:xfrm>
            <a:off x="1005840" y="5440680"/>
            <a:ext cx="4845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CI/CD GitHub Actions — pipeline lint+test+build+deploy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6" name="Shape 21"/>
          <p:cNvSpPr/>
          <p:nvPr/>
        </p:nvSpPr>
        <p:spPr>
          <a:xfrm>
            <a:off x="6263640" y="1691640"/>
            <a:ext cx="5531400" cy="457128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7" name="Text 22"/>
          <p:cNvSpPr/>
          <p:nvPr/>
        </p:nvSpPr>
        <p:spPr>
          <a:xfrm>
            <a:off x="6446520" y="178308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Compétences transverses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8" name="Shape 23"/>
          <p:cNvSpPr/>
          <p:nvPr/>
        </p:nvSpPr>
        <p:spPr>
          <a:xfrm>
            <a:off x="6492240" y="2350080"/>
            <a:ext cx="145440" cy="1454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9" name="Text 24"/>
          <p:cNvSpPr/>
          <p:nvPr/>
        </p:nvSpPr>
        <p:spPr>
          <a:xfrm>
            <a:off x="6720840" y="2240280"/>
            <a:ext cx="4845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Découpe d'un gros projet en sprints + 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0" name="Shape 25"/>
          <p:cNvSpPr/>
          <p:nvPr/>
        </p:nvSpPr>
        <p:spPr>
          <a:xfrm>
            <a:off x="6492240" y="2807280"/>
            <a:ext cx="145440" cy="1454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1" name="Text 26"/>
          <p:cNvSpPr/>
          <p:nvPr/>
        </p:nvSpPr>
        <p:spPr>
          <a:xfrm>
            <a:off x="6720840" y="2697480"/>
            <a:ext cx="4845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technique adressée à des développeurs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2" name="Shape 27"/>
          <p:cNvSpPr/>
          <p:nvPr/>
        </p:nvSpPr>
        <p:spPr>
          <a:xfrm>
            <a:off x="6492240" y="3264480"/>
            <a:ext cx="145440" cy="1454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3" name="Text 28"/>
          <p:cNvSpPr/>
          <p:nvPr/>
        </p:nvSpPr>
        <p:spPr>
          <a:xfrm>
            <a:off x="6720840" y="3154680"/>
            <a:ext cx="4845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Lecture critique du code des coéquipiers (code review)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4" name="Shape 29"/>
          <p:cNvSpPr/>
          <p:nvPr/>
        </p:nvSpPr>
        <p:spPr>
          <a:xfrm>
            <a:off x="6492240" y="3721680"/>
            <a:ext cx="145440" cy="1454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5" name="Text 30"/>
          <p:cNvSpPr/>
          <p:nvPr/>
        </p:nvSpPr>
        <p:spPr>
          <a:xfrm>
            <a:off x="6720840" y="3611880"/>
            <a:ext cx="4845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 organisée et soutenable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6" name="Shape 31"/>
          <p:cNvSpPr/>
          <p:nvPr/>
        </p:nvSpPr>
        <p:spPr>
          <a:xfrm>
            <a:off x="6492240" y="4178880"/>
            <a:ext cx="145440" cy="1454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7" name="Text 32"/>
          <p:cNvSpPr/>
          <p:nvPr/>
        </p:nvSpPr>
        <p:spPr>
          <a:xfrm>
            <a:off x="6720840" y="4069080"/>
            <a:ext cx="4845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Estimation et priorisation pragmatique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8" name="Shape 33"/>
          <p:cNvSpPr/>
          <p:nvPr/>
        </p:nvSpPr>
        <p:spPr>
          <a:xfrm>
            <a:off x="6492240" y="4636080"/>
            <a:ext cx="145440" cy="1454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9" name="Text 34"/>
          <p:cNvSpPr/>
          <p:nvPr/>
        </p:nvSpPr>
        <p:spPr>
          <a:xfrm>
            <a:off x="6720840" y="4526280"/>
            <a:ext cx="4845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Justification de choix d'architecture face à un jury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0" name="Shape 35"/>
          <p:cNvSpPr/>
          <p:nvPr/>
        </p:nvSpPr>
        <p:spPr>
          <a:xfrm>
            <a:off x="6492240" y="5093280"/>
            <a:ext cx="145440" cy="1454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1" name="Text 36"/>
          <p:cNvSpPr/>
          <p:nvPr/>
        </p:nvSpPr>
        <p:spPr>
          <a:xfrm>
            <a:off x="6720840" y="4983480"/>
            <a:ext cx="4845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Communication métier ↔ technique (atout de reconversion)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2" name="Shape 37"/>
          <p:cNvSpPr/>
          <p:nvPr/>
        </p:nvSpPr>
        <p:spPr>
          <a:xfrm>
            <a:off x="6492240" y="5550480"/>
            <a:ext cx="145440" cy="1454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3" name="Text 38"/>
          <p:cNvSpPr/>
          <p:nvPr/>
        </p:nvSpPr>
        <p:spPr>
          <a:xfrm>
            <a:off x="6720840" y="5440680"/>
            <a:ext cx="4845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Endurance sur un projet long de plusieurs mois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3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5" name="Text 39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6" name="Text 40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53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7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8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Axes d'amélioration &amp; roadmap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9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0" name="Shape 3"/>
          <p:cNvSpPr/>
          <p:nvPr/>
        </p:nvSpPr>
        <p:spPr>
          <a:xfrm>
            <a:off x="480240" y="1691640"/>
            <a:ext cx="3702600" cy="457128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1" name="Shape 4"/>
          <p:cNvSpPr/>
          <p:nvPr/>
        </p:nvSpPr>
        <p:spPr>
          <a:xfrm>
            <a:off x="480240" y="1691640"/>
            <a:ext cx="3702600" cy="4564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2" name="Text 5"/>
          <p:cNvSpPr/>
          <p:nvPr/>
        </p:nvSpPr>
        <p:spPr>
          <a:xfrm>
            <a:off x="480240" y="1691640"/>
            <a:ext cx="37026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COURT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3" name="Shape 6"/>
          <p:cNvSpPr/>
          <p:nvPr/>
        </p:nvSpPr>
        <p:spPr>
          <a:xfrm>
            <a:off x="708840" y="2468880"/>
            <a:ext cx="145440" cy="1454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4" name="Text 7"/>
          <p:cNvSpPr/>
          <p:nvPr/>
        </p:nvSpPr>
        <p:spPr>
          <a:xfrm>
            <a:off x="983160" y="2377440"/>
            <a:ext cx="301680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Sanitization markdown (DOMPurify) — XSS résiduelle ChatMessage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5" name="Shape 8"/>
          <p:cNvSpPr/>
          <p:nvPr/>
        </p:nvSpPr>
        <p:spPr>
          <a:xfrm>
            <a:off x="708840" y="3429000"/>
            <a:ext cx="145440" cy="1454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6" name="Text 9"/>
          <p:cNvSpPr/>
          <p:nvPr/>
        </p:nvSpPr>
        <p:spPr>
          <a:xfrm>
            <a:off x="983160" y="3337560"/>
            <a:ext cx="301680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Rate limit /login, /register, /chat/send via @upstash/ratelimit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7" name="Shape 10"/>
          <p:cNvSpPr/>
          <p:nvPr/>
        </p:nvSpPr>
        <p:spPr>
          <a:xfrm>
            <a:off x="708840" y="4389120"/>
            <a:ext cx="145440" cy="1454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8" name="Text 11"/>
          <p:cNvSpPr/>
          <p:nvPr/>
        </p:nvSpPr>
        <p:spPr>
          <a:xfrm>
            <a:off x="983160" y="4297680"/>
            <a:ext cx="301680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Headers HTTP de sécurité (CSP, X-Frame, Referrer)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9" name="Shape 12"/>
          <p:cNvSpPr/>
          <p:nvPr/>
        </p:nvSpPr>
        <p:spPr>
          <a:xfrm>
            <a:off x="708840" y="5349240"/>
            <a:ext cx="145440" cy="1454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0" name="Text 13"/>
          <p:cNvSpPr/>
          <p:nvPr/>
        </p:nvSpPr>
        <p:spPr>
          <a:xfrm>
            <a:off x="983160" y="5257800"/>
            <a:ext cx="301680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Sentry + alertes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1" name="Shape 14"/>
          <p:cNvSpPr/>
          <p:nvPr/>
        </p:nvSpPr>
        <p:spPr>
          <a:xfrm>
            <a:off x="4229280" y="1691640"/>
            <a:ext cx="3702600" cy="457128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2" name="Shape 15"/>
          <p:cNvSpPr/>
          <p:nvPr/>
        </p:nvSpPr>
        <p:spPr>
          <a:xfrm>
            <a:off x="4229280" y="1691640"/>
            <a:ext cx="3702600" cy="4564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3" name="Text 16"/>
          <p:cNvSpPr/>
          <p:nvPr/>
        </p:nvSpPr>
        <p:spPr>
          <a:xfrm>
            <a:off x="4229280" y="1691640"/>
            <a:ext cx="37026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MOYEN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4" name="Shape 17"/>
          <p:cNvSpPr/>
          <p:nvPr/>
        </p:nvSpPr>
        <p:spPr>
          <a:xfrm>
            <a:off x="4457880" y="2468880"/>
            <a:ext cx="145440" cy="14544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5" name="Text 18"/>
          <p:cNvSpPr/>
          <p:nvPr/>
        </p:nvSpPr>
        <p:spPr>
          <a:xfrm>
            <a:off x="4732200" y="2377440"/>
            <a:ext cx="301680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E2E Playwright sur les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6" name="Shape 19"/>
          <p:cNvSpPr/>
          <p:nvPr/>
        </p:nvSpPr>
        <p:spPr>
          <a:xfrm>
            <a:off x="4457880" y="3429000"/>
            <a:ext cx="145440" cy="14544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7" name="Text 20"/>
          <p:cNvSpPr/>
          <p:nvPr/>
        </p:nvSpPr>
        <p:spPr>
          <a:xfrm>
            <a:off x="4732200" y="3337560"/>
            <a:ext cx="301680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Droit RGPD : suppression compte + export JSON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8" name="Shape 21"/>
          <p:cNvSpPr/>
          <p:nvPr/>
        </p:nvSpPr>
        <p:spPr>
          <a:xfrm>
            <a:off x="4457880" y="4389120"/>
            <a:ext cx="145440" cy="14544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9" name="Text 22"/>
          <p:cNvSpPr/>
          <p:nvPr/>
        </p:nvSpPr>
        <p:spPr>
          <a:xfrm>
            <a:off x="4732200" y="4297680"/>
            <a:ext cx="301680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Notifications push natives (Web Push)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0" name="Shape 23"/>
          <p:cNvSpPr/>
          <p:nvPr/>
        </p:nvSpPr>
        <p:spPr>
          <a:xfrm>
            <a:off x="4457880" y="5349240"/>
            <a:ext cx="145440" cy="14544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1" name="Text 24"/>
          <p:cNvSpPr/>
          <p:nvPr/>
        </p:nvSpPr>
        <p:spPr>
          <a:xfrm>
            <a:off x="4732200" y="5257800"/>
            <a:ext cx="301680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Modération &amp; signalement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2" name="Shape 25"/>
          <p:cNvSpPr/>
          <p:nvPr/>
        </p:nvSpPr>
        <p:spPr>
          <a:xfrm>
            <a:off x="7978320" y="1691640"/>
            <a:ext cx="3702600" cy="457128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3" name="Shape 26"/>
          <p:cNvSpPr/>
          <p:nvPr/>
        </p:nvSpPr>
        <p:spPr>
          <a:xfrm>
            <a:off x="7978320" y="1691640"/>
            <a:ext cx="3702600" cy="4564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4" name="Text 27"/>
          <p:cNvSpPr/>
          <p:nvPr/>
        </p:nvSpPr>
        <p:spPr>
          <a:xfrm>
            <a:off x="7978320" y="1691640"/>
            <a:ext cx="37026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LONG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5" name="Shape 28"/>
          <p:cNvSpPr/>
          <p:nvPr/>
        </p:nvSpPr>
        <p:spPr>
          <a:xfrm>
            <a:off x="8206920" y="2468880"/>
            <a:ext cx="145440" cy="14544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6" name="Text 29"/>
          <p:cNvSpPr/>
          <p:nvPr/>
        </p:nvSpPr>
        <p:spPr>
          <a:xfrm>
            <a:off x="8481240" y="2377440"/>
            <a:ext cx="301680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Décomposer en services (chat → ws dédié)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7" name="Shape 30"/>
          <p:cNvSpPr/>
          <p:nvPr/>
        </p:nvSpPr>
        <p:spPr>
          <a:xfrm>
            <a:off x="8206920" y="3429000"/>
            <a:ext cx="145440" cy="14544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8" name="Text 31"/>
          <p:cNvSpPr/>
          <p:nvPr/>
        </p:nvSpPr>
        <p:spPr>
          <a:xfrm>
            <a:off x="8481240" y="3337560"/>
            <a:ext cx="301680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Recommandations contenu personnalisées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9" name="Shape 32"/>
          <p:cNvSpPr/>
          <p:nvPr/>
        </p:nvSpPr>
        <p:spPr>
          <a:xfrm>
            <a:off x="8206920" y="4389120"/>
            <a:ext cx="145440" cy="14544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0" name="Text 33"/>
          <p:cNvSpPr/>
          <p:nvPr/>
        </p:nvSpPr>
        <p:spPr>
          <a:xfrm>
            <a:off x="8481240" y="4297680"/>
            <a:ext cx="301680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mobile dédiée (React Native ?)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1" name="Shape 34"/>
          <p:cNvSpPr/>
          <p:nvPr/>
        </p:nvSpPr>
        <p:spPr>
          <a:xfrm>
            <a:off x="8206920" y="5349240"/>
            <a:ext cx="145440" cy="14544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2" name="Text 35"/>
          <p:cNvSpPr/>
          <p:nvPr/>
        </p:nvSpPr>
        <p:spPr>
          <a:xfrm>
            <a:off x="8481240" y="5257800"/>
            <a:ext cx="301680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produit + analytics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7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4" name="Text 36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5" name="Text 37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54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6" name="Text 0"/>
          <p:cNvSpPr/>
          <p:nvPr/>
        </p:nvSpPr>
        <p:spPr>
          <a:xfrm>
            <a:off x="548640" y="41148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7" name="Text 1"/>
          <p:cNvSpPr/>
          <p:nvPr/>
        </p:nvSpPr>
        <p:spPr>
          <a:xfrm>
            <a:off x="548640" y="68580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Conclusion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8" name="Shape 2"/>
          <p:cNvSpPr/>
          <p:nvPr/>
        </p:nvSpPr>
        <p:spPr>
          <a:xfrm>
            <a:off x="365760" y="457200"/>
            <a:ext cx="72360" cy="776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360" tIns="45000" rIns="36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9" name="Shape 3"/>
          <p:cNvSpPr/>
          <p:nvPr/>
        </p:nvSpPr>
        <p:spPr>
          <a:xfrm>
            <a:off x="548640" y="1828800"/>
            <a:ext cx="90720" cy="16452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0" name="Text 4"/>
          <p:cNvSpPr/>
          <p:nvPr/>
        </p:nvSpPr>
        <p:spPr>
          <a:xfrm>
            <a:off x="822960" y="1783080"/>
            <a:ext cx="107892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m'a permis de mettre en pratique l'ensemble du cycle de développement d'une application moderne — de la modélisation à la mise en production — tout en faisant des choix techniques justifiés et documentés.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1" name="Text 5"/>
          <p:cNvSpPr/>
          <p:nvPr/>
        </p:nvSpPr>
        <p:spPr>
          <a:xfrm>
            <a:off x="822960" y="2697480"/>
            <a:ext cx="107892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Au-delà de la certification, ce projet matérialise ma transition concrète vers le métier de Concepteur Développeur d'Applications.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2" name="Shape 6"/>
          <p:cNvSpPr/>
          <p:nvPr/>
        </p:nvSpPr>
        <p:spPr>
          <a:xfrm>
            <a:off x="548640" y="3657600"/>
            <a:ext cx="2696760" cy="182808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3" name="Shape 7"/>
          <p:cNvSpPr/>
          <p:nvPr/>
        </p:nvSpPr>
        <p:spPr>
          <a:xfrm>
            <a:off x="1600200" y="3886200"/>
            <a:ext cx="593640" cy="5936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4" name="Text 8"/>
          <p:cNvSpPr/>
          <p:nvPr/>
        </p:nvSpPr>
        <p:spPr>
          <a:xfrm>
            <a:off x="1600200" y="3886200"/>
            <a:ext cx="593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5" name="Text 9"/>
          <p:cNvSpPr/>
          <p:nvPr/>
        </p:nvSpPr>
        <p:spPr>
          <a:xfrm>
            <a:off x="640080" y="4572000"/>
            <a:ext cx="2513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Cycle complet maîtrisé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6" name="Text 10"/>
          <p:cNvSpPr/>
          <p:nvPr/>
        </p:nvSpPr>
        <p:spPr>
          <a:xfrm>
            <a:off x="640080" y="4937760"/>
            <a:ext cx="2513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 la conception à la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7" name="Shape 11"/>
          <p:cNvSpPr/>
          <p:nvPr/>
        </p:nvSpPr>
        <p:spPr>
          <a:xfrm>
            <a:off x="3383280" y="3657600"/>
            <a:ext cx="2696760" cy="182808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8" name="Shape 12"/>
          <p:cNvSpPr/>
          <p:nvPr/>
        </p:nvSpPr>
        <p:spPr>
          <a:xfrm>
            <a:off x="4434840" y="3886200"/>
            <a:ext cx="593640" cy="5936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9" name="Text 13"/>
          <p:cNvSpPr/>
          <p:nvPr/>
        </p:nvSpPr>
        <p:spPr>
          <a:xfrm>
            <a:off x="4434840" y="3886200"/>
            <a:ext cx="593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0" name="Text 14"/>
          <p:cNvSpPr/>
          <p:nvPr/>
        </p:nvSpPr>
        <p:spPr>
          <a:xfrm>
            <a:off x="3474720" y="4572000"/>
            <a:ext cx="2513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&amp; RGPD pris au sérieux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1" name="Text 15"/>
          <p:cNvSpPr/>
          <p:nvPr/>
        </p:nvSpPr>
        <p:spPr>
          <a:xfrm>
            <a:off x="3474720" y="4937760"/>
            <a:ext cx="2513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Audit + roadmap durcissement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2" name="Shape 16"/>
          <p:cNvSpPr/>
          <p:nvPr/>
        </p:nvSpPr>
        <p:spPr>
          <a:xfrm>
            <a:off x="6217920" y="3657600"/>
            <a:ext cx="2696760" cy="182808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3" name="Shape 17"/>
          <p:cNvSpPr/>
          <p:nvPr/>
        </p:nvSpPr>
        <p:spPr>
          <a:xfrm>
            <a:off x="7269480" y="3886200"/>
            <a:ext cx="593640" cy="5936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4" name="Text 18"/>
          <p:cNvSpPr/>
          <p:nvPr/>
        </p:nvSpPr>
        <p:spPr>
          <a:xfrm>
            <a:off x="7269480" y="3886200"/>
            <a:ext cx="593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5" name="Text 19"/>
          <p:cNvSpPr/>
          <p:nvPr/>
        </p:nvSpPr>
        <p:spPr>
          <a:xfrm>
            <a:off x="6309360" y="4572000"/>
            <a:ext cx="2513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Choix techniques justifiés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6" name="Text 20"/>
          <p:cNvSpPr/>
          <p:nvPr/>
        </p:nvSpPr>
        <p:spPr>
          <a:xfrm>
            <a:off x="6309360" y="4937760"/>
            <a:ext cx="2513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Trade-offs assumés et documentés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7" name="Shape 21"/>
          <p:cNvSpPr/>
          <p:nvPr/>
        </p:nvSpPr>
        <p:spPr>
          <a:xfrm>
            <a:off x="9052560" y="3657600"/>
            <a:ext cx="2696760" cy="182808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8" name="Shape 22"/>
          <p:cNvSpPr/>
          <p:nvPr/>
        </p:nvSpPr>
        <p:spPr>
          <a:xfrm>
            <a:off x="10104120" y="3886200"/>
            <a:ext cx="593640" cy="5936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9" name="Text 23"/>
          <p:cNvSpPr/>
          <p:nvPr/>
        </p:nvSpPr>
        <p:spPr>
          <a:xfrm>
            <a:off x="10104120" y="3886200"/>
            <a:ext cx="593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◎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0" name="Text 24"/>
          <p:cNvSpPr/>
          <p:nvPr/>
        </p:nvSpPr>
        <p:spPr>
          <a:xfrm>
            <a:off x="9144000" y="4572000"/>
            <a:ext cx="2513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Recul critique acquis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1" name="Text 25"/>
          <p:cNvSpPr/>
          <p:nvPr/>
        </p:nvSpPr>
        <p:spPr>
          <a:xfrm>
            <a:off x="9144000" y="4937760"/>
            <a:ext cx="2513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Limites identifiées, plan d'évolution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2" name="Text 26"/>
          <p:cNvSpPr/>
          <p:nvPr/>
        </p:nvSpPr>
        <p:spPr>
          <a:xfrm>
            <a:off x="548640" y="5852160"/>
            <a:ext cx="110635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Disponible pour une alternance · 12 mois · Normandie / télétravail · CDA RNCP 37873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0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4" name="Text 27"/>
          <p:cNvSpPr/>
          <p:nvPr/>
        </p:nvSpPr>
        <p:spPr>
          <a:xfrm>
            <a:off x="73152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5" name="Text 28"/>
          <p:cNvSpPr/>
          <p:nvPr/>
        </p:nvSpPr>
        <p:spPr>
          <a:xfrm>
            <a:off x="11064240" y="6446520"/>
            <a:ext cx="63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55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6" name="Shape 0"/>
          <p:cNvSpPr/>
          <p:nvPr/>
        </p:nvSpPr>
        <p:spPr>
          <a:xfrm>
            <a:off x="-2743200" y="3200400"/>
            <a:ext cx="7314480" cy="7314480"/>
          </a:xfrm>
          <a:prstGeom prst="ellipse">
            <a:avLst/>
          </a:prstGeom>
          <a:solidFill>
            <a:srgbClr val="EC4899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7" name="Shape 1"/>
          <p:cNvSpPr/>
          <p:nvPr/>
        </p:nvSpPr>
        <p:spPr>
          <a:xfrm>
            <a:off x="7589520" y="-2743200"/>
            <a:ext cx="7314480" cy="731448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8" name="Text 2"/>
          <p:cNvSpPr/>
          <p:nvPr/>
        </p:nvSpPr>
        <p:spPr>
          <a:xfrm>
            <a:off x="457200" y="3108960"/>
            <a:ext cx="112464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Merci pour votre attention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9" name="Text 3"/>
          <p:cNvSpPr/>
          <p:nvPr/>
        </p:nvSpPr>
        <p:spPr>
          <a:xfrm>
            <a:off x="474120" y="4343400"/>
            <a:ext cx="112464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Place aux questions</a:t>
            </a:r>
            <a:br>
              <a:rPr sz="2200"/>
            </a:br>
            <a:br>
              <a:rPr sz="2200"/>
            </a:b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^^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0" name="Text 8"/>
          <p:cNvSpPr/>
          <p:nvPr/>
        </p:nvSpPr>
        <p:spPr>
          <a:xfrm>
            <a:off x="3657600" y="5212080"/>
            <a:ext cx="3650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1" name="Text 16"/>
          <p:cNvSpPr/>
          <p:nvPr/>
        </p:nvSpPr>
        <p:spPr>
          <a:xfrm>
            <a:off x="457200" y="6172200"/>
            <a:ext cx="11246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RNCP 37873 — Concepteur Développeur d'Applications · Zone01 Rouen Normandie ·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12" name=""/>
          <p:cNvPicPr/>
          <p:nvPr/>
        </p:nvPicPr>
        <p:blipFill>
          <a:blip r:embed="rId1"/>
          <a:stretch/>
        </p:blipFill>
        <p:spPr>
          <a:xfrm>
            <a:off x="9601200" y="5029200"/>
            <a:ext cx="3429000" cy="1955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13" name=""/>
          <p:cNvPicPr/>
          <p:nvPr/>
        </p:nvPicPr>
        <p:blipFill>
          <a:blip r:embed="rId2"/>
          <a:stretch/>
        </p:blipFill>
        <p:spPr>
          <a:xfrm>
            <a:off x="448200" y="-685800"/>
            <a:ext cx="5495400" cy="4123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Application>LibreOffice/26.2.3.2$Linux_X86_64 LibreOffice_project/d4d5ed47b6084125f28d269a5650105d54dde034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2026-05-19T10:21:42Z</dcterms:created>
  <dc:creator>Christophe Lecart</dc:creator>
  <dc:description/>
  <dc:language>en-US</dc:language>
  <cp:lastModifiedBy/>
  <dcterms:modified xsi:type="dcterms:W3CDTF">2026-05-21T16:19:25Z</dcterms:modified>
  <cp:revision>4</cp:revision>
  <dc:subject>PptxGenJS Presentation</dc:subject>
  <dc:title>Konekt - Support Visuel RNCP 37873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47</vt:i4>
  </property>
  <property fmtid="{D5CDD505-2E9C-101B-9397-08002B2CF9AE}" pid="3" name="PresentationFormat">
    <vt:lpwstr>On-screen Show (16:9)</vt:lpwstr>
  </property>
  <property fmtid="{D5CDD505-2E9C-101B-9397-08002B2CF9AE}" pid="4" name="Slides">
    <vt:i4>47</vt:i4>
  </property>
</Properties>
</file>