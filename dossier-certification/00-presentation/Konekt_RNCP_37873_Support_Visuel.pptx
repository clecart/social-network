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presProps" Target="presProp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Features</c:v>
                </c:pt>
              </c:strCache>
            </c:strRef>
          </c:tx>
          <c:spPr>
            <a:solidFill>
              <a:srgbClr val="4472C4"/>
            </a:solidFill>
            <a:ln w="9360">
              <a:solidFill>
                <a:srgbClr val="F9F9F9"/>
              </a:solidFill>
              <a:round/>
            </a:ln>
          </c:spPr>
          <c:explosion val="0"/>
          <c:dPt>
            <c:idx val="0"/>
            <c:spPr>
              <a:solidFill>
                <a:srgbClr val="EC4899"/>
              </a:solidFill>
              <a:ln w="0">
                <a:noFill/>
              </a:ln>
            </c:spPr>
          </c:dPt>
          <c:dPt>
            <c:idx val="1"/>
            <c:spPr>
              <a:solidFill>
                <a:srgbClr val="06B6D4"/>
              </a:solidFill>
              <a:ln w="0">
                <a:noFill/>
              </a:ln>
            </c:spPr>
          </c:dPt>
          <c:dPt>
            <c:idx val="2"/>
            <c:spPr>
              <a:solidFill>
                <a:srgbClr val="8B5CF6"/>
              </a:solidFill>
              <a:ln w="0">
                <a:noFill/>
              </a:ln>
            </c:spPr>
          </c:dPt>
          <c:dPt>
            <c:idx val="3"/>
            <c:spPr>
              <a:solidFill>
                <a:srgbClr val="F59E0B"/>
              </a:solidFill>
              <a:ln w="0">
                <a:noFill/>
              </a:ln>
            </c:spPr>
          </c:dPt>
          <c:dPt>
            <c:idx val="4"/>
            <c:spPr>
              <a:solidFill>
                <a:srgbClr val="10B981"/>
              </a:solidFill>
              <a:ln w="0">
                <a:noFill/>
              </a:ln>
            </c:spPr>
          </c:dPt>
          <c:dLbls>
            <c:dLbl>
              <c:idx val="0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1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2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3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dLbl>
              <c:idx val="4"/>
              <c:numFmt formatCode="0%" sourceLinked="0"/>
              <c:txPr>
                <a:bodyPr wrap="square"/>
                <a:lstStyle/>
                <a:p>
                  <a:pPr>
                    <a:defRPr sz="900" b="0" u="none" strike="noStrike">
                      <a:solidFill>
                        <a:srgbClr val="FFFFFF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eparator>
</c:separator>
            </c:dLbl>
            <c:numFmt formatCode="0%" sourceLinked="0"/>
            <c:txPr>
              <a:bodyPr wrap="square"/>
              <a:lstStyle/>
              <a:p>
                <a:pPr>
                  <a:defRPr sz="18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eparator>
</c:separator>
            <c:showLeaderLines val="0"/>
          </c:dLbls>
          <c:cat>
            <c:strRef>
              <c:f>categories</c:f>
              <c:strCache>
                <c:ptCount val="5"/>
                <c:pt idx="0">
                  <c:v>Posts &amp; Réactions</c:v>
                </c:pt>
                <c:pt idx="1">
                  <c:v>Messagerie (SSE)</c:v>
                </c:pt>
                <c:pt idx="2">
                  <c:v>Groupes &amp; Events</c:v>
                </c:pt>
                <c:pt idx="3">
                  <c:v>Auth &amp; Profil</c:v>
                </c:pt>
                <c:pt idx="4">
                  <c:v>Recherche &amp; Notif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5"/>
                <c:pt idx="0">
                  <c:v>30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  <c:pt idx="4">
                  <c:v>10</c:v>
                </c:pt>
              </c:numCache>
            </c:numRef>
          </c:val>
        </c:ser>
        <c:firstSliceAng val="0"/>
        <c:holeSize val="50"/>
      </c:doughnutChart>
      <c:spPr>
        <a:solidFill>
          <a:srgbClr val="272730"/>
        </a:solidFill>
        <a:ln w="0">
          <a:noFill/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sz="1000" b="0" u="none" strike="noStrike">
              <a:solidFill>
                <a:srgbClr val="FFFFFF"/>
              </a:solidFill>
              <a:uFillTx/>
              <a:latin typeface="Calibri"/>
            </a:defRPr>
          </a:pPr>
        </a:p>
      </c:txPr>
    </c:legend>
    <c:plotVisOnly val="1"/>
    <c:dispBlanksAs val="span"/>
  </c:chart>
  <c:spPr>
    <a:solidFill>
      <a:srgbClr val="272730"/>
    </a:solidFill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Jours</c:v>
                </c:pt>
              </c:strCache>
            </c:strRef>
          </c:tx>
          <c:spPr>
            <a:solidFill>
              <a:srgbClr val="EC4899"/>
            </a:solidFill>
            <a:ln w="0">
              <a:noFill/>
            </a:ln>
          </c:spPr>
          <c:invertIfNegative val="0"/>
          <c:dLbls>
            <c:numFmt formatCode="#,##0" sourceLinked="0"/>
            <c:txPr>
              <a:bodyPr wrap="square"/>
              <a:lstStyle/>
              <a:p>
                <a:pPr>
                  <a:defRPr sz="1000" b="0" u="none" strike="noStrike">
                    <a:solidFill>
                      <a:srgbClr val="FFFFFF"/>
                    </a:solidFill>
                    <a:uFillTx/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4"/>
                <c:pt idx="0">
                  <c:v>Conception</c:v>
                </c:pt>
                <c:pt idx="1">
                  <c:v>Développement</c:v>
                </c:pt>
                <c:pt idx="2">
                  <c:v>Tests</c:v>
                </c:pt>
                <c:pt idx="3">
                  <c:v>Déploiement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25</c:v>
                </c:pt>
                <c:pt idx="1">
                  <c:v>14</c:v>
                </c:pt>
                <c:pt idx="2">
                  <c:v>7</c:v>
                </c:pt>
                <c:pt idx="3">
                  <c:v>3</c:v>
                </c:pt>
              </c:numCache>
            </c:numRef>
          </c:val>
        </c:ser>
        <c:gapWidth val="150"/>
        <c:overlap val="0"/>
        <c:axId val="59885174"/>
        <c:axId val="80817004"/>
      </c:barChart>
      <c:catAx>
        <c:axId val="5988517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1000" b="0" u="none" strike="noStrike">
                <a:solidFill>
                  <a:srgbClr val="A1A1AA"/>
                </a:solidFill>
                <a:uFillTx/>
                <a:latin typeface="Calibri"/>
              </a:defRPr>
            </a:pPr>
          </a:p>
        </c:txPr>
        <c:crossAx val="80817004"/>
        <c:crosses val="autoZero"/>
        <c:auto val="1"/>
        <c:lblAlgn val="ctr"/>
        <c:lblOffset val="100"/>
        <c:noMultiLvlLbl val="0"/>
      </c:catAx>
      <c:valAx>
        <c:axId val="80817004"/>
        <c:scaling>
          <c:orientation val="minMax"/>
        </c:scaling>
        <c:delete val="0"/>
        <c:axPos val="l"/>
        <c:majorGridlines>
          <c:spPr>
            <a:ln w="6480">
              <a:solidFill>
                <a:srgbClr val="3F3F46"/>
              </a:solidFill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600">
            <a:solidFill>
              <a:srgbClr val="888888"/>
            </a:solidFill>
            <a:round/>
          </a:ln>
        </c:spPr>
        <c:txPr>
          <a:bodyPr/>
          <a:lstStyle/>
          <a:p>
            <a:pPr>
              <a:defRPr sz="900" b="0" u="none" strike="noStrike">
                <a:solidFill>
                  <a:srgbClr val="A1A1AA"/>
                </a:solidFill>
                <a:uFillTx/>
                <a:latin typeface="Calibri"/>
              </a:defRPr>
            </a:pPr>
          </a:p>
        </c:txPr>
        <c:crossAx val="59885174"/>
        <c:crosses val="autoZero"/>
        <c:crossBetween val="between"/>
      </c:valAx>
      <c:spPr>
        <a:solidFill>
          <a:srgbClr val="272730"/>
        </a:solidFill>
        <a:ln w="0">
          <a:noFill/>
        </a:ln>
      </c:spPr>
    </c:plotArea>
    <c:plotVisOnly val="1"/>
    <c:dispBlanksAs val="span"/>
  </c:chart>
  <c:spPr>
    <a:solidFill>
      <a:srgbClr val="272730"/>
    </a:solidFill>
    <a:ln w="0">
      <a:noFill/>
    </a:ln>
  </c:sp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charts/style2.xml><?xml version="1.0" encoding="utf-8"?>
<cs:chartStyle xmlns:cs="http://schemas.microsoft.com/office/drawing/2012/chartStyle" xmlns:a="http://schemas.openxmlformats.org/drawingml/2006/main" id="419">
  <cs:axisTitle>
    <cs:lnRef idx="0"/>
    <cs:lineWidthScale>1</cs:lineWidthScale>
    <cs:fillRef idx="0"/>
    <cs:effectRef idx="0"/>
    <cs:fontRef idx="minor"/>
    <a:defRPr sz="1800" b="0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E95B603E-4918-4C50-94C5-FD91D1D1DF9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slide" Target="../slides/slide59.xml"/><Relationship Id="rId2" Type="http://schemas.openxmlformats.org/officeDocument/2006/relationships/notesMaster" Target="../notesMasters/notesMaster1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slide" Target="../slides/slide60.xml"/><Relationship Id="rId2" Type="http://schemas.openxmlformats.org/officeDocument/2006/relationships/notesMaster" Target="../notesMasters/notesMaster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slide" Target="../slides/slide62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6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0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BF9D2CB-385F-42EE-A48B-8BE9D7D0625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6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3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CE47D82-34E2-48FA-BBB4-0B4AA6339BE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6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6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FD18AF4-A27A-4A4A-8FA7-D79AC1DBF95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6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9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4C9CDE9-63AC-4879-BA31-96F371A1B44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2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255954E-6835-492C-8DB7-28E26591299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5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BECA661-2095-435A-97EC-9E72B0F1813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8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7506E80-EE1D-4669-B75B-361BC8C05FA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1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6873230-49EF-49BA-ADA7-D33907575D8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4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2DFE5D0-CAB6-4E6C-B85D-DECD4818CBC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7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DD075E0-2A11-4A71-9467-D928205ED98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0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B69C481-362B-4084-BC1B-A739FB668BF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3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FBAB405-584D-4B8E-8BD6-E3FAFB93D08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6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2841817-6353-4F58-ACBD-D8DFD1D86E9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9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91F61FB-E439-4A1E-8CC0-ACEA305B8F8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2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36A1533-0954-418C-89B3-61D58B888AC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5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0D31DC4-3ED0-4EB2-BA39-586EF51FB56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8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9D23014-D87C-47C7-8D8F-5AD75AA6C03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1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CF264B1-35D1-46B0-A16D-4A443770557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4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2A2CC9D-66EC-4665-8989-B6C92139224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7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ED2EEC7-4ABE-4A0A-B26A-EA71FA10C68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0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FB36C7D-11E2-4864-BBD3-40C2A504829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3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036922D-4EE0-4BF6-8F2F-A36169D535C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6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45A4CC5-5378-4459-AE50-06E425B25D8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9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23A1CE3-0D21-4CDD-AB19-0039F00FD13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2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D5EF9B7-39BD-4814-8374-EF80074566D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5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D95A6DD-D86F-4006-8697-98AA3D3B4DC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8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033E832-8E8E-41DD-8A97-78E0EDB3375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1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7F4D011-66BA-4FCA-B335-59E7CC4F26B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4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7784DB1-6F8B-40C1-8DE8-75C51625765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7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763FBF5-FBFB-4C80-8587-4AF08E74110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0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C5E4EFF-6110-490D-A1F6-3E061C9C76A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3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8D7698D-46AD-4D43-8AC1-7D41A5CF91D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6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8301D90-CC27-4DD3-B152-B51661AE5B1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9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6512F7D-08B6-41FC-8CF6-F2AF9892067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2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AC60437-3E86-4EED-B8A8-6FB0FD5FC58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5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2002E3F-8848-4CA7-9A77-4AF0058E310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7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8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11486BE-3F40-4567-968A-15C60ACBFCE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8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1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6AD6AAB-E7A9-4B85-915F-F23ACDD6F47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8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4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CF86EDA-583E-4DD8-AAC8-2B2154A690F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8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7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0316866-F804-4FD8-B2E6-ABBAFFC0D9E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8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0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D6CA79C-C465-4E50-B65A-2BB89336BFD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8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3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8A9B0FD-5838-40C2-ADBB-C1F89A69576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8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6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2F7C559-2EB3-4F7F-9413-D20F37A166C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8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9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17FD99D-53E9-4474-A970-E05BBD56B3E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8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2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8D1323A-A831-4F73-BF54-D32CEA61A5F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8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5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7C8F372-FC10-4742-B8C0-C7519D70AB6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2800" cy="3082680"/>
          </a:xfrm>
          <a:prstGeom prst="rect">
            <a:avLst/>
          </a:prstGeom>
          <a:ln w="0">
            <a:noFill/>
          </a:ln>
        </p:spPr>
      </p:sp>
      <p:sp>
        <p:nvSpPr>
          <p:cNvPr id="28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2800" cy="359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8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68200" cy="455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5E2CF89-0D71-449A-9DE3-07B9F20BEAF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-2743200" y="-2743200"/>
            <a:ext cx="7311600" cy="7311600"/>
          </a:xfrm>
          <a:prstGeom prst="ellipse">
            <a:avLst/>
          </a:prstGeom>
          <a:solidFill>
            <a:srgbClr val="EC4899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9418320" y="4114800"/>
            <a:ext cx="6397200" cy="6397200"/>
          </a:xfrm>
          <a:prstGeom prst="ellipse">
            <a:avLst/>
          </a:prstGeom>
          <a:solidFill>
            <a:srgbClr val="8B5CF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7315200" y="914400"/>
            <a:ext cx="2739600" cy="2739600"/>
          </a:xfrm>
          <a:prstGeom prst="ellipse">
            <a:avLst/>
          </a:prstGeom>
          <a:solidFill>
            <a:srgbClr val="06B6D4">
              <a:alpha val="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914400" y="2468880"/>
            <a:ext cx="2373840" cy="407880"/>
          </a:xfrm>
          <a:prstGeom prst="roundRect">
            <a:avLst>
              <a:gd name="adj" fmla="val 48889"/>
            </a:avLst>
          </a:prstGeom>
          <a:solidFill>
            <a:srgbClr val="EC4899">
              <a:alpha val="25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Text 4"/>
          <p:cNvSpPr/>
          <p:nvPr/>
        </p:nvSpPr>
        <p:spPr>
          <a:xfrm>
            <a:off x="914400" y="2468880"/>
            <a:ext cx="237384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RNCP 37873  ·  CDA  ·  Niveau 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914400" y="3108960"/>
            <a:ext cx="1005480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Support de soutenance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914400" y="3611880"/>
            <a:ext cx="1005480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Réseau social Konekt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914400" y="4526280"/>
            <a:ext cx="100548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Une plateforme sociale full-stack temps réel — Next.js 15, Prisma, PostgreSQL, SSE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 8"/>
          <p:cNvSpPr/>
          <p:nvPr/>
        </p:nvSpPr>
        <p:spPr>
          <a:xfrm>
            <a:off x="914400" y="5212080"/>
            <a:ext cx="1093680" cy="331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8280" rIns="90000" bIns="-8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Text 9"/>
          <p:cNvSpPr/>
          <p:nvPr/>
        </p:nvSpPr>
        <p:spPr>
          <a:xfrm>
            <a:off x="914400" y="5349240"/>
            <a:ext cx="7311600" cy="81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Christophe Lecart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Concepteur Développeur d'Applications  ·  Promotion 2024-2026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0"/>
          <p:cNvSpPr/>
          <p:nvPr/>
        </p:nvSpPr>
        <p:spPr>
          <a:xfrm>
            <a:off x="8046720" y="6217920"/>
            <a:ext cx="36540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Zone01 Rouen Normandie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1"/>
          <p:cNvSpPr/>
          <p:nvPr/>
        </p:nvSpPr>
        <p:spPr>
          <a:xfrm>
            <a:off x="8046720" y="6492240"/>
            <a:ext cx="36540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Soutenance 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" name=""/>
          <p:cNvPicPr/>
          <p:nvPr/>
        </p:nvPicPr>
        <p:blipFill>
          <a:blip r:embed="rId1"/>
          <a:stretch/>
        </p:blipFill>
        <p:spPr>
          <a:xfrm>
            <a:off x="-457200" y="-685800"/>
            <a:ext cx="5492160" cy="4120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0"/>
          <p:cNvSpPr/>
          <p:nvPr/>
        </p:nvSpPr>
        <p:spPr>
          <a:xfrm>
            <a:off x="9875520" y="-1371600"/>
            <a:ext cx="3654000" cy="3654000"/>
          </a:xfrm>
          <a:prstGeom prst="ellipse">
            <a:avLst/>
          </a:prstGeom>
          <a:solidFill>
            <a:srgbClr val="EC4899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Shape 1"/>
          <p:cNvSpPr/>
          <p:nvPr/>
        </p:nvSpPr>
        <p:spPr>
          <a:xfrm>
            <a:off x="11247120" y="-457200"/>
            <a:ext cx="1642320" cy="1642320"/>
          </a:xfrm>
          <a:prstGeom prst="ellipse">
            <a:avLst/>
          </a:prstGeom>
          <a:solidFill>
            <a:srgbClr val="8B5CF6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Text 2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PLAN DE LA PRÉSENTATION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3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Sommaire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4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Shape 5"/>
          <p:cNvSpPr/>
          <p:nvPr/>
        </p:nvSpPr>
        <p:spPr>
          <a:xfrm>
            <a:off x="548640" y="1691640"/>
            <a:ext cx="11060640" cy="63648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Text 6"/>
          <p:cNvSpPr/>
          <p:nvPr/>
        </p:nvSpPr>
        <p:spPr>
          <a:xfrm>
            <a:off x="685800" y="1691640"/>
            <a:ext cx="81936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7"/>
          <p:cNvSpPr/>
          <p:nvPr/>
        </p:nvSpPr>
        <p:spPr>
          <a:xfrm>
            <a:off x="1554480" y="1828800"/>
            <a:ext cx="14760" cy="36216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560" tIns="45000" rIns="7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Text 8"/>
          <p:cNvSpPr/>
          <p:nvPr/>
        </p:nvSpPr>
        <p:spPr>
          <a:xfrm>
            <a:off x="1737360" y="1691640"/>
            <a:ext cx="54828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 candidat &amp; le contexte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9"/>
          <p:cNvSpPr/>
          <p:nvPr/>
        </p:nvSpPr>
        <p:spPr>
          <a:xfrm>
            <a:off x="6400800" y="1691640"/>
            <a:ext cx="511704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Parcours, reconversion, formation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0"/>
          <p:cNvSpPr/>
          <p:nvPr/>
        </p:nvSpPr>
        <p:spPr>
          <a:xfrm>
            <a:off x="548640" y="2404800"/>
            <a:ext cx="11060640" cy="63648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Text 11"/>
          <p:cNvSpPr/>
          <p:nvPr/>
        </p:nvSpPr>
        <p:spPr>
          <a:xfrm>
            <a:off x="685800" y="2404800"/>
            <a:ext cx="81936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12"/>
          <p:cNvSpPr/>
          <p:nvPr/>
        </p:nvSpPr>
        <p:spPr>
          <a:xfrm>
            <a:off x="1554480" y="2541960"/>
            <a:ext cx="14760" cy="36216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560" tIns="45000" rIns="7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Text 13"/>
          <p:cNvSpPr/>
          <p:nvPr/>
        </p:nvSpPr>
        <p:spPr>
          <a:xfrm>
            <a:off x="1737360" y="2404800"/>
            <a:ext cx="54828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 projet Konekt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4"/>
          <p:cNvSpPr/>
          <p:nvPr/>
        </p:nvSpPr>
        <p:spPr>
          <a:xfrm>
            <a:off x="6400800" y="2404800"/>
            <a:ext cx="511704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Problématique, périmètre, équipe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5"/>
          <p:cNvSpPr/>
          <p:nvPr/>
        </p:nvSpPr>
        <p:spPr>
          <a:xfrm>
            <a:off x="548640" y="3117960"/>
            <a:ext cx="11060640" cy="63648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Text 16"/>
          <p:cNvSpPr/>
          <p:nvPr/>
        </p:nvSpPr>
        <p:spPr>
          <a:xfrm>
            <a:off x="685800" y="3117960"/>
            <a:ext cx="81936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7"/>
          <p:cNvSpPr/>
          <p:nvPr/>
        </p:nvSpPr>
        <p:spPr>
          <a:xfrm>
            <a:off x="1554480" y="3255120"/>
            <a:ext cx="14760" cy="36216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560" tIns="45000" rIns="7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Text 18"/>
          <p:cNvSpPr/>
          <p:nvPr/>
        </p:nvSpPr>
        <p:spPr>
          <a:xfrm>
            <a:off x="1737360" y="3117960"/>
            <a:ext cx="54828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Conception &amp; modélisation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9"/>
          <p:cNvSpPr/>
          <p:nvPr/>
        </p:nvSpPr>
        <p:spPr>
          <a:xfrm>
            <a:off x="6400800" y="3117960"/>
            <a:ext cx="511704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stories, MCD, design system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20"/>
          <p:cNvSpPr/>
          <p:nvPr/>
        </p:nvSpPr>
        <p:spPr>
          <a:xfrm>
            <a:off x="548640" y="3831480"/>
            <a:ext cx="11060640" cy="63648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" name="Text 21"/>
          <p:cNvSpPr/>
          <p:nvPr/>
        </p:nvSpPr>
        <p:spPr>
          <a:xfrm>
            <a:off x="685800" y="3831480"/>
            <a:ext cx="81936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22"/>
          <p:cNvSpPr/>
          <p:nvPr/>
        </p:nvSpPr>
        <p:spPr>
          <a:xfrm>
            <a:off x="1554480" y="3968640"/>
            <a:ext cx="14760" cy="36216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560" tIns="45000" rIns="7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Text 23"/>
          <p:cNvSpPr/>
          <p:nvPr/>
        </p:nvSpPr>
        <p:spPr>
          <a:xfrm>
            <a:off x="1737360" y="3831480"/>
            <a:ext cx="54828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&amp; développement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24"/>
          <p:cNvSpPr/>
          <p:nvPr/>
        </p:nvSpPr>
        <p:spPr>
          <a:xfrm>
            <a:off x="6400800" y="3831480"/>
            <a:ext cx="511704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Stack, API, temps réel, sécurité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25"/>
          <p:cNvSpPr/>
          <p:nvPr/>
        </p:nvSpPr>
        <p:spPr>
          <a:xfrm>
            <a:off x="548640" y="4544640"/>
            <a:ext cx="11060640" cy="63648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Text 26"/>
          <p:cNvSpPr/>
          <p:nvPr/>
        </p:nvSpPr>
        <p:spPr>
          <a:xfrm>
            <a:off x="685800" y="4544640"/>
            <a:ext cx="81936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27"/>
          <p:cNvSpPr/>
          <p:nvPr/>
        </p:nvSpPr>
        <p:spPr>
          <a:xfrm>
            <a:off x="1554480" y="4681800"/>
            <a:ext cx="14760" cy="36216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560" tIns="45000" rIns="7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Text 28"/>
          <p:cNvSpPr/>
          <p:nvPr/>
        </p:nvSpPr>
        <p:spPr>
          <a:xfrm>
            <a:off x="1737360" y="4544640"/>
            <a:ext cx="54828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Tests, CI/CD &amp; déploiement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29"/>
          <p:cNvSpPr/>
          <p:nvPr/>
        </p:nvSpPr>
        <p:spPr>
          <a:xfrm>
            <a:off x="6400800" y="4544640"/>
            <a:ext cx="511704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Qualité, automatisation,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30"/>
          <p:cNvSpPr/>
          <p:nvPr/>
        </p:nvSpPr>
        <p:spPr>
          <a:xfrm>
            <a:off x="548640" y="5257800"/>
            <a:ext cx="11060640" cy="636480"/>
          </a:xfrm>
          <a:prstGeom prst="roundRect">
            <a:avLst>
              <a:gd name="adj" fmla="val 1142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Text 31"/>
          <p:cNvSpPr/>
          <p:nvPr/>
        </p:nvSpPr>
        <p:spPr>
          <a:xfrm>
            <a:off x="685800" y="5257800"/>
            <a:ext cx="81936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32"/>
          <p:cNvSpPr/>
          <p:nvPr/>
        </p:nvSpPr>
        <p:spPr>
          <a:xfrm>
            <a:off x="1554480" y="5394960"/>
            <a:ext cx="14760" cy="36216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560" tIns="45000" rIns="7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Text 33"/>
          <p:cNvSpPr/>
          <p:nvPr/>
        </p:nvSpPr>
        <p:spPr>
          <a:xfrm>
            <a:off x="1737360" y="5257800"/>
            <a:ext cx="54828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Bilan &amp; compétences RNCP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34"/>
          <p:cNvSpPr/>
          <p:nvPr/>
        </p:nvSpPr>
        <p:spPr>
          <a:xfrm>
            <a:off x="6400800" y="5257800"/>
            <a:ext cx="511704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Apprentissages, mapping des blocs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" name="Text 35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36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 0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LE CANDIDAT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Christophe Lecart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" name="Shape 3"/>
          <p:cNvSpPr/>
          <p:nvPr/>
        </p:nvSpPr>
        <p:spPr>
          <a:xfrm>
            <a:off x="731520" y="1691640"/>
            <a:ext cx="2922480" cy="2922480"/>
          </a:xfrm>
          <a:prstGeom prst="ellipse">
            <a:avLst/>
          </a:prstGeom>
          <a:solidFill>
            <a:srgbClr val="EC4899">
              <a:alpha val="30000"/>
            </a:srgbClr>
          </a:solidFill>
          <a:ln w="381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" name="Shape 5"/>
          <p:cNvSpPr/>
          <p:nvPr/>
        </p:nvSpPr>
        <p:spPr>
          <a:xfrm>
            <a:off x="731520" y="4846320"/>
            <a:ext cx="2922480" cy="362160"/>
          </a:xfrm>
          <a:prstGeom prst="roundRect">
            <a:avLst>
              <a:gd name="adj" fmla="val 375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" name="Text 6"/>
          <p:cNvSpPr/>
          <p:nvPr/>
        </p:nvSpPr>
        <p:spPr>
          <a:xfrm>
            <a:off x="731520" y="4846320"/>
            <a:ext cx="292248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RECONVERSION DEV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7"/>
          <p:cNvSpPr/>
          <p:nvPr/>
        </p:nvSpPr>
        <p:spPr>
          <a:xfrm>
            <a:off x="4114800" y="1691640"/>
            <a:ext cx="77688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Du terrain industriel au code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8"/>
          <p:cNvSpPr/>
          <p:nvPr/>
        </p:nvSpPr>
        <p:spPr>
          <a:xfrm>
            <a:off x="4114800" y="2240280"/>
            <a:ext cx="7768800" cy="127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Technicien industriel pendant 20 ans (KONE Ascenseurs, SOCOTEC Équipements), j'ai entamé en 2024 une transition complète vers le développement full-stack via la formation Zone01 Rouen Normandie.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9"/>
          <p:cNvSpPr/>
          <p:nvPr/>
        </p:nvSpPr>
        <p:spPr>
          <a:xfrm>
            <a:off x="4114800" y="3611880"/>
            <a:ext cx="1825200" cy="127656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" name="Text 10"/>
          <p:cNvSpPr/>
          <p:nvPr/>
        </p:nvSpPr>
        <p:spPr>
          <a:xfrm>
            <a:off x="4114800" y="3703320"/>
            <a:ext cx="182520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20 ans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1"/>
          <p:cNvSpPr/>
          <p:nvPr/>
        </p:nvSpPr>
        <p:spPr>
          <a:xfrm>
            <a:off x="4114800" y="4297680"/>
            <a:ext cx="18252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Expérience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industrielle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12"/>
          <p:cNvSpPr/>
          <p:nvPr/>
        </p:nvSpPr>
        <p:spPr>
          <a:xfrm>
            <a:off x="6080760" y="3611880"/>
            <a:ext cx="1825200" cy="127656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 13"/>
          <p:cNvSpPr/>
          <p:nvPr/>
        </p:nvSpPr>
        <p:spPr>
          <a:xfrm>
            <a:off x="6080760" y="3703320"/>
            <a:ext cx="182520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2024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4"/>
          <p:cNvSpPr/>
          <p:nvPr/>
        </p:nvSpPr>
        <p:spPr>
          <a:xfrm>
            <a:off x="6080760" y="4297680"/>
            <a:ext cx="18252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Entrée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Zone01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15"/>
          <p:cNvSpPr/>
          <p:nvPr/>
        </p:nvSpPr>
        <p:spPr>
          <a:xfrm>
            <a:off x="8046720" y="3611880"/>
            <a:ext cx="1825200" cy="127656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 16"/>
          <p:cNvSpPr/>
          <p:nvPr/>
        </p:nvSpPr>
        <p:spPr>
          <a:xfrm>
            <a:off x="8046720" y="3703320"/>
            <a:ext cx="182520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Niveau 6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7"/>
          <p:cNvSpPr/>
          <p:nvPr/>
        </p:nvSpPr>
        <p:spPr>
          <a:xfrm>
            <a:off x="8046720" y="4297680"/>
            <a:ext cx="18252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Certification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visée (RNCP)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18"/>
          <p:cNvSpPr/>
          <p:nvPr/>
        </p:nvSpPr>
        <p:spPr>
          <a:xfrm>
            <a:off x="10012680" y="3611880"/>
            <a:ext cx="1825200" cy="1276560"/>
          </a:xfrm>
          <a:prstGeom prst="roundRect">
            <a:avLst>
              <a:gd name="adj" fmla="val 571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" name="Text 19"/>
          <p:cNvSpPr/>
          <p:nvPr/>
        </p:nvSpPr>
        <p:spPr>
          <a:xfrm>
            <a:off x="10012680" y="3703320"/>
            <a:ext cx="182520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Full-stack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20"/>
          <p:cNvSpPr/>
          <p:nvPr/>
        </p:nvSpPr>
        <p:spPr>
          <a:xfrm>
            <a:off x="10012680" y="4297680"/>
            <a:ext cx="18252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Appétence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backend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1"/>
          <p:cNvSpPr/>
          <p:nvPr/>
        </p:nvSpPr>
        <p:spPr>
          <a:xfrm>
            <a:off x="4114800" y="5110920"/>
            <a:ext cx="7677360" cy="1185120"/>
          </a:xfrm>
          <a:prstGeom prst="roundRect">
            <a:avLst>
              <a:gd name="adj" fmla="val 6154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" name="Text 22"/>
          <p:cNvSpPr/>
          <p:nvPr/>
        </p:nvSpPr>
        <p:spPr>
          <a:xfrm>
            <a:off x="4297680" y="512064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Forces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23"/>
          <p:cNvSpPr/>
          <p:nvPr/>
        </p:nvSpPr>
        <p:spPr>
          <a:xfrm>
            <a:off x="4297680" y="5413320"/>
            <a:ext cx="499320" cy="49932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" name="Text 24"/>
          <p:cNvSpPr/>
          <p:nvPr/>
        </p:nvSpPr>
        <p:spPr>
          <a:xfrm>
            <a:off x="4296960" y="5322240"/>
            <a:ext cx="499320" cy="56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▲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5"/>
          <p:cNvSpPr/>
          <p:nvPr/>
        </p:nvSpPr>
        <p:spPr>
          <a:xfrm>
            <a:off x="4846320" y="5413320"/>
            <a:ext cx="132228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Rigueur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26"/>
          <p:cNvSpPr/>
          <p:nvPr/>
        </p:nvSpPr>
        <p:spPr>
          <a:xfrm>
            <a:off x="6172200" y="5413320"/>
            <a:ext cx="499320" cy="49932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" name="Text 27"/>
          <p:cNvSpPr/>
          <p:nvPr/>
        </p:nvSpPr>
        <p:spPr>
          <a:xfrm>
            <a:off x="6172200" y="5341320"/>
            <a:ext cx="499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◆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28"/>
          <p:cNvSpPr/>
          <p:nvPr/>
        </p:nvSpPr>
        <p:spPr>
          <a:xfrm>
            <a:off x="6720840" y="5413320"/>
            <a:ext cx="132228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Pragmatisme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29"/>
          <p:cNvSpPr/>
          <p:nvPr/>
        </p:nvSpPr>
        <p:spPr>
          <a:xfrm>
            <a:off x="8046720" y="5413320"/>
            <a:ext cx="499320" cy="49932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 30"/>
          <p:cNvSpPr/>
          <p:nvPr/>
        </p:nvSpPr>
        <p:spPr>
          <a:xfrm>
            <a:off x="8046720" y="5377320"/>
            <a:ext cx="499320" cy="52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●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31"/>
          <p:cNvSpPr/>
          <p:nvPr/>
        </p:nvSpPr>
        <p:spPr>
          <a:xfrm>
            <a:off x="8595360" y="5413320"/>
            <a:ext cx="132228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Autodidacte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32"/>
          <p:cNvSpPr/>
          <p:nvPr/>
        </p:nvSpPr>
        <p:spPr>
          <a:xfrm>
            <a:off x="9921240" y="5413320"/>
            <a:ext cx="499320" cy="49932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 33"/>
          <p:cNvSpPr/>
          <p:nvPr/>
        </p:nvSpPr>
        <p:spPr>
          <a:xfrm>
            <a:off x="9921240" y="5377320"/>
            <a:ext cx="499320" cy="53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★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34"/>
          <p:cNvSpPr/>
          <p:nvPr/>
        </p:nvSpPr>
        <p:spPr>
          <a:xfrm>
            <a:off x="10469880" y="5413320"/>
            <a:ext cx="132228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Métier ↔ Tech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Text 35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36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8" name=""/>
          <p:cNvPicPr/>
          <p:nvPr/>
        </p:nvPicPr>
        <p:blipFill>
          <a:blip r:embed="rId2"/>
          <a:stretch/>
        </p:blipFill>
        <p:spPr>
          <a:xfrm>
            <a:off x="1284840" y="2266560"/>
            <a:ext cx="1825560" cy="1825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 0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PARCOURS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20 ans de terrain, puis le code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" name="Shape 3"/>
          <p:cNvSpPr/>
          <p:nvPr/>
        </p:nvSpPr>
        <p:spPr>
          <a:xfrm>
            <a:off x="1828800" y="1645920"/>
            <a:ext cx="51120" cy="456840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" name="Shape 4"/>
          <p:cNvSpPr/>
          <p:nvPr/>
        </p:nvSpPr>
        <p:spPr>
          <a:xfrm>
            <a:off x="1691640" y="1801440"/>
            <a:ext cx="325440" cy="325440"/>
          </a:xfrm>
          <a:prstGeom prst="ellipse">
            <a:avLst/>
          </a:prstGeom>
          <a:solidFill>
            <a:srgbClr val="71717A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 5"/>
          <p:cNvSpPr/>
          <p:nvPr/>
        </p:nvSpPr>
        <p:spPr>
          <a:xfrm>
            <a:off x="548640" y="1691640"/>
            <a:ext cx="109368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2000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6"/>
          <p:cNvSpPr/>
          <p:nvPr/>
        </p:nvSpPr>
        <p:spPr>
          <a:xfrm>
            <a:off x="2286000" y="1645920"/>
            <a:ext cx="82260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 PRO MSMA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7"/>
          <p:cNvSpPr/>
          <p:nvPr/>
        </p:nvSpPr>
        <p:spPr>
          <a:xfrm>
            <a:off x="2286000" y="1965960"/>
            <a:ext cx="91404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Maintenance Systèmes Mécaniques Automatisés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8"/>
          <p:cNvSpPr/>
          <p:nvPr/>
        </p:nvSpPr>
        <p:spPr>
          <a:xfrm>
            <a:off x="1691640" y="2578680"/>
            <a:ext cx="325440" cy="325440"/>
          </a:xfrm>
          <a:prstGeom prst="ellipse">
            <a:avLst/>
          </a:prstGeom>
          <a:solidFill>
            <a:srgbClr val="71717A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" name="Text 9"/>
          <p:cNvSpPr/>
          <p:nvPr/>
        </p:nvSpPr>
        <p:spPr>
          <a:xfrm>
            <a:off x="548640" y="2468880"/>
            <a:ext cx="109368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2003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0"/>
          <p:cNvSpPr/>
          <p:nvPr/>
        </p:nvSpPr>
        <p:spPr>
          <a:xfrm>
            <a:off x="2286000" y="2423160"/>
            <a:ext cx="82260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BTS MAI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1"/>
          <p:cNvSpPr/>
          <p:nvPr/>
        </p:nvSpPr>
        <p:spPr>
          <a:xfrm>
            <a:off x="2286000" y="2743200"/>
            <a:ext cx="91404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Mécanique et Automatismes Industriels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12"/>
          <p:cNvSpPr/>
          <p:nvPr/>
        </p:nvSpPr>
        <p:spPr>
          <a:xfrm>
            <a:off x="1691640" y="3355920"/>
            <a:ext cx="325440" cy="325440"/>
          </a:xfrm>
          <a:prstGeom prst="ellipse">
            <a:avLst/>
          </a:prstGeom>
          <a:solidFill>
            <a:srgbClr val="06B6D4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 13"/>
          <p:cNvSpPr/>
          <p:nvPr/>
        </p:nvSpPr>
        <p:spPr>
          <a:xfrm>
            <a:off x="548640" y="3246120"/>
            <a:ext cx="109368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2004-2010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4"/>
          <p:cNvSpPr/>
          <p:nvPr/>
        </p:nvSpPr>
        <p:spPr>
          <a:xfrm>
            <a:off x="2286000" y="3200400"/>
            <a:ext cx="82260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 Ascenseurs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5"/>
          <p:cNvSpPr/>
          <p:nvPr/>
        </p:nvSpPr>
        <p:spPr>
          <a:xfrm>
            <a:off x="2286000" y="3520440"/>
            <a:ext cx="91404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Technicien régleur et mise en service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16"/>
          <p:cNvSpPr/>
          <p:nvPr/>
        </p:nvSpPr>
        <p:spPr>
          <a:xfrm>
            <a:off x="1691640" y="4133160"/>
            <a:ext cx="325440" cy="325440"/>
          </a:xfrm>
          <a:prstGeom prst="ellipse">
            <a:avLst/>
          </a:prstGeom>
          <a:solidFill>
            <a:srgbClr val="8B5CF6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" name="Text 17"/>
          <p:cNvSpPr/>
          <p:nvPr/>
        </p:nvSpPr>
        <p:spPr>
          <a:xfrm>
            <a:off x="548640" y="4023360"/>
            <a:ext cx="109368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2010-2024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8"/>
          <p:cNvSpPr/>
          <p:nvPr/>
        </p:nvSpPr>
        <p:spPr>
          <a:xfrm>
            <a:off x="2286000" y="3977640"/>
            <a:ext cx="82260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SOCOTEC Équipements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9"/>
          <p:cNvSpPr/>
          <p:nvPr/>
        </p:nvSpPr>
        <p:spPr>
          <a:xfrm>
            <a:off x="2286000" y="4297680"/>
            <a:ext cx="91404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Expert vérifications générales périodiques (14 ans)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20"/>
          <p:cNvSpPr/>
          <p:nvPr/>
        </p:nvSpPr>
        <p:spPr>
          <a:xfrm>
            <a:off x="1691640" y="4910400"/>
            <a:ext cx="325440" cy="325440"/>
          </a:xfrm>
          <a:prstGeom prst="ellipse">
            <a:avLst/>
          </a:prstGeom>
          <a:solidFill>
            <a:srgbClr val="EC4899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" name="Text 21"/>
          <p:cNvSpPr/>
          <p:nvPr/>
        </p:nvSpPr>
        <p:spPr>
          <a:xfrm>
            <a:off x="548640" y="4800600"/>
            <a:ext cx="109368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2024 →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2"/>
          <p:cNvSpPr/>
          <p:nvPr/>
        </p:nvSpPr>
        <p:spPr>
          <a:xfrm>
            <a:off x="2286000" y="4754880"/>
            <a:ext cx="82260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Zone01 Rouen Normandie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23"/>
          <p:cNvSpPr/>
          <p:nvPr/>
        </p:nvSpPr>
        <p:spPr>
          <a:xfrm>
            <a:off x="2286000" y="5074920"/>
            <a:ext cx="91404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Formation CDA — peer learning, projets, stack moderne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24"/>
          <p:cNvSpPr/>
          <p:nvPr/>
        </p:nvSpPr>
        <p:spPr>
          <a:xfrm>
            <a:off x="1691640" y="5687640"/>
            <a:ext cx="325440" cy="325440"/>
          </a:xfrm>
          <a:prstGeom prst="ellipse">
            <a:avLst/>
          </a:prstGeom>
          <a:solidFill>
            <a:srgbClr val="10B981"/>
          </a:solidFill>
          <a:ln w="38100">
            <a:solidFill>
              <a:srgbClr val="1A1B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4" name="Text 25"/>
          <p:cNvSpPr/>
          <p:nvPr/>
        </p:nvSpPr>
        <p:spPr>
          <a:xfrm>
            <a:off x="548640" y="5577840"/>
            <a:ext cx="109368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2026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6"/>
          <p:cNvSpPr/>
          <p:nvPr/>
        </p:nvSpPr>
        <p:spPr>
          <a:xfrm>
            <a:off x="2286000" y="5532120"/>
            <a:ext cx="82260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Soutenance RNCP 37873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27"/>
          <p:cNvSpPr/>
          <p:nvPr/>
        </p:nvSpPr>
        <p:spPr>
          <a:xfrm>
            <a:off x="2286000" y="5852160"/>
            <a:ext cx="91404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Konekt + Dossier professionnel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Text 28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29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Text 0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01 · MÉTHODE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Travail en mode agile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" name="Text 3"/>
          <p:cNvSpPr/>
          <p:nvPr/>
        </p:nvSpPr>
        <p:spPr>
          <a:xfrm>
            <a:off x="548640" y="1691640"/>
            <a:ext cx="109692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Cycle de développement adopté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4"/>
          <p:cNvSpPr/>
          <p:nvPr/>
        </p:nvSpPr>
        <p:spPr>
          <a:xfrm>
            <a:off x="521280" y="2103120"/>
            <a:ext cx="2190960" cy="168804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5" name="Shape 5"/>
          <p:cNvSpPr/>
          <p:nvPr/>
        </p:nvSpPr>
        <p:spPr>
          <a:xfrm>
            <a:off x="1344240" y="2240280"/>
            <a:ext cx="545040" cy="545040"/>
          </a:xfrm>
          <a:prstGeom prst="ellipse">
            <a:avLst/>
          </a:prstGeom>
          <a:solidFill>
            <a:srgbClr val="A1A1AA">
              <a:alpha val="30000"/>
            </a:srgbClr>
          </a:solidFill>
          <a:ln w="19050">
            <a:solidFill>
              <a:srgbClr val="A1A1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6" name="Text 6"/>
          <p:cNvSpPr/>
          <p:nvPr/>
        </p:nvSpPr>
        <p:spPr>
          <a:xfrm>
            <a:off x="1344240" y="2168280"/>
            <a:ext cx="545040" cy="62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7"/>
          <p:cNvSpPr/>
          <p:nvPr/>
        </p:nvSpPr>
        <p:spPr>
          <a:xfrm>
            <a:off x="612720" y="2834640"/>
            <a:ext cx="200808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Backlog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8"/>
          <p:cNvSpPr/>
          <p:nvPr/>
        </p:nvSpPr>
        <p:spPr>
          <a:xfrm>
            <a:off x="612720" y="3154680"/>
            <a:ext cx="200808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 priorisées HIGH/MED/LOW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9"/>
          <p:cNvSpPr/>
          <p:nvPr/>
        </p:nvSpPr>
        <p:spPr>
          <a:xfrm>
            <a:off x="271548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" name="Shape 10"/>
          <p:cNvSpPr/>
          <p:nvPr/>
        </p:nvSpPr>
        <p:spPr>
          <a:xfrm>
            <a:off x="2752200" y="2103120"/>
            <a:ext cx="2190960" cy="168804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1" name="Shape 11"/>
          <p:cNvSpPr/>
          <p:nvPr/>
        </p:nvSpPr>
        <p:spPr>
          <a:xfrm>
            <a:off x="3575160" y="2240280"/>
            <a:ext cx="545040" cy="5450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" name="Text 12"/>
          <p:cNvSpPr/>
          <p:nvPr/>
        </p:nvSpPr>
        <p:spPr>
          <a:xfrm>
            <a:off x="3575160" y="2096280"/>
            <a:ext cx="545040" cy="80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3"/>
          <p:cNvSpPr/>
          <p:nvPr/>
        </p:nvSpPr>
        <p:spPr>
          <a:xfrm>
            <a:off x="2843640" y="2834640"/>
            <a:ext cx="200808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Sprint planning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4"/>
          <p:cNvSpPr/>
          <p:nvPr/>
        </p:nvSpPr>
        <p:spPr>
          <a:xfrm>
            <a:off x="2843640" y="3154680"/>
            <a:ext cx="200808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Issues GitHub assignées, points estimés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15"/>
          <p:cNvSpPr/>
          <p:nvPr/>
        </p:nvSpPr>
        <p:spPr>
          <a:xfrm>
            <a:off x="494676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" name="Shape 16"/>
          <p:cNvSpPr/>
          <p:nvPr/>
        </p:nvSpPr>
        <p:spPr>
          <a:xfrm>
            <a:off x="4983480" y="2103120"/>
            <a:ext cx="2190960" cy="168804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" name="Shape 17"/>
          <p:cNvSpPr/>
          <p:nvPr/>
        </p:nvSpPr>
        <p:spPr>
          <a:xfrm>
            <a:off x="5806440" y="2240280"/>
            <a:ext cx="545040" cy="54504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" name="Text 18"/>
          <p:cNvSpPr/>
          <p:nvPr/>
        </p:nvSpPr>
        <p:spPr>
          <a:xfrm>
            <a:off x="5806440" y="2132280"/>
            <a:ext cx="54504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◯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9"/>
          <p:cNvSpPr/>
          <p:nvPr/>
        </p:nvSpPr>
        <p:spPr>
          <a:xfrm>
            <a:off x="5074920" y="2834640"/>
            <a:ext cx="200808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Daily standup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20"/>
          <p:cNvSpPr/>
          <p:nvPr/>
        </p:nvSpPr>
        <p:spPr>
          <a:xfrm>
            <a:off x="5074920" y="3154680"/>
            <a:ext cx="200808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10 min — avancement, blocages, plan du jour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21"/>
          <p:cNvSpPr/>
          <p:nvPr/>
        </p:nvSpPr>
        <p:spPr>
          <a:xfrm>
            <a:off x="7178040" y="2926080"/>
            <a:ext cx="3636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000" tIns="-44640" rIns="18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" name="Shape 22"/>
          <p:cNvSpPr/>
          <p:nvPr/>
        </p:nvSpPr>
        <p:spPr>
          <a:xfrm>
            <a:off x="7214760" y="2103120"/>
            <a:ext cx="2190960" cy="168804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3" name="Shape 23"/>
          <p:cNvSpPr/>
          <p:nvPr/>
        </p:nvSpPr>
        <p:spPr>
          <a:xfrm>
            <a:off x="8037720" y="2240280"/>
            <a:ext cx="545040" cy="54504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" name="Text 24"/>
          <p:cNvSpPr/>
          <p:nvPr/>
        </p:nvSpPr>
        <p:spPr>
          <a:xfrm>
            <a:off x="8073720" y="2132280"/>
            <a:ext cx="54504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▷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5"/>
          <p:cNvSpPr/>
          <p:nvPr/>
        </p:nvSpPr>
        <p:spPr>
          <a:xfrm>
            <a:off x="7306200" y="2834640"/>
            <a:ext cx="200808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Review &amp; demo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6"/>
          <p:cNvSpPr/>
          <p:nvPr/>
        </p:nvSpPr>
        <p:spPr>
          <a:xfrm>
            <a:off x="7306200" y="3154680"/>
            <a:ext cx="200808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Démo de fin de sprint en équipe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27"/>
          <p:cNvSpPr/>
          <p:nvPr/>
        </p:nvSpPr>
        <p:spPr>
          <a:xfrm>
            <a:off x="9408960" y="2926080"/>
            <a:ext cx="36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8360" tIns="-44640" rIns="1836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" name="Shape 28"/>
          <p:cNvSpPr/>
          <p:nvPr/>
        </p:nvSpPr>
        <p:spPr>
          <a:xfrm>
            <a:off x="9445680" y="2103120"/>
            <a:ext cx="2190960" cy="1688040"/>
          </a:xfrm>
          <a:prstGeom prst="roundRect">
            <a:avLst>
              <a:gd name="adj" fmla="val 43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" name="Shape 29"/>
          <p:cNvSpPr/>
          <p:nvPr/>
        </p:nvSpPr>
        <p:spPr>
          <a:xfrm>
            <a:off x="10268640" y="2240280"/>
            <a:ext cx="545040" cy="5450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" name="Text 30"/>
          <p:cNvSpPr/>
          <p:nvPr/>
        </p:nvSpPr>
        <p:spPr>
          <a:xfrm>
            <a:off x="10268640" y="2240280"/>
            <a:ext cx="54504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31"/>
          <p:cNvSpPr/>
          <p:nvPr/>
        </p:nvSpPr>
        <p:spPr>
          <a:xfrm>
            <a:off x="9537120" y="2834640"/>
            <a:ext cx="200808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Rétrospective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32"/>
          <p:cNvSpPr/>
          <p:nvPr/>
        </p:nvSpPr>
        <p:spPr>
          <a:xfrm>
            <a:off x="9537120" y="3154680"/>
            <a:ext cx="200808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Ce qui a marché / ce qu'on change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33"/>
          <p:cNvSpPr/>
          <p:nvPr/>
        </p:nvSpPr>
        <p:spPr>
          <a:xfrm>
            <a:off x="548640" y="4023360"/>
            <a:ext cx="5528520" cy="22366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" name="Text 34"/>
          <p:cNvSpPr/>
          <p:nvPr/>
        </p:nvSpPr>
        <p:spPr>
          <a:xfrm>
            <a:off x="731520" y="4114800"/>
            <a:ext cx="50256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Outils &amp; rituels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35"/>
          <p:cNvSpPr/>
          <p:nvPr/>
        </p:nvSpPr>
        <p:spPr>
          <a:xfrm>
            <a:off x="777240" y="4636080"/>
            <a:ext cx="142560" cy="1425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" name="Text 36"/>
          <p:cNvSpPr/>
          <p:nvPr/>
        </p:nvSpPr>
        <p:spPr>
          <a:xfrm>
            <a:off x="1005840" y="4526280"/>
            <a:ext cx="219096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Issues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37"/>
          <p:cNvSpPr/>
          <p:nvPr/>
        </p:nvSpPr>
        <p:spPr>
          <a:xfrm>
            <a:off x="3246120" y="4526280"/>
            <a:ext cx="2739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Backlog vivant, labels, milestones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38"/>
          <p:cNvSpPr/>
          <p:nvPr/>
        </p:nvSpPr>
        <p:spPr>
          <a:xfrm>
            <a:off x="777240" y="5047560"/>
            <a:ext cx="142560" cy="1425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" name="Text 39"/>
          <p:cNvSpPr/>
          <p:nvPr/>
        </p:nvSpPr>
        <p:spPr>
          <a:xfrm>
            <a:off x="1005840" y="4937760"/>
            <a:ext cx="219096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Projects (Kanban)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40"/>
          <p:cNvSpPr/>
          <p:nvPr/>
        </p:nvSpPr>
        <p:spPr>
          <a:xfrm>
            <a:off x="3246120" y="4937760"/>
            <a:ext cx="2739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Colonnes Todo / Doing / Review / Done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41"/>
          <p:cNvSpPr/>
          <p:nvPr/>
        </p:nvSpPr>
        <p:spPr>
          <a:xfrm>
            <a:off x="777240" y="5459040"/>
            <a:ext cx="142560" cy="1425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2" name="Text 42"/>
          <p:cNvSpPr/>
          <p:nvPr/>
        </p:nvSpPr>
        <p:spPr>
          <a:xfrm>
            <a:off x="1005840" y="5349240"/>
            <a:ext cx="219096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ul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q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es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43"/>
          <p:cNvSpPr/>
          <p:nvPr/>
        </p:nvSpPr>
        <p:spPr>
          <a:xfrm>
            <a:off x="3246120" y="5349240"/>
            <a:ext cx="2739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Code review obligatoire 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44"/>
          <p:cNvSpPr/>
          <p:nvPr/>
        </p:nvSpPr>
        <p:spPr>
          <a:xfrm>
            <a:off x="777240" y="5870520"/>
            <a:ext cx="142560" cy="1425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" name="Text 45"/>
          <p:cNvSpPr/>
          <p:nvPr/>
        </p:nvSpPr>
        <p:spPr>
          <a:xfrm>
            <a:off x="1005840" y="5760720"/>
            <a:ext cx="219096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46"/>
          <p:cNvSpPr/>
          <p:nvPr/>
        </p:nvSpPr>
        <p:spPr>
          <a:xfrm>
            <a:off x="3246120" y="5760720"/>
            <a:ext cx="2739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CI bloquante : lint + test +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47"/>
          <p:cNvSpPr/>
          <p:nvPr/>
        </p:nvSpPr>
        <p:spPr>
          <a:xfrm>
            <a:off x="6263640" y="4023360"/>
            <a:ext cx="5528520" cy="22366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8" name="Text 48"/>
          <p:cNvSpPr/>
          <p:nvPr/>
        </p:nvSpPr>
        <p:spPr>
          <a:xfrm>
            <a:off x="6446520" y="4114800"/>
            <a:ext cx="50256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Découpe du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49"/>
          <p:cNvSpPr/>
          <p:nvPr/>
        </p:nvSpPr>
        <p:spPr>
          <a:xfrm>
            <a:off x="6446520" y="4526280"/>
            <a:ext cx="63648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50"/>
          <p:cNvSpPr/>
          <p:nvPr/>
        </p:nvSpPr>
        <p:spPr>
          <a:xfrm>
            <a:off x="7178040" y="4526280"/>
            <a:ext cx="447696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phases (MVP / Features / Polish)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51"/>
          <p:cNvSpPr/>
          <p:nvPr/>
        </p:nvSpPr>
        <p:spPr>
          <a:xfrm>
            <a:off x="6446520" y="4937760"/>
            <a:ext cx="63648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52"/>
          <p:cNvSpPr/>
          <p:nvPr/>
        </p:nvSpPr>
        <p:spPr>
          <a:xfrm>
            <a:off x="7178040" y="4937760"/>
            <a:ext cx="447696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sprints d'environ 10 jours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53"/>
          <p:cNvSpPr/>
          <p:nvPr/>
        </p:nvSpPr>
        <p:spPr>
          <a:xfrm>
            <a:off x="6446520" y="5349240"/>
            <a:ext cx="63648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54"/>
          <p:cNvSpPr/>
          <p:nvPr/>
        </p:nvSpPr>
        <p:spPr>
          <a:xfrm>
            <a:off x="7178040" y="5349240"/>
            <a:ext cx="447696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stories réparties par sprint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55"/>
          <p:cNvSpPr/>
          <p:nvPr/>
        </p:nvSpPr>
        <p:spPr>
          <a:xfrm>
            <a:off x="6446520" y="5760720"/>
            <a:ext cx="63648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56"/>
          <p:cNvSpPr/>
          <p:nvPr/>
        </p:nvSpPr>
        <p:spPr>
          <a:xfrm>
            <a:off x="7178040" y="5760720"/>
            <a:ext cx="447696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review + rétro par sprint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8" name="Text 57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58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Rectangle 1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920" tIns="45000" rIns="34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1" name="TextBox 2"/>
          <p:cNvSpPr/>
          <p:nvPr/>
        </p:nvSpPr>
        <p:spPr>
          <a:xfrm>
            <a:off x="548640" y="411480"/>
            <a:ext cx="100548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01 · MÉTHODE · GIT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Box 3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Workflow Git en équipe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Box 38"/>
          <p:cNvSpPr/>
          <p:nvPr/>
        </p:nvSpPr>
        <p:spPr>
          <a:xfrm>
            <a:off x="731520" y="5669280"/>
            <a:ext cx="68544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● commit  ↑ Pull Request validée  →  merge  ←  vers branche parente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Box 53"/>
          <p:cNvSpPr/>
          <p:nvPr/>
        </p:nvSpPr>
        <p:spPr>
          <a:xfrm>
            <a:off x="548640" y="6080760"/>
            <a:ext cx="109692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6 contributeurs · 12+ issues majeures · PR #118 stabilisation Docker/Neon/Prisma/Redis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Box 54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Box 55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" name="Rectangle 2"/>
          <p:cNvSpPr/>
          <p:nvPr/>
        </p:nvSpPr>
        <p:spPr>
          <a:xfrm>
            <a:off x="549000" y="1692000"/>
            <a:ext cx="7220880" cy="42948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" name="TextBox 1"/>
          <p:cNvSpPr/>
          <p:nvPr/>
        </p:nvSpPr>
        <p:spPr>
          <a:xfrm>
            <a:off x="731880" y="1984680"/>
            <a:ext cx="118584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main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Rectangle 3"/>
          <p:cNvSpPr/>
          <p:nvPr/>
        </p:nvSpPr>
        <p:spPr>
          <a:xfrm>
            <a:off x="1966320" y="2103480"/>
            <a:ext cx="5574960" cy="338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" name="Oval 1"/>
          <p:cNvSpPr/>
          <p:nvPr/>
        </p:nvSpPr>
        <p:spPr>
          <a:xfrm>
            <a:off x="2350440" y="2048760"/>
            <a:ext cx="143280" cy="1432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" name="Oval 8"/>
          <p:cNvSpPr/>
          <p:nvPr/>
        </p:nvSpPr>
        <p:spPr>
          <a:xfrm>
            <a:off x="4682160" y="2048760"/>
            <a:ext cx="143280" cy="1432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" name="Oval 9"/>
          <p:cNvSpPr/>
          <p:nvPr/>
        </p:nvSpPr>
        <p:spPr>
          <a:xfrm>
            <a:off x="7013880" y="2048760"/>
            <a:ext cx="143280" cy="1432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" name="TextBox 4"/>
          <p:cNvSpPr/>
          <p:nvPr/>
        </p:nvSpPr>
        <p:spPr>
          <a:xfrm>
            <a:off x="731880" y="3127680"/>
            <a:ext cx="118584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develop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Rectangle 30"/>
          <p:cNvSpPr/>
          <p:nvPr/>
        </p:nvSpPr>
        <p:spPr>
          <a:xfrm>
            <a:off x="1966320" y="3246480"/>
            <a:ext cx="5574960" cy="338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" name="Oval 12"/>
          <p:cNvSpPr/>
          <p:nvPr/>
        </p:nvSpPr>
        <p:spPr>
          <a:xfrm>
            <a:off x="2350440" y="3191760"/>
            <a:ext cx="143280" cy="1432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7" name="Oval 13"/>
          <p:cNvSpPr/>
          <p:nvPr/>
        </p:nvSpPr>
        <p:spPr>
          <a:xfrm>
            <a:off x="3516120" y="3191760"/>
            <a:ext cx="143280" cy="1432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" name="Oval 2"/>
          <p:cNvSpPr/>
          <p:nvPr/>
        </p:nvSpPr>
        <p:spPr>
          <a:xfrm>
            <a:off x="4682160" y="3191760"/>
            <a:ext cx="143280" cy="1432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" name="Oval 15"/>
          <p:cNvSpPr/>
          <p:nvPr/>
        </p:nvSpPr>
        <p:spPr>
          <a:xfrm>
            <a:off x="5847840" y="3191760"/>
            <a:ext cx="143280" cy="1432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" name="Oval 16"/>
          <p:cNvSpPr/>
          <p:nvPr/>
        </p:nvSpPr>
        <p:spPr>
          <a:xfrm>
            <a:off x="7013880" y="3191760"/>
            <a:ext cx="143280" cy="1432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" name="TextBox 57"/>
          <p:cNvSpPr/>
          <p:nvPr/>
        </p:nvSpPr>
        <p:spPr>
          <a:xfrm>
            <a:off x="731880" y="4270680"/>
            <a:ext cx="118584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feature/auth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Rectangle 31"/>
          <p:cNvSpPr/>
          <p:nvPr/>
        </p:nvSpPr>
        <p:spPr>
          <a:xfrm>
            <a:off x="1966320" y="4389480"/>
            <a:ext cx="5574960" cy="33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" name="Oval 19"/>
          <p:cNvSpPr/>
          <p:nvPr/>
        </p:nvSpPr>
        <p:spPr>
          <a:xfrm>
            <a:off x="2350440" y="4334760"/>
            <a:ext cx="143280" cy="1432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" name="Oval 3"/>
          <p:cNvSpPr/>
          <p:nvPr/>
        </p:nvSpPr>
        <p:spPr>
          <a:xfrm>
            <a:off x="3904920" y="4334760"/>
            <a:ext cx="143280" cy="1432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5" name="Oval 21"/>
          <p:cNvSpPr/>
          <p:nvPr/>
        </p:nvSpPr>
        <p:spPr>
          <a:xfrm>
            <a:off x="5459400" y="4334760"/>
            <a:ext cx="143280" cy="1432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6" name="Oval 22"/>
          <p:cNvSpPr/>
          <p:nvPr/>
        </p:nvSpPr>
        <p:spPr>
          <a:xfrm>
            <a:off x="7013880" y="4334760"/>
            <a:ext cx="143280" cy="1432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7" name="TextBox 65"/>
          <p:cNvSpPr/>
          <p:nvPr/>
        </p:nvSpPr>
        <p:spPr>
          <a:xfrm>
            <a:off x="731880" y="5322240"/>
            <a:ext cx="118584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feature/likes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Rectangle 55"/>
          <p:cNvSpPr/>
          <p:nvPr/>
        </p:nvSpPr>
        <p:spPr>
          <a:xfrm>
            <a:off x="1966320" y="5441040"/>
            <a:ext cx="5574960" cy="33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9" name="Oval 25"/>
          <p:cNvSpPr/>
          <p:nvPr/>
        </p:nvSpPr>
        <p:spPr>
          <a:xfrm>
            <a:off x="2350440" y="5386320"/>
            <a:ext cx="143280" cy="1432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0" name="Oval 26"/>
          <p:cNvSpPr/>
          <p:nvPr/>
        </p:nvSpPr>
        <p:spPr>
          <a:xfrm>
            <a:off x="3904920" y="5386320"/>
            <a:ext cx="143280" cy="1432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1" name="Oval 27"/>
          <p:cNvSpPr/>
          <p:nvPr/>
        </p:nvSpPr>
        <p:spPr>
          <a:xfrm>
            <a:off x="5459400" y="5386320"/>
            <a:ext cx="143280" cy="1432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2" name="Oval 4"/>
          <p:cNvSpPr/>
          <p:nvPr/>
        </p:nvSpPr>
        <p:spPr>
          <a:xfrm>
            <a:off x="7013880" y="5386320"/>
            <a:ext cx="143280" cy="1432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3" name="TextBox 66"/>
          <p:cNvSpPr/>
          <p:nvPr/>
        </p:nvSpPr>
        <p:spPr>
          <a:xfrm>
            <a:off x="5029560" y="3840840"/>
            <a:ext cx="72864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PR ←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Rectangle 56"/>
          <p:cNvSpPr/>
          <p:nvPr/>
        </p:nvSpPr>
        <p:spPr>
          <a:xfrm>
            <a:off x="5303880" y="3337920"/>
            <a:ext cx="33840" cy="104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5000" rIns="16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5" name="Oval 31"/>
          <p:cNvSpPr/>
          <p:nvPr/>
        </p:nvSpPr>
        <p:spPr>
          <a:xfrm>
            <a:off x="5249160" y="3246480"/>
            <a:ext cx="143280" cy="1432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6" name="TextBox 67"/>
          <p:cNvSpPr/>
          <p:nvPr/>
        </p:nvSpPr>
        <p:spPr>
          <a:xfrm>
            <a:off x="6309720" y="3840840"/>
            <a:ext cx="72864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PR ←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Rectangle 80"/>
          <p:cNvSpPr/>
          <p:nvPr/>
        </p:nvSpPr>
        <p:spPr>
          <a:xfrm>
            <a:off x="6584040" y="3337920"/>
            <a:ext cx="33840" cy="2100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5000" rIns="16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8" name="Oval 34"/>
          <p:cNvSpPr/>
          <p:nvPr/>
        </p:nvSpPr>
        <p:spPr>
          <a:xfrm>
            <a:off x="6529320" y="3246480"/>
            <a:ext cx="143280" cy="1432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9" name="TextBox 68"/>
          <p:cNvSpPr/>
          <p:nvPr/>
        </p:nvSpPr>
        <p:spPr>
          <a:xfrm>
            <a:off x="3968640" y="2590200"/>
            <a:ext cx="91152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release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Rectangle 81"/>
          <p:cNvSpPr/>
          <p:nvPr/>
        </p:nvSpPr>
        <p:spPr>
          <a:xfrm>
            <a:off x="3932280" y="2194920"/>
            <a:ext cx="33840" cy="10486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920" tIns="45000" rIns="16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1" name="Oval 37"/>
          <p:cNvSpPr/>
          <p:nvPr/>
        </p:nvSpPr>
        <p:spPr>
          <a:xfrm>
            <a:off x="3877560" y="2103480"/>
            <a:ext cx="143280" cy="1432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71640" tIns="45000" rIns="71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2" name="TextBox 69"/>
          <p:cNvSpPr/>
          <p:nvPr/>
        </p:nvSpPr>
        <p:spPr>
          <a:xfrm>
            <a:off x="731880" y="5669640"/>
            <a:ext cx="68551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● commit  ↑ Pull Request validée  →  merge  ←  vers branche parente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Rectangle 105"/>
          <p:cNvSpPr/>
          <p:nvPr/>
        </p:nvSpPr>
        <p:spPr>
          <a:xfrm>
            <a:off x="8092440" y="1692000"/>
            <a:ext cx="3517560" cy="429480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4" name="TextBox 70"/>
          <p:cNvSpPr/>
          <p:nvPr/>
        </p:nvSpPr>
        <p:spPr>
          <a:xfrm>
            <a:off x="8275320" y="1783440"/>
            <a:ext cx="315180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Règles d'équipe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Oval 10"/>
          <p:cNvSpPr/>
          <p:nvPr/>
        </p:nvSpPr>
        <p:spPr>
          <a:xfrm>
            <a:off x="8275320" y="2194920"/>
            <a:ext cx="408600" cy="4086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6" name="TextBox 71"/>
          <p:cNvSpPr/>
          <p:nvPr/>
        </p:nvSpPr>
        <p:spPr>
          <a:xfrm>
            <a:off x="8275320" y="2194920"/>
            <a:ext cx="40860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Box 72"/>
          <p:cNvSpPr/>
          <p:nvPr/>
        </p:nvSpPr>
        <p:spPr>
          <a:xfrm>
            <a:off x="8778240" y="2293200"/>
            <a:ext cx="26488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 feature = 1 branche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Oval 44"/>
          <p:cNvSpPr/>
          <p:nvPr/>
        </p:nvSpPr>
        <p:spPr>
          <a:xfrm>
            <a:off x="8275320" y="2972160"/>
            <a:ext cx="408600" cy="40860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9" name="TextBox 73"/>
          <p:cNvSpPr/>
          <p:nvPr/>
        </p:nvSpPr>
        <p:spPr>
          <a:xfrm>
            <a:off x="8275320" y="2972160"/>
            <a:ext cx="40860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Box 74"/>
          <p:cNvSpPr/>
          <p:nvPr/>
        </p:nvSpPr>
        <p:spPr>
          <a:xfrm>
            <a:off x="8778240" y="3070440"/>
            <a:ext cx="26488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 obligatoire vers develop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Oval 47"/>
          <p:cNvSpPr/>
          <p:nvPr/>
        </p:nvSpPr>
        <p:spPr>
          <a:xfrm>
            <a:off x="8275320" y="3749400"/>
            <a:ext cx="408600" cy="40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2" name="TextBox 75"/>
          <p:cNvSpPr/>
          <p:nvPr/>
        </p:nvSpPr>
        <p:spPr>
          <a:xfrm>
            <a:off x="8275320" y="3749400"/>
            <a:ext cx="40860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Box 76"/>
          <p:cNvSpPr/>
          <p:nvPr/>
        </p:nvSpPr>
        <p:spPr>
          <a:xfrm>
            <a:off x="8778240" y="3847680"/>
            <a:ext cx="26488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verte 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Oval 50"/>
          <p:cNvSpPr/>
          <p:nvPr/>
        </p:nvSpPr>
        <p:spPr>
          <a:xfrm>
            <a:off x="8275320" y="4526640"/>
            <a:ext cx="408600" cy="40860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5" name="TextBox 77"/>
          <p:cNvSpPr/>
          <p:nvPr/>
        </p:nvSpPr>
        <p:spPr>
          <a:xfrm>
            <a:off x="8275320" y="4526640"/>
            <a:ext cx="40860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Box 78"/>
          <p:cNvSpPr/>
          <p:nvPr/>
        </p:nvSpPr>
        <p:spPr>
          <a:xfrm>
            <a:off x="8778240" y="4624920"/>
            <a:ext cx="26488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develop → main = release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Rectangle 1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920" tIns="45000" rIns="34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8" name="TextBox 2"/>
          <p:cNvSpPr/>
          <p:nvPr/>
        </p:nvSpPr>
        <p:spPr>
          <a:xfrm>
            <a:off x="548640" y="411480"/>
            <a:ext cx="100548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01 · MÉTHODE · GIT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3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Anatomie d'une Pull Request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Rectangle 4"/>
          <p:cNvSpPr/>
          <p:nvPr/>
        </p:nvSpPr>
        <p:spPr>
          <a:xfrm>
            <a:off x="548640" y="1691640"/>
            <a:ext cx="7311600" cy="45684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1" name="Rectangle 5"/>
          <p:cNvSpPr/>
          <p:nvPr/>
        </p:nvSpPr>
        <p:spPr>
          <a:xfrm>
            <a:off x="548640" y="1691640"/>
            <a:ext cx="7311600" cy="40788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2" name="Rectangle 6"/>
          <p:cNvSpPr/>
          <p:nvPr/>
        </p:nvSpPr>
        <p:spPr>
          <a:xfrm>
            <a:off x="731520" y="1783080"/>
            <a:ext cx="682200" cy="225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3" name="TextBox 7"/>
          <p:cNvSpPr/>
          <p:nvPr/>
        </p:nvSpPr>
        <p:spPr>
          <a:xfrm>
            <a:off x="731520" y="1783080"/>
            <a:ext cx="6822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OPEN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Box 8"/>
          <p:cNvSpPr/>
          <p:nvPr/>
        </p:nvSpPr>
        <p:spPr>
          <a:xfrm>
            <a:off x="1554480" y="1783080"/>
            <a:ext cx="621432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#73  Profil utilisateur — données publiques par ID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Box 9"/>
          <p:cNvSpPr/>
          <p:nvPr/>
        </p:nvSpPr>
        <p:spPr>
          <a:xfrm>
            <a:off x="731520" y="2194560"/>
            <a:ext cx="694584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CLecart  wants to merge  10 commits  into  main  ← from  10-get-profileid-public-profile-data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Box 10"/>
          <p:cNvSpPr/>
          <p:nvPr/>
        </p:nvSpPr>
        <p:spPr>
          <a:xfrm>
            <a:off x="731520" y="2560320"/>
            <a:ext cx="69458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Commits (Conventional Commits)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Oval 11"/>
          <p:cNvSpPr/>
          <p:nvPr/>
        </p:nvSpPr>
        <p:spPr>
          <a:xfrm>
            <a:off x="777240" y="2926080"/>
            <a:ext cx="106200" cy="106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3280" tIns="32760" rIns="5328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8" name="TextBox 12"/>
          <p:cNvSpPr/>
          <p:nvPr/>
        </p:nvSpPr>
        <p:spPr>
          <a:xfrm>
            <a:off x="960120" y="2880360"/>
            <a:ext cx="164232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feat(post):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Box 13"/>
          <p:cNvSpPr/>
          <p:nvPr/>
        </p:nvSpPr>
        <p:spPr>
          <a:xfrm>
            <a:off x="2651760" y="2880360"/>
            <a:ext cx="511704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create post avec upload image, validation serveur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Oval 14"/>
          <p:cNvSpPr/>
          <p:nvPr/>
        </p:nvSpPr>
        <p:spPr>
          <a:xfrm>
            <a:off x="777240" y="3200400"/>
            <a:ext cx="106200" cy="106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3280" tIns="32760" rIns="5328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1" name="TextBox 15"/>
          <p:cNvSpPr/>
          <p:nvPr/>
        </p:nvSpPr>
        <p:spPr>
          <a:xfrm>
            <a:off x="960120" y="3154680"/>
            <a:ext cx="164232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fix(api):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Box 16"/>
          <p:cNvSpPr/>
          <p:nvPr/>
        </p:nvSpPr>
        <p:spPr>
          <a:xfrm>
            <a:off x="2651760" y="3154680"/>
            <a:ext cx="511704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auth cookie JWT + vérification userId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Oval 17"/>
          <p:cNvSpPr/>
          <p:nvPr/>
        </p:nvSpPr>
        <p:spPr>
          <a:xfrm>
            <a:off x="777240" y="3474720"/>
            <a:ext cx="106200" cy="106200"/>
          </a:xfrm>
          <a:prstGeom prst="ellipse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3280" tIns="32760" rIns="5328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4" name="TextBox 18"/>
          <p:cNvSpPr/>
          <p:nvPr/>
        </p:nvSpPr>
        <p:spPr>
          <a:xfrm>
            <a:off x="960120" y="3429000"/>
            <a:ext cx="164232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feat(profile):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Box 19"/>
          <p:cNvSpPr/>
          <p:nvPr/>
        </p:nvSpPr>
        <p:spPr>
          <a:xfrm>
            <a:off x="2651760" y="3429000"/>
            <a:ext cx="511704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route GET /api/user/[id] — données publiques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Oval 20"/>
          <p:cNvSpPr/>
          <p:nvPr/>
        </p:nvSpPr>
        <p:spPr>
          <a:xfrm>
            <a:off x="777240" y="3749040"/>
            <a:ext cx="106200" cy="106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3280" tIns="32760" rIns="53280" bIns="327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7" name="TextBox 21"/>
          <p:cNvSpPr/>
          <p:nvPr/>
        </p:nvSpPr>
        <p:spPr>
          <a:xfrm>
            <a:off x="960120" y="3703320"/>
            <a:ext cx="164232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</a:rPr>
              <a:t>chore: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Box 22"/>
          <p:cNvSpPr/>
          <p:nvPr/>
        </p:nvSpPr>
        <p:spPr>
          <a:xfrm>
            <a:off x="2651760" y="3703320"/>
            <a:ext cx="511704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suppression imports inutilisés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Box 23"/>
          <p:cNvSpPr/>
          <p:nvPr/>
        </p:nvSpPr>
        <p:spPr>
          <a:xfrm>
            <a:off x="731520" y="4251960"/>
            <a:ext cx="69458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Checks CI · 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Oval 24"/>
          <p:cNvSpPr/>
          <p:nvPr/>
        </p:nvSpPr>
        <p:spPr>
          <a:xfrm>
            <a:off x="777240" y="4572000"/>
            <a:ext cx="179280" cy="1792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89640" tIns="45000" rIns="89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1" name="TextBox 25"/>
          <p:cNvSpPr/>
          <p:nvPr/>
        </p:nvSpPr>
        <p:spPr>
          <a:xfrm>
            <a:off x="777240" y="4536000"/>
            <a:ext cx="17928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Box 26"/>
          <p:cNvSpPr/>
          <p:nvPr/>
        </p:nvSpPr>
        <p:spPr>
          <a:xfrm>
            <a:off x="1051560" y="4553640"/>
            <a:ext cx="164232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Box 27"/>
          <p:cNvSpPr/>
          <p:nvPr/>
        </p:nvSpPr>
        <p:spPr>
          <a:xfrm>
            <a:off x="2743200" y="4553640"/>
            <a:ext cx="50256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22s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Oval 28"/>
          <p:cNvSpPr/>
          <p:nvPr/>
        </p:nvSpPr>
        <p:spPr>
          <a:xfrm>
            <a:off x="777240" y="4846320"/>
            <a:ext cx="179280" cy="1792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89640" tIns="45000" rIns="89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5" name="TextBox 29"/>
          <p:cNvSpPr/>
          <p:nvPr/>
        </p:nvSpPr>
        <p:spPr>
          <a:xfrm>
            <a:off x="777240" y="4810320"/>
            <a:ext cx="179280" cy="17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Box 30"/>
          <p:cNvSpPr/>
          <p:nvPr/>
        </p:nvSpPr>
        <p:spPr>
          <a:xfrm>
            <a:off x="1051560" y="4827960"/>
            <a:ext cx="164232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Box 31"/>
          <p:cNvSpPr/>
          <p:nvPr/>
        </p:nvSpPr>
        <p:spPr>
          <a:xfrm>
            <a:off x="2743200" y="4827960"/>
            <a:ext cx="50256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1m 14s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Oval 32"/>
          <p:cNvSpPr/>
          <p:nvPr/>
        </p:nvSpPr>
        <p:spPr>
          <a:xfrm>
            <a:off x="777240" y="5120640"/>
            <a:ext cx="179280" cy="1792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89640" tIns="45000" rIns="89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9" name="TextBox 33"/>
          <p:cNvSpPr/>
          <p:nvPr/>
        </p:nvSpPr>
        <p:spPr>
          <a:xfrm>
            <a:off x="777240" y="5084640"/>
            <a:ext cx="17928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Box 34"/>
          <p:cNvSpPr/>
          <p:nvPr/>
        </p:nvSpPr>
        <p:spPr>
          <a:xfrm>
            <a:off x="1051560" y="5102280"/>
            <a:ext cx="164232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Box 35"/>
          <p:cNvSpPr/>
          <p:nvPr/>
        </p:nvSpPr>
        <p:spPr>
          <a:xfrm>
            <a:off x="2743200" y="5102280"/>
            <a:ext cx="50256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passed in 2m 03s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Oval 36"/>
          <p:cNvSpPr/>
          <p:nvPr/>
        </p:nvSpPr>
        <p:spPr>
          <a:xfrm>
            <a:off x="777240" y="5394960"/>
            <a:ext cx="179280" cy="1792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89640" tIns="45000" rIns="8964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3" name="TextBox 37"/>
          <p:cNvSpPr/>
          <p:nvPr/>
        </p:nvSpPr>
        <p:spPr>
          <a:xfrm>
            <a:off x="777240" y="5358960"/>
            <a:ext cx="179280" cy="17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38"/>
          <p:cNvSpPr/>
          <p:nvPr/>
        </p:nvSpPr>
        <p:spPr>
          <a:xfrm>
            <a:off x="1051560" y="5376600"/>
            <a:ext cx="164232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vercel preview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39"/>
          <p:cNvSpPr/>
          <p:nvPr/>
        </p:nvSpPr>
        <p:spPr>
          <a:xfrm>
            <a:off x="2743200" y="5376600"/>
            <a:ext cx="50256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deployed · pr-118.konekt.vercel.app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Rectangle 40"/>
          <p:cNvSpPr/>
          <p:nvPr/>
        </p:nvSpPr>
        <p:spPr>
          <a:xfrm>
            <a:off x="731520" y="5760720"/>
            <a:ext cx="1642320" cy="3621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7" name="TextBox 41"/>
          <p:cNvSpPr/>
          <p:nvPr/>
        </p:nvSpPr>
        <p:spPr>
          <a:xfrm>
            <a:off x="731520" y="5832720"/>
            <a:ext cx="164232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 Merge pull request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42"/>
          <p:cNvSpPr/>
          <p:nvPr/>
        </p:nvSpPr>
        <p:spPr>
          <a:xfrm>
            <a:off x="2560320" y="5842440"/>
            <a:ext cx="5025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2 reviewers ✓ approved · all checks passed · no conflicts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Rectangle 43"/>
          <p:cNvSpPr/>
          <p:nvPr/>
        </p:nvSpPr>
        <p:spPr>
          <a:xfrm>
            <a:off x="8092440" y="1691640"/>
            <a:ext cx="3516840" cy="456840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0" name="TextBox 44"/>
          <p:cNvSpPr/>
          <p:nvPr/>
        </p:nvSpPr>
        <p:spPr>
          <a:xfrm>
            <a:off x="8275320" y="1783080"/>
            <a:ext cx="315108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Pratiques équipe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Oval 45"/>
          <p:cNvSpPr/>
          <p:nvPr/>
        </p:nvSpPr>
        <p:spPr>
          <a:xfrm>
            <a:off x="8275320" y="2194560"/>
            <a:ext cx="407880" cy="4078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2" name="TextBox 46"/>
          <p:cNvSpPr/>
          <p:nvPr/>
        </p:nvSpPr>
        <p:spPr>
          <a:xfrm>
            <a:off x="8275320" y="219456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Box 47"/>
          <p:cNvSpPr/>
          <p:nvPr/>
        </p:nvSpPr>
        <p:spPr>
          <a:xfrm>
            <a:off x="8778240" y="2256840"/>
            <a:ext cx="264816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Conventional Commits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Oval 48"/>
          <p:cNvSpPr/>
          <p:nvPr/>
        </p:nvSpPr>
        <p:spPr>
          <a:xfrm>
            <a:off x="8275320" y="2971800"/>
            <a:ext cx="407880" cy="4078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5" name="TextBox 49"/>
          <p:cNvSpPr/>
          <p:nvPr/>
        </p:nvSpPr>
        <p:spPr>
          <a:xfrm>
            <a:off x="8275320" y="297180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50"/>
          <p:cNvSpPr/>
          <p:nvPr/>
        </p:nvSpPr>
        <p:spPr>
          <a:xfrm>
            <a:off x="8778240" y="3034080"/>
            <a:ext cx="264816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 PR = 1 feature ou fix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Oval 51"/>
          <p:cNvSpPr/>
          <p:nvPr/>
        </p:nvSpPr>
        <p:spPr>
          <a:xfrm>
            <a:off x="8275320" y="3749040"/>
            <a:ext cx="407880" cy="407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8" name="TextBox 52"/>
          <p:cNvSpPr/>
          <p:nvPr/>
        </p:nvSpPr>
        <p:spPr>
          <a:xfrm>
            <a:off x="8275320" y="374904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Box 53"/>
          <p:cNvSpPr/>
          <p:nvPr/>
        </p:nvSpPr>
        <p:spPr>
          <a:xfrm>
            <a:off x="8778240" y="3847320"/>
            <a:ext cx="264816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verte = pré-requis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Oval 54"/>
          <p:cNvSpPr/>
          <p:nvPr/>
        </p:nvSpPr>
        <p:spPr>
          <a:xfrm>
            <a:off x="8275320" y="4526280"/>
            <a:ext cx="407880" cy="4078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1" name="TextBox 55"/>
          <p:cNvSpPr/>
          <p:nvPr/>
        </p:nvSpPr>
        <p:spPr>
          <a:xfrm>
            <a:off x="8275320" y="452628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Box 56"/>
          <p:cNvSpPr/>
          <p:nvPr/>
        </p:nvSpPr>
        <p:spPr>
          <a:xfrm>
            <a:off x="8778240" y="4624560"/>
            <a:ext cx="264816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Review par ≥ 1 pair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Oval 57"/>
          <p:cNvSpPr/>
          <p:nvPr/>
        </p:nvSpPr>
        <p:spPr>
          <a:xfrm>
            <a:off x="8275320" y="5303520"/>
            <a:ext cx="407880" cy="40788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4" name="TextBox 58"/>
          <p:cNvSpPr/>
          <p:nvPr/>
        </p:nvSpPr>
        <p:spPr>
          <a:xfrm>
            <a:off x="8275320" y="530352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Box 59"/>
          <p:cNvSpPr/>
          <p:nvPr/>
        </p:nvSpPr>
        <p:spPr>
          <a:xfrm>
            <a:off x="8778240" y="5401800"/>
            <a:ext cx="264816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Squash &amp;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Box 60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Box 61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0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Text 0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 · LE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— contexte &amp; vision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2" name="Shape 3"/>
          <p:cNvSpPr/>
          <p:nvPr/>
        </p:nvSpPr>
        <p:spPr>
          <a:xfrm>
            <a:off x="548640" y="1691640"/>
            <a:ext cx="5528520" cy="21909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3" name="Text 4"/>
          <p:cNvSpPr/>
          <p:nvPr/>
        </p:nvSpPr>
        <p:spPr>
          <a:xfrm>
            <a:off x="777240" y="1828800"/>
            <a:ext cx="5025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Problématique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5"/>
          <p:cNvSpPr/>
          <p:nvPr/>
        </p:nvSpPr>
        <p:spPr>
          <a:xfrm>
            <a:off x="777240" y="2194560"/>
            <a:ext cx="5071320" cy="15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une application sociale moderne, sécurisée et temps réel, comme support de démonstration pour la certification CDA. Le projet doit illustrer l'ensemble du cycle : conception, développement, tests, déploiement.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6"/>
          <p:cNvSpPr/>
          <p:nvPr/>
        </p:nvSpPr>
        <p:spPr>
          <a:xfrm>
            <a:off x="6263640" y="1691640"/>
            <a:ext cx="5528520" cy="21909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6" name="Text 7"/>
          <p:cNvSpPr/>
          <p:nvPr/>
        </p:nvSpPr>
        <p:spPr>
          <a:xfrm>
            <a:off x="6492240" y="1828800"/>
            <a:ext cx="5025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Solution proposée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8"/>
          <p:cNvSpPr/>
          <p:nvPr/>
        </p:nvSpPr>
        <p:spPr>
          <a:xfrm>
            <a:off x="6492240" y="2194560"/>
            <a:ext cx="5071320" cy="15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: posts, stories, reactions, messagerie privée et de groupe, événements, follow &amp; friends, notifications temps réel — déployé en serverless avec une base relationnelle riche et un push SSE.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Shape 9"/>
          <p:cNvSpPr/>
          <p:nvPr/>
        </p:nvSpPr>
        <p:spPr>
          <a:xfrm>
            <a:off x="548640" y="4206240"/>
            <a:ext cx="2154240" cy="182520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9" name="Shape 10"/>
          <p:cNvSpPr/>
          <p:nvPr/>
        </p:nvSpPr>
        <p:spPr>
          <a:xfrm>
            <a:off x="1325880" y="4389120"/>
            <a:ext cx="636480" cy="6364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0" name="Text 11"/>
          <p:cNvSpPr/>
          <p:nvPr/>
        </p:nvSpPr>
        <p:spPr>
          <a:xfrm>
            <a:off x="1325880" y="4392000"/>
            <a:ext cx="636480" cy="64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12"/>
          <p:cNvSpPr/>
          <p:nvPr/>
        </p:nvSpPr>
        <p:spPr>
          <a:xfrm>
            <a:off x="640080" y="5166360"/>
            <a:ext cx="197136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Réseautage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3"/>
          <p:cNvSpPr/>
          <p:nvPr/>
        </p:nvSpPr>
        <p:spPr>
          <a:xfrm>
            <a:off x="640080" y="5486400"/>
            <a:ext cx="19713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Posts, Stories, Reels, Reactions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14"/>
          <p:cNvSpPr/>
          <p:nvPr/>
        </p:nvSpPr>
        <p:spPr>
          <a:xfrm>
            <a:off x="2797920" y="4206240"/>
            <a:ext cx="2154240" cy="182520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4" name="Shape 15"/>
          <p:cNvSpPr/>
          <p:nvPr/>
        </p:nvSpPr>
        <p:spPr>
          <a:xfrm>
            <a:off x="3575160" y="4389120"/>
            <a:ext cx="636480" cy="6364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5" name="Text 16"/>
          <p:cNvSpPr/>
          <p:nvPr/>
        </p:nvSpPr>
        <p:spPr>
          <a:xfrm>
            <a:off x="3575160" y="4353120"/>
            <a:ext cx="63648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◐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17"/>
          <p:cNvSpPr/>
          <p:nvPr/>
        </p:nvSpPr>
        <p:spPr>
          <a:xfrm>
            <a:off x="2889360" y="5166360"/>
            <a:ext cx="197136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Messagerie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18"/>
          <p:cNvSpPr/>
          <p:nvPr/>
        </p:nvSpPr>
        <p:spPr>
          <a:xfrm>
            <a:off x="2889360" y="5486400"/>
            <a:ext cx="19713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DM, Group Chat, SSE temps réel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19"/>
          <p:cNvSpPr/>
          <p:nvPr/>
        </p:nvSpPr>
        <p:spPr>
          <a:xfrm>
            <a:off x="5047560" y="4206240"/>
            <a:ext cx="2154240" cy="182520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9" name="Shape 20"/>
          <p:cNvSpPr/>
          <p:nvPr/>
        </p:nvSpPr>
        <p:spPr>
          <a:xfrm>
            <a:off x="5824800" y="4389120"/>
            <a:ext cx="636480" cy="63648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0" name="Text 21"/>
          <p:cNvSpPr/>
          <p:nvPr/>
        </p:nvSpPr>
        <p:spPr>
          <a:xfrm>
            <a:off x="5824800" y="4245120"/>
            <a:ext cx="636480" cy="90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❖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22"/>
          <p:cNvSpPr/>
          <p:nvPr/>
        </p:nvSpPr>
        <p:spPr>
          <a:xfrm>
            <a:off x="5139000" y="5166360"/>
            <a:ext cx="197136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Communautés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23"/>
          <p:cNvSpPr/>
          <p:nvPr/>
        </p:nvSpPr>
        <p:spPr>
          <a:xfrm>
            <a:off x="5139000" y="5486400"/>
            <a:ext cx="19713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Groupes, Événements,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24"/>
          <p:cNvSpPr/>
          <p:nvPr/>
        </p:nvSpPr>
        <p:spPr>
          <a:xfrm>
            <a:off x="7296840" y="4206240"/>
            <a:ext cx="2154240" cy="182520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4" name="Shape 25"/>
          <p:cNvSpPr/>
          <p:nvPr/>
        </p:nvSpPr>
        <p:spPr>
          <a:xfrm>
            <a:off x="8074080" y="4389120"/>
            <a:ext cx="636480" cy="63648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5" name="Text 26"/>
          <p:cNvSpPr/>
          <p:nvPr/>
        </p:nvSpPr>
        <p:spPr>
          <a:xfrm>
            <a:off x="8002080" y="4281120"/>
            <a:ext cx="838800" cy="77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⌕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27"/>
          <p:cNvSpPr/>
          <p:nvPr/>
        </p:nvSpPr>
        <p:spPr>
          <a:xfrm>
            <a:off x="7388280" y="5166360"/>
            <a:ext cx="197136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Découverte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28"/>
          <p:cNvSpPr/>
          <p:nvPr/>
        </p:nvSpPr>
        <p:spPr>
          <a:xfrm>
            <a:off x="7388280" y="5486400"/>
            <a:ext cx="19713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Search, Trending, Recommandations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29"/>
          <p:cNvSpPr/>
          <p:nvPr/>
        </p:nvSpPr>
        <p:spPr>
          <a:xfrm>
            <a:off x="9546480" y="4206240"/>
            <a:ext cx="2154240" cy="1825200"/>
          </a:xfrm>
          <a:prstGeom prst="roundRect">
            <a:avLst>
              <a:gd name="adj" fmla="val 40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9" name="Shape 30"/>
          <p:cNvSpPr/>
          <p:nvPr/>
        </p:nvSpPr>
        <p:spPr>
          <a:xfrm>
            <a:off x="10323720" y="4389120"/>
            <a:ext cx="636480" cy="63648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0" name="Text 31"/>
          <p:cNvSpPr/>
          <p:nvPr/>
        </p:nvSpPr>
        <p:spPr>
          <a:xfrm>
            <a:off x="10323720" y="4389120"/>
            <a:ext cx="63648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⚙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32"/>
          <p:cNvSpPr/>
          <p:nvPr/>
        </p:nvSpPr>
        <p:spPr>
          <a:xfrm>
            <a:off x="9637920" y="5166360"/>
            <a:ext cx="197136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33"/>
          <p:cNvSpPr/>
          <p:nvPr/>
        </p:nvSpPr>
        <p:spPr>
          <a:xfrm>
            <a:off x="9637920" y="5486400"/>
            <a:ext cx="19713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Thème, langue, confidentialité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4" name="Text 34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35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Text 0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02 · CAHIER DES CHARGES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stories &amp; périmètre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9" name="Shape 3"/>
          <p:cNvSpPr/>
          <p:nvPr/>
        </p:nvSpPr>
        <p:spPr>
          <a:xfrm>
            <a:off x="548640" y="1691640"/>
            <a:ext cx="2154240" cy="13680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0" name="Text 4"/>
          <p:cNvSpPr/>
          <p:nvPr/>
        </p:nvSpPr>
        <p:spPr>
          <a:xfrm>
            <a:off x="548640" y="1783080"/>
            <a:ext cx="2154240" cy="77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5"/>
          <p:cNvSpPr/>
          <p:nvPr/>
        </p:nvSpPr>
        <p:spPr>
          <a:xfrm>
            <a:off x="548640" y="2560320"/>
            <a:ext cx="215424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 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6"/>
          <p:cNvSpPr/>
          <p:nvPr/>
        </p:nvSpPr>
        <p:spPr>
          <a:xfrm>
            <a:off x="2797920" y="1691640"/>
            <a:ext cx="2154240" cy="13680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3" name="Text 7"/>
          <p:cNvSpPr/>
          <p:nvPr/>
        </p:nvSpPr>
        <p:spPr>
          <a:xfrm>
            <a:off x="2797920" y="1783080"/>
            <a:ext cx="2154240" cy="77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16+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8"/>
          <p:cNvSpPr/>
          <p:nvPr/>
        </p:nvSpPr>
        <p:spPr>
          <a:xfrm>
            <a:off x="2797920" y="2560320"/>
            <a:ext cx="215424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Pages principales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9"/>
          <p:cNvSpPr/>
          <p:nvPr/>
        </p:nvSpPr>
        <p:spPr>
          <a:xfrm>
            <a:off x="5047560" y="1691640"/>
            <a:ext cx="2154240" cy="13680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6" name="Text 10"/>
          <p:cNvSpPr/>
          <p:nvPr/>
        </p:nvSpPr>
        <p:spPr>
          <a:xfrm>
            <a:off x="5047560" y="1783080"/>
            <a:ext cx="2154240" cy="77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11"/>
          <p:cNvSpPr/>
          <p:nvPr/>
        </p:nvSpPr>
        <p:spPr>
          <a:xfrm>
            <a:off x="5047560" y="2560320"/>
            <a:ext cx="215424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Shape 12"/>
          <p:cNvSpPr/>
          <p:nvPr/>
        </p:nvSpPr>
        <p:spPr>
          <a:xfrm>
            <a:off x="7296840" y="1691640"/>
            <a:ext cx="2154240" cy="13680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9" name="Text 13"/>
          <p:cNvSpPr/>
          <p:nvPr/>
        </p:nvSpPr>
        <p:spPr>
          <a:xfrm>
            <a:off x="7296840" y="1783080"/>
            <a:ext cx="2154240" cy="77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60+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4"/>
          <p:cNvSpPr/>
          <p:nvPr/>
        </p:nvSpPr>
        <p:spPr>
          <a:xfrm>
            <a:off x="7296840" y="2560320"/>
            <a:ext cx="215424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Endpoints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15"/>
          <p:cNvSpPr/>
          <p:nvPr/>
        </p:nvSpPr>
        <p:spPr>
          <a:xfrm>
            <a:off x="9546480" y="1691640"/>
            <a:ext cx="2154240" cy="136800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2" name="Text 16"/>
          <p:cNvSpPr/>
          <p:nvPr/>
        </p:nvSpPr>
        <p:spPr>
          <a:xfrm>
            <a:off x="9546480" y="1783080"/>
            <a:ext cx="2154240" cy="77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280+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17"/>
          <p:cNvSpPr/>
          <p:nvPr/>
        </p:nvSpPr>
        <p:spPr>
          <a:xfrm>
            <a:off x="9546480" y="2560320"/>
            <a:ext cx="215424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Variables CSS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18"/>
          <p:cNvSpPr/>
          <p:nvPr/>
        </p:nvSpPr>
        <p:spPr>
          <a:xfrm>
            <a:off x="548640" y="333756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Top stories prioritaires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5" name="Table 0"/>
          <p:cNvGraphicFramePr/>
          <p:nvPr/>
        </p:nvGraphicFramePr>
        <p:xfrm>
          <a:off x="548640" y="3657600"/>
          <a:ext cx="11063880" cy="2468880"/>
        </p:xfrm>
        <a:graphic>
          <a:graphicData uri="http://schemas.openxmlformats.org/drawingml/2006/table">
            <a:tbl>
              <a:tblPr/>
              <a:tblGrid>
                <a:gridCol w="1463040"/>
                <a:gridCol w="2926080"/>
                <a:gridCol w="1463040"/>
                <a:gridCol w="5212080"/>
              </a:tblGrid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Acteur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Action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Priorité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Critère d'acceptation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1F2028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Visiteur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S'inscrire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Email validé, compte créé, JWT émis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Créer un post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Post visible immédiatement dans le feed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Envoyer un message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C489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Message persisté + push SSE au destinataire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Utilisateur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Réagir / commenter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59E0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Compteur incrémenté, doublon impossible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  <a:tr h="411480"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Modérateur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Supprimer un contenu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59E0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★★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  <a:tc>
                  <a:txBody>
                    <a:bodyPr lIns="75960" tIns="75960" rIns="75960" bIns="75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A1A1A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Contenu retiré, log d'action conservé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75960" marB="759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272730"/>
                    </a:solidFill>
                  </a:tcPr>
                </a:tc>
              </a:tr>
            </a:tbl>
          </a:graphicData>
        </a:graphic>
      </p:graphicFrame>
      <p:pic>
        <p:nvPicPr>
          <p:cNvPr id="36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7" name="Text 19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20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Text 0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multicouche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1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2" name="Shape 3"/>
          <p:cNvSpPr/>
          <p:nvPr/>
        </p:nvSpPr>
        <p:spPr>
          <a:xfrm>
            <a:off x="548640" y="1691640"/>
            <a:ext cx="11060640" cy="109368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3" name="Shape 4"/>
          <p:cNvSpPr/>
          <p:nvPr/>
        </p:nvSpPr>
        <p:spPr>
          <a:xfrm>
            <a:off x="548640" y="1691640"/>
            <a:ext cx="106200" cy="10936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3280" tIns="45000" rIns="53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4" name="Text 5"/>
          <p:cNvSpPr/>
          <p:nvPr/>
        </p:nvSpPr>
        <p:spPr>
          <a:xfrm>
            <a:off x="777240" y="1783080"/>
            <a:ext cx="2739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PRÉSENTATION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6"/>
          <p:cNvSpPr/>
          <p:nvPr/>
        </p:nvSpPr>
        <p:spPr>
          <a:xfrm>
            <a:off x="777240" y="2148840"/>
            <a:ext cx="27396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UI / UX — ce que l'utilisateur voit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7"/>
          <p:cNvSpPr/>
          <p:nvPr/>
        </p:nvSpPr>
        <p:spPr>
          <a:xfrm>
            <a:off x="3657600" y="1828800"/>
            <a:ext cx="77688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Pages Next.js (React Server Components)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8"/>
          <p:cNvSpPr/>
          <p:nvPr/>
        </p:nvSpPr>
        <p:spPr>
          <a:xfrm>
            <a:off x="3657600" y="2121480"/>
            <a:ext cx="77688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Composants UI (shadcn/ui, Tailwind)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9"/>
          <p:cNvSpPr/>
          <p:nvPr/>
        </p:nvSpPr>
        <p:spPr>
          <a:xfrm>
            <a:off x="3657600" y="2414160"/>
            <a:ext cx="77688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Hooks de données (use-api, use-real-time-chat)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Shape 10"/>
          <p:cNvSpPr/>
          <p:nvPr/>
        </p:nvSpPr>
        <p:spPr>
          <a:xfrm>
            <a:off x="6080760" y="278892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0" name="Shape 11"/>
          <p:cNvSpPr/>
          <p:nvPr/>
        </p:nvSpPr>
        <p:spPr>
          <a:xfrm>
            <a:off x="548640" y="2862000"/>
            <a:ext cx="11060640" cy="109368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1" name="Shape 12"/>
          <p:cNvSpPr/>
          <p:nvPr/>
        </p:nvSpPr>
        <p:spPr>
          <a:xfrm>
            <a:off x="548640" y="2862000"/>
            <a:ext cx="106200" cy="109368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3280" tIns="45000" rIns="53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2" name="Text 13"/>
          <p:cNvSpPr/>
          <p:nvPr/>
        </p:nvSpPr>
        <p:spPr>
          <a:xfrm>
            <a:off x="777240" y="2953440"/>
            <a:ext cx="2739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APPLICATION / MÉTIER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14"/>
          <p:cNvSpPr/>
          <p:nvPr/>
        </p:nvSpPr>
        <p:spPr>
          <a:xfrm>
            <a:off x="777240" y="3319200"/>
            <a:ext cx="27396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Logique applicative et règles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15"/>
          <p:cNvSpPr/>
          <p:nvPr/>
        </p:nvSpPr>
        <p:spPr>
          <a:xfrm>
            <a:off x="3657600" y="2999160"/>
            <a:ext cx="77688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Route Handlers /api/private/* /api/public/*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16"/>
          <p:cNvSpPr/>
          <p:nvPr/>
        </p:nvSpPr>
        <p:spPr>
          <a:xfrm>
            <a:off x="3657600" y="3291840"/>
            <a:ext cx="77688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Actions (mutations) · Middleware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17"/>
          <p:cNvSpPr/>
          <p:nvPr/>
        </p:nvSpPr>
        <p:spPr>
          <a:xfrm>
            <a:off x="3657600" y="3584520"/>
            <a:ext cx="77688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Zod, schémas partagés client/serveur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Shape 18"/>
          <p:cNvSpPr/>
          <p:nvPr/>
        </p:nvSpPr>
        <p:spPr>
          <a:xfrm>
            <a:off x="6080760" y="395928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8" name="Shape 19"/>
          <p:cNvSpPr/>
          <p:nvPr/>
        </p:nvSpPr>
        <p:spPr>
          <a:xfrm>
            <a:off x="548640" y="4032360"/>
            <a:ext cx="11060640" cy="109368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9" name="Shape 20"/>
          <p:cNvSpPr/>
          <p:nvPr/>
        </p:nvSpPr>
        <p:spPr>
          <a:xfrm>
            <a:off x="548640" y="4032360"/>
            <a:ext cx="106200" cy="109368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3280" tIns="45000" rIns="53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0" name="Text 21"/>
          <p:cNvSpPr/>
          <p:nvPr/>
        </p:nvSpPr>
        <p:spPr>
          <a:xfrm>
            <a:off x="777240" y="4123800"/>
            <a:ext cx="2739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PERSISTANCE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22"/>
          <p:cNvSpPr/>
          <p:nvPr/>
        </p:nvSpPr>
        <p:spPr>
          <a:xfrm>
            <a:off x="777240" y="4489560"/>
            <a:ext cx="27396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Accès aux données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23"/>
          <p:cNvSpPr/>
          <p:nvPr/>
        </p:nvSpPr>
        <p:spPr>
          <a:xfrm>
            <a:off x="3657600" y="4169520"/>
            <a:ext cx="77688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ORM (18 modèles, requêtes type-safe)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24"/>
          <p:cNvSpPr/>
          <p:nvPr/>
        </p:nvSpPr>
        <p:spPr>
          <a:xfrm>
            <a:off x="3657600" y="4462200"/>
            <a:ext cx="77688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Migrations versionnées prisma/migrations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25"/>
          <p:cNvSpPr/>
          <p:nvPr/>
        </p:nvSpPr>
        <p:spPr>
          <a:xfrm>
            <a:off x="3657600" y="4754880"/>
            <a:ext cx="77688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Helpers src/lib/server/&lt;domaine&gt;/&lt;entité&gt;.ts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Shape 26"/>
          <p:cNvSpPr/>
          <p:nvPr/>
        </p:nvSpPr>
        <p:spPr>
          <a:xfrm>
            <a:off x="6080760" y="5129640"/>
            <a:ext cx="360" cy="7308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0" tIns="28080" rIns="0" bIns="280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6" name="Shape 27"/>
          <p:cNvSpPr/>
          <p:nvPr/>
        </p:nvSpPr>
        <p:spPr>
          <a:xfrm>
            <a:off x="548640" y="5203080"/>
            <a:ext cx="11060640" cy="1093680"/>
          </a:xfrm>
          <a:prstGeom prst="roundRect">
            <a:avLst>
              <a:gd name="adj" fmla="val 666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7" name="Shape 28"/>
          <p:cNvSpPr/>
          <p:nvPr/>
        </p:nvSpPr>
        <p:spPr>
          <a:xfrm>
            <a:off x="548640" y="5203080"/>
            <a:ext cx="106200" cy="109368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3280" tIns="45000" rIns="53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8" name="Text 29"/>
          <p:cNvSpPr/>
          <p:nvPr/>
        </p:nvSpPr>
        <p:spPr>
          <a:xfrm>
            <a:off x="777240" y="5294520"/>
            <a:ext cx="2739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INFRASTRUCTURE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30"/>
          <p:cNvSpPr/>
          <p:nvPr/>
        </p:nvSpPr>
        <p:spPr>
          <a:xfrm>
            <a:off x="777240" y="5660280"/>
            <a:ext cx="273960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et services externes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31"/>
          <p:cNvSpPr/>
          <p:nvPr/>
        </p:nvSpPr>
        <p:spPr>
          <a:xfrm>
            <a:off x="3657600" y="5340240"/>
            <a:ext cx="77688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Neon (DB relationnelle)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32"/>
          <p:cNvSpPr/>
          <p:nvPr/>
        </p:nvSpPr>
        <p:spPr>
          <a:xfrm>
            <a:off x="3657600" y="5632560"/>
            <a:ext cx="77688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(cache + buffer 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33"/>
          <p:cNvSpPr/>
          <p:nvPr/>
        </p:nvSpPr>
        <p:spPr>
          <a:xfrm>
            <a:off x="3657600" y="5925240"/>
            <a:ext cx="77688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 (médias) · Vercel (runtime)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4" name="Text 34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35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Text 0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Stack technique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9" name="Shape 3"/>
          <p:cNvSpPr/>
          <p:nvPr/>
        </p:nvSpPr>
        <p:spPr>
          <a:xfrm>
            <a:off x="457200" y="1691640"/>
            <a:ext cx="3654000" cy="22366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0" name="Shape 4"/>
          <p:cNvSpPr/>
          <p:nvPr/>
        </p:nvSpPr>
        <p:spPr>
          <a:xfrm>
            <a:off x="457200" y="1691640"/>
            <a:ext cx="69480" cy="22366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1" name="Text 5"/>
          <p:cNvSpPr/>
          <p:nvPr/>
        </p:nvSpPr>
        <p:spPr>
          <a:xfrm>
            <a:off x="685800" y="1801440"/>
            <a:ext cx="32882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Frontend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6"/>
          <p:cNvSpPr/>
          <p:nvPr/>
        </p:nvSpPr>
        <p:spPr>
          <a:xfrm>
            <a:off x="685800" y="2194560"/>
            <a:ext cx="328824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xt.j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 </a:t>
            </a: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7"/>
          <p:cNvSpPr/>
          <p:nvPr/>
        </p:nvSpPr>
        <p:spPr>
          <a:xfrm>
            <a:off x="685800" y="242316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 Router · SSR/CSR hybride · Server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8"/>
          <p:cNvSpPr/>
          <p:nvPr/>
        </p:nvSpPr>
        <p:spPr>
          <a:xfrm>
            <a:off x="685800" y="2743200"/>
            <a:ext cx="328824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 19 + TypeScript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9"/>
          <p:cNvSpPr/>
          <p:nvPr/>
        </p:nvSpPr>
        <p:spPr>
          <a:xfrm>
            <a:off x="685800" y="297180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Composants typés, hooks personnalisés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 10"/>
          <p:cNvSpPr/>
          <p:nvPr/>
        </p:nvSpPr>
        <p:spPr>
          <a:xfrm>
            <a:off x="685800" y="3291840"/>
            <a:ext cx="328824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Tailwind CSS + shadcn/ui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11"/>
          <p:cNvSpPr/>
          <p:nvPr/>
        </p:nvSpPr>
        <p:spPr>
          <a:xfrm>
            <a:off x="685800" y="352044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Design system, dark theme natif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Shape 12"/>
          <p:cNvSpPr/>
          <p:nvPr/>
        </p:nvSpPr>
        <p:spPr>
          <a:xfrm>
            <a:off x="4251960" y="1691640"/>
            <a:ext cx="3654000" cy="22366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9" name="Shape 13"/>
          <p:cNvSpPr/>
          <p:nvPr/>
        </p:nvSpPr>
        <p:spPr>
          <a:xfrm>
            <a:off x="4251960" y="1691640"/>
            <a:ext cx="69480" cy="223668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0" name="Text 14"/>
          <p:cNvSpPr/>
          <p:nvPr/>
        </p:nvSpPr>
        <p:spPr>
          <a:xfrm>
            <a:off x="4480560" y="1801440"/>
            <a:ext cx="32882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Backend &amp;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15"/>
          <p:cNvSpPr/>
          <p:nvPr/>
        </p:nvSpPr>
        <p:spPr>
          <a:xfrm>
            <a:off x="4480560" y="2194560"/>
            <a:ext cx="328824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Route Handlers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16"/>
          <p:cNvSpPr/>
          <p:nvPr/>
        </p:nvSpPr>
        <p:spPr>
          <a:xfrm>
            <a:off x="4480560" y="242316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REST + Server-Sent Events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17"/>
          <p:cNvSpPr/>
          <p:nvPr/>
        </p:nvSpPr>
        <p:spPr>
          <a:xfrm>
            <a:off x="4480560" y="2743200"/>
            <a:ext cx="328824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18"/>
          <p:cNvSpPr/>
          <p:nvPr/>
        </p:nvSpPr>
        <p:spPr>
          <a:xfrm>
            <a:off x="4480560" y="297180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ORM type-safe, migrations, 18 modèles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19"/>
          <p:cNvSpPr/>
          <p:nvPr/>
        </p:nvSpPr>
        <p:spPr>
          <a:xfrm>
            <a:off x="4480560" y="3291840"/>
            <a:ext cx="328824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20"/>
          <p:cNvSpPr/>
          <p:nvPr/>
        </p:nvSpPr>
        <p:spPr>
          <a:xfrm>
            <a:off x="4480560" y="352044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Validation des payloads, schémas partagés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21"/>
          <p:cNvSpPr/>
          <p:nvPr/>
        </p:nvSpPr>
        <p:spPr>
          <a:xfrm>
            <a:off x="8046720" y="1691640"/>
            <a:ext cx="3654000" cy="22366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8" name="Shape 22"/>
          <p:cNvSpPr/>
          <p:nvPr/>
        </p:nvSpPr>
        <p:spPr>
          <a:xfrm>
            <a:off x="8046720" y="1691640"/>
            <a:ext cx="69480" cy="223668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9" name="Text 23"/>
          <p:cNvSpPr/>
          <p:nvPr/>
        </p:nvSpPr>
        <p:spPr>
          <a:xfrm>
            <a:off x="8275320" y="1801440"/>
            <a:ext cx="32882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Données &amp; 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24"/>
          <p:cNvSpPr/>
          <p:nvPr/>
        </p:nvSpPr>
        <p:spPr>
          <a:xfrm>
            <a:off x="8275320" y="2194560"/>
            <a:ext cx="328824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(Neon)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25"/>
          <p:cNvSpPr/>
          <p:nvPr/>
        </p:nvSpPr>
        <p:spPr>
          <a:xfrm>
            <a:off x="8275320" y="242316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Base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relatio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nnelle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mana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gée,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branc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26"/>
          <p:cNvSpPr/>
          <p:nvPr/>
        </p:nvSpPr>
        <p:spPr>
          <a:xfrm>
            <a:off x="8275320" y="2743200"/>
            <a:ext cx="328824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(REST)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 27"/>
          <p:cNvSpPr/>
          <p:nvPr/>
        </p:nvSpPr>
        <p:spPr>
          <a:xfrm>
            <a:off x="8275320" y="297180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+ buffer SSE compatible serverless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 28"/>
          <p:cNvSpPr/>
          <p:nvPr/>
        </p:nvSpPr>
        <p:spPr>
          <a:xfrm>
            <a:off x="8275320" y="3291840"/>
            <a:ext cx="328824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 29"/>
          <p:cNvSpPr/>
          <p:nvPr/>
        </p:nvSpPr>
        <p:spPr>
          <a:xfrm>
            <a:off x="8275320" y="352044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images / vidéos, transformations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6" name="Shape 30"/>
          <p:cNvSpPr/>
          <p:nvPr/>
        </p:nvSpPr>
        <p:spPr>
          <a:xfrm>
            <a:off x="457200" y="4069080"/>
            <a:ext cx="3654000" cy="22366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7" name="Shape 31"/>
          <p:cNvSpPr/>
          <p:nvPr/>
        </p:nvSpPr>
        <p:spPr>
          <a:xfrm>
            <a:off x="457200" y="4069080"/>
            <a:ext cx="69480" cy="223668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8" name="Text 32"/>
          <p:cNvSpPr/>
          <p:nvPr/>
        </p:nvSpPr>
        <p:spPr>
          <a:xfrm>
            <a:off x="685800" y="4178880"/>
            <a:ext cx="32882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Auth &amp; Sécurité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33"/>
          <p:cNvSpPr/>
          <p:nvPr/>
        </p:nvSpPr>
        <p:spPr>
          <a:xfrm>
            <a:off x="685800" y="4572000"/>
            <a:ext cx="328824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custom (jose)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34"/>
          <p:cNvSpPr/>
          <p:nvPr/>
        </p:nvSpPr>
        <p:spPr>
          <a:xfrm>
            <a:off x="685800" y="480060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Cookie HttpOnly · SameSite ·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35"/>
          <p:cNvSpPr/>
          <p:nvPr/>
        </p:nvSpPr>
        <p:spPr>
          <a:xfrm>
            <a:off x="685800" y="5120640"/>
            <a:ext cx="328824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 cost 12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36"/>
          <p:cNvSpPr/>
          <p:nvPr/>
        </p:nvSpPr>
        <p:spPr>
          <a:xfrm>
            <a:off x="685800" y="534924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Hash mots de passe, comparison constante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37"/>
          <p:cNvSpPr/>
          <p:nvPr/>
        </p:nvSpPr>
        <p:spPr>
          <a:xfrm>
            <a:off x="685800" y="5669280"/>
            <a:ext cx="328824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38"/>
          <p:cNvSpPr/>
          <p:nvPr/>
        </p:nvSpPr>
        <p:spPr>
          <a:xfrm>
            <a:off x="685800" y="589788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googleapis + 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Shape 39"/>
          <p:cNvSpPr/>
          <p:nvPr/>
        </p:nvSpPr>
        <p:spPr>
          <a:xfrm>
            <a:off x="4251960" y="4069080"/>
            <a:ext cx="3654000" cy="22366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6" name="Shape 40"/>
          <p:cNvSpPr/>
          <p:nvPr/>
        </p:nvSpPr>
        <p:spPr>
          <a:xfrm>
            <a:off x="4251960" y="4069080"/>
            <a:ext cx="69480" cy="223668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47" name="Text 41"/>
          <p:cNvSpPr/>
          <p:nvPr/>
        </p:nvSpPr>
        <p:spPr>
          <a:xfrm>
            <a:off x="4480560" y="4178880"/>
            <a:ext cx="32882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DevOps &amp; CI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42"/>
          <p:cNvSpPr/>
          <p:nvPr/>
        </p:nvSpPr>
        <p:spPr>
          <a:xfrm>
            <a:off x="4480560" y="4572000"/>
            <a:ext cx="328824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multi-stage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 43"/>
          <p:cNvSpPr/>
          <p:nvPr/>
        </p:nvSpPr>
        <p:spPr>
          <a:xfrm>
            <a:off x="4480560" y="480060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Image légère oven/bun:1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 44"/>
          <p:cNvSpPr/>
          <p:nvPr/>
        </p:nvSpPr>
        <p:spPr>
          <a:xfrm>
            <a:off x="4480560" y="5120640"/>
            <a:ext cx="328824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45"/>
          <p:cNvSpPr/>
          <p:nvPr/>
        </p:nvSpPr>
        <p:spPr>
          <a:xfrm>
            <a:off x="4480560" y="534924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Lint · Test · Build · Deploy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46"/>
          <p:cNvSpPr/>
          <p:nvPr/>
        </p:nvSpPr>
        <p:spPr>
          <a:xfrm>
            <a:off x="4480560" y="5669280"/>
            <a:ext cx="328824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 + Neon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3" name="Text 47"/>
          <p:cNvSpPr/>
          <p:nvPr/>
        </p:nvSpPr>
        <p:spPr>
          <a:xfrm>
            <a:off x="4480560" y="589788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Déploiement préview par PR +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4" name="Shape 48"/>
          <p:cNvSpPr/>
          <p:nvPr/>
        </p:nvSpPr>
        <p:spPr>
          <a:xfrm>
            <a:off x="8046720" y="4069080"/>
            <a:ext cx="3654000" cy="22366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5" name="Shape 49"/>
          <p:cNvSpPr/>
          <p:nvPr/>
        </p:nvSpPr>
        <p:spPr>
          <a:xfrm>
            <a:off x="8046720" y="4069080"/>
            <a:ext cx="69480" cy="223668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6" name="Text 50"/>
          <p:cNvSpPr/>
          <p:nvPr/>
        </p:nvSpPr>
        <p:spPr>
          <a:xfrm>
            <a:off x="8275320" y="4178880"/>
            <a:ext cx="32882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Qualité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 51"/>
          <p:cNvSpPr/>
          <p:nvPr/>
        </p:nvSpPr>
        <p:spPr>
          <a:xfrm>
            <a:off x="8275320" y="4572000"/>
            <a:ext cx="328824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Jest + ts-jest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52"/>
          <p:cNvSpPr/>
          <p:nvPr/>
        </p:nvSpPr>
        <p:spPr>
          <a:xfrm>
            <a:off x="8275320" y="480060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Tests d'intégration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 53"/>
          <p:cNvSpPr/>
          <p:nvPr/>
        </p:nvSpPr>
        <p:spPr>
          <a:xfrm>
            <a:off x="8275320" y="5120640"/>
            <a:ext cx="328824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ESLint + TypeScript strict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54"/>
          <p:cNvSpPr/>
          <p:nvPr/>
        </p:nvSpPr>
        <p:spPr>
          <a:xfrm>
            <a:off x="8275320" y="534924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Code style + typage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55"/>
          <p:cNvSpPr/>
          <p:nvPr/>
        </p:nvSpPr>
        <p:spPr>
          <a:xfrm>
            <a:off x="8275320" y="5669280"/>
            <a:ext cx="328824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Roadmap Playwright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56"/>
          <p:cNvSpPr/>
          <p:nvPr/>
        </p:nvSpPr>
        <p:spPr>
          <a:xfrm>
            <a:off x="8275320" y="589788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E2E parcours critiques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4" name="Text 57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 58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Text 0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système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9" name="Shape 3"/>
          <p:cNvSpPr/>
          <p:nvPr/>
        </p:nvSpPr>
        <p:spPr>
          <a:xfrm>
            <a:off x="548640" y="2194560"/>
            <a:ext cx="2190960" cy="273960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0" name="Shape 4"/>
          <p:cNvSpPr/>
          <p:nvPr/>
        </p:nvSpPr>
        <p:spPr>
          <a:xfrm>
            <a:off x="548640" y="2194560"/>
            <a:ext cx="2190960" cy="3621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1" name="Text 5"/>
          <p:cNvSpPr/>
          <p:nvPr/>
        </p:nvSpPr>
        <p:spPr>
          <a:xfrm>
            <a:off x="548640" y="2194560"/>
            <a:ext cx="219096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CLIENT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6"/>
          <p:cNvSpPr/>
          <p:nvPr/>
        </p:nvSpPr>
        <p:spPr>
          <a:xfrm>
            <a:off x="685800" y="2743200"/>
            <a:ext cx="1962360" cy="209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Navigateur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App Router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EventSource (SSE)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fetch / forms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Cookies authToken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3" name="Shape 7"/>
          <p:cNvSpPr/>
          <p:nvPr/>
        </p:nvSpPr>
        <p:spPr>
          <a:xfrm>
            <a:off x="3017520" y="2194560"/>
            <a:ext cx="1642320" cy="2739600"/>
          </a:xfrm>
          <a:prstGeom prst="roundRect">
            <a:avLst>
              <a:gd name="adj" fmla="val 4444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4" name="Shape 8"/>
          <p:cNvSpPr/>
          <p:nvPr/>
        </p:nvSpPr>
        <p:spPr>
          <a:xfrm>
            <a:off x="3017520" y="2194560"/>
            <a:ext cx="1642320" cy="3621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5" name="Text 9"/>
          <p:cNvSpPr/>
          <p:nvPr/>
        </p:nvSpPr>
        <p:spPr>
          <a:xfrm>
            <a:off x="3017520" y="2194560"/>
            <a:ext cx="164232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EDGE / CDN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 10"/>
          <p:cNvSpPr/>
          <p:nvPr/>
        </p:nvSpPr>
        <p:spPr>
          <a:xfrm>
            <a:off x="3108960" y="2743200"/>
            <a:ext cx="1459440" cy="209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Routing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HTML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SSL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11"/>
          <p:cNvSpPr/>
          <p:nvPr/>
        </p:nvSpPr>
        <p:spPr>
          <a:xfrm>
            <a:off x="4937760" y="2194560"/>
            <a:ext cx="2373840" cy="2739600"/>
          </a:xfrm>
          <a:prstGeom prst="roundRect">
            <a:avLst>
              <a:gd name="adj" fmla="val 307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8" name="Shape 12"/>
          <p:cNvSpPr/>
          <p:nvPr/>
        </p:nvSpPr>
        <p:spPr>
          <a:xfrm>
            <a:off x="4937760" y="2194560"/>
            <a:ext cx="2373840" cy="3621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9" name="Text 13"/>
          <p:cNvSpPr/>
          <p:nvPr/>
        </p:nvSpPr>
        <p:spPr>
          <a:xfrm>
            <a:off x="4937760" y="2194560"/>
            <a:ext cx="23738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14"/>
          <p:cNvSpPr/>
          <p:nvPr/>
        </p:nvSpPr>
        <p:spPr>
          <a:xfrm>
            <a:off x="5074920" y="2743200"/>
            <a:ext cx="2099520" cy="209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Route Handlers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Middleware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Server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/api/private/...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/api/public/...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lang="en-US" sz="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Prisma Client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1" name="Shape 15"/>
          <p:cNvSpPr/>
          <p:nvPr/>
        </p:nvSpPr>
        <p:spPr>
          <a:xfrm>
            <a:off x="7680960" y="1783080"/>
            <a:ext cx="3928320" cy="100224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2" name="Shape 16"/>
          <p:cNvSpPr/>
          <p:nvPr/>
        </p:nvSpPr>
        <p:spPr>
          <a:xfrm>
            <a:off x="7680960" y="1783080"/>
            <a:ext cx="87840" cy="10022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3" name="Text 17"/>
          <p:cNvSpPr/>
          <p:nvPr/>
        </p:nvSpPr>
        <p:spPr>
          <a:xfrm>
            <a:off x="7863840" y="1874520"/>
            <a:ext cx="36540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· Neon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18"/>
          <p:cNvSpPr/>
          <p:nvPr/>
        </p:nvSpPr>
        <p:spPr>
          <a:xfrm>
            <a:off x="7863840" y="2194560"/>
            <a:ext cx="36540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Base relationnelle, 18 modèles Prisma, migrations versionnées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5" name="Shape 19"/>
          <p:cNvSpPr/>
          <p:nvPr/>
        </p:nvSpPr>
        <p:spPr>
          <a:xfrm>
            <a:off x="7680960" y="2926080"/>
            <a:ext cx="3928320" cy="100224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6" name="Shape 20"/>
          <p:cNvSpPr/>
          <p:nvPr/>
        </p:nvSpPr>
        <p:spPr>
          <a:xfrm>
            <a:off x="7680960" y="2926080"/>
            <a:ext cx="87840" cy="100224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7" name="Text 21"/>
          <p:cNvSpPr/>
          <p:nvPr/>
        </p:nvSpPr>
        <p:spPr>
          <a:xfrm>
            <a:off x="7863840" y="3017520"/>
            <a:ext cx="36540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 (REST)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 22"/>
          <p:cNvSpPr/>
          <p:nvPr/>
        </p:nvSpPr>
        <p:spPr>
          <a:xfrm>
            <a:off x="7863840" y="3337560"/>
            <a:ext cx="36540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Cache + buffer SSE — clés latest:chat:* polling REST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9" name="Shape 23"/>
          <p:cNvSpPr/>
          <p:nvPr/>
        </p:nvSpPr>
        <p:spPr>
          <a:xfrm>
            <a:off x="7680960" y="4069080"/>
            <a:ext cx="3928320" cy="1002240"/>
          </a:xfrm>
          <a:prstGeom prst="roundRect">
            <a:avLst>
              <a:gd name="adj" fmla="val 7273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0" name="Shape 24"/>
          <p:cNvSpPr/>
          <p:nvPr/>
        </p:nvSpPr>
        <p:spPr>
          <a:xfrm>
            <a:off x="7680960" y="4069080"/>
            <a:ext cx="87840" cy="100224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1" name="Text 25"/>
          <p:cNvSpPr/>
          <p:nvPr/>
        </p:nvSpPr>
        <p:spPr>
          <a:xfrm>
            <a:off x="7863840" y="4160520"/>
            <a:ext cx="36540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 26"/>
          <p:cNvSpPr/>
          <p:nvPr/>
        </p:nvSpPr>
        <p:spPr>
          <a:xfrm>
            <a:off x="7863840" y="4480560"/>
            <a:ext cx="36540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Stockage médias, transformations à la volée, CDN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3" name="Shape 27"/>
          <p:cNvSpPr/>
          <p:nvPr/>
        </p:nvSpPr>
        <p:spPr>
          <a:xfrm>
            <a:off x="2743200" y="3657600"/>
            <a:ext cx="27432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4" name="Shape 28"/>
          <p:cNvSpPr/>
          <p:nvPr/>
        </p:nvSpPr>
        <p:spPr>
          <a:xfrm>
            <a:off x="4663440" y="3657600"/>
            <a:ext cx="27432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5" name="Shape 29"/>
          <p:cNvSpPr/>
          <p:nvPr/>
        </p:nvSpPr>
        <p:spPr>
          <a:xfrm>
            <a:off x="7315200" y="2286000"/>
            <a:ext cx="3657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6" name="Shape 30"/>
          <p:cNvSpPr/>
          <p:nvPr/>
        </p:nvSpPr>
        <p:spPr>
          <a:xfrm>
            <a:off x="7315200" y="3429000"/>
            <a:ext cx="36576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7" name="Shape 31"/>
          <p:cNvSpPr/>
          <p:nvPr/>
        </p:nvSpPr>
        <p:spPr>
          <a:xfrm>
            <a:off x="7315200" y="4572000"/>
            <a:ext cx="365760" cy="360"/>
          </a:xfrm>
          <a:prstGeom prst="line">
            <a:avLst/>
          </a:prstGeom>
          <a:ln w="25400">
            <a:solidFill>
              <a:srgbClr val="10B981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8" name="Text 32"/>
          <p:cNvSpPr/>
          <p:nvPr/>
        </p:nvSpPr>
        <p:spPr>
          <a:xfrm>
            <a:off x="548640" y="5486400"/>
            <a:ext cx="1106064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Tout est serverless-ready : la stack tourne nativement sur Vercel et reste reproductible en local via docker-compose.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9" name="Shape 33"/>
          <p:cNvSpPr/>
          <p:nvPr/>
        </p:nvSpPr>
        <p:spPr>
          <a:xfrm>
            <a:off x="685800" y="5120640"/>
            <a:ext cx="1916640" cy="3164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0" name="Text 34"/>
          <p:cNvSpPr/>
          <p:nvPr/>
        </p:nvSpPr>
        <p:spPr>
          <a:xfrm>
            <a:off x="685800" y="5120640"/>
            <a:ext cx="191664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 bidirectionnel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2" name="Text 35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36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Text 0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Concepts de modélisation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6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7" name="Text 3"/>
          <p:cNvSpPr/>
          <p:nvPr/>
        </p:nvSpPr>
        <p:spPr>
          <a:xfrm>
            <a:off x="548640" y="1691640"/>
            <a:ext cx="109692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Rappel des termes que l'on rencontrera dans MCD / MLD / MPD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8" name="Shape 4"/>
          <p:cNvSpPr/>
          <p:nvPr/>
        </p:nvSpPr>
        <p:spPr>
          <a:xfrm>
            <a:off x="548640" y="2103120"/>
            <a:ext cx="3654000" cy="196236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9" name="Shape 5"/>
          <p:cNvSpPr/>
          <p:nvPr/>
        </p:nvSpPr>
        <p:spPr>
          <a:xfrm>
            <a:off x="731520" y="2286000"/>
            <a:ext cx="499320" cy="49932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0" name="Text 6"/>
          <p:cNvSpPr/>
          <p:nvPr/>
        </p:nvSpPr>
        <p:spPr>
          <a:xfrm>
            <a:off x="731520" y="2178000"/>
            <a:ext cx="499320" cy="66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7"/>
          <p:cNvSpPr/>
          <p:nvPr/>
        </p:nvSpPr>
        <p:spPr>
          <a:xfrm>
            <a:off x="1325880" y="228600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Entité / Table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8"/>
          <p:cNvSpPr/>
          <p:nvPr/>
        </p:nvSpPr>
        <p:spPr>
          <a:xfrm>
            <a:off x="731520" y="2880360"/>
            <a:ext cx="328824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Objet métier matérialisé en table SQL. Une ligne = une instance.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 9"/>
          <p:cNvSpPr/>
          <p:nvPr/>
        </p:nvSpPr>
        <p:spPr>
          <a:xfrm>
            <a:off x="731520" y="3474720"/>
            <a:ext cx="32882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4" name="Text 10"/>
          <p:cNvSpPr/>
          <p:nvPr/>
        </p:nvSpPr>
        <p:spPr>
          <a:xfrm>
            <a:off x="731520" y="3657600"/>
            <a:ext cx="32882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User, Post, Comment, Reaction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5" name="Shape 11"/>
          <p:cNvSpPr/>
          <p:nvPr/>
        </p:nvSpPr>
        <p:spPr>
          <a:xfrm>
            <a:off x="4389120" y="2103120"/>
            <a:ext cx="3654000" cy="196236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6" name="Shape 12"/>
          <p:cNvSpPr/>
          <p:nvPr/>
        </p:nvSpPr>
        <p:spPr>
          <a:xfrm>
            <a:off x="4572000" y="2286000"/>
            <a:ext cx="499320" cy="49932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7" name="Text 13"/>
          <p:cNvSpPr/>
          <p:nvPr/>
        </p:nvSpPr>
        <p:spPr>
          <a:xfrm>
            <a:off x="4572000" y="2178000"/>
            <a:ext cx="499320" cy="70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14"/>
          <p:cNvSpPr/>
          <p:nvPr/>
        </p:nvSpPr>
        <p:spPr>
          <a:xfrm>
            <a:off x="5166360" y="228600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Attribut / Colonne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 15"/>
          <p:cNvSpPr/>
          <p:nvPr/>
        </p:nvSpPr>
        <p:spPr>
          <a:xfrm>
            <a:off x="4572000" y="2880360"/>
            <a:ext cx="328824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Caractéristique d'une entité, typée. Devient une colonne en base.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16"/>
          <p:cNvSpPr/>
          <p:nvPr/>
        </p:nvSpPr>
        <p:spPr>
          <a:xfrm>
            <a:off x="4572000" y="3474720"/>
            <a:ext cx="32882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17"/>
          <p:cNvSpPr/>
          <p:nvPr/>
        </p:nvSpPr>
        <p:spPr>
          <a:xfrm>
            <a:off x="4572000" y="3657600"/>
            <a:ext cx="32882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User.email (varchar) · Post.message (text)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2" name="Shape 18"/>
          <p:cNvSpPr/>
          <p:nvPr/>
        </p:nvSpPr>
        <p:spPr>
          <a:xfrm>
            <a:off x="8229600" y="2103120"/>
            <a:ext cx="3654000" cy="196236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3" name="Shape 19"/>
          <p:cNvSpPr/>
          <p:nvPr/>
        </p:nvSpPr>
        <p:spPr>
          <a:xfrm>
            <a:off x="8412480" y="2286000"/>
            <a:ext cx="499320" cy="49932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4" name="Text 20"/>
          <p:cNvSpPr/>
          <p:nvPr/>
        </p:nvSpPr>
        <p:spPr>
          <a:xfrm>
            <a:off x="8412480" y="2106000"/>
            <a:ext cx="571320" cy="82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◉ 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5" name="Text 21"/>
          <p:cNvSpPr/>
          <p:nvPr/>
        </p:nvSpPr>
        <p:spPr>
          <a:xfrm>
            <a:off x="9006840" y="228600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primaire (PK)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22"/>
          <p:cNvSpPr/>
          <p:nvPr/>
        </p:nvSpPr>
        <p:spPr>
          <a:xfrm>
            <a:off x="8412480" y="2880360"/>
            <a:ext cx="328824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Identifiant unique non-null d'une ligne. Une seule par table.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23"/>
          <p:cNvSpPr/>
          <p:nvPr/>
        </p:nvSpPr>
        <p:spPr>
          <a:xfrm>
            <a:off x="8412480" y="3474720"/>
            <a:ext cx="32882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24"/>
          <p:cNvSpPr/>
          <p:nvPr/>
        </p:nvSpPr>
        <p:spPr>
          <a:xfrm>
            <a:off x="8412480" y="3657600"/>
            <a:ext cx="32882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User.id (uuid) · Post.id (cuid)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9" name="Shape 25"/>
          <p:cNvSpPr/>
          <p:nvPr/>
        </p:nvSpPr>
        <p:spPr>
          <a:xfrm>
            <a:off x="548640" y="4251960"/>
            <a:ext cx="3654000" cy="196236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0" name="Shape 26"/>
          <p:cNvSpPr/>
          <p:nvPr/>
        </p:nvSpPr>
        <p:spPr>
          <a:xfrm>
            <a:off x="731520" y="4434840"/>
            <a:ext cx="499320" cy="49932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1" name="Text 27"/>
          <p:cNvSpPr/>
          <p:nvPr/>
        </p:nvSpPr>
        <p:spPr>
          <a:xfrm>
            <a:off x="731520" y="4362840"/>
            <a:ext cx="499320" cy="62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⌬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 28"/>
          <p:cNvSpPr/>
          <p:nvPr/>
        </p:nvSpPr>
        <p:spPr>
          <a:xfrm>
            <a:off x="1325880" y="443484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étrangère (FK)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29"/>
          <p:cNvSpPr/>
          <p:nvPr/>
        </p:nvSpPr>
        <p:spPr>
          <a:xfrm>
            <a:off x="731520" y="5029200"/>
            <a:ext cx="328824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Référence la PK d'une autre table. Maintient l'intégrité référentielle.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30"/>
          <p:cNvSpPr/>
          <p:nvPr/>
        </p:nvSpPr>
        <p:spPr>
          <a:xfrm>
            <a:off x="731520" y="5623560"/>
            <a:ext cx="32882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31"/>
          <p:cNvSpPr/>
          <p:nvPr/>
        </p:nvSpPr>
        <p:spPr>
          <a:xfrm>
            <a:off x="731520" y="5806440"/>
            <a:ext cx="32882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Post.userId → User.id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6" name="Shape 32"/>
          <p:cNvSpPr/>
          <p:nvPr/>
        </p:nvSpPr>
        <p:spPr>
          <a:xfrm>
            <a:off x="4389120" y="4251960"/>
            <a:ext cx="3654000" cy="196236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7" name="Shape 33"/>
          <p:cNvSpPr/>
          <p:nvPr/>
        </p:nvSpPr>
        <p:spPr>
          <a:xfrm>
            <a:off x="4572000" y="4434840"/>
            <a:ext cx="499320" cy="49932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8" name="Text 34"/>
          <p:cNvSpPr/>
          <p:nvPr/>
        </p:nvSpPr>
        <p:spPr>
          <a:xfrm>
            <a:off x="4572000" y="4362840"/>
            <a:ext cx="499320" cy="62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↔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9" name="Text 35"/>
          <p:cNvSpPr/>
          <p:nvPr/>
        </p:nvSpPr>
        <p:spPr>
          <a:xfrm>
            <a:off x="5166360" y="443484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Cardinalité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0" name="Text 36"/>
          <p:cNvSpPr/>
          <p:nvPr/>
        </p:nvSpPr>
        <p:spPr>
          <a:xfrm>
            <a:off x="4572000" y="5029200"/>
            <a:ext cx="328824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Nombre d'instances liées : 1-1, 1-N, N-N. Détermine la structure relationnelle.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 37"/>
          <p:cNvSpPr/>
          <p:nvPr/>
        </p:nvSpPr>
        <p:spPr>
          <a:xfrm>
            <a:off x="4572000" y="5623560"/>
            <a:ext cx="32882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2" name="Text 38"/>
          <p:cNvSpPr/>
          <p:nvPr/>
        </p:nvSpPr>
        <p:spPr>
          <a:xfrm>
            <a:off x="4572000" y="5806440"/>
            <a:ext cx="32882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User 1—N Post  ·  User N—N User via Friendship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3" name="Shape 39"/>
          <p:cNvSpPr/>
          <p:nvPr/>
        </p:nvSpPr>
        <p:spPr>
          <a:xfrm>
            <a:off x="8229600" y="4251960"/>
            <a:ext cx="3654000" cy="1962360"/>
          </a:xfrm>
          <a:prstGeom prst="roundRect">
            <a:avLst>
              <a:gd name="adj" fmla="val 37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4" name="Shape 40"/>
          <p:cNvSpPr/>
          <p:nvPr/>
        </p:nvSpPr>
        <p:spPr>
          <a:xfrm>
            <a:off x="8412480" y="4434840"/>
            <a:ext cx="499320" cy="499320"/>
          </a:xfrm>
          <a:prstGeom prst="ellipse">
            <a:avLst/>
          </a:prstGeom>
          <a:solidFill>
            <a:srgbClr val="EF4444">
              <a:alpha val="3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5" name="Text 41"/>
          <p:cNvSpPr/>
          <p:nvPr/>
        </p:nvSpPr>
        <p:spPr>
          <a:xfrm>
            <a:off x="8412480" y="4326840"/>
            <a:ext cx="499320" cy="66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▩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42"/>
          <p:cNvSpPr/>
          <p:nvPr/>
        </p:nvSpPr>
        <p:spPr>
          <a:xfrm>
            <a:off x="9006840" y="443484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Index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7" name="Text 43"/>
          <p:cNvSpPr/>
          <p:nvPr/>
        </p:nvSpPr>
        <p:spPr>
          <a:xfrm>
            <a:off x="8412480" y="5029200"/>
            <a:ext cx="328824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Structure d'accès accélérant les lectures sur certaines colonnes.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8" name="Text 44"/>
          <p:cNvSpPr/>
          <p:nvPr/>
        </p:nvSpPr>
        <p:spPr>
          <a:xfrm>
            <a:off x="8412480" y="5623560"/>
            <a:ext cx="32882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Exemple Konekt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9" name="Text 45"/>
          <p:cNvSpPr/>
          <p:nvPr/>
        </p:nvSpPr>
        <p:spPr>
          <a:xfrm>
            <a:off x="8412480" y="5806440"/>
            <a:ext cx="32882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@@index([userId, createdAt]) sur Post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0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1" name="Text 46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2" name="Text 47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Text 0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MCD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4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Conceptuel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5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6" name="Shape 3"/>
          <p:cNvSpPr/>
          <p:nvPr/>
        </p:nvSpPr>
        <p:spPr>
          <a:xfrm>
            <a:off x="548640" y="1691640"/>
            <a:ext cx="11060640" cy="81936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7" name="Text 4"/>
          <p:cNvSpPr/>
          <p:nvPr/>
        </p:nvSpPr>
        <p:spPr>
          <a:xfrm>
            <a:off x="777240" y="1737360"/>
            <a:ext cx="2739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 5"/>
          <p:cNvSpPr/>
          <p:nvPr/>
        </p:nvSpPr>
        <p:spPr>
          <a:xfrm>
            <a:off x="777240" y="2011680"/>
            <a:ext cx="1060344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Représentation abstraite des entités métier et de leurs relations, indépendante de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toute technologie. On y identifie les entités, leurs attributs et les cardinalités entre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elles. C'est la vue "business" du domaine.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9" name="Shape 6"/>
          <p:cNvSpPr/>
          <p:nvPr/>
        </p:nvSpPr>
        <p:spPr>
          <a:xfrm>
            <a:off x="914400" y="3017520"/>
            <a:ext cx="2373840" cy="1459440"/>
          </a:xfrm>
          <a:prstGeom prst="roundRect">
            <a:avLst>
              <a:gd name="adj" fmla="val 5000"/>
            </a:avLst>
          </a:prstGeom>
          <a:solidFill>
            <a:srgbClr val="EC4899">
              <a:alpha val="25000"/>
            </a:srgbClr>
          </a:solidFill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0" name="Text 7"/>
          <p:cNvSpPr/>
          <p:nvPr/>
        </p:nvSpPr>
        <p:spPr>
          <a:xfrm>
            <a:off x="914400" y="3108960"/>
            <a:ext cx="237384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1" name="Shape 8"/>
          <p:cNvSpPr/>
          <p:nvPr/>
        </p:nvSpPr>
        <p:spPr>
          <a:xfrm>
            <a:off x="914400" y="3456360"/>
            <a:ext cx="2373840" cy="147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2" name="Text 9"/>
          <p:cNvSpPr/>
          <p:nvPr/>
        </p:nvSpPr>
        <p:spPr>
          <a:xfrm>
            <a:off x="1005840" y="3520440"/>
            <a:ext cx="219096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email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username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birthDate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3" name="Shape 10"/>
          <p:cNvSpPr/>
          <p:nvPr/>
        </p:nvSpPr>
        <p:spPr>
          <a:xfrm>
            <a:off x="5029200" y="3017520"/>
            <a:ext cx="2373840" cy="1459440"/>
          </a:xfrm>
          <a:prstGeom prst="roundRect">
            <a:avLst>
              <a:gd name="adj" fmla="val 5000"/>
            </a:avLst>
          </a:prstGeom>
          <a:solidFill>
            <a:srgbClr val="06B6D4">
              <a:alpha val="25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4" name="Text 11"/>
          <p:cNvSpPr/>
          <p:nvPr/>
        </p:nvSpPr>
        <p:spPr>
          <a:xfrm>
            <a:off x="5029200" y="3108960"/>
            <a:ext cx="237384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12"/>
          <p:cNvSpPr/>
          <p:nvPr/>
        </p:nvSpPr>
        <p:spPr>
          <a:xfrm>
            <a:off x="5029200" y="3456360"/>
            <a:ext cx="2373840" cy="147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6" name="Text 13"/>
          <p:cNvSpPr/>
          <p:nvPr/>
        </p:nvSpPr>
        <p:spPr>
          <a:xfrm>
            <a:off x="5120640" y="3520440"/>
            <a:ext cx="219096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7" name="Shape 14"/>
          <p:cNvSpPr/>
          <p:nvPr/>
        </p:nvSpPr>
        <p:spPr>
          <a:xfrm>
            <a:off x="9144000" y="3017520"/>
            <a:ext cx="2373840" cy="1459440"/>
          </a:xfrm>
          <a:prstGeom prst="roundRect">
            <a:avLst>
              <a:gd name="adj" fmla="val 5000"/>
            </a:avLst>
          </a:prstGeom>
          <a:solidFill>
            <a:srgbClr val="8B5CF6">
              <a:alpha val="25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8" name="Text 15"/>
          <p:cNvSpPr/>
          <p:nvPr/>
        </p:nvSpPr>
        <p:spPr>
          <a:xfrm>
            <a:off x="9144000" y="3108960"/>
            <a:ext cx="237384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COMMENT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9" name="Shape 16"/>
          <p:cNvSpPr/>
          <p:nvPr/>
        </p:nvSpPr>
        <p:spPr>
          <a:xfrm>
            <a:off x="9144000" y="3456360"/>
            <a:ext cx="2373840" cy="147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0" name="Text 17"/>
          <p:cNvSpPr/>
          <p:nvPr/>
        </p:nvSpPr>
        <p:spPr>
          <a:xfrm>
            <a:off x="9235440" y="3520440"/>
            <a:ext cx="219096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createdAt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1" name="Shape 18"/>
          <p:cNvSpPr/>
          <p:nvPr/>
        </p:nvSpPr>
        <p:spPr>
          <a:xfrm>
            <a:off x="3291840" y="3749040"/>
            <a:ext cx="17373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2" name="Text 19"/>
          <p:cNvSpPr/>
          <p:nvPr/>
        </p:nvSpPr>
        <p:spPr>
          <a:xfrm>
            <a:off x="3291840" y="3429000"/>
            <a:ext cx="17337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publie 1,N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3" name="Shape 20"/>
          <p:cNvSpPr/>
          <p:nvPr/>
        </p:nvSpPr>
        <p:spPr>
          <a:xfrm>
            <a:off x="7406640" y="3749040"/>
            <a:ext cx="17373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4" name="Text 21"/>
          <p:cNvSpPr/>
          <p:nvPr/>
        </p:nvSpPr>
        <p:spPr>
          <a:xfrm>
            <a:off x="7406640" y="3429000"/>
            <a:ext cx="17337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contient 1,N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5" name="Shape 22"/>
          <p:cNvSpPr/>
          <p:nvPr/>
        </p:nvSpPr>
        <p:spPr>
          <a:xfrm>
            <a:off x="548640" y="4846320"/>
            <a:ext cx="11060640" cy="1413720"/>
          </a:xfrm>
          <a:prstGeom prst="roundRect">
            <a:avLst>
              <a:gd name="adj" fmla="val 5161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6" name="Text 23"/>
          <p:cNvSpPr/>
          <p:nvPr/>
        </p:nvSpPr>
        <p:spPr>
          <a:xfrm>
            <a:off x="777240" y="4865760"/>
            <a:ext cx="109692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Lecture du MCD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7" name="Text 24"/>
          <p:cNvSpPr/>
          <p:nvPr/>
        </p:nvSpPr>
        <p:spPr>
          <a:xfrm>
            <a:off x="777240" y="5149800"/>
            <a:ext cx="10694880" cy="10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Un </a:t>
            </a: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User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publie 0..N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— un Post a exactement 1 auteur (cardinalité 1,1 côté Post)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Un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contient 0..N </a:t>
            </a: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Comment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, chaque Comment référence exactement 1 Post (parent)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Le MCD n'expose </a:t>
            </a:r>
            <a:r>
              <a:rPr lang="en-US" sz="1200" b="0" i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ni clés étrangères, ni types techniques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— uniquement le sens métier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7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9" name="Text 25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0" name="Text 26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Text 0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2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Logique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3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4" name="Shape 3"/>
          <p:cNvSpPr/>
          <p:nvPr/>
        </p:nvSpPr>
        <p:spPr>
          <a:xfrm>
            <a:off x="548640" y="1691640"/>
            <a:ext cx="11060640" cy="81936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5" name="Text 4"/>
          <p:cNvSpPr/>
          <p:nvPr/>
        </p:nvSpPr>
        <p:spPr>
          <a:xfrm>
            <a:off x="777240" y="1737360"/>
            <a:ext cx="2739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6" name="Text 5"/>
          <p:cNvSpPr/>
          <p:nvPr/>
        </p:nvSpPr>
        <p:spPr>
          <a:xfrm>
            <a:off x="777240" y="2011680"/>
            <a:ext cx="1060344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Traduction du MCD en schéma relationnel : on matérialise les relations par des clés étrangères, on choisit les types logiques (string, int, datetime) et on précise les contraintes (NOT NULL, UNIQUE).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7" name="Shape 6"/>
          <p:cNvSpPr/>
          <p:nvPr/>
        </p:nvSpPr>
        <p:spPr>
          <a:xfrm>
            <a:off x="548640" y="2697480"/>
            <a:ext cx="11060640" cy="2739600"/>
          </a:xfrm>
          <a:prstGeom prst="roundRect">
            <a:avLst>
              <a:gd name="adj" fmla="val 3333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8" name="Shape 7"/>
          <p:cNvSpPr/>
          <p:nvPr/>
        </p:nvSpPr>
        <p:spPr>
          <a:xfrm>
            <a:off x="777240" y="2880360"/>
            <a:ext cx="133560" cy="13356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9" name="Shape 8"/>
          <p:cNvSpPr/>
          <p:nvPr/>
        </p:nvSpPr>
        <p:spPr>
          <a:xfrm>
            <a:off x="960120" y="2880360"/>
            <a:ext cx="133560" cy="13356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0" name="Shape 9"/>
          <p:cNvSpPr/>
          <p:nvPr/>
        </p:nvSpPr>
        <p:spPr>
          <a:xfrm>
            <a:off x="1143000" y="2880360"/>
            <a:ext cx="133560" cy="13356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1" name="Text 10"/>
          <p:cNvSpPr/>
          <p:nvPr/>
        </p:nvSpPr>
        <p:spPr>
          <a:xfrm>
            <a:off x="1371600" y="27889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MLD — extrait (notation Prisma)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2" name="Text 11"/>
          <p:cNvSpPr/>
          <p:nvPr/>
        </p:nvSpPr>
        <p:spPr>
          <a:xfrm>
            <a:off x="777240" y="3154680"/>
            <a:ext cx="106034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USER  (id PK, email UNIQUE, username UNIQUE, password, birthDate,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3" name="Text 12"/>
          <p:cNvSpPr/>
          <p:nvPr/>
        </p:nvSpPr>
        <p:spPr>
          <a:xfrm>
            <a:off x="777240" y="3429000"/>
            <a:ext cx="106034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POST  (id PK, userId FK → USER.id, message, image?, visibility,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 13"/>
          <p:cNvSpPr/>
          <p:nvPr/>
        </p:nvSpPr>
        <p:spPr>
          <a:xfrm>
            <a:off x="777240" y="3703320"/>
            <a:ext cx="106034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COMMENT (id PK, postId FK → POST.id, userId FK → USER.id, message,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5" name="Text 14"/>
          <p:cNvSpPr/>
          <p:nvPr/>
        </p:nvSpPr>
        <p:spPr>
          <a:xfrm>
            <a:off x="777240" y="3977640"/>
            <a:ext cx="106034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REACTION (id PK, userId FK → USER.id, postId FK? → POST.id, type,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6" name="Text 15"/>
          <p:cNvSpPr/>
          <p:nvPr/>
        </p:nvSpPr>
        <p:spPr>
          <a:xfrm>
            <a:off x="777240" y="4251960"/>
            <a:ext cx="106034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UNIQUE (userId, postId, type)   ← un user ne peut pas dupliquer une réaction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 16"/>
          <p:cNvSpPr/>
          <p:nvPr/>
        </p:nvSpPr>
        <p:spPr>
          <a:xfrm>
            <a:off x="777240" y="4526280"/>
            <a:ext cx="106034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STORY (id PK, userId FK → USER.id, image, expiresAt, createdAt)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8" name="Text 17"/>
          <p:cNvSpPr/>
          <p:nvPr/>
        </p:nvSpPr>
        <p:spPr>
          <a:xfrm>
            <a:off x="777240" y="4800600"/>
            <a:ext cx="106034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FRIENDSHIP (id PK, requesterId FK → USER.id, addresseeId FK → USER.id, status)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18"/>
          <p:cNvSpPr/>
          <p:nvPr/>
        </p:nvSpPr>
        <p:spPr>
          <a:xfrm>
            <a:off x="777240" y="5074920"/>
            <a:ext cx="1060344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       UNIQUE (requesterId, addresseeId)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0" name="Shape 19"/>
          <p:cNvSpPr/>
          <p:nvPr/>
        </p:nvSpPr>
        <p:spPr>
          <a:xfrm>
            <a:off x="548640" y="5577840"/>
            <a:ext cx="11060640" cy="709560"/>
          </a:xfrm>
          <a:prstGeom prst="roundRect">
            <a:avLst>
              <a:gd name="adj" fmla="val 10256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1" name="Text 20"/>
          <p:cNvSpPr/>
          <p:nvPr/>
        </p:nvSpPr>
        <p:spPr>
          <a:xfrm>
            <a:off x="777240" y="5623560"/>
            <a:ext cx="1069488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À retenir :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chaque relation N-1 du MCD devient une </a:t>
            </a: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FK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côté "plusieurs". Les relations N-N (ex. Friendship) deviennent une table d'association avec ses propres attributs.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3" name="Text 21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4" name="Text 22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Text 0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MERISE · MPD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6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Modèle Physique de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7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8" name="Shape 3"/>
          <p:cNvSpPr/>
          <p:nvPr/>
        </p:nvSpPr>
        <p:spPr>
          <a:xfrm>
            <a:off x="548640" y="1691640"/>
            <a:ext cx="11060640" cy="819360"/>
          </a:xfrm>
          <a:prstGeom prst="roundRect">
            <a:avLst>
              <a:gd name="adj" fmla="val 888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09" name="Text 4"/>
          <p:cNvSpPr/>
          <p:nvPr/>
        </p:nvSpPr>
        <p:spPr>
          <a:xfrm>
            <a:off x="777240" y="1737360"/>
            <a:ext cx="2739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Définition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0" name="Text 5"/>
          <p:cNvSpPr/>
          <p:nvPr/>
        </p:nvSpPr>
        <p:spPr>
          <a:xfrm>
            <a:off x="777240" y="2011680"/>
            <a:ext cx="1060344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Implémentation SQL concrète du MLD pour un SGBD donné — ici PostgreSQL. On y choisit les types techniques (varchar(n), uuid, timestamptz), les contraintes (CHECK, ON DELETE), les index physiques.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1" name="Shape 6"/>
          <p:cNvSpPr/>
          <p:nvPr/>
        </p:nvSpPr>
        <p:spPr>
          <a:xfrm>
            <a:off x="548640" y="2697480"/>
            <a:ext cx="11109960" cy="3474720"/>
          </a:xfrm>
          <a:prstGeom prst="roundRect">
            <a:avLst>
              <a:gd name="adj" fmla="val 2817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2" name="Shape 7"/>
          <p:cNvSpPr/>
          <p:nvPr/>
        </p:nvSpPr>
        <p:spPr>
          <a:xfrm>
            <a:off x="777240" y="2880360"/>
            <a:ext cx="133560" cy="13356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3" name="Shape 8"/>
          <p:cNvSpPr/>
          <p:nvPr/>
        </p:nvSpPr>
        <p:spPr>
          <a:xfrm>
            <a:off x="960120" y="2880360"/>
            <a:ext cx="133560" cy="13356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4" name="Shape 9"/>
          <p:cNvSpPr/>
          <p:nvPr/>
        </p:nvSpPr>
        <p:spPr>
          <a:xfrm>
            <a:off x="1143000" y="2880360"/>
            <a:ext cx="133560" cy="13356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15" name="Text 10"/>
          <p:cNvSpPr/>
          <p:nvPr/>
        </p:nvSpPr>
        <p:spPr>
          <a:xfrm>
            <a:off x="1371600" y="27889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MPD — extrait DDL PostgreSQL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6" name="Text 11"/>
          <p:cNvSpPr/>
          <p:nvPr/>
        </p:nvSpPr>
        <p:spPr>
          <a:xfrm>
            <a:off x="777240" y="3154680"/>
            <a:ext cx="106034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CREATE TABLE "User" 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 12"/>
          <p:cNvSpPr/>
          <p:nvPr/>
        </p:nvSpPr>
        <p:spPr>
          <a:xfrm>
            <a:off x="777240" y="3319200"/>
            <a:ext cx="106034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id            TEXT        PRIMARY KEY DEFAULT cuid(),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8" name="Text 13"/>
          <p:cNvSpPr/>
          <p:nvPr/>
        </p:nvSpPr>
        <p:spPr>
          <a:xfrm>
            <a:off x="777240" y="3483720"/>
            <a:ext cx="106034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email         VARCHAR(255) NOT NULL UNIQUE,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 14"/>
          <p:cNvSpPr/>
          <p:nvPr/>
        </p:nvSpPr>
        <p:spPr>
          <a:xfrm>
            <a:off x="777240" y="3648600"/>
            <a:ext cx="106034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username      VARCHAR(50)  NOT NULL UNIQUE,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0" name="Text 15"/>
          <p:cNvSpPr/>
          <p:nvPr/>
        </p:nvSpPr>
        <p:spPr>
          <a:xfrm>
            <a:off x="777240" y="3813120"/>
            <a:ext cx="106034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password      VARCHAR(255) NOT NULL,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1" name="Text 16"/>
          <p:cNvSpPr/>
          <p:nvPr/>
        </p:nvSpPr>
        <p:spPr>
          <a:xfrm>
            <a:off x="777240" y="3977640"/>
            <a:ext cx="106034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visibility    "ProfileVisibility" NOT NULL DEFAULT 'PUBLIC',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2" name="Text 17"/>
          <p:cNvSpPr/>
          <p:nvPr/>
        </p:nvSpPr>
        <p:spPr>
          <a:xfrm>
            <a:off x="777240" y="4142160"/>
            <a:ext cx="106034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createdAt     TIMESTAMPTZ  NOT NULL DEFAULT NOW()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3" name="Text 18"/>
          <p:cNvSpPr/>
          <p:nvPr/>
        </p:nvSpPr>
        <p:spPr>
          <a:xfrm>
            <a:off x="777240" y="4306680"/>
            <a:ext cx="106034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4" name="Text 19"/>
          <p:cNvSpPr/>
          <p:nvPr/>
        </p:nvSpPr>
        <p:spPr>
          <a:xfrm>
            <a:off x="777240" y="4471560"/>
            <a:ext cx="106034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 20"/>
          <p:cNvSpPr/>
          <p:nvPr/>
        </p:nvSpPr>
        <p:spPr>
          <a:xfrm>
            <a:off x="777240" y="4636080"/>
            <a:ext cx="106034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CREATE TABLE "Post" 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 21"/>
          <p:cNvSpPr/>
          <p:nvPr/>
        </p:nvSpPr>
        <p:spPr>
          <a:xfrm>
            <a:off x="777240" y="4800600"/>
            <a:ext cx="106034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id          TEXT PRIMARY KEY DEFAULT cuid(),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Text 22"/>
          <p:cNvSpPr/>
          <p:nvPr/>
        </p:nvSpPr>
        <p:spPr>
          <a:xfrm>
            <a:off x="777240" y="4965120"/>
            <a:ext cx="106034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userId      TEXT NOT NULL REFERENCES "User"(id) ON DELETE CASCADE,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8" name="Text 23"/>
          <p:cNvSpPr/>
          <p:nvPr/>
        </p:nvSpPr>
        <p:spPr>
          <a:xfrm>
            <a:off x="777240" y="5129640"/>
            <a:ext cx="106034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message     TEXT NOT NULL CHECK (length(message) &lt;= 5000),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9" name="Text 24"/>
          <p:cNvSpPr/>
          <p:nvPr/>
        </p:nvSpPr>
        <p:spPr>
          <a:xfrm>
            <a:off x="777240" y="5294520"/>
            <a:ext cx="106034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visibility  "Visibility" NOT NULL DEFAULT 'PUBLIC',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0" name="Text 25"/>
          <p:cNvSpPr/>
          <p:nvPr/>
        </p:nvSpPr>
        <p:spPr>
          <a:xfrm>
            <a:off x="777240" y="5459040"/>
            <a:ext cx="106034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createdAt   TIMESTAMPTZ NOT NULL DEFAULT NOW()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1" name="Text 26"/>
          <p:cNvSpPr/>
          <p:nvPr/>
        </p:nvSpPr>
        <p:spPr>
          <a:xfrm>
            <a:off x="777240" y="5623560"/>
            <a:ext cx="106034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2" name="Text 27"/>
          <p:cNvSpPr/>
          <p:nvPr/>
        </p:nvSpPr>
        <p:spPr>
          <a:xfrm>
            <a:off x="777240" y="5860080"/>
            <a:ext cx="10603440" cy="1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CREATE INDEX idx_post_user_created ON "Post"(userId, createdAt DESC);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3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4" name="Text 28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5" name="Text 29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Text 0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7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MCD — 10 entités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8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9" name="Shape 3"/>
          <p:cNvSpPr/>
          <p:nvPr/>
        </p:nvSpPr>
        <p:spPr>
          <a:xfrm>
            <a:off x="8595360" y="1691640"/>
            <a:ext cx="3013920" cy="4568400"/>
          </a:xfrm>
          <a:prstGeom prst="roundRect">
            <a:avLst>
              <a:gd name="adj" fmla="val 242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0" name="Text 4"/>
          <p:cNvSpPr/>
          <p:nvPr/>
        </p:nvSpPr>
        <p:spPr>
          <a:xfrm>
            <a:off x="8732520" y="1783080"/>
            <a:ext cx="2739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Faits saillants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1" name="Text 5"/>
          <p:cNvSpPr/>
          <p:nvPr/>
        </p:nvSpPr>
        <p:spPr>
          <a:xfrm>
            <a:off x="8732520" y="2148840"/>
            <a:ext cx="91080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2" name="Text 6"/>
          <p:cNvSpPr/>
          <p:nvPr/>
        </p:nvSpPr>
        <p:spPr>
          <a:xfrm>
            <a:off x="9646920" y="2148840"/>
            <a:ext cx="191664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3" name="Text 7"/>
          <p:cNvSpPr/>
          <p:nvPr/>
        </p:nvSpPr>
        <p:spPr>
          <a:xfrm>
            <a:off x="8732520" y="2651760"/>
            <a:ext cx="91080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40+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4" name="Text 8"/>
          <p:cNvSpPr/>
          <p:nvPr/>
        </p:nvSpPr>
        <p:spPr>
          <a:xfrm>
            <a:off x="9646920" y="2651760"/>
            <a:ext cx="191664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Relations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5" name="Text 9"/>
          <p:cNvSpPr/>
          <p:nvPr/>
        </p:nvSpPr>
        <p:spPr>
          <a:xfrm>
            <a:off x="8732520" y="3154680"/>
            <a:ext cx="91080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6" name="Text 10"/>
          <p:cNvSpPr/>
          <p:nvPr/>
        </p:nvSpPr>
        <p:spPr>
          <a:xfrm>
            <a:off x="9646920" y="3154680"/>
            <a:ext cx="191664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métie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7" name="Text 11"/>
          <p:cNvSpPr/>
          <p:nvPr/>
        </p:nvSpPr>
        <p:spPr>
          <a:xfrm>
            <a:off x="8732520" y="3657600"/>
            <a:ext cx="91080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35+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8" name="Text 12"/>
          <p:cNvSpPr/>
          <p:nvPr/>
        </p:nvSpPr>
        <p:spPr>
          <a:xfrm>
            <a:off x="9646920" y="3657600"/>
            <a:ext cx="191664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Attributs 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9" name="Shape 13"/>
          <p:cNvSpPr/>
          <p:nvPr/>
        </p:nvSpPr>
        <p:spPr>
          <a:xfrm>
            <a:off x="8732520" y="4297680"/>
            <a:ext cx="2739600" cy="14760"/>
          </a:xfrm>
          <a:prstGeom prst="rect">
            <a:avLst/>
          </a:prstGeom>
          <a:solidFill>
            <a:srgbClr val="3F3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6640" rIns="90000" bIns="-26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0" name="Text 14"/>
          <p:cNvSpPr/>
          <p:nvPr/>
        </p:nvSpPr>
        <p:spPr>
          <a:xfrm>
            <a:off x="8732520" y="4389120"/>
            <a:ext cx="2739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Entités centrales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1" name="Text 15"/>
          <p:cNvSpPr/>
          <p:nvPr/>
        </p:nvSpPr>
        <p:spPr>
          <a:xfrm>
            <a:off x="8732520" y="4663440"/>
            <a:ext cx="27396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2" name="Text 16"/>
          <p:cNvSpPr/>
          <p:nvPr/>
        </p:nvSpPr>
        <p:spPr>
          <a:xfrm>
            <a:off x="8732520" y="4919400"/>
            <a:ext cx="27396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Post / Comment / Reaction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3" name="Text 17"/>
          <p:cNvSpPr/>
          <p:nvPr/>
        </p:nvSpPr>
        <p:spPr>
          <a:xfrm>
            <a:off x="8732520" y="5175360"/>
            <a:ext cx="27396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Story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4" name="Text 18"/>
          <p:cNvSpPr/>
          <p:nvPr/>
        </p:nvSpPr>
        <p:spPr>
          <a:xfrm>
            <a:off x="8732520" y="5431680"/>
            <a:ext cx="27396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Conversation / 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5" name="Text 19"/>
          <p:cNvSpPr/>
          <p:nvPr/>
        </p:nvSpPr>
        <p:spPr>
          <a:xfrm>
            <a:off x="8732520" y="5687640"/>
            <a:ext cx="27396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Group / Event /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6" name="Text 20"/>
          <p:cNvSpPr/>
          <p:nvPr/>
        </p:nvSpPr>
        <p:spPr>
          <a:xfrm>
            <a:off x="8732520" y="5943600"/>
            <a:ext cx="27396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• Notification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57" name="Image 1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8" name="Text 21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9" name="Text 22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60" name=""/>
          <p:cNvPicPr/>
          <p:nvPr/>
        </p:nvPicPr>
        <p:blipFill>
          <a:blip r:embed="rId2"/>
          <a:stretch/>
        </p:blipFill>
        <p:spPr>
          <a:xfrm>
            <a:off x="457200" y="1691640"/>
            <a:ext cx="8045280" cy="4568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Text 0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au cœur du domaine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3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4" name="Shape 3"/>
          <p:cNvSpPr/>
          <p:nvPr/>
        </p:nvSpPr>
        <p:spPr>
          <a:xfrm>
            <a:off x="6538680" y="2926800"/>
            <a:ext cx="1733760" cy="1733760"/>
          </a:xfrm>
          <a:prstGeom prst="ellipse">
            <a:avLst/>
          </a:prstGeom>
          <a:solidFill>
            <a:srgbClr val="EC4899">
              <a:alpha val="50000"/>
            </a:srgbClr>
          </a:solidFill>
          <a:ln w="381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5" name="Text 4"/>
          <p:cNvSpPr/>
          <p:nvPr/>
        </p:nvSpPr>
        <p:spPr>
          <a:xfrm>
            <a:off x="6538680" y="2926800"/>
            <a:ext cx="1733760" cy="145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6" name="Text 5"/>
          <p:cNvSpPr/>
          <p:nvPr/>
        </p:nvSpPr>
        <p:spPr>
          <a:xfrm>
            <a:off x="6538680" y="3978360"/>
            <a:ext cx="173376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18 entités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40+ relations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7" name="Shape 6"/>
          <p:cNvSpPr/>
          <p:nvPr/>
        </p:nvSpPr>
        <p:spPr>
          <a:xfrm flipV="1">
            <a:off x="7407360" y="2167560"/>
            <a:ext cx="720" cy="740880"/>
          </a:xfrm>
          <a:prstGeom prst="line">
            <a:avLst/>
          </a:prstGeom>
          <a:ln w="19050">
            <a:solidFill>
              <a:srgbClr val="06B6D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45000" rIns="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8" name="Shape 7"/>
          <p:cNvSpPr/>
          <p:nvPr/>
        </p:nvSpPr>
        <p:spPr>
          <a:xfrm>
            <a:off x="6904440" y="1143720"/>
            <a:ext cx="1002240" cy="1002240"/>
          </a:xfrm>
          <a:prstGeom prst="ellipse">
            <a:avLst/>
          </a:prstGeom>
          <a:solidFill>
            <a:srgbClr val="06B6D4">
              <a:alpha val="30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69" name="Text 8"/>
          <p:cNvSpPr/>
          <p:nvPr/>
        </p:nvSpPr>
        <p:spPr>
          <a:xfrm>
            <a:off x="6904440" y="1143720"/>
            <a:ext cx="100224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0" name="Text 9"/>
          <p:cNvSpPr/>
          <p:nvPr/>
        </p:nvSpPr>
        <p:spPr>
          <a:xfrm>
            <a:off x="6904440" y="1574640"/>
            <a:ext cx="1002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1" name="Text 10"/>
          <p:cNvSpPr/>
          <p:nvPr/>
        </p:nvSpPr>
        <p:spPr>
          <a:xfrm>
            <a:off x="6904440" y="1884960"/>
            <a:ext cx="10022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publie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2" name="Shape 11"/>
          <p:cNvSpPr/>
          <p:nvPr/>
        </p:nvSpPr>
        <p:spPr>
          <a:xfrm flipV="1">
            <a:off x="8034480" y="2644560"/>
            <a:ext cx="523440" cy="523440"/>
          </a:xfrm>
          <a:prstGeom prst="line">
            <a:avLst/>
          </a:prstGeom>
          <a:ln w="19050">
            <a:solidFill>
              <a:srgbClr val="8B5CF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3" name="Shape 12"/>
          <p:cNvSpPr/>
          <p:nvPr/>
        </p:nvSpPr>
        <p:spPr>
          <a:xfrm>
            <a:off x="8424000" y="1773000"/>
            <a:ext cx="1002240" cy="100224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4" name="Text 13"/>
          <p:cNvSpPr/>
          <p:nvPr/>
        </p:nvSpPr>
        <p:spPr>
          <a:xfrm>
            <a:off x="8424000" y="1773000"/>
            <a:ext cx="100224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◐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5" name="Text 14"/>
          <p:cNvSpPr/>
          <p:nvPr/>
        </p:nvSpPr>
        <p:spPr>
          <a:xfrm>
            <a:off x="8424000" y="2203920"/>
            <a:ext cx="1002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6" name="Text 15"/>
          <p:cNvSpPr/>
          <p:nvPr/>
        </p:nvSpPr>
        <p:spPr>
          <a:xfrm>
            <a:off x="8424000" y="2514240"/>
            <a:ext cx="10022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écrit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7" name="Shape 16"/>
          <p:cNvSpPr/>
          <p:nvPr/>
        </p:nvSpPr>
        <p:spPr>
          <a:xfrm>
            <a:off x="8294040" y="3795480"/>
            <a:ext cx="740880" cy="720"/>
          </a:xfrm>
          <a:prstGeom prst="line">
            <a:avLst/>
          </a:prstGeom>
          <a:ln w="19050">
            <a:solidFill>
              <a:srgbClr val="F59E0B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8" name="Shape 17"/>
          <p:cNvSpPr/>
          <p:nvPr/>
        </p:nvSpPr>
        <p:spPr>
          <a:xfrm>
            <a:off x="9053280" y="3292560"/>
            <a:ext cx="1002240" cy="1002240"/>
          </a:xfrm>
          <a:prstGeom prst="ellipse">
            <a:avLst/>
          </a:prstGeom>
          <a:solidFill>
            <a:srgbClr val="F59E0B">
              <a:alpha val="30000"/>
            </a:srgbClr>
          </a:solidFill>
          <a:ln w="254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9" name="Text 18"/>
          <p:cNvSpPr/>
          <p:nvPr/>
        </p:nvSpPr>
        <p:spPr>
          <a:xfrm>
            <a:off x="9053280" y="3292560"/>
            <a:ext cx="100224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♥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0" name="Text 19"/>
          <p:cNvSpPr/>
          <p:nvPr/>
        </p:nvSpPr>
        <p:spPr>
          <a:xfrm>
            <a:off x="9053280" y="3723480"/>
            <a:ext cx="1002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1" name="Text 20"/>
          <p:cNvSpPr/>
          <p:nvPr/>
        </p:nvSpPr>
        <p:spPr>
          <a:xfrm>
            <a:off x="9053280" y="4033800"/>
            <a:ext cx="10022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réagit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2" name="Shape 21"/>
          <p:cNvSpPr/>
          <p:nvPr/>
        </p:nvSpPr>
        <p:spPr>
          <a:xfrm>
            <a:off x="8034480" y="4422600"/>
            <a:ext cx="523440" cy="523440"/>
          </a:xfrm>
          <a:prstGeom prst="line">
            <a:avLst/>
          </a:prstGeom>
          <a:ln w="19050">
            <a:solidFill>
              <a:srgbClr val="10B981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3" name="Shape 22"/>
          <p:cNvSpPr/>
          <p:nvPr/>
        </p:nvSpPr>
        <p:spPr>
          <a:xfrm>
            <a:off x="8424000" y="4812120"/>
            <a:ext cx="1002240" cy="1002240"/>
          </a:xfrm>
          <a:prstGeom prst="ellipse">
            <a:avLst/>
          </a:prstGeom>
          <a:solidFill>
            <a:srgbClr val="10B981">
              <a:alpha val="30000"/>
            </a:srgbClr>
          </a:solidFill>
          <a:ln w="254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4" name="Text 23"/>
          <p:cNvSpPr/>
          <p:nvPr/>
        </p:nvSpPr>
        <p:spPr>
          <a:xfrm>
            <a:off x="8424000" y="4812120"/>
            <a:ext cx="100224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✉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5" name="Text 24"/>
          <p:cNvSpPr/>
          <p:nvPr/>
        </p:nvSpPr>
        <p:spPr>
          <a:xfrm>
            <a:off x="8424000" y="5243040"/>
            <a:ext cx="1002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6" name="Text 25"/>
          <p:cNvSpPr/>
          <p:nvPr/>
        </p:nvSpPr>
        <p:spPr>
          <a:xfrm>
            <a:off x="8424000" y="5553360"/>
            <a:ext cx="10022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envoie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7" name="Shape 26"/>
          <p:cNvSpPr/>
          <p:nvPr/>
        </p:nvSpPr>
        <p:spPr>
          <a:xfrm>
            <a:off x="7407360" y="4682160"/>
            <a:ext cx="720" cy="740880"/>
          </a:xfrm>
          <a:prstGeom prst="line">
            <a:avLst/>
          </a:prstGeom>
          <a:ln w="19050">
            <a:solidFill>
              <a:srgbClr val="F472B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45000" rIns="3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8" name="Shape 27"/>
          <p:cNvSpPr/>
          <p:nvPr/>
        </p:nvSpPr>
        <p:spPr>
          <a:xfrm>
            <a:off x="6904440" y="5441400"/>
            <a:ext cx="1002240" cy="1002240"/>
          </a:xfrm>
          <a:prstGeom prst="ellipse">
            <a:avLst/>
          </a:prstGeom>
          <a:solidFill>
            <a:srgbClr val="F472B6">
              <a:alpha val="30000"/>
            </a:srgbClr>
          </a:solidFill>
          <a:ln w="25400">
            <a:solidFill>
              <a:srgbClr val="F472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89" name="Text 28"/>
          <p:cNvSpPr/>
          <p:nvPr/>
        </p:nvSpPr>
        <p:spPr>
          <a:xfrm>
            <a:off x="6904440" y="5441400"/>
            <a:ext cx="100224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❖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0" name="Text 29"/>
          <p:cNvSpPr/>
          <p:nvPr/>
        </p:nvSpPr>
        <p:spPr>
          <a:xfrm>
            <a:off x="6904440" y="5872320"/>
            <a:ext cx="1002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1" name="Text 30"/>
          <p:cNvSpPr/>
          <p:nvPr/>
        </p:nvSpPr>
        <p:spPr>
          <a:xfrm>
            <a:off x="6904440" y="6182640"/>
            <a:ext cx="10022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rejoint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2" name="Shape 31"/>
          <p:cNvSpPr/>
          <p:nvPr/>
        </p:nvSpPr>
        <p:spPr>
          <a:xfrm flipH="1">
            <a:off x="6256440" y="4422600"/>
            <a:ext cx="523440" cy="523440"/>
          </a:xfrm>
          <a:prstGeom prst="line">
            <a:avLst/>
          </a:prstGeom>
          <a:ln w="19050">
            <a:solidFill>
              <a:srgbClr val="EF444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3" name="Shape 32"/>
          <p:cNvSpPr/>
          <p:nvPr/>
        </p:nvSpPr>
        <p:spPr>
          <a:xfrm>
            <a:off x="5384880" y="4812120"/>
            <a:ext cx="1002240" cy="1002240"/>
          </a:xfrm>
          <a:prstGeom prst="ellipse">
            <a:avLst/>
          </a:prstGeom>
          <a:solidFill>
            <a:srgbClr val="EF4444">
              <a:alpha val="30000"/>
            </a:srgbClr>
          </a:solidFill>
          <a:ln w="254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4" name="Text 33"/>
          <p:cNvSpPr/>
          <p:nvPr/>
        </p:nvSpPr>
        <p:spPr>
          <a:xfrm>
            <a:off x="5384880" y="4812120"/>
            <a:ext cx="100224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◷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5" name="Text 34"/>
          <p:cNvSpPr/>
          <p:nvPr/>
        </p:nvSpPr>
        <p:spPr>
          <a:xfrm>
            <a:off x="5384880" y="5243040"/>
            <a:ext cx="1002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Event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6" name="Text 35"/>
          <p:cNvSpPr/>
          <p:nvPr/>
        </p:nvSpPr>
        <p:spPr>
          <a:xfrm>
            <a:off x="5384880" y="5553360"/>
            <a:ext cx="10022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organise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7" name="Shape 36"/>
          <p:cNvSpPr/>
          <p:nvPr/>
        </p:nvSpPr>
        <p:spPr>
          <a:xfrm flipH="1">
            <a:off x="5779440" y="3795480"/>
            <a:ext cx="740880" cy="720"/>
          </a:xfrm>
          <a:prstGeom prst="line">
            <a:avLst/>
          </a:prstGeom>
          <a:ln w="19050">
            <a:solidFill>
              <a:srgbClr val="06B6D4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280" rIns="90000" bIns="-4428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8" name="Shape 37"/>
          <p:cNvSpPr/>
          <p:nvPr/>
        </p:nvSpPr>
        <p:spPr>
          <a:xfrm>
            <a:off x="4755600" y="3292560"/>
            <a:ext cx="1002240" cy="1002240"/>
          </a:xfrm>
          <a:prstGeom prst="ellipse">
            <a:avLst/>
          </a:prstGeom>
          <a:solidFill>
            <a:srgbClr val="06B6D4">
              <a:alpha val="30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9" name="Text 38"/>
          <p:cNvSpPr/>
          <p:nvPr/>
        </p:nvSpPr>
        <p:spPr>
          <a:xfrm>
            <a:off x="4755600" y="3292560"/>
            <a:ext cx="100224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0" name="Text 39"/>
          <p:cNvSpPr/>
          <p:nvPr/>
        </p:nvSpPr>
        <p:spPr>
          <a:xfrm>
            <a:off x="4755600" y="3723480"/>
            <a:ext cx="1002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1" name="Text 40"/>
          <p:cNvSpPr/>
          <p:nvPr/>
        </p:nvSpPr>
        <p:spPr>
          <a:xfrm>
            <a:off x="4755600" y="4033800"/>
            <a:ext cx="10022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publie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2" name="Shape 41"/>
          <p:cNvSpPr/>
          <p:nvPr/>
        </p:nvSpPr>
        <p:spPr>
          <a:xfrm flipH="1" flipV="1">
            <a:off x="6256440" y="2644560"/>
            <a:ext cx="523440" cy="523440"/>
          </a:xfrm>
          <a:prstGeom prst="line">
            <a:avLst/>
          </a:prstGeom>
          <a:ln w="19050">
            <a:solidFill>
              <a:srgbClr val="8B5CF6">
                <a:alpha val="7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3" name="Shape 42"/>
          <p:cNvSpPr/>
          <p:nvPr/>
        </p:nvSpPr>
        <p:spPr>
          <a:xfrm>
            <a:off x="5384880" y="1773000"/>
            <a:ext cx="1002240" cy="1002240"/>
          </a:xfrm>
          <a:prstGeom prst="ellipse">
            <a:avLst/>
          </a:prstGeom>
          <a:solidFill>
            <a:srgbClr val="8B5CF6">
              <a:alpha val="30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04" name="Text 43"/>
          <p:cNvSpPr/>
          <p:nvPr/>
        </p:nvSpPr>
        <p:spPr>
          <a:xfrm>
            <a:off x="5384880" y="1773000"/>
            <a:ext cx="100224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◆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5" name="Text 44"/>
          <p:cNvSpPr/>
          <p:nvPr/>
        </p:nvSpPr>
        <p:spPr>
          <a:xfrm>
            <a:off x="5384880" y="2203920"/>
            <a:ext cx="1002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6" name="Text 45"/>
          <p:cNvSpPr/>
          <p:nvPr/>
        </p:nvSpPr>
        <p:spPr>
          <a:xfrm>
            <a:off x="5384880" y="2514240"/>
            <a:ext cx="10022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reçoit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7" name="Text 46"/>
          <p:cNvSpPr/>
          <p:nvPr/>
        </p:nvSpPr>
        <p:spPr>
          <a:xfrm>
            <a:off x="-914400" y="2549520"/>
            <a:ext cx="662652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Diagramme conceptuel simplifié</a:t>
            </a:r>
            <a:br>
              <a:rPr sz="1300"/>
            </a:b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toutes les entités du domaine gravitent autour de l'utilisateur,</a:t>
            </a:r>
            <a:br>
              <a:rPr sz="1300"/>
            </a:br>
            <a:r>
              <a:rPr lang="en-US" sz="1300" b="1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avec des cardinalités explicites côté Prisma.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0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9" name="Text 47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0" name="Text 48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Text 0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2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Design system Konekt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3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4" name="Text 3"/>
          <p:cNvSpPr/>
          <p:nvPr/>
        </p:nvSpPr>
        <p:spPr>
          <a:xfrm>
            <a:off x="548640" y="1691640"/>
            <a:ext cx="36540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Palette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5" name="Shape 4"/>
          <p:cNvSpPr/>
          <p:nvPr/>
        </p:nvSpPr>
        <p:spPr>
          <a:xfrm>
            <a:off x="548640" y="2011680"/>
            <a:ext cx="1642320" cy="1002240"/>
          </a:xfrm>
          <a:prstGeom prst="roundRect">
            <a:avLst>
              <a:gd name="adj" fmla="val 7273"/>
            </a:avLst>
          </a:prstGeom>
          <a:solidFill>
            <a:srgbClr val="EC4899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6" name="Text 5"/>
          <p:cNvSpPr/>
          <p:nvPr/>
        </p:nvSpPr>
        <p:spPr>
          <a:xfrm>
            <a:off x="640080" y="2468880"/>
            <a:ext cx="14594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Primary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7" name="Text 6"/>
          <p:cNvSpPr/>
          <p:nvPr/>
        </p:nvSpPr>
        <p:spPr>
          <a:xfrm>
            <a:off x="640080" y="2697480"/>
            <a:ext cx="14594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#EC4899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8" name="Shape 7"/>
          <p:cNvSpPr/>
          <p:nvPr/>
        </p:nvSpPr>
        <p:spPr>
          <a:xfrm>
            <a:off x="2377440" y="2011680"/>
            <a:ext cx="1642320" cy="1002240"/>
          </a:xfrm>
          <a:prstGeom prst="roundRect">
            <a:avLst>
              <a:gd name="adj" fmla="val 7273"/>
            </a:avLst>
          </a:prstGeom>
          <a:solidFill>
            <a:srgbClr val="1A1B23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9" name="Text 8"/>
          <p:cNvSpPr/>
          <p:nvPr/>
        </p:nvSpPr>
        <p:spPr>
          <a:xfrm>
            <a:off x="2468880" y="2468880"/>
            <a:ext cx="14594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Background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0" name="Text 9"/>
          <p:cNvSpPr/>
          <p:nvPr/>
        </p:nvSpPr>
        <p:spPr>
          <a:xfrm>
            <a:off x="2468880" y="2697480"/>
            <a:ext cx="14594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#1A1B23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1" name="Shape 10"/>
          <p:cNvSpPr/>
          <p:nvPr/>
        </p:nvSpPr>
        <p:spPr>
          <a:xfrm>
            <a:off x="4206240" y="2011680"/>
            <a:ext cx="1642320" cy="1002240"/>
          </a:xfrm>
          <a:prstGeom prst="roundRect">
            <a:avLst>
              <a:gd name="adj" fmla="val 7273"/>
            </a:avLst>
          </a:prstGeom>
          <a:solidFill>
            <a:srgbClr val="272730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2" name="Text 11"/>
          <p:cNvSpPr/>
          <p:nvPr/>
        </p:nvSpPr>
        <p:spPr>
          <a:xfrm>
            <a:off x="4297680" y="2468880"/>
            <a:ext cx="14594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Surface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3" name="Text 12"/>
          <p:cNvSpPr/>
          <p:nvPr/>
        </p:nvSpPr>
        <p:spPr>
          <a:xfrm>
            <a:off x="4297680" y="2697480"/>
            <a:ext cx="14594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#272730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4" name="Shape 13"/>
          <p:cNvSpPr/>
          <p:nvPr/>
        </p:nvSpPr>
        <p:spPr>
          <a:xfrm>
            <a:off x="548640" y="3291840"/>
            <a:ext cx="1642320" cy="10022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5" name="Text 14"/>
          <p:cNvSpPr/>
          <p:nvPr/>
        </p:nvSpPr>
        <p:spPr>
          <a:xfrm>
            <a:off x="640080" y="3749040"/>
            <a:ext cx="14594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A1B23"/>
                </a:solidFill>
                <a:effectLst/>
                <a:uFillTx/>
                <a:latin typeface="Calibri"/>
                <a:ea typeface="Calibri"/>
              </a:rPr>
              <a:t>Text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6" name="Text 15"/>
          <p:cNvSpPr/>
          <p:nvPr/>
        </p:nvSpPr>
        <p:spPr>
          <a:xfrm>
            <a:off x="640080" y="3977640"/>
            <a:ext cx="14594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A1B23"/>
                </a:solidFill>
                <a:effectLst/>
                <a:uFillTx/>
                <a:latin typeface="Consolas"/>
                <a:ea typeface="Consolas"/>
              </a:rPr>
              <a:t>#FFFFFF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7" name="Shape 16"/>
          <p:cNvSpPr/>
          <p:nvPr/>
        </p:nvSpPr>
        <p:spPr>
          <a:xfrm>
            <a:off x="2377440" y="3291840"/>
            <a:ext cx="1642320" cy="1002240"/>
          </a:xfrm>
          <a:prstGeom prst="roundRect">
            <a:avLst>
              <a:gd name="adj" fmla="val 7273"/>
            </a:avLst>
          </a:prstGeom>
          <a:solidFill>
            <a:srgbClr val="10B981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28" name="Text 17"/>
          <p:cNvSpPr/>
          <p:nvPr/>
        </p:nvSpPr>
        <p:spPr>
          <a:xfrm>
            <a:off x="2468880" y="3749040"/>
            <a:ext cx="14594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Success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9" name="Text 18"/>
          <p:cNvSpPr/>
          <p:nvPr/>
        </p:nvSpPr>
        <p:spPr>
          <a:xfrm>
            <a:off x="2468880" y="3977640"/>
            <a:ext cx="14594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#10B981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0" name="Shape 19"/>
          <p:cNvSpPr/>
          <p:nvPr/>
        </p:nvSpPr>
        <p:spPr>
          <a:xfrm>
            <a:off x="4206240" y="3291840"/>
            <a:ext cx="1642320" cy="1002240"/>
          </a:xfrm>
          <a:prstGeom prst="roundRect">
            <a:avLst>
              <a:gd name="adj" fmla="val 7273"/>
            </a:avLst>
          </a:prstGeom>
          <a:solidFill>
            <a:srgbClr val="8B5CF6"/>
          </a:solidFill>
          <a:ln w="6350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1" name="Text 20"/>
          <p:cNvSpPr/>
          <p:nvPr/>
        </p:nvSpPr>
        <p:spPr>
          <a:xfrm>
            <a:off x="4297680" y="3749040"/>
            <a:ext cx="14594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2" name="Text 21"/>
          <p:cNvSpPr/>
          <p:nvPr/>
        </p:nvSpPr>
        <p:spPr>
          <a:xfrm>
            <a:off x="4297680" y="3977640"/>
            <a:ext cx="14594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ln>
                  <a:solidFill>
                    <a:srgbClr val="A1A1AA"/>
                  </a:solidFill>
                </a:ln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#8B5CF6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3" name="Text 22"/>
          <p:cNvSpPr/>
          <p:nvPr/>
        </p:nvSpPr>
        <p:spPr>
          <a:xfrm>
            <a:off x="6217920" y="1691640"/>
            <a:ext cx="54828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Typographie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4" name="Shape 23"/>
          <p:cNvSpPr/>
          <p:nvPr/>
        </p:nvSpPr>
        <p:spPr>
          <a:xfrm>
            <a:off x="6217920" y="2011680"/>
            <a:ext cx="5574240" cy="2648160"/>
          </a:xfrm>
          <a:prstGeom prst="roundRect">
            <a:avLst>
              <a:gd name="adj" fmla="val 2759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35" name="Text 24"/>
          <p:cNvSpPr/>
          <p:nvPr/>
        </p:nvSpPr>
        <p:spPr>
          <a:xfrm>
            <a:off x="6355080" y="2103120"/>
            <a:ext cx="145944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Aa</a:t>
            </a:r>
            <a:endParaRPr lang="en-US" sz="6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6" name="Text 25"/>
          <p:cNvSpPr/>
          <p:nvPr/>
        </p:nvSpPr>
        <p:spPr>
          <a:xfrm>
            <a:off x="7772400" y="2194560"/>
            <a:ext cx="365400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Geist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7" name="Text 26"/>
          <p:cNvSpPr/>
          <p:nvPr/>
        </p:nvSpPr>
        <p:spPr>
          <a:xfrm>
            <a:off x="7772400" y="2606040"/>
            <a:ext cx="36540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Font family — Next.js next/font · variable, optimisée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8" name="Text 27"/>
          <p:cNvSpPr/>
          <p:nvPr/>
        </p:nvSpPr>
        <p:spPr>
          <a:xfrm>
            <a:off x="6355080" y="3246120"/>
            <a:ext cx="18252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H1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9" name="Text 28"/>
          <p:cNvSpPr/>
          <p:nvPr/>
        </p:nvSpPr>
        <p:spPr>
          <a:xfrm>
            <a:off x="8229600" y="3246120"/>
            <a:ext cx="36540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32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0" name="Text 29"/>
          <p:cNvSpPr/>
          <p:nvPr/>
        </p:nvSpPr>
        <p:spPr>
          <a:xfrm>
            <a:off x="6355080" y="3566160"/>
            <a:ext cx="18252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H2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1" name="Text 30"/>
          <p:cNvSpPr/>
          <p:nvPr/>
        </p:nvSpPr>
        <p:spPr>
          <a:xfrm>
            <a:off x="8229600" y="3566160"/>
            <a:ext cx="36540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24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2" name="Text 31"/>
          <p:cNvSpPr/>
          <p:nvPr/>
        </p:nvSpPr>
        <p:spPr>
          <a:xfrm>
            <a:off x="6355080" y="3886200"/>
            <a:ext cx="18252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Body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3" name="Text 32"/>
          <p:cNvSpPr/>
          <p:nvPr/>
        </p:nvSpPr>
        <p:spPr>
          <a:xfrm>
            <a:off x="8229600" y="3886200"/>
            <a:ext cx="36540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16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4" name="Text 33"/>
          <p:cNvSpPr/>
          <p:nvPr/>
        </p:nvSpPr>
        <p:spPr>
          <a:xfrm>
            <a:off x="6355080" y="4206240"/>
            <a:ext cx="18252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Small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5" name="Text 34"/>
          <p:cNvSpPr/>
          <p:nvPr/>
        </p:nvSpPr>
        <p:spPr>
          <a:xfrm>
            <a:off x="8229600" y="4206240"/>
            <a:ext cx="36540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12 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6" name="Text 35"/>
          <p:cNvSpPr/>
          <p:nvPr/>
        </p:nvSpPr>
        <p:spPr>
          <a:xfrm>
            <a:off x="548640" y="4800600"/>
            <a:ext cx="54828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Composants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7" name="Shape 36"/>
          <p:cNvSpPr/>
          <p:nvPr/>
        </p:nvSpPr>
        <p:spPr>
          <a:xfrm>
            <a:off x="548640" y="5166360"/>
            <a:ext cx="865080" cy="28908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48" name="Text 37"/>
          <p:cNvSpPr/>
          <p:nvPr/>
        </p:nvSpPr>
        <p:spPr>
          <a:xfrm>
            <a:off x="548640" y="5166360"/>
            <a:ext cx="86508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Button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9" name="Shape 38"/>
          <p:cNvSpPr/>
          <p:nvPr/>
        </p:nvSpPr>
        <p:spPr>
          <a:xfrm>
            <a:off x="1508760" y="5166360"/>
            <a:ext cx="865080" cy="28908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0" name="Text 39"/>
          <p:cNvSpPr/>
          <p:nvPr/>
        </p:nvSpPr>
        <p:spPr>
          <a:xfrm>
            <a:off x="1508760" y="5166360"/>
            <a:ext cx="86508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Avatar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1" name="Shape 40"/>
          <p:cNvSpPr/>
          <p:nvPr/>
        </p:nvSpPr>
        <p:spPr>
          <a:xfrm>
            <a:off x="2468880" y="5166360"/>
            <a:ext cx="865080" cy="28908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2" name="Text 41"/>
          <p:cNvSpPr/>
          <p:nvPr/>
        </p:nvSpPr>
        <p:spPr>
          <a:xfrm>
            <a:off x="2468880" y="5166360"/>
            <a:ext cx="86508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Card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3" name="Shape 42"/>
          <p:cNvSpPr/>
          <p:nvPr/>
        </p:nvSpPr>
        <p:spPr>
          <a:xfrm>
            <a:off x="3429000" y="5166360"/>
            <a:ext cx="865080" cy="28908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4" name="Text 43"/>
          <p:cNvSpPr/>
          <p:nvPr/>
        </p:nvSpPr>
        <p:spPr>
          <a:xfrm>
            <a:off x="3429000" y="5166360"/>
            <a:ext cx="86508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Badge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5" name="Shape 44"/>
          <p:cNvSpPr/>
          <p:nvPr/>
        </p:nvSpPr>
        <p:spPr>
          <a:xfrm>
            <a:off x="4389120" y="5166360"/>
            <a:ext cx="865080" cy="28908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6" name="Text 45"/>
          <p:cNvSpPr/>
          <p:nvPr/>
        </p:nvSpPr>
        <p:spPr>
          <a:xfrm>
            <a:off x="4389120" y="5166360"/>
            <a:ext cx="86508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Dialog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7" name="Shape 46"/>
          <p:cNvSpPr/>
          <p:nvPr/>
        </p:nvSpPr>
        <p:spPr>
          <a:xfrm>
            <a:off x="548640" y="5550480"/>
            <a:ext cx="865080" cy="28908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8" name="Text 47"/>
          <p:cNvSpPr/>
          <p:nvPr/>
        </p:nvSpPr>
        <p:spPr>
          <a:xfrm>
            <a:off x="548640" y="5550480"/>
            <a:ext cx="86508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Input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9" name="Shape 48"/>
          <p:cNvSpPr/>
          <p:nvPr/>
        </p:nvSpPr>
        <p:spPr>
          <a:xfrm>
            <a:off x="1508760" y="5550480"/>
            <a:ext cx="865080" cy="28908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0" name="Text 49"/>
          <p:cNvSpPr/>
          <p:nvPr/>
        </p:nvSpPr>
        <p:spPr>
          <a:xfrm>
            <a:off x="1508760" y="5550480"/>
            <a:ext cx="86508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1" name="Shape 50"/>
          <p:cNvSpPr/>
          <p:nvPr/>
        </p:nvSpPr>
        <p:spPr>
          <a:xfrm>
            <a:off x="2468880" y="5550480"/>
            <a:ext cx="865080" cy="28908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2" name="Text 51"/>
          <p:cNvSpPr/>
          <p:nvPr/>
        </p:nvSpPr>
        <p:spPr>
          <a:xfrm>
            <a:off x="2468880" y="5550480"/>
            <a:ext cx="86508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Switch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3" name="Shape 52"/>
          <p:cNvSpPr/>
          <p:nvPr/>
        </p:nvSpPr>
        <p:spPr>
          <a:xfrm>
            <a:off x="3429000" y="5550480"/>
            <a:ext cx="865080" cy="289080"/>
          </a:xfrm>
          <a:prstGeom prst="roundRect">
            <a:avLst>
              <a:gd name="adj" fmla="val 25000"/>
            </a:avLst>
          </a:prstGeom>
          <a:solidFill>
            <a:srgbClr val="1F2028"/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4" name="Text 53"/>
          <p:cNvSpPr/>
          <p:nvPr/>
        </p:nvSpPr>
        <p:spPr>
          <a:xfrm>
            <a:off x="3429000" y="5550480"/>
            <a:ext cx="86508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5" name="Text 54"/>
          <p:cNvSpPr/>
          <p:nvPr/>
        </p:nvSpPr>
        <p:spPr>
          <a:xfrm>
            <a:off x="6217920" y="4800600"/>
            <a:ext cx="54828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Breakpoints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6" name="Shape 55"/>
          <p:cNvSpPr/>
          <p:nvPr/>
        </p:nvSpPr>
        <p:spPr>
          <a:xfrm>
            <a:off x="6217920" y="5120640"/>
            <a:ext cx="5574240" cy="1002240"/>
          </a:xfrm>
          <a:prstGeom prst="roundRect">
            <a:avLst>
              <a:gd name="adj" fmla="val 727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7" name="Text 56"/>
          <p:cNvSpPr/>
          <p:nvPr/>
        </p:nvSpPr>
        <p:spPr>
          <a:xfrm>
            <a:off x="6355080" y="5257800"/>
            <a:ext cx="1733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▢ Mobile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8" name="Text 57"/>
          <p:cNvSpPr/>
          <p:nvPr/>
        </p:nvSpPr>
        <p:spPr>
          <a:xfrm>
            <a:off x="6355080" y="5577840"/>
            <a:ext cx="173376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&lt; 640px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9" name="Text 58"/>
          <p:cNvSpPr/>
          <p:nvPr/>
        </p:nvSpPr>
        <p:spPr>
          <a:xfrm>
            <a:off x="8183880" y="5257800"/>
            <a:ext cx="1733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 Tablet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0" name="Text 59"/>
          <p:cNvSpPr/>
          <p:nvPr/>
        </p:nvSpPr>
        <p:spPr>
          <a:xfrm>
            <a:off x="8183880" y="5577840"/>
            <a:ext cx="173376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640 – 1024px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1" name="Text 60"/>
          <p:cNvSpPr/>
          <p:nvPr/>
        </p:nvSpPr>
        <p:spPr>
          <a:xfrm>
            <a:off x="10012680" y="5257800"/>
            <a:ext cx="1733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▤ Desktop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2" name="Text 61"/>
          <p:cNvSpPr/>
          <p:nvPr/>
        </p:nvSpPr>
        <p:spPr>
          <a:xfrm>
            <a:off x="10012680" y="5577840"/>
            <a:ext cx="173376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&gt; 1024px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7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4" name="Text 62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5" name="Text 63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19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Text 0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AUTHENTIFICATION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7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Login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8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79" name="Shape 3"/>
          <p:cNvSpPr/>
          <p:nvPr/>
        </p:nvSpPr>
        <p:spPr>
          <a:xfrm>
            <a:off x="548640" y="1691640"/>
            <a:ext cx="5025600" cy="45684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780" name="Image 0" descr="/sessions/sweet-funny-newton/mnt/outputs/build/assets/Mockups_Login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720" cy="2693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1" name="Text 4"/>
          <p:cNvSpPr/>
          <p:nvPr/>
        </p:nvSpPr>
        <p:spPr>
          <a:xfrm>
            <a:off x="5852160" y="1691640"/>
            <a:ext cx="575712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2" name="Shape 5"/>
          <p:cNvSpPr/>
          <p:nvPr/>
        </p:nvSpPr>
        <p:spPr>
          <a:xfrm>
            <a:off x="5852160" y="2194560"/>
            <a:ext cx="2282400" cy="3164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3" name="Text 6"/>
          <p:cNvSpPr/>
          <p:nvPr/>
        </p:nvSpPr>
        <p:spPr>
          <a:xfrm>
            <a:off x="5852160" y="2194560"/>
            <a:ext cx="22824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AUTHENTIFICATION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4" name="Text 7"/>
          <p:cNvSpPr/>
          <p:nvPr/>
        </p:nvSpPr>
        <p:spPr>
          <a:xfrm>
            <a:off x="5852160" y="2651760"/>
            <a:ext cx="5757120" cy="136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d'entrée Konekt — design soigné, validation côté client par Zod, lien vers OAuth Google. Pas de fuite d'information sur l'existence d'un compte côté serveur.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5" name="Text 8"/>
          <p:cNvSpPr/>
          <p:nvPr/>
        </p:nvSpPr>
        <p:spPr>
          <a:xfrm>
            <a:off x="5852160" y="4114800"/>
            <a:ext cx="575712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6" name="Shape 9"/>
          <p:cNvSpPr/>
          <p:nvPr/>
        </p:nvSpPr>
        <p:spPr>
          <a:xfrm>
            <a:off x="5852160" y="443484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7" name="Shape 10"/>
          <p:cNvSpPr/>
          <p:nvPr/>
        </p:nvSpPr>
        <p:spPr>
          <a:xfrm>
            <a:off x="5852160" y="443484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88" name="Text 11"/>
          <p:cNvSpPr/>
          <p:nvPr/>
        </p:nvSpPr>
        <p:spPr>
          <a:xfrm>
            <a:off x="6016680" y="452628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9" name="Text 12"/>
          <p:cNvSpPr/>
          <p:nvPr/>
        </p:nvSpPr>
        <p:spPr>
          <a:xfrm>
            <a:off x="6016680" y="481896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jose +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0" name="Shape 13"/>
          <p:cNvSpPr/>
          <p:nvPr/>
        </p:nvSpPr>
        <p:spPr>
          <a:xfrm>
            <a:off x="8778240" y="443484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1" name="Shape 14"/>
          <p:cNvSpPr/>
          <p:nvPr/>
        </p:nvSpPr>
        <p:spPr>
          <a:xfrm>
            <a:off x="8778240" y="443484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2" name="Text 15"/>
          <p:cNvSpPr/>
          <p:nvPr/>
        </p:nvSpPr>
        <p:spPr>
          <a:xfrm>
            <a:off x="8942760" y="452628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3" name="Text 16"/>
          <p:cNvSpPr/>
          <p:nvPr/>
        </p:nvSpPr>
        <p:spPr>
          <a:xfrm>
            <a:off x="8942760" y="481896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SameSite=Lax · pas d'accès 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4" name="Shape 17"/>
          <p:cNvSpPr/>
          <p:nvPr/>
        </p:nvSpPr>
        <p:spPr>
          <a:xfrm>
            <a:off x="5852160" y="539496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5" name="Shape 18"/>
          <p:cNvSpPr/>
          <p:nvPr/>
        </p:nvSpPr>
        <p:spPr>
          <a:xfrm>
            <a:off x="5852160" y="539496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6" name="Text 19"/>
          <p:cNvSpPr/>
          <p:nvPr/>
        </p:nvSpPr>
        <p:spPr>
          <a:xfrm>
            <a:off x="6016680" y="548640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7" name="Text 20"/>
          <p:cNvSpPr/>
          <p:nvPr/>
        </p:nvSpPr>
        <p:spPr>
          <a:xfrm>
            <a:off x="6016680" y="577908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8" name="Shape 21"/>
          <p:cNvSpPr/>
          <p:nvPr/>
        </p:nvSpPr>
        <p:spPr>
          <a:xfrm>
            <a:off x="8778240" y="539496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9" name="Shape 22"/>
          <p:cNvSpPr/>
          <p:nvPr/>
        </p:nvSpPr>
        <p:spPr>
          <a:xfrm>
            <a:off x="8778240" y="539496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0" name="Text 23"/>
          <p:cNvSpPr/>
          <p:nvPr/>
        </p:nvSpPr>
        <p:spPr>
          <a:xfrm>
            <a:off x="8942760" y="548640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1" name="Text 24"/>
          <p:cNvSpPr/>
          <p:nvPr/>
        </p:nvSpPr>
        <p:spPr>
          <a:xfrm>
            <a:off x="8942760" y="577908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schéma partagé client /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02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3" name="Text 25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4" name="Text 26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Text 0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AUTHENTIFICATION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6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Login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7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8" name="Shape 3"/>
          <p:cNvSpPr/>
          <p:nvPr/>
        </p:nvSpPr>
        <p:spPr>
          <a:xfrm>
            <a:off x="548640" y="1691640"/>
            <a:ext cx="5025600" cy="45684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09" name="Image 0" descr="/sessions/sweet-funny-newton/mnt/outputs/build/assets/Mockups_Login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720" cy="2304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0" name="Text 4"/>
          <p:cNvSpPr/>
          <p:nvPr/>
        </p:nvSpPr>
        <p:spPr>
          <a:xfrm>
            <a:off x="5852160" y="1691640"/>
            <a:ext cx="575712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1" name="Shape 5"/>
          <p:cNvSpPr/>
          <p:nvPr/>
        </p:nvSpPr>
        <p:spPr>
          <a:xfrm>
            <a:off x="5852160" y="2194560"/>
            <a:ext cx="2282400" cy="3164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2" name="Text 6"/>
          <p:cNvSpPr/>
          <p:nvPr/>
        </p:nvSpPr>
        <p:spPr>
          <a:xfrm>
            <a:off x="5852160" y="2194560"/>
            <a:ext cx="22824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AUTHENTIFICATION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3" name="Text 7"/>
          <p:cNvSpPr/>
          <p:nvPr/>
        </p:nvSpPr>
        <p:spPr>
          <a:xfrm>
            <a:off x="5852160" y="2651760"/>
            <a:ext cx="5757120" cy="136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d'entrée Konekt — design soigné, validation côté client par Zod, lien vers OAuth Google. Pas de fuite d'information sur l'existence d'un compte côté serveur.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4" name="Text 8"/>
          <p:cNvSpPr/>
          <p:nvPr/>
        </p:nvSpPr>
        <p:spPr>
          <a:xfrm>
            <a:off x="5852160" y="4114800"/>
            <a:ext cx="575712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5" name="Shape 9"/>
          <p:cNvSpPr/>
          <p:nvPr/>
        </p:nvSpPr>
        <p:spPr>
          <a:xfrm>
            <a:off x="5852160" y="443484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6" name="Shape 10"/>
          <p:cNvSpPr/>
          <p:nvPr/>
        </p:nvSpPr>
        <p:spPr>
          <a:xfrm>
            <a:off x="5852160" y="443484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17" name="Text 11"/>
          <p:cNvSpPr/>
          <p:nvPr/>
        </p:nvSpPr>
        <p:spPr>
          <a:xfrm>
            <a:off x="6016680" y="452628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8" name="Text 12"/>
          <p:cNvSpPr/>
          <p:nvPr/>
        </p:nvSpPr>
        <p:spPr>
          <a:xfrm>
            <a:off x="6016680" y="481896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jose + secret applicatif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9" name="Shape 13"/>
          <p:cNvSpPr/>
          <p:nvPr/>
        </p:nvSpPr>
        <p:spPr>
          <a:xfrm>
            <a:off x="8778240" y="443484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0" name="Shape 14"/>
          <p:cNvSpPr/>
          <p:nvPr/>
        </p:nvSpPr>
        <p:spPr>
          <a:xfrm>
            <a:off x="8778240" y="443484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1" name="Text 15"/>
          <p:cNvSpPr/>
          <p:nvPr/>
        </p:nvSpPr>
        <p:spPr>
          <a:xfrm>
            <a:off x="8942760" y="452628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2" name="Text 16"/>
          <p:cNvSpPr/>
          <p:nvPr/>
        </p:nvSpPr>
        <p:spPr>
          <a:xfrm>
            <a:off x="8942760" y="481896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SameSite=Lax · pas d'accès 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3" name="Shape 17"/>
          <p:cNvSpPr/>
          <p:nvPr/>
        </p:nvSpPr>
        <p:spPr>
          <a:xfrm>
            <a:off x="5852160" y="539496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4" name="Shape 18"/>
          <p:cNvSpPr/>
          <p:nvPr/>
        </p:nvSpPr>
        <p:spPr>
          <a:xfrm>
            <a:off x="5852160" y="539496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5" name="Text 19"/>
          <p:cNvSpPr/>
          <p:nvPr/>
        </p:nvSpPr>
        <p:spPr>
          <a:xfrm>
            <a:off x="6016680" y="548640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6" name="Text 20"/>
          <p:cNvSpPr/>
          <p:nvPr/>
        </p:nvSpPr>
        <p:spPr>
          <a:xfrm>
            <a:off x="6016680" y="577908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7" name="Shape 21"/>
          <p:cNvSpPr/>
          <p:nvPr/>
        </p:nvSpPr>
        <p:spPr>
          <a:xfrm>
            <a:off x="8778240" y="539496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8" name="Shape 22"/>
          <p:cNvSpPr/>
          <p:nvPr/>
        </p:nvSpPr>
        <p:spPr>
          <a:xfrm>
            <a:off x="8778240" y="539496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29" name="Text 23"/>
          <p:cNvSpPr/>
          <p:nvPr/>
        </p:nvSpPr>
        <p:spPr>
          <a:xfrm>
            <a:off x="8942760" y="548640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0" name="Text 24"/>
          <p:cNvSpPr/>
          <p:nvPr/>
        </p:nvSpPr>
        <p:spPr>
          <a:xfrm>
            <a:off x="8942760" y="577908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schéma partagé client /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31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2" name="Text 25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3" name="Text 26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Text 0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VUE PRINCIPALE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Home Feed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6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7" name="Shape 3"/>
          <p:cNvSpPr/>
          <p:nvPr/>
        </p:nvSpPr>
        <p:spPr>
          <a:xfrm>
            <a:off x="548640" y="1691640"/>
            <a:ext cx="5025600" cy="45684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38" name="Image 0" descr="/sessions/sweet-funny-newton/mnt/outputs/build/assets/Mockups_Home_Feed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720" cy="2693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9" name="Text 4"/>
          <p:cNvSpPr/>
          <p:nvPr/>
        </p:nvSpPr>
        <p:spPr>
          <a:xfrm>
            <a:off x="5852160" y="1691640"/>
            <a:ext cx="575712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Home Feed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0" name="Shape 5"/>
          <p:cNvSpPr/>
          <p:nvPr/>
        </p:nvSpPr>
        <p:spPr>
          <a:xfrm>
            <a:off x="5852160" y="2194560"/>
            <a:ext cx="2282400" cy="3164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1" name="Text 6"/>
          <p:cNvSpPr/>
          <p:nvPr/>
        </p:nvSpPr>
        <p:spPr>
          <a:xfrm>
            <a:off x="5852160" y="2194560"/>
            <a:ext cx="22824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VUE PRINCIPALE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2" name="Text 7"/>
          <p:cNvSpPr/>
          <p:nvPr/>
        </p:nvSpPr>
        <p:spPr>
          <a:xfrm>
            <a:off x="5852160" y="2651760"/>
            <a:ext cx="5757120" cy="136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 feed est le cœur de Konekt : posts amis, stories en haut, suggestions de profils, infinite scroll, image full-width. Tout est servi par /api/private/post avec pagination offset (skip/take).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3" name="Text 8"/>
          <p:cNvSpPr/>
          <p:nvPr/>
        </p:nvSpPr>
        <p:spPr>
          <a:xfrm>
            <a:off x="5852160" y="4114800"/>
            <a:ext cx="575712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4" name="Shape 9"/>
          <p:cNvSpPr/>
          <p:nvPr/>
        </p:nvSpPr>
        <p:spPr>
          <a:xfrm>
            <a:off x="5852160" y="443484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5" name="Shape 10"/>
          <p:cNvSpPr/>
          <p:nvPr/>
        </p:nvSpPr>
        <p:spPr>
          <a:xfrm>
            <a:off x="5852160" y="443484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6" name="Text 11"/>
          <p:cNvSpPr/>
          <p:nvPr/>
        </p:nvSpPr>
        <p:spPr>
          <a:xfrm>
            <a:off x="6016680" y="452628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Infinite scroll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7" name="Text 12"/>
          <p:cNvSpPr/>
          <p:nvPr/>
        </p:nvSpPr>
        <p:spPr>
          <a:xfrm>
            <a:off x="6016680" y="481896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Pagination offset (skip/take)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8" name="Shape 13"/>
          <p:cNvSpPr/>
          <p:nvPr/>
        </p:nvSpPr>
        <p:spPr>
          <a:xfrm>
            <a:off x="8778240" y="443484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9" name="Shape 14"/>
          <p:cNvSpPr/>
          <p:nvPr/>
        </p:nvSpPr>
        <p:spPr>
          <a:xfrm>
            <a:off x="8778240" y="443484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0" name="Text 15"/>
          <p:cNvSpPr/>
          <p:nvPr/>
        </p:nvSpPr>
        <p:spPr>
          <a:xfrm>
            <a:off x="8942760" y="452628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ephemeral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1" name="Text 16"/>
          <p:cNvSpPr/>
          <p:nvPr/>
        </p:nvSpPr>
        <p:spPr>
          <a:xfrm>
            <a:off x="8942760" y="481896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24h, polling SSE pour le statut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2" name="Shape 17"/>
          <p:cNvSpPr/>
          <p:nvPr/>
        </p:nvSpPr>
        <p:spPr>
          <a:xfrm>
            <a:off x="5852160" y="539496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3" name="Shape 18"/>
          <p:cNvSpPr/>
          <p:nvPr/>
        </p:nvSpPr>
        <p:spPr>
          <a:xfrm>
            <a:off x="5852160" y="539496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4" name="Text 19"/>
          <p:cNvSpPr/>
          <p:nvPr/>
        </p:nvSpPr>
        <p:spPr>
          <a:xfrm>
            <a:off x="6016680" y="548640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inline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5" name="Text 20"/>
          <p:cNvSpPr/>
          <p:nvPr/>
        </p:nvSpPr>
        <p:spPr>
          <a:xfrm>
            <a:off x="6016680" y="577908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Optimistic UI · doublon impossible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6" name="Shape 21"/>
          <p:cNvSpPr/>
          <p:nvPr/>
        </p:nvSpPr>
        <p:spPr>
          <a:xfrm>
            <a:off x="8778240" y="539496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7" name="Shape 22"/>
          <p:cNvSpPr/>
          <p:nvPr/>
        </p:nvSpPr>
        <p:spPr>
          <a:xfrm>
            <a:off x="8778240" y="539496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8" name="Text 23"/>
          <p:cNvSpPr/>
          <p:nvPr/>
        </p:nvSpPr>
        <p:spPr>
          <a:xfrm>
            <a:off x="8942760" y="548640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optimisée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9" name="Text 24"/>
          <p:cNvSpPr/>
          <p:nvPr/>
        </p:nvSpPr>
        <p:spPr>
          <a:xfrm>
            <a:off x="8942760" y="577908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Next/Image + Cloudinary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60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1" name="Text 25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2" name="Text 26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Text 0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VUE PRINCIPALE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4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Home Feed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5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66" name="Shape 3"/>
          <p:cNvSpPr/>
          <p:nvPr/>
        </p:nvSpPr>
        <p:spPr>
          <a:xfrm>
            <a:off x="548640" y="1691640"/>
            <a:ext cx="5025600" cy="45684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67" name="Image 0" descr="/sessions/sweet-funny-newton/mnt/outputs/build/assets/Mockups_Home_Feed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720" cy="2304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8" name="Text 4"/>
          <p:cNvSpPr/>
          <p:nvPr/>
        </p:nvSpPr>
        <p:spPr>
          <a:xfrm>
            <a:off x="5852160" y="1691640"/>
            <a:ext cx="575712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Home Feed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9" name="Shape 5"/>
          <p:cNvSpPr/>
          <p:nvPr/>
        </p:nvSpPr>
        <p:spPr>
          <a:xfrm>
            <a:off x="5852160" y="2194560"/>
            <a:ext cx="2282400" cy="3164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0" name="Text 6"/>
          <p:cNvSpPr/>
          <p:nvPr/>
        </p:nvSpPr>
        <p:spPr>
          <a:xfrm>
            <a:off x="5852160" y="2194560"/>
            <a:ext cx="22824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VUE PRINCIPALE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1" name="Text 7"/>
          <p:cNvSpPr/>
          <p:nvPr/>
        </p:nvSpPr>
        <p:spPr>
          <a:xfrm>
            <a:off x="5852160" y="2651760"/>
            <a:ext cx="5757120" cy="136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 feed est le cœur de Konekt : posts amis, stories en haut, suggestions de profils, infinite scroll, image full-width. Tout est servi par /api/private/post avec pagination offset (skip/take).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2" name="Text 8"/>
          <p:cNvSpPr/>
          <p:nvPr/>
        </p:nvSpPr>
        <p:spPr>
          <a:xfrm>
            <a:off x="5852160" y="4114800"/>
            <a:ext cx="575712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3" name="Shape 9"/>
          <p:cNvSpPr/>
          <p:nvPr/>
        </p:nvSpPr>
        <p:spPr>
          <a:xfrm>
            <a:off x="5852160" y="443484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4" name="Shape 10"/>
          <p:cNvSpPr/>
          <p:nvPr/>
        </p:nvSpPr>
        <p:spPr>
          <a:xfrm>
            <a:off x="5852160" y="443484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5" name="Text 11"/>
          <p:cNvSpPr/>
          <p:nvPr/>
        </p:nvSpPr>
        <p:spPr>
          <a:xfrm>
            <a:off x="6016680" y="452628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Infinite scroll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6" name="Text 12"/>
          <p:cNvSpPr/>
          <p:nvPr/>
        </p:nvSpPr>
        <p:spPr>
          <a:xfrm>
            <a:off x="6016680" y="481896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Pagination offset (skip/take)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7" name="Shape 13"/>
          <p:cNvSpPr/>
          <p:nvPr/>
        </p:nvSpPr>
        <p:spPr>
          <a:xfrm>
            <a:off x="8778240" y="443484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8" name="Shape 14"/>
          <p:cNvSpPr/>
          <p:nvPr/>
        </p:nvSpPr>
        <p:spPr>
          <a:xfrm>
            <a:off x="8778240" y="443484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9" name="Text 15"/>
          <p:cNvSpPr/>
          <p:nvPr/>
        </p:nvSpPr>
        <p:spPr>
          <a:xfrm>
            <a:off x="8942760" y="452628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ephemeral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0" name="Text 16"/>
          <p:cNvSpPr/>
          <p:nvPr/>
        </p:nvSpPr>
        <p:spPr>
          <a:xfrm>
            <a:off x="8942760" y="481896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24h, polling SSE pour le statut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1" name="Shape 17"/>
          <p:cNvSpPr/>
          <p:nvPr/>
        </p:nvSpPr>
        <p:spPr>
          <a:xfrm>
            <a:off x="5852160" y="539496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2" name="Shape 18"/>
          <p:cNvSpPr/>
          <p:nvPr/>
        </p:nvSpPr>
        <p:spPr>
          <a:xfrm>
            <a:off x="5852160" y="539496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3" name="Text 19"/>
          <p:cNvSpPr/>
          <p:nvPr/>
        </p:nvSpPr>
        <p:spPr>
          <a:xfrm>
            <a:off x="6016680" y="548640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inline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4" name="Text 20"/>
          <p:cNvSpPr/>
          <p:nvPr/>
        </p:nvSpPr>
        <p:spPr>
          <a:xfrm>
            <a:off x="6016680" y="577908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Optimistic UI · doublon impossible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5" name="Shape 21"/>
          <p:cNvSpPr/>
          <p:nvPr/>
        </p:nvSpPr>
        <p:spPr>
          <a:xfrm>
            <a:off x="8778240" y="539496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6" name="Shape 22"/>
          <p:cNvSpPr/>
          <p:nvPr/>
        </p:nvSpPr>
        <p:spPr>
          <a:xfrm>
            <a:off x="8778240" y="539496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87" name="Text 23"/>
          <p:cNvSpPr/>
          <p:nvPr/>
        </p:nvSpPr>
        <p:spPr>
          <a:xfrm>
            <a:off x="8942760" y="548640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optimisée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8" name="Text 24"/>
          <p:cNvSpPr/>
          <p:nvPr/>
        </p:nvSpPr>
        <p:spPr>
          <a:xfrm>
            <a:off x="8942760" y="577908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Next/Image + Cloudinary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89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0" name="Text 25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1" name="Text 26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Text 0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IDENTITÉ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3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Profil utilisateur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4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5" name="Shape 3"/>
          <p:cNvSpPr/>
          <p:nvPr/>
        </p:nvSpPr>
        <p:spPr>
          <a:xfrm>
            <a:off x="548640" y="1691640"/>
            <a:ext cx="5025600" cy="45684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896" name="Image 0" descr="/sessions/sweet-funny-newton/mnt/outputs/build/assets/Mockups_Us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720" cy="2693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7" name="Text 4"/>
          <p:cNvSpPr/>
          <p:nvPr/>
        </p:nvSpPr>
        <p:spPr>
          <a:xfrm>
            <a:off x="5852160" y="1691640"/>
            <a:ext cx="575712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utilisateur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8" name="Shape 5"/>
          <p:cNvSpPr/>
          <p:nvPr/>
        </p:nvSpPr>
        <p:spPr>
          <a:xfrm>
            <a:off x="5852160" y="2194560"/>
            <a:ext cx="2282400" cy="3164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9" name="Text 6"/>
          <p:cNvSpPr/>
          <p:nvPr/>
        </p:nvSpPr>
        <p:spPr>
          <a:xfrm>
            <a:off x="5852160" y="2194560"/>
            <a:ext cx="22824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IDENTITÉ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0" name="Text 7"/>
          <p:cNvSpPr/>
          <p:nvPr/>
        </p:nvSpPr>
        <p:spPr>
          <a:xfrm>
            <a:off x="5852160" y="2651760"/>
            <a:ext cx="5757120" cy="136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 ou privé selon ProfileVisibility. Compteurs followers / following / posts, gradient personnalisable, tabs Posts / Photos / Vidéos, action Suivre / Modifier.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1" name="Text 8"/>
          <p:cNvSpPr/>
          <p:nvPr/>
        </p:nvSpPr>
        <p:spPr>
          <a:xfrm>
            <a:off x="5852160" y="4114800"/>
            <a:ext cx="575712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2" name="Shape 9"/>
          <p:cNvSpPr/>
          <p:nvPr/>
        </p:nvSpPr>
        <p:spPr>
          <a:xfrm>
            <a:off x="5852160" y="443484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3" name="Shape 10"/>
          <p:cNvSpPr/>
          <p:nvPr/>
        </p:nvSpPr>
        <p:spPr>
          <a:xfrm>
            <a:off x="5852160" y="443484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4" name="Text 11"/>
          <p:cNvSpPr/>
          <p:nvPr/>
        </p:nvSpPr>
        <p:spPr>
          <a:xfrm>
            <a:off x="6016680" y="452628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PUBLIC/PRIVATE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5" name="Text 12"/>
          <p:cNvSpPr/>
          <p:nvPr/>
        </p:nvSpPr>
        <p:spPr>
          <a:xfrm>
            <a:off x="6016680" y="481896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 Prisma respecté côté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6" name="Shape 13"/>
          <p:cNvSpPr/>
          <p:nvPr/>
        </p:nvSpPr>
        <p:spPr>
          <a:xfrm>
            <a:off x="8778240" y="443484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7" name="Shape 14"/>
          <p:cNvSpPr/>
          <p:nvPr/>
        </p:nvSpPr>
        <p:spPr>
          <a:xfrm>
            <a:off x="8778240" y="443484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8" name="Text 15"/>
          <p:cNvSpPr/>
          <p:nvPr/>
        </p:nvSpPr>
        <p:spPr>
          <a:xfrm>
            <a:off x="8942760" y="452628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Followers / Following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9" name="Text 16"/>
          <p:cNvSpPr/>
          <p:nvPr/>
        </p:nvSpPr>
        <p:spPr>
          <a:xfrm>
            <a:off x="8942760" y="481896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Friendship 2-way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0" name="Shape 17"/>
          <p:cNvSpPr/>
          <p:nvPr/>
        </p:nvSpPr>
        <p:spPr>
          <a:xfrm>
            <a:off x="5852160" y="539496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1" name="Shape 18"/>
          <p:cNvSpPr/>
          <p:nvPr/>
        </p:nvSpPr>
        <p:spPr>
          <a:xfrm>
            <a:off x="5852160" y="539496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2" name="Text 19"/>
          <p:cNvSpPr/>
          <p:nvPr/>
        </p:nvSpPr>
        <p:spPr>
          <a:xfrm>
            <a:off x="6016680" y="548640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 dynamiques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3" name="Text 20"/>
          <p:cNvSpPr/>
          <p:nvPr/>
        </p:nvSpPr>
        <p:spPr>
          <a:xfrm>
            <a:off x="6016680" y="577908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 / Photos / Vidéos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4" name="Shape 21"/>
          <p:cNvSpPr/>
          <p:nvPr/>
        </p:nvSpPr>
        <p:spPr>
          <a:xfrm>
            <a:off x="8778240" y="539496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5" name="Shape 22"/>
          <p:cNvSpPr/>
          <p:nvPr/>
        </p:nvSpPr>
        <p:spPr>
          <a:xfrm>
            <a:off x="8778240" y="539496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6" name="Text 23"/>
          <p:cNvSpPr/>
          <p:nvPr/>
        </p:nvSpPr>
        <p:spPr>
          <a:xfrm>
            <a:off x="8942760" y="548640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Edit profile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7" name="Text 24"/>
          <p:cNvSpPr/>
          <p:nvPr/>
        </p:nvSpPr>
        <p:spPr>
          <a:xfrm>
            <a:off x="8942760" y="577908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Action + Cloudinary upload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18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9" name="Text 25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RNCP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37873 -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CDA  ·  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Christoph</a:t>
            </a: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0" name="Text 26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Text 0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IDENTITÉ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2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Profil utilisateur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3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4" name="Shape 3"/>
          <p:cNvSpPr/>
          <p:nvPr/>
        </p:nvSpPr>
        <p:spPr>
          <a:xfrm>
            <a:off x="548640" y="1691640"/>
            <a:ext cx="5025600" cy="45684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25" name="Image 0" descr="/sessions/sweet-funny-newton/mnt/outputs/build/assets/Mockups_Us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720" cy="2304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6" name="Text 4"/>
          <p:cNvSpPr/>
          <p:nvPr/>
        </p:nvSpPr>
        <p:spPr>
          <a:xfrm>
            <a:off x="5852160" y="1691640"/>
            <a:ext cx="575712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utilisateur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7" name="Shape 5"/>
          <p:cNvSpPr/>
          <p:nvPr/>
        </p:nvSpPr>
        <p:spPr>
          <a:xfrm>
            <a:off x="5852160" y="2194560"/>
            <a:ext cx="2282400" cy="3164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28" name="Text 6"/>
          <p:cNvSpPr/>
          <p:nvPr/>
        </p:nvSpPr>
        <p:spPr>
          <a:xfrm>
            <a:off x="5852160" y="2194560"/>
            <a:ext cx="22824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IDENTITÉ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9" name="Text 7"/>
          <p:cNvSpPr/>
          <p:nvPr/>
        </p:nvSpPr>
        <p:spPr>
          <a:xfrm>
            <a:off x="5852160" y="2651760"/>
            <a:ext cx="5757120" cy="136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public ou privé selon ProfileVisibility. Compteurs followers / following / posts, gradient personnalisable, tabs Posts / Photos / Vidéos, action Suivre / Modifier.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0" name="Text 8"/>
          <p:cNvSpPr/>
          <p:nvPr/>
        </p:nvSpPr>
        <p:spPr>
          <a:xfrm>
            <a:off x="5852160" y="4114800"/>
            <a:ext cx="575712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1" name="Shape 9"/>
          <p:cNvSpPr/>
          <p:nvPr/>
        </p:nvSpPr>
        <p:spPr>
          <a:xfrm>
            <a:off x="5852160" y="443484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2" name="Shape 10"/>
          <p:cNvSpPr/>
          <p:nvPr/>
        </p:nvSpPr>
        <p:spPr>
          <a:xfrm>
            <a:off x="5852160" y="443484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3" name="Text 11"/>
          <p:cNvSpPr/>
          <p:nvPr/>
        </p:nvSpPr>
        <p:spPr>
          <a:xfrm>
            <a:off x="6016680" y="452628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PUBLIC/PRIVATE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4" name="Text 12"/>
          <p:cNvSpPr/>
          <p:nvPr/>
        </p:nvSpPr>
        <p:spPr>
          <a:xfrm>
            <a:off x="6016680" y="481896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Enum Prisma respecté côté 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5" name="Shape 13"/>
          <p:cNvSpPr/>
          <p:nvPr/>
        </p:nvSpPr>
        <p:spPr>
          <a:xfrm>
            <a:off x="8778240" y="443484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6" name="Shape 14"/>
          <p:cNvSpPr/>
          <p:nvPr/>
        </p:nvSpPr>
        <p:spPr>
          <a:xfrm>
            <a:off x="8778240" y="443484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37" name="Text 15"/>
          <p:cNvSpPr/>
          <p:nvPr/>
        </p:nvSpPr>
        <p:spPr>
          <a:xfrm>
            <a:off x="8942760" y="452628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Followers / Following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8" name="Text 16"/>
          <p:cNvSpPr/>
          <p:nvPr/>
        </p:nvSpPr>
        <p:spPr>
          <a:xfrm>
            <a:off x="8942760" y="481896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Friendship 2-way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9" name="Shape 17"/>
          <p:cNvSpPr/>
          <p:nvPr/>
        </p:nvSpPr>
        <p:spPr>
          <a:xfrm>
            <a:off x="5852160" y="539496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0" name="Shape 18"/>
          <p:cNvSpPr/>
          <p:nvPr/>
        </p:nvSpPr>
        <p:spPr>
          <a:xfrm>
            <a:off x="5852160" y="539496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1" name="Text 19"/>
          <p:cNvSpPr/>
          <p:nvPr/>
        </p:nvSpPr>
        <p:spPr>
          <a:xfrm>
            <a:off x="6016680" y="548640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Tabs dynamiques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2" name="Text 20"/>
          <p:cNvSpPr/>
          <p:nvPr/>
        </p:nvSpPr>
        <p:spPr>
          <a:xfrm>
            <a:off x="6016680" y="577908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Posts / Photos / Vidéos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3" name="Shape 21"/>
          <p:cNvSpPr/>
          <p:nvPr/>
        </p:nvSpPr>
        <p:spPr>
          <a:xfrm>
            <a:off x="8778240" y="539496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4" name="Shape 22"/>
          <p:cNvSpPr/>
          <p:nvPr/>
        </p:nvSpPr>
        <p:spPr>
          <a:xfrm>
            <a:off x="8778240" y="539496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5" name="Text 23"/>
          <p:cNvSpPr/>
          <p:nvPr/>
        </p:nvSpPr>
        <p:spPr>
          <a:xfrm>
            <a:off x="8942760" y="548640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Edit profile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6" name="Text 24"/>
          <p:cNvSpPr/>
          <p:nvPr/>
        </p:nvSpPr>
        <p:spPr>
          <a:xfrm>
            <a:off x="8942760" y="577908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Action + Cloudinary upload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47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8" name="Text 25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9" name="Text 26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Text 0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PUBLICATION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1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Création de post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2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3" name="Shape 3"/>
          <p:cNvSpPr/>
          <p:nvPr/>
        </p:nvSpPr>
        <p:spPr>
          <a:xfrm>
            <a:off x="548640" y="1691640"/>
            <a:ext cx="5025600" cy="45684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54" name="Image 0" descr="/sessions/sweet-funny-newton/mnt/outputs/build/assets/Mockups_Create_Post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720" cy="2693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5" name="Text 4"/>
          <p:cNvSpPr/>
          <p:nvPr/>
        </p:nvSpPr>
        <p:spPr>
          <a:xfrm>
            <a:off x="5852160" y="1691640"/>
            <a:ext cx="575712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Création de post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6" name="Shape 5"/>
          <p:cNvSpPr/>
          <p:nvPr/>
        </p:nvSpPr>
        <p:spPr>
          <a:xfrm>
            <a:off x="5852160" y="2194560"/>
            <a:ext cx="2282400" cy="3164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7" name="Text 6"/>
          <p:cNvSpPr/>
          <p:nvPr/>
        </p:nvSpPr>
        <p:spPr>
          <a:xfrm>
            <a:off x="5852160" y="2194560"/>
            <a:ext cx="22824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8" name="Text 7"/>
          <p:cNvSpPr/>
          <p:nvPr/>
        </p:nvSpPr>
        <p:spPr>
          <a:xfrm>
            <a:off x="5852160" y="2651760"/>
            <a:ext cx="5757120" cy="136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Composer riche avec preview, upload Cloudinary, choix de visibilité (PUBLIC / FRIENDS / PRIVATE), validation Zod côté serveur, persistance Prisma puis broadcast SSE.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9" name="Text 8"/>
          <p:cNvSpPr/>
          <p:nvPr/>
        </p:nvSpPr>
        <p:spPr>
          <a:xfrm>
            <a:off x="5852160" y="4114800"/>
            <a:ext cx="575712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0" name="Shape 9"/>
          <p:cNvSpPr/>
          <p:nvPr/>
        </p:nvSpPr>
        <p:spPr>
          <a:xfrm>
            <a:off x="5852160" y="443484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1" name="Shape 10"/>
          <p:cNvSpPr/>
          <p:nvPr/>
        </p:nvSpPr>
        <p:spPr>
          <a:xfrm>
            <a:off x="5852160" y="443484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2" name="Text 11"/>
          <p:cNvSpPr/>
          <p:nvPr/>
        </p:nvSpPr>
        <p:spPr>
          <a:xfrm>
            <a:off x="6016680" y="452628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Upload 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3" name="Text 12"/>
          <p:cNvSpPr/>
          <p:nvPr/>
        </p:nvSpPr>
        <p:spPr>
          <a:xfrm>
            <a:off x="6016680" y="481896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Direct upload signé côté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4" name="Shape 13"/>
          <p:cNvSpPr/>
          <p:nvPr/>
        </p:nvSpPr>
        <p:spPr>
          <a:xfrm>
            <a:off x="8778240" y="443484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5" name="Shape 14"/>
          <p:cNvSpPr/>
          <p:nvPr/>
        </p:nvSpPr>
        <p:spPr>
          <a:xfrm>
            <a:off x="8778240" y="443484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6" name="Text 15"/>
          <p:cNvSpPr/>
          <p:nvPr/>
        </p:nvSpPr>
        <p:spPr>
          <a:xfrm>
            <a:off x="8942760" y="452628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granulaire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7" name="Text 16"/>
          <p:cNvSpPr/>
          <p:nvPr/>
        </p:nvSpPr>
        <p:spPr>
          <a:xfrm>
            <a:off x="8942760" y="481896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 niveaux + check au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8" name="Shape 17"/>
          <p:cNvSpPr/>
          <p:nvPr/>
        </p:nvSpPr>
        <p:spPr>
          <a:xfrm>
            <a:off x="5852160" y="539496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9" name="Shape 18"/>
          <p:cNvSpPr/>
          <p:nvPr/>
        </p:nvSpPr>
        <p:spPr>
          <a:xfrm>
            <a:off x="5852160" y="539496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0" name="Text 19"/>
          <p:cNvSpPr/>
          <p:nvPr/>
        </p:nvSpPr>
        <p:spPr>
          <a:xfrm>
            <a:off x="6016680" y="548640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1" name="Text 20"/>
          <p:cNvSpPr/>
          <p:nvPr/>
        </p:nvSpPr>
        <p:spPr>
          <a:xfrm>
            <a:off x="6016680" y="577908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 taille, type MIME, longueur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2" name="Shape 21"/>
          <p:cNvSpPr/>
          <p:nvPr/>
        </p:nvSpPr>
        <p:spPr>
          <a:xfrm>
            <a:off x="8778240" y="539496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3" name="Shape 22"/>
          <p:cNvSpPr/>
          <p:nvPr/>
        </p:nvSpPr>
        <p:spPr>
          <a:xfrm>
            <a:off x="8778240" y="539496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74" name="Text 23"/>
          <p:cNvSpPr/>
          <p:nvPr/>
        </p:nvSpPr>
        <p:spPr>
          <a:xfrm>
            <a:off x="8942760" y="548640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5" name="Text 24"/>
          <p:cNvSpPr/>
          <p:nvPr/>
        </p:nvSpPr>
        <p:spPr>
          <a:xfrm>
            <a:off x="8942760" y="577908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Mutation type-safe Next.js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76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77" name="Text 25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8" name="Text 26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Text 0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PUBLICATION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0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Création de post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1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2" name="Shape 3"/>
          <p:cNvSpPr/>
          <p:nvPr/>
        </p:nvSpPr>
        <p:spPr>
          <a:xfrm>
            <a:off x="548640" y="1691640"/>
            <a:ext cx="5025600" cy="45684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983" name="Image 0" descr="/sessions/sweet-funny-newton/mnt/outputs/build/assets/Mockups_Create_Post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720" cy="2304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4" name="Text 4"/>
          <p:cNvSpPr/>
          <p:nvPr/>
        </p:nvSpPr>
        <p:spPr>
          <a:xfrm>
            <a:off x="5852160" y="1691640"/>
            <a:ext cx="575712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Création de post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5" name="Shape 5"/>
          <p:cNvSpPr/>
          <p:nvPr/>
        </p:nvSpPr>
        <p:spPr>
          <a:xfrm>
            <a:off x="5852160" y="2194560"/>
            <a:ext cx="2282400" cy="3164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86" name="Text 6"/>
          <p:cNvSpPr/>
          <p:nvPr/>
        </p:nvSpPr>
        <p:spPr>
          <a:xfrm>
            <a:off x="5852160" y="2194560"/>
            <a:ext cx="22824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PUBLICATION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7" name="Text 7"/>
          <p:cNvSpPr/>
          <p:nvPr/>
        </p:nvSpPr>
        <p:spPr>
          <a:xfrm>
            <a:off x="5852160" y="2651760"/>
            <a:ext cx="5757120" cy="136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Composer riche avec preview, upload Cloudinary, choix de visibilité (PUBLIC / FRIENDS / PRIVATE), validation Zod côté serveur, persistance Prisma puis broadcast SSE.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8" name="Text 8"/>
          <p:cNvSpPr/>
          <p:nvPr/>
        </p:nvSpPr>
        <p:spPr>
          <a:xfrm>
            <a:off x="5852160" y="4114800"/>
            <a:ext cx="575712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9" name="Shape 9"/>
          <p:cNvSpPr/>
          <p:nvPr/>
        </p:nvSpPr>
        <p:spPr>
          <a:xfrm>
            <a:off x="5852160" y="443484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0" name="Shape 10"/>
          <p:cNvSpPr/>
          <p:nvPr/>
        </p:nvSpPr>
        <p:spPr>
          <a:xfrm>
            <a:off x="5852160" y="443484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1" name="Text 11"/>
          <p:cNvSpPr/>
          <p:nvPr/>
        </p:nvSpPr>
        <p:spPr>
          <a:xfrm>
            <a:off x="6016680" y="452628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Upload Cloudinary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2" name="Text 12"/>
          <p:cNvSpPr/>
          <p:nvPr/>
        </p:nvSpPr>
        <p:spPr>
          <a:xfrm>
            <a:off x="6016680" y="481896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Direct upload signé côté serveur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3" name="Shape 13"/>
          <p:cNvSpPr/>
          <p:nvPr/>
        </p:nvSpPr>
        <p:spPr>
          <a:xfrm>
            <a:off x="8778240" y="443484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4" name="Shape 14"/>
          <p:cNvSpPr/>
          <p:nvPr/>
        </p:nvSpPr>
        <p:spPr>
          <a:xfrm>
            <a:off x="8778240" y="443484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5" name="Text 15"/>
          <p:cNvSpPr/>
          <p:nvPr/>
        </p:nvSpPr>
        <p:spPr>
          <a:xfrm>
            <a:off x="8942760" y="452628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Visibilité granulaire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6" name="Text 16"/>
          <p:cNvSpPr/>
          <p:nvPr/>
        </p:nvSpPr>
        <p:spPr>
          <a:xfrm>
            <a:off x="8942760" y="481896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 niveaux + check au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7" name="Shape 17"/>
          <p:cNvSpPr/>
          <p:nvPr/>
        </p:nvSpPr>
        <p:spPr>
          <a:xfrm>
            <a:off x="5852160" y="539496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8" name="Shape 18"/>
          <p:cNvSpPr/>
          <p:nvPr/>
        </p:nvSpPr>
        <p:spPr>
          <a:xfrm>
            <a:off x="5852160" y="539496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99" name="Text 19"/>
          <p:cNvSpPr/>
          <p:nvPr/>
        </p:nvSpPr>
        <p:spPr>
          <a:xfrm>
            <a:off x="6016680" y="548640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0" name="Text 20"/>
          <p:cNvSpPr/>
          <p:nvPr/>
        </p:nvSpPr>
        <p:spPr>
          <a:xfrm>
            <a:off x="6016680" y="577908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 taille, type MIME, longueur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1" name="Shape 21"/>
          <p:cNvSpPr/>
          <p:nvPr/>
        </p:nvSpPr>
        <p:spPr>
          <a:xfrm>
            <a:off x="8778240" y="539496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2" name="Shape 22"/>
          <p:cNvSpPr/>
          <p:nvPr/>
        </p:nvSpPr>
        <p:spPr>
          <a:xfrm>
            <a:off x="8778240" y="539496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3" name="Text 23"/>
          <p:cNvSpPr/>
          <p:nvPr/>
        </p:nvSpPr>
        <p:spPr>
          <a:xfrm>
            <a:off x="8942760" y="548640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Server Action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4" name="Text 24"/>
          <p:cNvSpPr/>
          <p:nvPr/>
        </p:nvSpPr>
        <p:spPr>
          <a:xfrm>
            <a:off x="8942760" y="577908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Mutation type-safe Next.js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05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6" name="Text 25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7" name="Text 26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Text 0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CONTENU ÉPHÉMÈRE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9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Story Viewer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0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1" name="Shape 3"/>
          <p:cNvSpPr/>
          <p:nvPr/>
        </p:nvSpPr>
        <p:spPr>
          <a:xfrm>
            <a:off x="548640" y="1691640"/>
            <a:ext cx="5025600" cy="45684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12" name="Image 0" descr="/sessions/sweet-funny-newton/mnt/outputs/build/assets/Mockups_Story_View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720" cy="2693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3" name="Text 4"/>
          <p:cNvSpPr/>
          <p:nvPr/>
        </p:nvSpPr>
        <p:spPr>
          <a:xfrm>
            <a:off x="5852160" y="1691640"/>
            <a:ext cx="575712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 Viewer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4" name="Shape 5"/>
          <p:cNvSpPr/>
          <p:nvPr/>
        </p:nvSpPr>
        <p:spPr>
          <a:xfrm>
            <a:off x="5852160" y="2194560"/>
            <a:ext cx="2282400" cy="3164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5" name="Text 6"/>
          <p:cNvSpPr/>
          <p:nvPr/>
        </p:nvSpPr>
        <p:spPr>
          <a:xfrm>
            <a:off x="5852160" y="2194560"/>
            <a:ext cx="22824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CONTENU ÉPHÉMÈRE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6" name="Text 7"/>
          <p:cNvSpPr/>
          <p:nvPr/>
        </p:nvSpPr>
        <p:spPr>
          <a:xfrm>
            <a:off x="5852160" y="2651760"/>
            <a:ext cx="5757120" cy="136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Lecteur plein écran des stories des amis, progression segmentée, swipe navigation, expiration automatique à 24h. Statistique de vues persistée pour l'auteur.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7" name="Text 8"/>
          <p:cNvSpPr/>
          <p:nvPr/>
        </p:nvSpPr>
        <p:spPr>
          <a:xfrm>
            <a:off x="5852160" y="4114800"/>
            <a:ext cx="575712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8" name="Shape 9"/>
          <p:cNvSpPr/>
          <p:nvPr/>
        </p:nvSpPr>
        <p:spPr>
          <a:xfrm>
            <a:off x="5852160" y="443484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9" name="Shape 10"/>
          <p:cNvSpPr/>
          <p:nvPr/>
        </p:nvSpPr>
        <p:spPr>
          <a:xfrm>
            <a:off x="5852160" y="443484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0" name="Text 11"/>
          <p:cNvSpPr/>
          <p:nvPr/>
        </p:nvSpPr>
        <p:spPr>
          <a:xfrm>
            <a:off x="6016680" y="452628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24h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1" name="Text 12"/>
          <p:cNvSpPr/>
          <p:nvPr/>
        </p:nvSpPr>
        <p:spPr>
          <a:xfrm>
            <a:off x="6016680" y="481896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Job cron · cleanup expirés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2" name="Shape 13"/>
          <p:cNvSpPr/>
          <p:nvPr/>
        </p:nvSpPr>
        <p:spPr>
          <a:xfrm>
            <a:off x="8778240" y="443484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3" name="Shape 14"/>
          <p:cNvSpPr/>
          <p:nvPr/>
        </p:nvSpPr>
        <p:spPr>
          <a:xfrm>
            <a:off x="8778240" y="443484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4" name="Text 15"/>
          <p:cNvSpPr/>
          <p:nvPr/>
        </p:nvSpPr>
        <p:spPr>
          <a:xfrm>
            <a:off x="8942760" y="452628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Progress segmentée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5" name="Text 16"/>
          <p:cNvSpPr/>
          <p:nvPr/>
        </p:nvSpPr>
        <p:spPr>
          <a:xfrm>
            <a:off x="8942760" y="481896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Multi-stories par utilisateur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6" name="Shape 17"/>
          <p:cNvSpPr/>
          <p:nvPr/>
        </p:nvSpPr>
        <p:spPr>
          <a:xfrm>
            <a:off x="5852160" y="539496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7" name="Shape 18"/>
          <p:cNvSpPr/>
          <p:nvPr/>
        </p:nvSpPr>
        <p:spPr>
          <a:xfrm>
            <a:off x="5852160" y="539496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8" name="Text 19"/>
          <p:cNvSpPr/>
          <p:nvPr/>
        </p:nvSpPr>
        <p:spPr>
          <a:xfrm>
            <a:off x="6016680" y="548640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Vues uniques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9" name="Text 20"/>
          <p:cNvSpPr/>
          <p:nvPr/>
        </p:nvSpPr>
        <p:spPr>
          <a:xfrm>
            <a:off x="6016680" y="577908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Compteur stocké en relation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0" name="Shape 21"/>
          <p:cNvSpPr/>
          <p:nvPr/>
        </p:nvSpPr>
        <p:spPr>
          <a:xfrm>
            <a:off x="8778240" y="539496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1" name="Shape 22"/>
          <p:cNvSpPr/>
          <p:nvPr/>
        </p:nvSpPr>
        <p:spPr>
          <a:xfrm>
            <a:off x="8778240" y="539496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2" name="Text 23"/>
          <p:cNvSpPr/>
          <p:nvPr/>
        </p:nvSpPr>
        <p:spPr>
          <a:xfrm>
            <a:off x="8942760" y="548640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emoji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3" name="Text 24"/>
          <p:cNvSpPr/>
          <p:nvPr/>
        </p:nvSpPr>
        <p:spPr>
          <a:xfrm>
            <a:off x="8942760" y="577908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Quick reply au créateur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34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35" name="Text 25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6" name="Text 26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Text 0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CONTENU ÉPHÉMÈRE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8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Story Viewer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9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0" name="Shape 3"/>
          <p:cNvSpPr/>
          <p:nvPr/>
        </p:nvSpPr>
        <p:spPr>
          <a:xfrm>
            <a:off x="548640" y="1691640"/>
            <a:ext cx="5025600" cy="45684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41" name="Image 0" descr="/sessions/sweet-funny-newton/mnt/outputs/build/assets/Mockups_Story_Viewer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720" cy="2304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2" name="Text 4"/>
          <p:cNvSpPr/>
          <p:nvPr/>
        </p:nvSpPr>
        <p:spPr>
          <a:xfrm>
            <a:off x="5852160" y="1691640"/>
            <a:ext cx="575712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Story Viewer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3" name="Shape 5"/>
          <p:cNvSpPr/>
          <p:nvPr/>
        </p:nvSpPr>
        <p:spPr>
          <a:xfrm>
            <a:off x="5852160" y="2194560"/>
            <a:ext cx="2282400" cy="3164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4" name="Text 6"/>
          <p:cNvSpPr/>
          <p:nvPr/>
        </p:nvSpPr>
        <p:spPr>
          <a:xfrm>
            <a:off x="5852160" y="2194560"/>
            <a:ext cx="22824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CONTENU ÉPHÉMÈRE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5" name="Text 7"/>
          <p:cNvSpPr/>
          <p:nvPr/>
        </p:nvSpPr>
        <p:spPr>
          <a:xfrm>
            <a:off x="5852160" y="2651760"/>
            <a:ext cx="5757120" cy="136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Lecteur plein écran des stories des amis, progression segmentée, swipe navigation, expiration automatique à 24h. Statistique de vues persistée pour l'auteur.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6" name="Text 8"/>
          <p:cNvSpPr/>
          <p:nvPr/>
        </p:nvSpPr>
        <p:spPr>
          <a:xfrm>
            <a:off x="5852160" y="4114800"/>
            <a:ext cx="575712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7" name="Shape 9"/>
          <p:cNvSpPr/>
          <p:nvPr/>
        </p:nvSpPr>
        <p:spPr>
          <a:xfrm>
            <a:off x="5852160" y="443484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8" name="Shape 10"/>
          <p:cNvSpPr/>
          <p:nvPr/>
        </p:nvSpPr>
        <p:spPr>
          <a:xfrm>
            <a:off x="5852160" y="443484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9" name="Text 11"/>
          <p:cNvSpPr/>
          <p:nvPr/>
        </p:nvSpPr>
        <p:spPr>
          <a:xfrm>
            <a:off x="6016680" y="452628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Stories 24h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0" name="Text 12"/>
          <p:cNvSpPr/>
          <p:nvPr/>
        </p:nvSpPr>
        <p:spPr>
          <a:xfrm>
            <a:off x="6016680" y="481896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Job cron · cleanup expirés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1" name="Shape 13"/>
          <p:cNvSpPr/>
          <p:nvPr/>
        </p:nvSpPr>
        <p:spPr>
          <a:xfrm>
            <a:off x="8778240" y="443484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2" name="Shape 14"/>
          <p:cNvSpPr/>
          <p:nvPr/>
        </p:nvSpPr>
        <p:spPr>
          <a:xfrm>
            <a:off x="8778240" y="443484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3" name="Text 15"/>
          <p:cNvSpPr/>
          <p:nvPr/>
        </p:nvSpPr>
        <p:spPr>
          <a:xfrm>
            <a:off x="8942760" y="452628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Progress segmentée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4" name="Text 16"/>
          <p:cNvSpPr/>
          <p:nvPr/>
        </p:nvSpPr>
        <p:spPr>
          <a:xfrm>
            <a:off x="8942760" y="481896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Multi-stories par utilisateur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5" name="Shape 17"/>
          <p:cNvSpPr/>
          <p:nvPr/>
        </p:nvSpPr>
        <p:spPr>
          <a:xfrm>
            <a:off x="5852160" y="539496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6" name="Shape 18"/>
          <p:cNvSpPr/>
          <p:nvPr/>
        </p:nvSpPr>
        <p:spPr>
          <a:xfrm>
            <a:off x="5852160" y="539496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57" name="Text 19"/>
          <p:cNvSpPr/>
          <p:nvPr/>
        </p:nvSpPr>
        <p:spPr>
          <a:xfrm>
            <a:off x="6016680" y="548640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Vues uniques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8" name="Text 20"/>
          <p:cNvSpPr/>
          <p:nvPr/>
        </p:nvSpPr>
        <p:spPr>
          <a:xfrm>
            <a:off x="6016680" y="577908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Compteur stocké en relation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9" name="Shape 21"/>
          <p:cNvSpPr/>
          <p:nvPr/>
        </p:nvSpPr>
        <p:spPr>
          <a:xfrm>
            <a:off x="8778240" y="539496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0" name="Shape 22"/>
          <p:cNvSpPr/>
          <p:nvPr/>
        </p:nvSpPr>
        <p:spPr>
          <a:xfrm>
            <a:off x="8778240" y="539496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1" name="Text 23"/>
          <p:cNvSpPr/>
          <p:nvPr/>
        </p:nvSpPr>
        <p:spPr>
          <a:xfrm>
            <a:off x="8942760" y="548640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Reactions emoji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2" name="Text 24"/>
          <p:cNvSpPr/>
          <p:nvPr/>
        </p:nvSpPr>
        <p:spPr>
          <a:xfrm>
            <a:off x="8942760" y="577908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Quick reply au créateur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63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4" name="Text 25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5" name="Text 26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29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Text 0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PERSONNALISATION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7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Wireframe — Paramètres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8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9" name="Shape 3"/>
          <p:cNvSpPr/>
          <p:nvPr/>
        </p:nvSpPr>
        <p:spPr>
          <a:xfrm>
            <a:off x="548640" y="1691640"/>
            <a:ext cx="5025600" cy="45684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70" name="Image 0" descr="/sessions/sweet-funny-newton/mnt/outputs/build/assets/Mockups_Settings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720" cy="2693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1" name="Text 4"/>
          <p:cNvSpPr/>
          <p:nvPr/>
        </p:nvSpPr>
        <p:spPr>
          <a:xfrm>
            <a:off x="5852160" y="1691640"/>
            <a:ext cx="575712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2" name="Shape 5"/>
          <p:cNvSpPr/>
          <p:nvPr/>
        </p:nvSpPr>
        <p:spPr>
          <a:xfrm>
            <a:off x="5852160" y="2194560"/>
            <a:ext cx="2282400" cy="3164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3" name="Text 6"/>
          <p:cNvSpPr/>
          <p:nvPr/>
        </p:nvSpPr>
        <p:spPr>
          <a:xfrm>
            <a:off x="5852160" y="2194560"/>
            <a:ext cx="22824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4" name="Text 7"/>
          <p:cNvSpPr/>
          <p:nvPr/>
        </p:nvSpPr>
        <p:spPr>
          <a:xfrm>
            <a:off x="5852160" y="2651760"/>
            <a:ext cx="5757120" cy="136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settings centralisée — profil, sécurité (mot de passe, sessions), notifications, langue (FR/EN), thème, confidentialité. Préférences stockées dans UserSettings (1-to-1 User).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5" name="Text 8"/>
          <p:cNvSpPr/>
          <p:nvPr/>
        </p:nvSpPr>
        <p:spPr>
          <a:xfrm>
            <a:off x="5852160" y="4114800"/>
            <a:ext cx="575712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6" name="Shape 9"/>
          <p:cNvSpPr/>
          <p:nvPr/>
        </p:nvSpPr>
        <p:spPr>
          <a:xfrm>
            <a:off x="5852160" y="443484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7" name="Shape 10"/>
          <p:cNvSpPr/>
          <p:nvPr/>
        </p:nvSpPr>
        <p:spPr>
          <a:xfrm>
            <a:off x="5852160" y="443484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78" name="Text 11"/>
          <p:cNvSpPr/>
          <p:nvPr/>
        </p:nvSpPr>
        <p:spPr>
          <a:xfrm>
            <a:off x="6016680" y="452628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UserSettings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9" name="Text 12"/>
          <p:cNvSpPr/>
          <p:nvPr/>
        </p:nvSpPr>
        <p:spPr>
          <a:xfrm>
            <a:off x="6016680" y="481896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Prisma 1-to-1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0" name="Shape 13"/>
          <p:cNvSpPr/>
          <p:nvPr/>
        </p:nvSpPr>
        <p:spPr>
          <a:xfrm>
            <a:off x="8778240" y="443484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1" name="Shape 14"/>
          <p:cNvSpPr/>
          <p:nvPr/>
        </p:nvSpPr>
        <p:spPr>
          <a:xfrm>
            <a:off x="8778240" y="443484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2" name="Text 15"/>
          <p:cNvSpPr/>
          <p:nvPr/>
        </p:nvSpPr>
        <p:spPr>
          <a:xfrm>
            <a:off x="8942760" y="452628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Theme toggle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3" name="Text 16"/>
          <p:cNvSpPr/>
          <p:nvPr/>
        </p:nvSpPr>
        <p:spPr>
          <a:xfrm>
            <a:off x="8942760" y="481896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Stocké côté serveur · cohérent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4" name="Shape 17"/>
          <p:cNvSpPr/>
          <p:nvPr/>
        </p:nvSpPr>
        <p:spPr>
          <a:xfrm>
            <a:off x="5852160" y="539496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5" name="Shape 18"/>
          <p:cNvSpPr/>
          <p:nvPr/>
        </p:nvSpPr>
        <p:spPr>
          <a:xfrm>
            <a:off x="5852160" y="539496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6" name="Text 19"/>
          <p:cNvSpPr/>
          <p:nvPr/>
        </p:nvSpPr>
        <p:spPr>
          <a:xfrm>
            <a:off x="6016680" y="548640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i18n EN / FR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7" name="Text 20"/>
          <p:cNvSpPr/>
          <p:nvPr/>
        </p:nvSpPr>
        <p:spPr>
          <a:xfrm>
            <a:off x="6016680" y="577908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next-intl, dictionnaires lazy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8" name="Shape 21"/>
          <p:cNvSpPr/>
          <p:nvPr/>
        </p:nvSpPr>
        <p:spPr>
          <a:xfrm>
            <a:off x="8778240" y="539496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9" name="Shape 22"/>
          <p:cNvSpPr/>
          <p:nvPr/>
        </p:nvSpPr>
        <p:spPr>
          <a:xfrm>
            <a:off x="8778240" y="539496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90" name="Text 23"/>
          <p:cNvSpPr/>
          <p:nvPr/>
        </p:nvSpPr>
        <p:spPr>
          <a:xfrm>
            <a:off x="8942760" y="548640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Privacy controls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1" name="Text 24"/>
          <p:cNvSpPr/>
          <p:nvPr/>
        </p:nvSpPr>
        <p:spPr>
          <a:xfrm>
            <a:off x="8942760" y="577908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ProfileVisibility, notification opt-in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92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3" name="Text 25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4" name="Text 26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" name="Text 0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 · PERSONNALISATION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6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 — Paramètres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7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98" name="Shape 3"/>
          <p:cNvSpPr/>
          <p:nvPr/>
        </p:nvSpPr>
        <p:spPr>
          <a:xfrm>
            <a:off x="548640" y="1691640"/>
            <a:ext cx="5025600" cy="4568400"/>
          </a:xfrm>
          <a:prstGeom prst="roundRect">
            <a:avLst>
              <a:gd name="adj" fmla="val 1600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1099" name="Image 0" descr="/sessions/sweet-funny-newton/mnt/outputs/build/assets/Mockups_Settings.png"/>
          <p:cNvPicPr/>
          <p:nvPr/>
        </p:nvPicPr>
        <p:blipFill>
          <a:blip r:embed="rId1"/>
          <a:stretch/>
        </p:blipFill>
        <p:spPr>
          <a:xfrm>
            <a:off x="685800" y="2629800"/>
            <a:ext cx="4752720" cy="2304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0" name="Text 4"/>
          <p:cNvSpPr/>
          <p:nvPr/>
        </p:nvSpPr>
        <p:spPr>
          <a:xfrm>
            <a:off x="5852160" y="1691640"/>
            <a:ext cx="575712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1" name="Shape 5"/>
          <p:cNvSpPr/>
          <p:nvPr/>
        </p:nvSpPr>
        <p:spPr>
          <a:xfrm>
            <a:off x="5852160" y="2194560"/>
            <a:ext cx="2282400" cy="316440"/>
          </a:xfrm>
          <a:prstGeom prst="roundRect">
            <a:avLst>
              <a:gd name="adj" fmla="val 42857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2" name="Text 6"/>
          <p:cNvSpPr/>
          <p:nvPr/>
        </p:nvSpPr>
        <p:spPr>
          <a:xfrm>
            <a:off x="5852160" y="2194560"/>
            <a:ext cx="22824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PERSONNALISATION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3" name="Text 7"/>
          <p:cNvSpPr/>
          <p:nvPr/>
        </p:nvSpPr>
        <p:spPr>
          <a:xfrm>
            <a:off x="5852160" y="2651760"/>
            <a:ext cx="5757120" cy="136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 settings centralisée — profil, sécurité (mot de passe, sessions), notifications, langue (FR/EN), thème, confidentialité. Préférences stockées dans UserSettings (1-to-1 User).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4" name="Text 8"/>
          <p:cNvSpPr/>
          <p:nvPr/>
        </p:nvSpPr>
        <p:spPr>
          <a:xfrm>
            <a:off x="5852160" y="4114800"/>
            <a:ext cx="575712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techniques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5" name="Shape 9"/>
          <p:cNvSpPr/>
          <p:nvPr/>
        </p:nvSpPr>
        <p:spPr>
          <a:xfrm>
            <a:off x="5852160" y="443484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6" name="Shape 10"/>
          <p:cNvSpPr/>
          <p:nvPr/>
        </p:nvSpPr>
        <p:spPr>
          <a:xfrm>
            <a:off x="5852160" y="443484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07" name="Text 11"/>
          <p:cNvSpPr/>
          <p:nvPr/>
        </p:nvSpPr>
        <p:spPr>
          <a:xfrm>
            <a:off x="6016680" y="452628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UserSettings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8" name="Text 12"/>
          <p:cNvSpPr/>
          <p:nvPr/>
        </p:nvSpPr>
        <p:spPr>
          <a:xfrm>
            <a:off x="6016680" y="481896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 Prisma 1-to-1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9" name="Shape 13"/>
          <p:cNvSpPr/>
          <p:nvPr/>
        </p:nvSpPr>
        <p:spPr>
          <a:xfrm>
            <a:off x="8778240" y="443484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0" name="Shape 14"/>
          <p:cNvSpPr/>
          <p:nvPr/>
        </p:nvSpPr>
        <p:spPr>
          <a:xfrm>
            <a:off x="8778240" y="443484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1" name="Text 15"/>
          <p:cNvSpPr/>
          <p:nvPr/>
        </p:nvSpPr>
        <p:spPr>
          <a:xfrm>
            <a:off x="8942760" y="452628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Theme toggle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2" name="Text 16"/>
          <p:cNvSpPr/>
          <p:nvPr/>
        </p:nvSpPr>
        <p:spPr>
          <a:xfrm>
            <a:off x="8942760" y="481896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Stocké côté serveur · cohérent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3" name="Shape 17"/>
          <p:cNvSpPr/>
          <p:nvPr/>
        </p:nvSpPr>
        <p:spPr>
          <a:xfrm>
            <a:off x="5852160" y="539496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4" name="Shape 18"/>
          <p:cNvSpPr/>
          <p:nvPr/>
        </p:nvSpPr>
        <p:spPr>
          <a:xfrm>
            <a:off x="5852160" y="539496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5" name="Text 19"/>
          <p:cNvSpPr/>
          <p:nvPr/>
        </p:nvSpPr>
        <p:spPr>
          <a:xfrm>
            <a:off x="6016680" y="548640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i18n EN / FR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6" name="Text 20"/>
          <p:cNvSpPr/>
          <p:nvPr/>
        </p:nvSpPr>
        <p:spPr>
          <a:xfrm>
            <a:off x="6016680" y="577908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next-intl, dictionnaires lazy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7" name="Shape 21"/>
          <p:cNvSpPr/>
          <p:nvPr/>
        </p:nvSpPr>
        <p:spPr>
          <a:xfrm>
            <a:off x="8778240" y="5394960"/>
            <a:ext cx="2739600" cy="865080"/>
          </a:xfrm>
          <a:prstGeom prst="roundRect">
            <a:avLst>
              <a:gd name="adj" fmla="val 8421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8" name="Shape 22"/>
          <p:cNvSpPr/>
          <p:nvPr/>
        </p:nvSpPr>
        <p:spPr>
          <a:xfrm>
            <a:off x="8778240" y="5394960"/>
            <a:ext cx="51120" cy="8650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45000" rIns="255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19" name="Text 23"/>
          <p:cNvSpPr/>
          <p:nvPr/>
        </p:nvSpPr>
        <p:spPr>
          <a:xfrm>
            <a:off x="8942760" y="5486400"/>
            <a:ext cx="24652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Privacy controls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0" name="Text 24"/>
          <p:cNvSpPr/>
          <p:nvPr/>
        </p:nvSpPr>
        <p:spPr>
          <a:xfrm>
            <a:off x="8942760" y="5779080"/>
            <a:ext cx="24652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ProfileVisibility, notification opt-in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21" name="Image 1" descr="/sessions/sweet-funny-newton/mnt/outputs/build/assets/konekt-logo.png"/>
          <p:cNvPicPr/>
          <p:nvPr/>
        </p:nvPicPr>
        <p:blipFill>
          <a:blip r:embed="rId2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22" name="Text 25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3" name="Text 26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Text 0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03 · CONCEPTION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5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Pages implémentées · 14 routes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6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7" name="Shape 3"/>
          <p:cNvSpPr/>
          <p:nvPr/>
        </p:nvSpPr>
        <p:spPr>
          <a:xfrm>
            <a:off x="548640" y="1691640"/>
            <a:ext cx="5482800" cy="32544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8" name="Shape 4"/>
          <p:cNvSpPr/>
          <p:nvPr/>
        </p:nvSpPr>
        <p:spPr>
          <a:xfrm>
            <a:off x="685800" y="1783080"/>
            <a:ext cx="142560" cy="1425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29" name="Text 5"/>
          <p:cNvSpPr/>
          <p:nvPr/>
        </p:nvSpPr>
        <p:spPr>
          <a:xfrm>
            <a:off x="914400" y="1691640"/>
            <a:ext cx="17337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0" name="Text 6"/>
          <p:cNvSpPr/>
          <p:nvPr/>
        </p:nvSpPr>
        <p:spPr>
          <a:xfrm>
            <a:off x="2651760" y="1691640"/>
            <a:ext cx="12765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Feed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1" name="Text 7"/>
          <p:cNvSpPr/>
          <p:nvPr/>
        </p:nvSpPr>
        <p:spPr>
          <a:xfrm>
            <a:off x="3931920" y="1691640"/>
            <a:ext cx="209952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Affichage des posts du réseau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2" name="Shape 8"/>
          <p:cNvSpPr/>
          <p:nvPr/>
        </p:nvSpPr>
        <p:spPr>
          <a:xfrm>
            <a:off x="6217920" y="1691640"/>
            <a:ext cx="5482800" cy="32544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3" name="Shape 9"/>
          <p:cNvSpPr/>
          <p:nvPr/>
        </p:nvSpPr>
        <p:spPr>
          <a:xfrm>
            <a:off x="6355080" y="1783080"/>
            <a:ext cx="142560" cy="1425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4" name="Text 10"/>
          <p:cNvSpPr/>
          <p:nvPr/>
        </p:nvSpPr>
        <p:spPr>
          <a:xfrm>
            <a:off x="6583680" y="1691640"/>
            <a:ext cx="17337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/login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5" name="Text 11"/>
          <p:cNvSpPr/>
          <p:nvPr/>
        </p:nvSpPr>
        <p:spPr>
          <a:xfrm>
            <a:off x="8321040" y="1691640"/>
            <a:ext cx="12765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Login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6" name="Text 12"/>
          <p:cNvSpPr/>
          <p:nvPr/>
        </p:nvSpPr>
        <p:spPr>
          <a:xfrm>
            <a:off x="9601200" y="1691640"/>
            <a:ext cx="209952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Authentification email + OAuth Google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7" name="Shape 13"/>
          <p:cNvSpPr/>
          <p:nvPr/>
        </p:nvSpPr>
        <p:spPr>
          <a:xfrm>
            <a:off x="548640" y="2057400"/>
            <a:ext cx="5482800" cy="32544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8" name="Shape 14"/>
          <p:cNvSpPr/>
          <p:nvPr/>
        </p:nvSpPr>
        <p:spPr>
          <a:xfrm>
            <a:off x="685800" y="2148840"/>
            <a:ext cx="142560" cy="1425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39" name="Text 15"/>
          <p:cNvSpPr/>
          <p:nvPr/>
        </p:nvSpPr>
        <p:spPr>
          <a:xfrm>
            <a:off x="914400" y="2057400"/>
            <a:ext cx="17337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/register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0" name="Text 16"/>
          <p:cNvSpPr/>
          <p:nvPr/>
        </p:nvSpPr>
        <p:spPr>
          <a:xfrm>
            <a:off x="2651760" y="2057400"/>
            <a:ext cx="12765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Register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1" name="Text 17"/>
          <p:cNvSpPr/>
          <p:nvPr/>
        </p:nvSpPr>
        <p:spPr>
          <a:xfrm>
            <a:off x="3931920" y="2057400"/>
            <a:ext cx="209952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Inscription avec vérification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2" name="Shape 18"/>
          <p:cNvSpPr/>
          <p:nvPr/>
        </p:nvSpPr>
        <p:spPr>
          <a:xfrm>
            <a:off x="6217920" y="2057400"/>
            <a:ext cx="5482800" cy="32544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3" name="Shape 19"/>
          <p:cNvSpPr/>
          <p:nvPr/>
        </p:nvSpPr>
        <p:spPr>
          <a:xfrm>
            <a:off x="6355080" y="2148840"/>
            <a:ext cx="142560" cy="1425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4" name="Text 20"/>
          <p:cNvSpPr/>
          <p:nvPr/>
        </p:nvSpPr>
        <p:spPr>
          <a:xfrm>
            <a:off x="6583680" y="2057400"/>
            <a:ext cx="17337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/onboarding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5" name="Text 21"/>
          <p:cNvSpPr/>
          <p:nvPr/>
        </p:nvSpPr>
        <p:spPr>
          <a:xfrm>
            <a:off x="8321040" y="2057400"/>
            <a:ext cx="12765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Onboarding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6" name="Text 22"/>
          <p:cNvSpPr/>
          <p:nvPr/>
        </p:nvSpPr>
        <p:spPr>
          <a:xfrm>
            <a:off x="9601200" y="2057400"/>
            <a:ext cx="209952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Complétion du profil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7" name="Shape 23"/>
          <p:cNvSpPr/>
          <p:nvPr/>
        </p:nvSpPr>
        <p:spPr>
          <a:xfrm>
            <a:off x="548640" y="2423160"/>
            <a:ext cx="5482800" cy="32544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8" name="Shape 24"/>
          <p:cNvSpPr/>
          <p:nvPr/>
        </p:nvSpPr>
        <p:spPr>
          <a:xfrm>
            <a:off x="685800" y="2514600"/>
            <a:ext cx="142560" cy="1425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49" name="Text 25"/>
          <p:cNvSpPr/>
          <p:nvPr/>
        </p:nvSpPr>
        <p:spPr>
          <a:xfrm>
            <a:off x="914400" y="2423160"/>
            <a:ext cx="17337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/profile/[id]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0" name="Text 26"/>
          <p:cNvSpPr/>
          <p:nvPr/>
        </p:nvSpPr>
        <p:spPr>
          <a:xfrm>
            <a:off x="2651760" y="2423160"/>
            <a:ext cx="12765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1" name="Text 27"/>
          <p:cNvSpPr/>
          <p:nvPr/>
        </p:nvSpPr>
        <p:spPr>
          <a:xfrm>
            <a:off x="3931920" y="2423160"/>
            <a:ext cx="209952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public/pri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vé, posts,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abonnés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2" name="Shape 28"/>
          <p:cNvSpPr/>
          <p:nvPr/>
        </p:nvSpPr>
        <p:spPr>
          <a:xfrm>
            <a:off x="6217920" y="2423160"/>
            <a:ext cx="5482800" cy="32544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3" name="Shape 29"/>
          <p:cNvSpPr/>
          <p:nvPr/>
        </p:nvSpPr>
        <p:spPr>
          <a:xfrm>
            <a:off x="6355080" y="2514600"/>
            <a:ext cx="142560" cy="1425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4" name="Text 30"/>
          <p:cNvSpPr/>
          <p:nvPr/>
        </p:nvSpPr>
        <p:spPr>
          <a:xfrm>
            <a:off x="6583680" y="2423160"/>
            <a:ext cx="17337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/chat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5" name="Text 31"/>
          <p:cNvSpPr/>
          <p:nvPr/>
        </p:nvSpPr>
        <p:spPr>
          <a:xfrm>
            <a:off x="8321040" y="2423160"/>
            <a:ext cx="12765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Conversations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6" name="Text 32"/>
          <p:cNvSpPr/>
          <p:nvPr/>
        </p:nvSpPr>
        <p:spPr>
          <a:xfrm>
            <a:off x="9601200" y="2423160"/>
            <a:ext cx="209952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Liste des messages 1-to-1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7" name="Shape 33"/>
          <p:cNvSpPr/>
          <p:nvPr/>
        </p:nvSpPr>
        <p:spPr>
          <a:xfrm>
            <a:off x="548640" y="2788920"/>
            <a:ext cx="5482800" cy="32544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8" name="Shape 34"/>
          <p:cNvSpPr/>
          <p:nvPr/>
        </p:nvSpPr>
        <p:spPr>
          <a:xfrm>
            <a:off x="685800" y="2880360"/>
            <a:ext cx="142560" cy="1425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9" name="Text 35"/>
          <p:cNvSpPr/>
          <p:nvPr/>
        </p:nvSpPr>
        <p:spPr>
          <a:xfrm>
            <a:off x="914400" y="2788920"/>
            <a:ext cx="17337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/chat/[id]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0" name="Text 36"/>
          <p:cNvSpPr/>
          <p:nvPr/>
        </p:nvSpPr>
        <p:spPr>
          <a:xfrm>
            <a:off x="2651760" y="2788920"/>
            <a:ext cx="12765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Chat DM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1" name="Text 37"/>
          <p:cNvSpPr/>
          <p:nvPr/>
        </p:nvSpPr>
        <p:spPr>
          <a:xfrm>
            <a:off x="3931920" y="2788920"/>
            <a:ext cx="209952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Messagerie privée temps réel (SSE)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2" name="Shape 38"/>
          <p:cNvSpPr/>
          <p:nvPr/>
        </p:nvSpPr>
        <p:spPr>
          <a:xfrm>
            <a:off x="6217920" y="2788920"/>
            <a:ext cx="5482800" cy="32544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3" name="Shape 39"/>
          <p:cNvSpPr/>
          <p:nvPr/>
        </p:nvSpPr>
        <p:spPr>
          <a:xfrm>
            <a:off x="6355080" y="2880360"/>
            <a:ext cx="142560" cy="1425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4" name="Text 40"/>
          <p:cNvSpPr/>
          <p:nvPr/>
        </p:nvSpPr>
        <p:spPr>
          <a:xfrm>
            <a:off x="6583680" y="2788920"/>
            <a:ext cx="17337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/reels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5" name="Text 41"/>
          <p:cNvSpPr/>
          <p:nvPr/>
        </p:nvSpPr>
        <p:spPr>
          <a:xfrm>
            <a:off x="8321040" y="2788920"/>
            <a:ext cx="12765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Reels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6" name="Text 42"/>
          <p:cNvSpPr/>
          <p:nvPr/>
        </p:nvSpPr>
        <p:spPr>
          <a:xfrm>
            <a:off x="9601200" y="2788920"/>
            <a:ext cx="209952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Vidéos courtes verticales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7" name="Shape 43"/>
          <p:cNvSpPr/>
          <p:nvPr/>
        </p:nvSpPr>
        <p:spPr>
          <a:xfrm>
            <a:off x="548640" y="3154680"/>
            <a:ext cx="5482800" cy="32544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8" name="Shape 44"/>
          <p:cNvSpPr/>
          <p:nvPr/>
        </p:nvSpPr>
        <p:spPr>
          <a:xfrm>
            <a:off x="685800" y="3246120"/>
            <a:ext cx="142560" cy="1425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9" name="Text 45"/>
          <p:cNvSpPr/>
          <p:nvPr/>
        </p:nvSpPr>
        <p:spPr>
          <a:xfrm>
            <a:off x="914400" y="3154680"/>
            <a:ext cx="17337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/search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0" name="Text 46"/>
          <p:cNvSpPr/>
          <p:nvPr/>
        </p:nvSpPr>
        <p:spPr>
          <a:xfrm>
            <a:off x="2651760" y="3154680"/>
            <a:ext cx="12765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Recherche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1" name="Text 47"/>
          <p:cNvSpPr/>
          <p:nvPr/>
        </p:nvSpPr>
        <p:spPr>
          <a:xfrm>
            <a:off x="3931920" y="3154680"/>
            <a:ext cx="209952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Users + posts avec historique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2" name="Shape 48"/>
          <p:cNvSpPr/>
          <p:nvPr/>
        </p:nvSpPr>
        <p:spPr>
          <a:xfrm>
            <a:off x="6217920" y="3154680"/>
            <a:ext cx="5482800" cy="32544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3" name="Shape 49"/>
          <p:cNvSpPr/>
          <p:nvPr/>
        </p:nvSpPr>
        <p:spPr>
          <a:xfrm>
            <a:off x="6355080" y="3246120"/>
            <a:ext cx="142560" cy="1425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4" name="Text 50"/>
          <p:cNvSpPr/>
          <p:nvPr/>
        </p:nvSpPr>
        <p:spPr>
          <a:xfrm>
            <a:off x="6583680" y="3154680"/>
            <a:ext cx="17337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/groups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5" name="Text 51"/>
          <p:cNvSpPr/>
          <p:nvPr/>
        </p:nvSpPr>
        <p:spPr>
          <a:xfrm>
            <a:off x="8321040" y="3154680"/>
            <a:ext cx="12765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6" name="Text 52"/>
          <p:cNvSpPr/>
          <p:nvPr/>
        </p:nvSpPr>
        <p:spPr>
          <a:xfrm>
            <a:off x="9601200" y="3154680"/>
            <a:ext cx="209952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Liste, recherche, création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7" name="Shape 53"/>
          <p:cNvSpPr/>
          <p:nvPr/>
        </p:nvSpPr>
        <p:spPr>
          <a:xfrm>
            <a:off x="548640" y="3520440"/>
            <a:ext cx="5482800" cy="32544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8" name="Shape 54"/>
          <p:cNvSpPr/>
          <p:nvPr/>
        </p:nvSpPr>
        <p:spPr>
          <a:xfrm>
            <a:off x="685800" y="3611880"/>
            <a:ext cx="142560" cy="1425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9" name="Text 55"/>
          <p:cNvSpPr/>
          <p:nvPr/>
        </p:nvSpPr>
        <p:spPr>
          <a:xfrm>
            <a:off x="914400" y="3520440"/>
            <a:ext cx="17337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/groups/[id]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0" name="Text 56"/>
          <p:cNvSpPr/>
          <p:nvPr/>
        </p:nvSpPr>
        <p:spPr>
          <a:xfrm>
            <a:off x="2651760" y="3520440"/>
            <a:ext cx="12765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Groupe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1" name="Text 57"/>
          <p:cNvSpPr/>
          <p:nvPr/>
        </p:nvSpPr>
        <p:spPr>
          <a:xfrm>
            <a:off x="3931920" y="3520440"/>
            <a:ext cx="209952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Feed + chat + membres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2" name="Shape 58"/>
          <p:cNvSpPr/>
          <p:nvPr/>
        </p:nvSpPr>
        <p:spPr>
          <a:xfrm>
            <a:off x="6217920" y="3520440"/>
            <a:ext cx="5482800" cy="325440"/>
          </a:xfrm>
          <a:prstGeom prst="rect">
            <a:avLst/>
          </a:prstGeom>
          <a:solidFill>
            <a:srgbClr val="1F202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3" name="Shape 59"/>
          <p:cNvSpPr/>
          <p:nvPr/>
        </p:nvSpPr>
        <p:spPr>
          <a:xfrm>
            <a:off x="6355080" y="3611880"/>
            <a:ext cx="142560" cy="1425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4" name="Text 60"/>
          <p:cNvSpPr/>
          <p:nvPr/>
        </p:nvSpPr>
        <p:spPr>
          <a:xfrm>
            <a:off x="6583680" y="3520440"/>
            <a:ext cx="17337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/events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5" name="Text 61"/>
          <p:cNvSpPr/>
          <p:nvPr/>
        </p:nvSpPr>
        <p:spPr>
          <a:xfrm>
            <a:off x="8321040" y="3520440"/>
            <a:ext cx="12765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Événements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6" name="Text 62"/>
          <p:cNvSpPr/>
          <p:nvPr/>
        </p:nvSpPr>
        <p:spPr>
          <a:xfrm>
            <a:off x="9601200" y="3520440"/>
            <a:ext cx="209952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Calendrier + RSVP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7" name="Shape 63"/>
          <p:cNvSpPr/>
          <p:nvPr/>
        </p:nvSpPr>
        <p:spPr>
          <a:xfrm>
            <a:off x="548640" y="3886200"/>
            <a:ext cx="5482800" cy="32544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8" name="Shape 64"/>
          <p:cNvSpPr/>
          <p:nvPr/>
        </p:nvSpPr>
        <p:spPr>
          <a:xfrm>
            <a:off x="685800" y="3977640"/>
            <a:ext cx="142560" cy="1425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9" name="Text 65"/>
          <p:cNvSpPr/>
          <p:nvPr/>
        </p:nvSpPr>
        <p:spPr>
          <a:xfrm>
            <a:off x="914400" y="3886200"/>
            <a:ext cx="17337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/settings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0" name="Text 66"/>
          <p:cNvSpPr/>
          <p:nvPr/>
        </p:nvSpPr>
        <p:spPr>
          <a:xfrm>
            <a:off x="2651760" y="3886200"/>
            <a:ext cx="12765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Paramètres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1" name="Text 67"/>
          <p:cNvSpPr/>
          <p:nvPr/>
        </p:nvSpPr>
        <p:spPr>
          <a:xfrm>
            <a:off x="3931920" y="3886200"/>
            <a:ext cx="209952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Profil, sécurité, langue, thème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2" name="Shape 68"/>
          <p:cNvSpPr/>
          <p:nvPr/>
        </p:nvSpPr>
        <p:spPr>
          <a:xfrm>
            <a:off x="6217920" y="3886200"/>
            <a:ext cx="5482800" cy="325440"/>
          </a:xfrm>
          <a:prstGeom prst="rect">
            <a:avLst/>
          </a:prstGeom>
          <a:solidFill>
            <a:srgbClr val="27273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93" name="Shape 69"/>
          <p:cNvSpPr/>
          <p:nvPr/>
        </p:nvSpPr>
        <p:spPr>
          <a:xfrm>
            <a:off x="6355080" y="3977640"/>
            <a:ext cx="142560" cy="1425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94" name="Text 70"/>
          <p:cNvSpPr/>
          <p:nvPr/>
        </p:nvSpPr>
        <p:spPr>
          <a:xfrm>
            <a:off x="6583680" y="3886200"/>
            <a:ext cx="17337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/invitations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5" name="Text 71"/>
          <p:cNvSpPr/>
          <p:nvPr/>
        </p:nvSpPr>
        <p:spPr>
          <a:xfrm>
            <a:off x="8321040" y="3886200"/>
            <a:ext cx="127656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Invitations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6" name="Text 72"/>
          <p:cNvSpPr/>
          <p:nvPr/>
        </p:nvSpPr>
        <p:spPr>
          <a:xfrm>
            <a:off x="9601200" y="3886200"/>
            <a:ext cx="209952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Demandes d'amitié et de groupe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9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98" name="Text 73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9" name="Text 74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0" name="Text 0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 · DIAGRAMME DE SÉQUENCE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1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Flux 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d'authenti</a:t>
            </a: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fication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2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3" name="Shape 3"/>
          <p:cNvSpPr/>
          <p:nvPr/>
        </p:nvSpPr>
        <p:spPr>
          <a:xfrm>
            <a:off x="457200" y="1783080"/>
            <a:ext cx="1642320" cy="499320"/>
          </a:xfrm>
          <a:prstGeom prst="roundRect">
            <a:avLst>
              <a:gd name="adj" fmla="val 14545"/>
            </a:avLst>
          </a:prstGeom>
          <a:solidFill>
            <a:srgbClr val="EC4899">
              <a:alpha val="4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4" name="Text 4"/>
          <p:cNvSpPr/>
          <p:nvPr/>
        </p:nvSpPr>
        <p:spPr>
          <a:xfrm>
            <a:off x="457200" y="1783080"/>
            <a:ext cx="164232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Navigateur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5" name="Shape 5"/>
          <p:cNvSpPr/>
          <p:nvPr/>
        </p:nvSpPr>
        <p:spPr>
          <a:xfrm>
            <a:off x="128016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6" name="Shape 6"/>
          <p:cNvSpPr/>
          <p:nvPr/>
        </p:nvSpPr>
        <p:spPr>
          <a:xfrm>
            <a:off x="4480560" y="1783080"/>
            <a:ext cx="1642320" cy="499320"/>
          </a:xfrm>
          <a:prstGeom prst="roundRect">
            <a:avLst>
              <a:gd name="adj" fmla="val 14545"/>
            </a:avLst>
          </a:prstGeom>
          <a:solidFill>
            <a:srgbClr val="06B6D4">
              <a:alpha val="4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7" name="Text 7"/>
          <p:cNvSpPr/>
          <p:nvPr/>
        </p:nvSpPr>
        <p:spPr>
          <a:xfrm>
            <a:off x="4480560" y="1783080"/>
            <a:ext cx="164232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8" name="Shape 8"/>
          <p:cNvSpPr/>
          <p:nvPr/>
        </p:nvSpPr>
        <p:spPr>
          <a:xfrm>
            <a:off x="530352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09" name="Shape 9"/>
          <p:cNvSpPr/>
          <p:nvPr/>
        </p:nvSpPr>
        <p:spPr>
          <a:xfrm>
            <a:off x="8503920" y="1783080"/>
            <a:ext cx="1642320" cy="499320"/>
          </a:xfrm>
          <a:prstGeom prst="roundRect">
            <a:avLst>
              <a:gd name="adj" fmla="val 14545"/>
            </a:avLst>
          </a:prstGeom>
          <a:solidFill>
            <a:srgbClr val="8B5CF6">
              <a:alpha val="4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0" name="Text 10"/>
          <p:cNvSpPr/>
          <p:nvPr/>
        </p:nvSpPr>
        <p:spPr>
          <a:xfrm>
            <a:off x="8503920" y="1783080"/>
            <a:ext cx="164232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(Prisma)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1" name="Shape 11"/>
          <p:cNvSpPr/>
          <p:nvPr/>
        </p:nvSpPr>
        <p:spPr>
          <a:xfrm>
            <a:off x="9326880" y="2286000"/>
            <a:ext cx="360" cy="37490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2" name="Shape 12"/>
          <p:cNvSpPr/>
          <p:nvPr/>
        </p:nvSpPr>
        <p:spPr>
          <a:xfrm>
            <a:off x="1280160" y="2743200"/>
            <a:ext cx="40233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3" name="Text 13"/>
          <p:cNvSpPr/>
          <p:nvPr/>
        </p:nvSpPr>
        <p:spPr>
          <a:xfrm>
            <a:off x="1280160" y="2450520"/>
            <a:ext cx="40197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POST /api/public/auth/login  { email, password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4" name="Shape 14"/>
          <p:cNvSpPr/>
          <p:nvPr/>
        </p:nvSpPr>
        <p:spPr>
          <a:xfrm>
            <a:off x="5303520" y="3246120"/>
            <a:ext cx="402336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5" name="Text 15"/>
          <p:cNvSpPr/>
          <p:nvPr/>
        </p:nvSpPr>
        <p:spPr>
          <a:xfrm>
            <a:off x="5303520" y="2953440"/>
            <a:ext cx="40197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SELECT user WHERE email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6" name="Shape 16"/>
          <p:cNvSpPr/>
          <p:nvPr/>
        </p:nvSpPr>
        <p:spPr>
          <a:xfrm flipH="1">
            <a:off x="5303520" y="3749040"/>
            <a:ext cx="4023360" cy="360"/>
          </a:xfrm>
          <a:prstGeom prst="line">
            <a:avLst/>
          </a:prstGeom>
          <a:ln w="25400">
            <a:solidFill>
              <a:srgbClr val="8B5CF6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7" name="Text 17"/>
          <p:cNvSpPr/>
          <p:nvPr/>
        </p:nvSpPr>
        <p:spPr>
          <a:xfrm>
            <a:off x="5303520" y="3456360"/>
            <a:ext cx="40197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user row (hashed pwd)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8" name="Shape 18"/>
          <p:cNvSpPr/>
          <p:nvPr/>
        </p:nvSpPr>
        <p:spPr>
          <a:xfrm>
            <a:off x="5349240" y="4023360"/>
            <a:ext cx="3654000" cy="773640"/>
          </a:xfrm>
          <a:prstGeom prst="roundRect">
            <a:avLst>
              <a:gd name="adj" fmla="val 9412"/>
            </a:avLst>
          </a:prstGeom>
          <a:solidFill>
            <a:srgbClr val="272730"/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9" name="Text 19"/>
          <p:cNvSpPr/>
          <p:nvPr/>
        </p:nvSpPr>
        <p:spPr>
          <a:xfrm>
            <a:off x="5394960" y="4069080"/>
            <a:ext cx="356256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bcrypt.compare(password, user.password)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jose.SignJWT({ userId }) ➜ JWT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0" name="Shape 20"/>
          <p:cNvSpPr/>
          <p:nvPr/>
        </p:nvSpPr>
        <p:spPr>
          <a:xfrm flipH="1">
            <a:off x="1280160" y="5074920"/>
            <a:ext cx="402336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21" name="Text 21"/>
          <p:cNvSpPr/>
          <p:nvPr/>
        </p:nvSpPr>
        <p:spPr>
          <a:xfrm>
            <a:off x="1280160" y="4782240"/>
            <a:ext cx="40197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200 OK  ·  Set-Cookie: authToken HttpOnly SameSite=Lax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2" name="Shape 22"/>
          <p:cNvSpPr/>
          <p:nvPr/>
        </p:nvSpPr>
        <p:spPr>
          <a:xfrm>
            <a:off x="548640" y="5486400"/>
            <a:ext cx="11060640" cy="773640"/>
          </a:xfrm>
          <a:prstGeom prst="roundRect">
            <a:avLst>
              <a:gd name="adj" fmla="val 9412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23" name="Text 23"/>
          <p:cNvSpPr/>
          <p:nvPr/>
        </p:nvSpPr>
        <p:spPr>
          <a:xfrm>
            <a:off x="777240" y="5532120"/>
            <a:ext cx="1060344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Sécurité —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avec 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jose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+ secret applicatif · Cookie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HttpOnly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(pas accessible JS) ·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bcrypt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cost 12 · </a:t>
            </a: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OAuth Google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 via state cookie anti-CSRF · Middleware Next.js qui valide le JWT pour chaque route privée.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2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5" name="Text 24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6" name="Text 25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7" name="Rectangle 1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920" tIns="45000" rIns="34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8" name="TextBox 3"/>
          <p:cNvSpPr/>
          <p:nvPr/>
        </p:nvSpPr>
        <p:spPr>
          <a:xfrm>
            <a:off x="548640" y="721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Temps réel — envoi message en SSE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9" name="Rectangle 4"/>
          <p:cNvSpPr/>
          <p:nvPr/>
        </p:nvSpPr>
        <p:spPr>
          <a:xfrm>
            <a:off x="549720" y="1691640"/>
            <a:ext cx="1550880" cy="4993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0" name="TextBox 5"/>
          <p:cNvSpPr/>
          <p:nvPr/>
        </p:nvSpPr>
        <p:spPr>
          <a:xfrm>
            <a:off x="549720" y="1737360"/>
            <a:ext cx="155088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Client 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1" name="TextBox 6"/>
          <p:cNvSpPr/>
          <p:nvPr/>
        </p:nvSpPr>
        <p:spPr>
          <a:xfrm>
            <a:off x="549720" y="1947600"/>
            <a:ext cx="155088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Browser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2" name="Rectangle 7"/>
          <p:cNvSpPr/>
          <p:nvPr/>
        </p:nvSpPr>
        <p:spPr>
          <a:xfrm>
            <a:off x="1308600" y="219456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3" name="Rectangle 8"/>
          <p:cNvSpPr/>
          <p:nvPr/>
        </p:nvSpPr>
        <p:spPr>
          <a:xfrm>
            <a:off x="1308600" y="235908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4" name="Rectangle 9"/>
          <p:cNvSpPr/>
          <p:nvPr/>
        </p:nvSpPr>
        <p:spPr>
          <a:xfrm>
            <a:off x="1308600" y="252360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5" name="Rectangle 10"/>
          <p:cNvSpPr/>
          <p:nvPr/>
        </p:nvSpPr>
        <p:spPr>
          <a:xfrm>
            <a:off x="1308600" y="268848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6" name="Rectangle 11"/>
          <p:cNvSpPr/>
          <p:nvPr/>
        </p:nvSpPr>
        <p:spPr>
          <a:xfrm>
            <a:off x="1308600" y="285300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7" name="Rectangle 12"/>
          <p:cNvSpPr/>
          <p:nvPr/>
        </p:nvSpPr>
        <p:spPr>
          <a:xfrm>
            <a:off x="1308600" y="301752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8" name="Rectangle 13"/>
          <p:cNvSpPr/>
          <p:nvPr/>
        </p:nvSpPr>
        <p:spPr>
          <a:xfrm>
            <a:off x="1308600" y="318204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9" name="Rectangle 14"/>
          <p:cNvSpPr/>
          <p:nvPr/>
        </p:nvSpPr>
        <p:spPr>
          <a:xfrm>
            <a:off x="1308600" y="334656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0" name="Rectangle 15"/>
          <p:cNvSpPr/>
          <p:nvPr/>
        </p:nvSpPr>
        <p:spPr>
          <a:xfrm>
            <a:off x="1308600" y="351144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1" name="Rectangle 16"/>
          <p:cNvSpPr/>
          <p:nvPr/>
        </p:nvSpPr>
        <p:spPr>
          <a:xfrm>
            <a:off x="1308600" y="367596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2" name="Rectangle 17"/>
          <p:cNvSpPr/>
          <p:nvPr/>
        </p:nvSpPr>
        <p:spPr>
          <a:xfrm>
            <a:off x="1308600" y="384048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3" name="Rectangle 18"/>
          <p:cNvSpPr/>
          <p:nvPr/>
        </p:nvSpPr>
        <p:spPr>
          <a:xfrm>
            <a:off x="1308600" y="400500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4" name="Rectangle 19"/>
          <p:cNvSpPr/>
          <p:nvPr/>
        </p:nvSpPr>
        <p:spPr>
          <a:xfrm>
            <a:off x="1308600" y="416952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5" name="Rectangle 20"/>
          <p:cNvSpPr/>
          <p:nvPr/>
        </p:nvSpPr>
        <p:spPr>
          <a:xfrm>
            <a:off x="1308600" y="433440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6" name="Rectangle 21"/>
          <p:cNvSpPr/>
          <p:nvPr/>
        </p:nvSpPr>
        <p:spPr>
          <a:xfrm>
            <a:off x="1308600" y="449892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7" name="Rectangle 22"/>
          <p:cNvSpPr/>
          <p:nvPr/>
        </p:nvSpPr>
        <p:spPr>
          <a:xfrm>
            <a:off x="1308600" y="466344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8" name="Rectangle 23"/>
          <p:cNvSpPr/>
          <p:nvPr/>
        </p:nvSpPr>
        <p:spPr>
          <a:xfrm>
            <a:off x="1308600" y="482796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9" name="Rectangle 24"/>
          <p:cNvSpPr/>
          <p:nvPr/>
        </p:nvSpPr>
        <p:spPr>
          <a:xfrm>
            <a:off x="1308600" y="499248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0" name="Rectangle 25"/>
          <p:cNvSpPr/>
          <p:nvPr/>
        </p:nvSpPr>
        <p:spPr>
          <a:xfrm>
            <a:off x="1308600" y="515736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1" name="Rectangle 26"/>
          <p:cNvSpPr/>
          <p:nvPr/>
        </p:nvSpPr>
        <p:spPr>
          <a:xfrm>
            <a:off x="1308600" y="532188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2" name="Rectangle 27"/>
          <p:cNvSpPr/>
          <p:nvPr/>
        </p:nvSpPr>
        <p:spPr>
          <a:xfrm>
            <a:off x="1308600" y="548640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3" name="Rectangle 28"/>
          <p:cNvSpPr/>
          <p:nvPr/>
        </p:nvSpPr>
        <p:spPr>
          <a:xfrm>
            <a:off x="1308600" y="565092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4" name="Rectangle 29"/>
          <p:cNvSpPr/>
          <p:nvPr/>
        </p:nvSpPr>
        <p:spPr>
          <a:xfrm>
            <a:off x="2927160" y="1691640"/>
            <a:ext cx="1550880" cy="4993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5" name="TextBox 30"/>
          <p:cNvSpPr/>
          <p:nvPr/>
        </p:nvSpPr>
        <p:spPr>
          <a:xfrm>
            <a:off x="2927160" y="1737360"/>
            <a:ext cx="155088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API send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6" name="TextBox 31"/>
          <p:cNvSpPr/>
          <p:nvPr/>
        </p:nvSpPr>
        <p:spPr>
          <a:xfrm>
            <a:off x="2927160" y="1947600"/>
            <a:ext cx="155088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7" name="Rectangle 32"/>
          <p:cNvSpPr/>
          <p:nvPr/>
        </p:nvSpPr>
        <p:spPr>
          <a:xfrm>
            <a:off x="3686040" y="219456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8" name="Rectangle 33"/>
          <p:cNvSpPr/>
          <p:nvPr/>
        </p:nvSpPr>
        <p:spPr>
          <a:xfrm>
            <a:off x="3686040" y="235908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9" name="Rectangle 34"/>
          <p:cNvSpPr/>
          <p:nvPr/>
        </p:nvSpPr>
        <p:spPr>
          <a:xfrm>
            <a:off x="3686040" y="252360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0" name="Rectangle 35"/>
          <p:cNvSpPr/>
          <p:nvPr/>
        </p:nvSpPr>
        <p:spPr>
          <a:xfrm>
            <a:off x="3686040" y="268848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1" name="Rectangle 36"/>
          <p:cNvSpPr/>
          <p:nvPr/>
        </p:nvSpPr>
        <p:spPr>
          <a:xfrm>
            <a:off x="3686040" y="285300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2" name="Rectangle 37"/>
          <p:cNvSpPr/>
          <p:nvPr/>
        </p:nvSpPr>
        <p:spPr>
          <a:xfrm>
            <a:off x="3686040" y="301752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3" name="Rectangle 38"/>
          <p:cNvSpPr/>
          <p:nvPr/>
        </p:nvSpPr>
        <p:spPr>
          <a:xfrm>
            <a:off x="3686040" y="318204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4" name="Rectangle 39"/>
          <p:cNvSpPr/>
          <p:nvPr/>
        </p:nvSpPr>
        <p:spPr>
          <a:xfrm>
            <a:off x="3686040" y="334656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5" name="Rectangle 40"/>
          <p:cNvSpPr/>
          <p:nvPr/>
        </p:nvSpPr>
        <p:spPr>
          <a:xfrm>
            <a:off x="3704400" y="3485520"/>
            <a:ext cx="8784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3920" rIns="1800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6" name="Rectangle 41"/>
          <p:cNvSpPr/>
          <p:nvPr/>
        </p:nvSpPr>
        <p:spPr>
          <a:xfrm>
            <a:off x="3686040" y="367596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7" name="Rectangle 42"/>
          <p:cNvSpPr/>
          <p:nvPr/>
        </p:nvSpPr>
        <p:spPr>
          <a:xfrm>
            <a:off x="3686040" y="384048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8" name="Rectangle 43"/>
          <p:cNvSpPr/>
          <p:nvPr/>
        </p:nvSpPr>
        <p:spPr>
          <a:xfrm>
            <a:off x="3686040" y="400500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9" name="Rectangle 44"/>
          <p:cNvSpPr/>
          <p:nvPr/>
        </p:nvSpPr>
        <p:spPr>
          <a:xfrm>
            <a:off x="3686040" y="416952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0" name="Rectangle 45"/>
          <p:cNvSpPr/>
          <p:nvPr/>
        </p:nvSpPr>
        <p:spPr>
          <a:xfrm>
            <a:off x="3686040" y="433440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1" name="Rectangle 46"/>
          <p:cNvSpPr/>
          <p:nvPr/>
        </p:nvSpPr>
        <p:spPr>
          <a:xfrm>
            <a:off x="3686040" y="449892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2" name="Rectangle 47"/>
          <p:cNvSpPr/>
          <p:nvPr/>
        </p:nvSpPr>
        <p:spPr>
          <a:xfrm>
            <a:off x="3686040" y="466344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3" name="Rectangle 48"/>
          <p:cNvSpPr/>
          <p:nvPr/>
        </p:nvSpPr>
        <p:spPr>
          <a:xfrm>
            <a:off x="3686040" y="482796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4" name="Rectangle 49"/>
          <p:cNvSpPr/>
          <p:nvPr/>
        </p:nvSpPr>
        <p:spPr>
          <a:xfrm>
            <a:off x="3686040" y="499248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5" name="Rectangle 50"/>
          <p:cNvSpPr/>
          <p:nvPr/>
        </p:nvSpPr>
        <p:spPr>
          <a:xfrm>
            <a:off x="3686040" y="515736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6" name="Rectangle 51"/>
          <p:cNvSpPr/>
          <p:nvPr/>
        </p:nvSpPr>
        <p:spPr>
          <a:xfrm>
            <a:off x="3686040" y="532188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7" name="Rectangle 52"/>
          <p:cNvSpPr/>
          <p:nvPr/>
        </p:nvSpPr>
        <p:spPr>
          <a:xfrm>
            <a:off x="3686040" y="548640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8" name="Rectangle 53"/>
          <p:cNvSpPr/>
          <p:nvPr/>
        </p:nvSpPr>
        <p:spPr>
          <a:xfrm>
            <a:off x="3686040" y="565092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9" name="Rectangle 54"/>
          <p:cNvSpPr/>
          <p:nvPr/>
        </p:nvSpPr>
        <p:spPr>
          <a:xfrm>
            <a:off x="5304600" y="1691640"/>
            <a:ext cx="1550880" cy="4993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0" name="TextBox 55"/>
          <p:cNvSpPr/>
          <p:nvPr/>
        </p:nvSpPr>
        <p:spPr>
          <a:xfrm>
            <a:off x="5304600" y="1737360"/>
            <a:ext cx="155088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1" name="TextBox 56"/>
          <p:cNvSpPr/>
          <p:nvPr/>
        </p:nvSpPr>
        <p:spPr>
          <a:xfrm>
            <a:off x="5304600" y="1947600"/>
            <a:ext cx="155088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Prisma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2" name="Rectangle 57"/>
          <p:cNvSpPr/>
          <p:nvPr/>
        </p:nvSpPr>
        <p:spPr>
          <a:xfrm>
            <a:off x="6063480" y="219456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3" name="Rectangle 58"/>
          <p:cNvSpPr/>
          <p:nvPr/>
        </p:nvSpPr>
        <p:spPr>
          <a:xfrm>
            <a:off x="6063480" y="235908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4" name="Rectangle 59"/>
          <p:cNvSpPr/>
          <p:nvPr/>
        </p:nvSpPr>
        <p:spPr>
          <a:xfrm>
            <a:off x="6063480" y="252360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5" name="Rectangle 60"/>
          <p:cNvSpPr/>
          <p:nvPr/>
        </p:nvSpPr>
        <p:spPr>
          <a:xfrm>
            <a:off x="6063480" y="268848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6" name="Rectangle 61"/>
          <p:cNvSpPr/>
          <p:nvPr/>
        </p:nvSpPr>
        <p:spPr>
          <a:xfrm>
            <a:off x="6063480" y="285300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7" name="Rectangle 62"/>
          <p:cNvSpPr/>
          <p:nvPr/>
        </p:nvSpPr>
        <p:spPr>
          <a:xfrm>
            <a:off x="5990400" y="3028320"/>
            <a:ext cx="8784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000" tIns="43920" rIns="1800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8" name="Rectangle 63"/>
          <p:cNvSpPr/>
          <p:nvPr/>
        </p:nvSpPr>
        <p:spPr>
          <a:xfrm>
            <a:off x="6063480" y="318204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9" name="Rectangle 64"/>
          <p:cNvSpPr/>
          <p:nvPr/>
        </p:nvSpPr>
        <p:spPr>
          <a:xfrm>
            <a:off x="6063480" y="334656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0" name="Rectangle 65"/>
          <p:cNvSpPr/>
          <p:nvPr/>
        </p:nvSpPr>
        <p:spPr>
          <a:xfrm>
            <a:off x="6063480" y="351144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1" name="Rectangle 66"/>
          <p:cNvSpPr/>
          <p:nvPr/>
        </p:nvSpPr>
        <p:spPr>
          <a:xfrm>
            <a:off x="6063480" y="367596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2" name="Rectangle 67"/>
          <p:cNvSpPr/>
          <p:nvPr/>
        </p:nvSpPr>
        <p:spPr>
          <a:xfrm>
            <a:off x="6063480" y="384048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3" name="Rectangle 68"/>
          <p:cNvSpPr/>
          <p:nvPr/>
        </p:nvSpPr>
        <p:spPr>
          <a:xfrm>
            <a:off x="6063480" y="400500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4" name="Rectangle 69"/>
          <p:cNvSpPr/>
          <p:nvPr/>
        </p:nvSpPr>
        <p:spPr>
          <a:xfrm>
            <a:off x="6063480" y="416952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5" name="Rectangle 70"/>
          <p:cNvSpPr/>
          <p:nvPr/>
        </p:nvSpPr>
        <p:spPr>
          <a:xfrm>
            <a:off x="6063480" y="433440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6" name="Rectangle 71"/>
          <p:cNvSpPr/>
          <p:nvPr/>
        </p:nvSpPr>
        <p:spPr>
          <a:xfrm>
            <a:off x="6063480" y="449892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7" name="Rectangle 72"/>
          <p:cNvSpPr/>
          <p:nvPr/>
        </p:nvSpPr>
        <p:spPr>
          <a:xfrm>
            <a:off x="6063480" y="466344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8" name="Rectangle 73"/>
          <p:cNvSpPr/>
          <p:nvPr/>
        </p:nvSpPr>
        <p:spPr>
          <a:xfrm>
            <a:off x="6063480" y="482796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9" name="Rectangle 74"/>
          <p:cNvSpPr/>
          <p:nvPr/>
        </p:nvSpPr>
        <p:spPr>
          <a:xfrm>
            <a:off x="6063480" y="499248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0" name="Rectangle 75"/>
          <p:cNvSpPr/>
          <p:nvPr/>
        </p:nvSpPr>
        <p:spPr>
          <a:xfrm>
            <a:off x="6063480" y="515736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1" name="Rectangle 76"/>
          <p:cNvSpPr/>
          <p:nvPr/>
        </p:nvSpPr>
        <p:spPr>
          <a:xfrm>
            <a:off x="6063480" y="532188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2" name="Rectangle 77"/>
          <p:cNvSpPr/>
          <p:nvPr/>
        </p:nvSpPr>
        <p:spPr>
          <a:xfrm>
            <a:off x="6063480" y="548640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3" name="Rectangle 78"/>
          <p:cNvSpPr/>
          <p:nvPr/>
        </p:nvSpPr>
        <p:spPr>
          <a:xfrm>
            <a:off x="6063480" y="565092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4" name="Rectangle 79"/>
          <p:cNvSpPr/>
          <p:nvPr/>
        </p:nvSpPr>
        <p:spPr>
          <a:xfrm>
            <a:off x="7682040" y="1691640"/>
            <a:ext cx="1550880" cy="499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5" name="TextBox 80"/>
          <p:cNvSpPr/>
          <p:nvPr/>
        </p:nvSpPr>
        <p:spPr>
          <a:xfrm>
            <a:off x="7682040" y="1737360"/>
            <a:ext cx="155088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Upstash 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6" name="TextBox 81"/>
          <p:cNvSpPr/>
          <p:nvPr/>
        </p:nvSpPr>
        <p:spPr>
          <a:xfrm>
            <a:off x="7682040" y="1947600"/>
            <a:ext cx="155088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REST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7" name="Rectangle 82"/>
          <p:cNvSpPr/>
          <p:nvPr/>
        </p:nvSpPr>
        <p:spPr>
          <a:xfrm>
            <a:off x="8440920" y="219456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8" name="Rectangle 83"/>
          <p:cNvSpPr/>
          <p:nvPr/>
        </p:nvSpPr>
        <p:spPr>
          <a:xfrm>
            <a:off x="8440920" y="235908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9" name="Rectangle 84"/>
          <p:cNvSpPr/>
          <p:nvPr/>
        </p:nvSpPr>
        <p:spPr>
          <a:xfrm>
            <a:off x="8440920" y="252360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0" name="Rectangle 85"/>
          <p:cNvSpPr/>
          <p:nvPr/>
        </p:nvSpPr>
        <p:spPr>
          <a:xfrm>
            <a:off x="8440920" y="268848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1" name="Rectangle 86"/>
          <p:cNvSpPr/>
          <p:nvPr/>
        </p:nvSpPr>
        <p:spPr>
          <a:xfrm>
            <a:off x="8440920" y="285300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2" name="Rectangle 87"/>
          <p:cNvSpPr/>
          <p:nvPr/>
        </p:nvSpPr>
        <p:spPr>
          <a:xfrm>
            <a:off x="8440920" y="301752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3" name="Rectangle 88"/>
          <p:cNvSpPr/>
          <p:nvPr/>
        </p:nvSpPr>
        <p:spPr>
          <a:xfrm>
            <a:off x="8440920" y="318204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4" name="Rectangle 89"/>
          <p:cNvSpPr/>
          <p:nvPr/>
        </p:nvSpPr>
        <p:spPr>
          <a:xfrm>
            <a:off x="8440920" y="334656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5" name="Rectangle 90"/>
          <p:cNvSpPr/>
          <p:nvPr/>
        </p:nvSpPr>
        <p:spPr>
          <a:xfrm>
            <a:off x="8440920" y="351144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6" name="Rectangle 91"/>
          <p:cNvSpPr/>
          <p:nvPr/>
        </p:nvSpPr>
        <p:spPr>
          <a:xfrm>
            <a:off x="8440920" y="367596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7" name="Rectangle 92"/>
          <p:cNvSpPr/>
          <p:nvPr/>
        </p:nvSpPr>
        <p:spPr>
          <a:xfrm>
            <a:off x="8440920" y="384048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8" name="Rectangle 93"/>
          <p:cNvSpPr/>
          <p:nvPr/>
        </p:nvSpPr>
        <p:spPr>
          <a:xfrm>
            <a:off x="8440920" y="400500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9" name="Rectangle 94"/>
          <p:cNvSpPr/>
          <p:nvPr/>
        </p:nvSpPr>
        <p:spPr>
          <a:xfrm>
            <a:off x="8440920" y="416952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0" name="Rectangle 95"/>
          <p:cNvSpPr/>
          <p:nvPr/>
        </p:nvSpPr>
        <p:spPr>
          <a:xfrm>
            <a:off x="8440920" y="433440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1" name="Rectangle 96"/>
          <p:cNvSpPr/>
          <p:nvPr/>
        </p:nvSpPr>
        <p:spPr>
          <a:xfrm>
            <a:off x="8440920" y="449892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2" name="Rectangle 97"/>
          <p:cNvSpPr/>
          <p:nvPr/>
        </p:nvSpPr>
        <p:spPr>
          <a:xfrm>
            <a:off x="8440920" y="466344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3" name="Rectangle 98"/>
          <p:cNvSpPr/>
          <p:nvPr/>
        </p:nvSpPr>
        <p:spPr>
          <a:xfrm>
            <a:off x="8440920" y="482796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4" name="Rectangle 99"/>
          <p:cNvSpPr/>
          <p:nvPr/>
        </p:nvSpPr>
        <p:spPr>
          <a:xfrm>
            <a:off x="8440920" y="499248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5" name="Rectangle 100"/>
          <p:cNvSpPr/>
          <p:nvPr/>
        </p:nvSpPr>
        <p:spPr>
          <a:xfrm>
            <a:off x="8440920" y="515736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6" name="Rectangle 101"/>
          <p:cNvSpPr/>
          <p:nvPr/>
        </p:nvSpPr>
        <p:spPr>
          <a:xfrm>
            <a:off x="8440920" y="532188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7" name="Rectangle 102"/>
          <p:cNvSpPr/>
          <p:nvPr/>
        </p:nvSpPr>
        <p:spPr>
          <a:xfrm>
            <a:off x="8440920" y="548640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8" name="Rectangle 103"/>
          <p:cNvSpPr/>
          <p:nvPr/>
        </p:nvSpPr>
        <p:spPr>
          <a:xfrm>
            <a:off x="8440920" y="565092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9" name="Rectangle 104"/>
          <p:cNvSpPr/>
          <p:nvPr/>
        </p:nvSpPr>
        <p:spPr>
          <a:xfrm>
            <a:off x="10059480" y="1691640"/>
            <a:ext cx="1550880" cy="499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0" name="TextBox 105"/>
          <p:cNvSpPr/>
          <p:nvPr/>
        </p:nvSpPr>
        <p:spPr>
          <a:xfrm>
            <a:off x="10059480" y="1737360"/>
            <a:ext cx="155088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Client 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1" name="TextBox 106"/>
          <p:cNvSpPr/>
          <p:nvPr/>
        </p:nvSpPr>
        <p:spPr>
          <a:xfrm>
            <a:off x="10059480" y="1947600"/>
            <a:ext cx="155088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SSE listener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2" name="Rectangle 107"/>
          <p:cNvSpPr/>
          <p:nvPr/>
        </p:nvSpPr>
        <p:spPr>
          <a:xfrm>
            <a:off x="10818360" y="219456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3" name="Rectangle 108"/>
          <p:cNvSpPr/>
          <p:nvPr/>
        </p:nvSpPr>
        <p:spPr>
          <a:xfrm>
            <a:off x="10818360" y="235908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4" name="Rectangle 109"/>
          <p:cNvSpPr/>
          <p:nvPr/>
        </p:nvSpPr>
        <p:spPr>
          <a:xfrm>
            <a:off x="10818360" y="252360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5" name="Rectangle 110"/>
          <p:cNvSpPr/>
          <p:nvPr/>
        </p:nvSpPr>
        <p:spPr>
          <a:xfrm>
            <a:off x="10818360" y="268848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6" name="Rectangle 111"/>
          <p:cNvSpPr/>
          <p:nvPr/>
        </p:nvSpPr>
        <p:spPr>
          <a:xfrm>
            <a:off x="10818360" y="285300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7" name="Rectangle 112"/>
          <p:cNvSpPr/>
          <p:nvPr/>
        </p:nvSpPr>
        <p:spPr>
          <a:xfrm>
            <a:off x="10818360" y="301752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8" name="Rectangle 113"/>
          <p:cNvSpPr/>
          <p:nvPr/>
        </p:nvSpPr>
        <p:spPr>
          <a:xfrm>
            <a:off x="10818360" y="318204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9" name="Rectangle 114"/>
          <p:cNvSpPr/>
          <p:nvPr/>
        </p:nvSpPr>
        <p:spPr>
          <a:xfrm>
            <a:off x="10818360" y="334656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0" name="Rectangle 115"/>
          <p:cNvSpPr/>
          <p:nvPr/>
        </p:nvSpPr>
        <p:spPr>
          <a:xfrm>
            <a:off x="10818360" y="351144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1" name="Rectangle 116"/>
          <p:cNvSpPr/>
          <p:nvPr/>
        </p:nvSpPr>
        <p:spPr>
          <a:xfrm>
            <a:off x="10818360" y="367596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2" name="Rectangle 117"/>
          <p:cNvSpPr/>
          <p:nvPr/>
        </p:nvSpPr>
        <p:spPr>
          <a:xfrm>
            <a:off x="10818360" y="384048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3" name="Rectangle 118"/>
          <p:cNvSpPr/>
          <p:nvPr/>
        </p:nvSpPr>
        <p:spPr>
          <a:xfrm>
            <a:off x="10818360" y="400500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4" name="Rectangle 119"/>
          <p:cNvSpPr/>
          <p:nvPr/>
        </p:nvSpPr>
        <p:spPr>
          <a:xfrm>
            <a:off x="10818360" y="416952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5" name="Rectangle 120"/>
          <p:cNvSpPr/>
          <p:nvPr/>
        </p:nvSpPr>
        <p:spPr>
          <a:xfrm>
            <a:off x="10818360" y="433440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6" name="Rectangle 121"/>
          <p:cNvSpPr/>
          <p:nvPr/>
        </p:nvSpPr>
        <p:spPr>
          <a:xfrm>
            <a:off x="10818360" y="449892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7" name="Rectangle 122"/>
          <p:cNvSpPr/>
          <p:nvPr/>
        </p:nvSpPr>
        <p:spPr>
          <a:xfrm>
            <a:off x="10818360" y="466344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8" name="Rectangle 123"/>
          <p:cNvSpPr/>
          <p:nvPr/>
        </p:nvSpPr>
        <p:spPr>
          <a:xfrm>
            <a:off x="10818360" y="482796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9" name="Rectangle 124"/>
          <p:cNvSpPr/>
          <p:nvPr/>
        </p:nvSpPr>
        <p:spPr>
          <a:xfrm>
            <a:off x="10818360" y="499248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0" name="Rectangle 125"/>
          <p:cNvSpPr/>
          <p:nvPr/>
        </p:nvSpPr>
        <p:spPr>
          <a:xfrm>
            <a:off x="10818360" y="515736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1" name="Rectangle 126"/>
          <p:cNvSpPr/>
          <p:nvPr/>
        </p:nvSpPr>
        <p:spPr>
          <a:xfrm>
            <a:off x="10818360" y="532188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2" name="Rectangle 127"/>
          <p:cNvSpPr/>
          <p:nvPr/>
        </p:nvSpPr>
        <p:spPr>
          <a:xfrm>
            <a:off x="10818360" y="548640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3" name="Rectangle 128"/>
          <p:cNvSpPr/>
          <p:nvPr/>
        </p:nvSpPr>
        <p:spPr>
          <a:xfrm>
            <a:off x="10818360" y="5650920"/>
            <a:ext cx="33120" cy="87840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560" tIns="43920" rIns="1656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4" name="Rectangle 129"/>
          <p:cNvSpPr/>
          <p:nvPr/>
        </p:nvSpPr>
        <p:spPr>
          <a:xfrm>
            <a:off x="1326960" y="2606040"/>
            <a:ext cx="2373840" cy="19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5" name="Oval 130"/>
          <p:cNvSpPr/>
          <p:nvPr/>
        </p:nvSpPr>
        <p:spPr>
          <a:xfrm>
            <a:off x="3612960" y="2571120"/>
            <a:ext cx="87840" cy="878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19440" rIns="4392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6" name="TextBox 131"/>
          <p:cNvSpPr/>
          <p:nvPr/>
        </p:nvSpPr>
        <p:spPr>
          <a:xfrm>
            <a:off x="1418400" y="2283480"/>
            <a:ext cx="22824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POST /chat/send  { to, message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7" name="Rectangle 132"/>
          <p:cNvSpPr/>
          <p:nvPr/>
        </p:nvSpPr>
        <p:spPr>
          <a:xfrm>
            <a:off x="3704400" y="3063240"/>
            <a:ext cx="2373840" cy="194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8" name="Oval 133"/>
          <p:cNvSpPr/>
          <p:nvPr/>
        </p:nvSpPr>
        <p:spPr>
          <a:xfrm>
            <a:off x="5990400" y="3028320"/>
            <a:ext cx="87840" cy="878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19440" rIns="4392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9" name="TextBox 134"/>
          <p:cNvSpPr/>
          <p:nvPr/>
        </p:nvSpPr>
        <p:spPr>
          <a:xfrm>
            <a:off x="3795840" y="2770560"/>
            <a:ext cx="22824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INSERT INTO Message (via Prisma)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0" name="Rectangle 135"/>
          <p:cNvSpPr/>
          <p:nvPr/>
        </p:nvSpPr>
        <p:spPr>
          <a:xfrm>
            <a:off x="3704400" y="3485520"/>
            <a:ext cx="87840" cy="878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1" name="Rectangle 136"/>
          <p:cNvSpPr/>
          <p:nvPr/>
        </p:nvSpPr>
        <p:spPr>
          <a:xfrm>
            <a:off x="3868920" y="3520440"/>
            <a:ext cx="87840" cy="19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2" name="Rectangle 137"/>
          <p:cNvSpPr/>
          <p:nvPr/>
        </p:nvSpPr>
        <p:spPr>
          <a:xfrm>
            <a:off x="4033440" y="3520440"/>
            <a:ext cx="87840" cy="19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3" name="Rectangle 138"/>
          <p:cNvSpPr/>
          <p:nvPr/>
        </p:nvSpPr>
        <p:spPr>
          <a:xfrm>
            <a:off x="4198320" y="3520440"/>
            <a:ext cx="87840" cy="19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4" name="Rectangle 139"/>
          <p:cNvSpPr/>
          <p:nvPr/>
        </p:nvSpPr>
        <p:spPr>
          <a:xfrm>
            <a:off x="4362840" y="3520440"/>
            <a:ext cx="87840" cy="19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5" name="Rectangle 140"/>
          <p:cNvSpPr/>
          <p:nvPr/>
        </p:nvSpPr>
        <p:spPr>
          <a:xfrm>
            <a:off x="4527360" y="3520440"/>
            <a:ext cx="87840" cy="19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6" name="Rectangle 141"/>
          <p:cNvSpPr/>
          <p:nvPr/>
        </p:nvSpPr>
        <p:spPr>
          <a:xfrm>
            <a:off x="4691880" y="3520440"/>
            <a:ext cx="87840" cy="19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7" name="Rectangle 142"/>
          <p:cNvSpPr/>
          <p:nvPr/>
        </p:nvSpPr>
        <p:spPr>
          <a:xfrm>
            <a:off x="4856400" y="3520440"/>
            <a:ext cx="87840" cy="19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8" name="Rectangle 143"/>
          <p:cNvSpPr/>
          <p:nvPr/>
        </p:nvSpPr>
        <p:spPr>
          <a:xfrm>
            <a:off x="5021280" y="3520440"/>
            <a:ext cx="87840" cy="19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9" name="Rectangle 144"/>
          <p:cNvSpPr/>
          <p:nvPr/>
        </p:nvSpPr>
        <p:spPr>
          <a:xfrm>
            <a:off x="5185800" y="3520440"/>
            <a:ext cx="87840" cy="19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0" name="Rectangle 145"/>
          <p:cNvSpPr/>
          <p:nvPr/>
        </p:nvSpPr>
        <p:spPr>
          <a:xfrm>
            <a:off x="5350320" y="3520440"/>
            <a:ext cx="87840" cy="19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1" name="Rectangle 146"/>
          <p:cNvSpPr/>
          <p:nvPr/>
        </p:nvSpPr>
        <p:spPr>
          <a:xfrm>
            <a:off x="5514840" y="3520440"/>
            <a:ext cx="87840" cy="19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2" name="Rectangle 147"/>
          <p:cNvSpPr/>
          <p:nvPr/>
        </p:nvSpPr>
        <p:spPr>
          <a:xfrm>
            <a:off x="5679360" y="3520440"/>
            <a:ext cx="87840" cy="19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3" name="Rectangle 148"/>
          <p:cNvSpPr/>
          <p:nvPr/>
        </p:nvSpPr>
        <p:spPr>
          <a:xfrm>
            <a:off x="5844240" y="3520440"/>
            <a:ext cx="87840" cy="19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4" name="Rectangle 149"/>
          <p:cNvSpPr/>
          <p:nvPr/>
        </p:nvSpPr>
        <p:spPr>
          <a:xfrm>
            <a:off x="6008760" y="3520440"/>
            <a:ext cx="69480" cy="19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920" tIns="-21960" rIns="34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5" name="Oval 150"/>
          <p:cNvSpPr/>
          <p:nvPr/>
        </p:nvSpPr>
        <p:spPr>
          <a:xfrm>
            <a:off x="3704400" y="3485520"/>
            <a:ext cx="87840" cy="8784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19440" rIns="4392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6" name="TextBox 151"/>
          <p:cNvSpPr/>
          <p:nvPr/>
        </p:nvSpPr>
        <p:spPr>
          <a:xfrm>
            <a:off x="3795840" y="3227760"/>
            <a:ext cx="22824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onsolas"/>
              </a:rPr>
              <a:t>saved message  { id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7" name="Rectangle 152"/>
          <p:cNvSpPr/>
          <p:nvPr/>
        </p:nvSpPr>
        <p:spPr>
          <a:xfrm>
            <a:off x="3704400" y="3977640"/>
            <a:ext cx="4751280" cy="194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8" name="Oval 153"/>
          <p:cNvSpPr/>
          <p:nvPr/>
        </p:nvSpPr>
        <p:spPr>
          <a:xfrm>
            <a:off x="8367840" y="3942720"/>
            <a:ext cx="87840" cy="8784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19440" rIns="4392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9" name="TextBox 154"/>
          <p:cNvSpPr/>
          <p:nvPr/>
        </p:nvSpPr>
        <p:spPr>
          <a:xfrm>
            <a:off x="3780000" y="3716640"/>
            <a:ext cx="465984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SET latest:chat:&lt;from&gt;:&lt;to&gt; = msg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0" name="Rectangle 155"/>
          <p:cNvSpPr/>
          <p:nvPr/>
        </p:nvSpPr>
        <p:spPr>
          <a:xfrm>
            <a:off x="1326960" y="4399920"/>
            <a:ext cx="87840" cy="87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1" name="Rectangle 156"/>
          <p:cNvSpPr/>
          <p:nvPr/>
        </p:nvSpPr>
        <p:spPr>
          <a:xfrm>
            <a:off x="1491480" y="4434840"/>
            <a:ext cx="87840" cy="19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2" name="Rectangle 157"/>
          <p:cNvSpPr/>
          <p:nvPr/>
        </p:nvSpPr>
        <p:spPr>
          <a:xfrm>
            <a:off x="1656000" y="4434840"/>
            <a:ext cx="87840" cy="19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3" name="Rectangle 158"/>
          <p:cNvSpPr/>
          <p:nvPr/>
        </p:nvSpPr>
        <p:spPr>
          <a:xfrm>
            <a:off x="1820880" y="4434840"/>
            <a:ext cx="87840" cy="19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4" name="Rectangle 159"/>
          <p:cNvSpPr/>
          <p:nvPr/>
        </p:nvSpPr>
        <p:spPr>
          <a:xfrm>
            <a:off x="1985400" y="4434840"/>
            <a:ext cx="87840" cy="19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5" name="Rectangle 160"/>
          <p:cNvSpPr/>
          <p:nvPr/>
        </p:nvSpPr>
        <p:spPr>
          <a:xfrm>
            <a:off x="2149920" y="4434840"/>
            <a:ext cx="87840" cy="19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6" name="Rectangle 161"/>
          <p:cNvSpPr/>
          <p:nvPr/>
        </p:nvSpPr>
        <p:spPr>
          <a:xfrm>
            <a:off x="2314440" y="4434840"/>
            <a:ext cx="87840" cy="19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7" name="Rectangle 162"/>
          <p:cNvSpPr/>
          <p:nvPr/>
        </p:nvSpPr>
        <p:spPr>
          <a:xfrm>
            <a:off x="2478960" y="4434840"/>
            <a:ext cx="87840" cy="19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8" name="Rectangle 163"/>
          <p:cNvSpPr/>
          <p:nvPr/>
        </p:nvSpPr>
        <p:spPr>
          <a:xfrm>
            <a:off x="2643840" y="4434840"/>
            <a:ext cx="87840" cy="19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9" name="Rectangle 164"/>
          <p:cNvSpPr/>
          <p:nvPr/>
        </p:nvSpPr>
        <p:spPr>
          <a:xfrm>
            <a:off x="2808360" y="4434840"/>
            <a:ext cx="87840" cy="19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0" name="Rectangle 165"/>
          <p:cNvSpPr/>
          <p:nvPr/>
        </p:nvSpPr>
        <p:spPr>
          <a:xfrm>
            <a:off x="2972880" y="4434840"/>
            <a:ext cx="87840" cy="19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1" name="Rectangle 166"/>
          <p:cNvSpPr/>
          <p:nvPr/>
        </p:nvSpPr>
        <p:spPr>
          <a:xfrm>
            <a:off x="3137400" y="4434840"/>
            <a:ext cx="87840" cy="19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2" name="Rectangle 167"/>
          <p:cNvSpPr/>
          <p:nvPr/>
        </p:nvSpPr>
        <p:spPr>
          <a:xfrm>
            <a:off x="3301920" y="4434840"/>
            <a:ext cx="87840" cy="19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3" name="Rectangle 168"/>
          <p:cNvSpPr/>
          <p:nvPr/>
        </p:nvSpPr>
        <p:spPr>
          <a:xfrm>
            <a:off x="3466800" y="4434840"/>
            <a:ext cx="87840" cy="19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4" name="Rectangle 169"/>
          <p:cNvSpPr/>
          <p:nvPr/>
        </p:nvSpPr>
        <p:spPr>
          <a:xfrm>
            <a:off x="3631320" y="4434840"/>
            <a:ext cx="69480" cy="19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920" tIns="-21960" rIns="34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5" name="Oval 170"/>
          <p:cNvSpPr/>
          <p:nvPr/>
        </p:nvSpPr>
        <p:spPr>
          <a:xfrm>
            <a:off x="1326960" y="4399920"/>
            <a:ext cx="87840" cy="878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19440" rIns="4392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6" name="TextBox 171"/>
          <p:cNvSpPr/>
          <p:nvPr/>
        </p:nvSpPr>
        <p:spPr>
          <a:xfrm>
            <a:off x="1418400" y="4480560"/>
            <a:ext cx="22824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200 OK { status: SENT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7" name="Rectangle 172"/>
          <p:cNvSpPr/>
          <p:nvPr/>
        </p:nvSpPr>
        <p:spPr>
          <a:xfrm>
            <a:off x="8002080" y="4572000"/>
            <a:ext cx="3288240" cy="1047960"/>
          </a:xfrm>
          <a:prstGeom prst="rect">
            <a:avLst/>
          </a:prstGeom>
          <a:noFill/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8" name="Rectangle 173"/>
          <p:cNvSpPr/>
          <p:nvPr/>
        </p:nvSpPr>
        <p:spPr>
          <a:xfrm>
            <a:off x="8002080" y="4574520"/>
            <a:ext cx="590760" cy="225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9" name="TextBox 174"/>
          <p:cNvSpPr/>
          <p:nvPr/>
        </p:nvSpPr>
        <p:spPr>
          <a:xfrm>
            <a:off x="8002080" y="4574520"/>
            <a:ext cx="59076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loop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0" name="TextBox 175"/>
          <p:cNvSpPr/>
          <p:nvPr/>
        </p:nvSpPr>
        <p:spPr>
          <a:xfrm>
            <a:off x="8642160" y="4574520"/>
            <a:ext cx="22824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[polling 1s]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1" name="Rectangle 176"/>
          <p:cNvSpPr/>
          <p:nvPr/>
        </p:nvSpPr>
        <p:spPr>
          <a:xfrm>
            <a:off x="8459280" y="5120640"/>
            <a:ext cx="2373840" cy="19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1960" rIns="9000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2" name="Oval 177"/>
          <p:cNvSpPr/>
          <p:nvPr/>
        </p:nvSpPr>
        <p:spPr>
          <a:xfrm>
            <a:off x="8459280" y="5085720"/>
            <a:ext cx="87840" cy="878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19440" rIns="4392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3" name="TextBox 178"/>
          <p:cNvSpPr/>
          <p:nvPr/>
        </p:nvSpPr>
        <p:spPr>
          <a:xfrm>
            <a:off x="8475120" y="4894560"/>
            <a:ext cx="22824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GET latest:chat:*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4" name="Rectangle 179"/>
          <p:cNvSpPr/>
          <p:nvPr/>
        </p:nvSpPr>
        <p:spPr>
          <a:xfrm>
            <a:off x="8459280" y="5440680"/>
            <a:ext cx="87840" cy="19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5" name="Rectangle 180"/>
          <p:cNvSpPr/>
          <p:nvPr/>
        </p:nvSpPr>
        <p:spPr>
          <a:xfrm>
            <a:off x="8623800" y="5440680"/>
            <a:ext cx="87840" cy="19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6" name="Rectangle 181"/>
          <p:cNvSpPr/>
          <p:nvPr/>
        </p:nvSpPr>
        <p:spPr>
          <a:xfrm>
            <a:off x="8788320" y="5440680"/>
            <a:ext cx="87840" cy="19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7" name="Rectangle 182"/>
          <p:cNvSpPr/>
          <p:nvPr/>
        </p:nvSpPr>
        <p:spPr>
          <a:xfrm>
            <a:off x="8953200" y="5440680"/>
            <a:ext cx="87840" cy="19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8" name="Rectangle 183"/>
          <p:cNvSpPr/>
          <p:nvPr/>
        </p:nvSpPr>
        <p:spPr>
          <a:xfrm>
            <a:off x="9117720" y="5440680"/>
            <a:ext cx="87840" cy="19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9" name="Rectangle 184"/>
          <p:cNvSpPr/>
          <p:nvPr/>
        </p:nvSpPr>
        <p:spPr>
          <a:xfrm>
            <a:off x="9282240" y="5440680"/>
            <a:ext cx="87840" cy="19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0" name="Rectangle 185"/>
          <p:cNvSpPr/>
          <p:nvPr/>
        </p:nvSpPr>
        <p:spPr>
          <a:xfrm>
            <a:off x="9446760" y="5440680"/>
            <a:ext cx="87840" cy="19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1" name="Rectangle 186"/>
          <p:cNvSpPr/>
          <p:nvPr/>
        </p:nvSpPr>
        <p:spPr>
          <a:xfrm>
            <a:off x="9611280" y="5440680"/>
            <a:ext cx="87840" cy="19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2" name="Rectangle 187"/>
          <p:cNvSpPr/>
          <p:nvPr/>
        </p:nvSpPr>
        <p:spPr>
          <a:xfrm>
            <a:off x="9776160" y="5440680"/>
            <a:ext cx="87840" cy="19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3" name="Rectangle 188"/>
          <p:cNvSpPr/>
          <p:nvPr/>
        </p:nvSpPr>
        <p:spPr>
          <a:xfrm>
            <a:off x="9940680" y="5440680"/>
            <a:ext cx="87840" cy="19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4" name="Rectangle 189"/>
          <p:cNvSpPr/>
          <p:nvPr/>
        </p:nvSpPr>
        <p:spPr>
          <a:xfrm>
            <a:off x="10105200" y="5440680"/>
            <a:ext cx="87840" cy="19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5" name="Rectangle 190"/>
          <p:cNvSpPr/>
          <p:nvPr/>
        </p:nvSpPr>
        <p:spPr>
          <a:xfrm>
            <a:off x="10269720" y="5440680"/>
            <a:ext cx="87840" cy="19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6" name="Rectangle 191"/>
          <p:cNvSpPr/>
          <p:nvPr/>
        </p:nvSpPr>
        <p:spPr>
          <a:xfrm>
            <a:off x="10434240" y="5440680"/>
            <a:ext cx="87840" cy="19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7" name="Rectangle 192"/>
          <p:cNvSpPr/>
          <p:nvPr/>
        </p:nvSpPr>
        <p:spPr>
          <a:xfrm>
            <a:off x="10599120" y="5440680"/>
            <a:ext cx="87840" cy="19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-21960" rIns="4392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8" name="Rectangle 193"/>
          <p:cNvSpPr/>
          <p:nvPr/>
        </p:nvSpPr>
        <p:spPr>
          <a:xfrm>
            <a:off x="10745280" y="5405760"/>
            <a:ext cx="87840" cy="87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6360" tIns="-21960" rIns="36360" bIns="-219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9" name="Oval 194"/>
          <p:cNvSpPr/>
          <p:nvPr/>
        </p:nvSpPr>
        <p:spPr>
          <a:xfrm>
            <a:off x="10745280" y="5405760"/>
            <a:ext cx="87840" cy="8784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3920" tIns="19440" rIns="43920" bIns="194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0" name="TextBox 195"/>
          <p:cNvSpPr/>
          <p:nvPr/>
        </p:nvSpPr>
        <p:spPr>
          <a:xfrm>
            <a:off x="8475120" y="5214600"/>
            <a:ext cx="22824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data { id, message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1" name="TextBox 196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2" name="TextBox 197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34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2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24" name="Text 64"/>
          <p:cNvSpPr/>
          <p:nvPr/>
        </p:nvSpPr>
        <p:spPr>
          <a:xfrm>
            <a:off x="549360" y="41220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 – DIAGRAMME DE SEQUENCE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5" name="Text 0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6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Auth — signature JWT (jose)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7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8" name="Shape 3"/>
          <p:cNvSpPr/>
          <p:nvPr/>
        </p:nvSpPr>
        <p:spPr>
          <a:xfrm>
            <a:off x="548640" y="1691640"/>
            <a:ext cx="7311600" cy="456840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29" name="Shape 4"/>
          <p:cNvSpPr/>
          <p:nvPr/>
        </p:nvSpPr>
        <p:spPr>
          <a:xfrm>
            <a:off x="777240" y="1874520"/>
            <a:ext cx="133560" cy="13356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0" name="Shape 5"/>
          <p:cNvSpPr/>
          <p:nvPr/>
        </p:nvSpPr>
        <p:spPr>
          <a:xfrm>
            <a:off x="960120" y="1874520"/>
            <a:ext cx="133560" cy="13356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1" name="Shape 6"/>
          <p:cNvSpPr/>
          <p:nvPr/>
        </p:nvSpPr>
        <p:spPr>
          <a:xfrm>
            <a:off x="1143000" y="1874520"/>
            <a:ext cx="133560" cy="13356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32" name="Text 7"/>
          <p:cNvSpPr/>
          <p:nvPr/>
        </p:nvSpPr>
        <p:spPr>
          <a:xfrm>
            <a:off x="1371600" y="1783080"/>
            <a:ext cx="54828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src/lib/server/user/login.ts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3" name="Text 8"/>
          <p:cNvSpPr/>
          <p:nvPr/>
        </p:nvSpPr>
        <p:spPr>
          <a:xfrm>
            <a:off x="777240" y="224028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import { SignJWT } from 'jose';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4" name="Text 9"/>
          <p:cNvSpPr/>
          <p:nvPr/>
        </p:nvSpPr>
        <p:spPr>
          <a:xfrm>
            <a:off x="777240" y="244152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import bcrypt from 'bcrypt';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5" name="Text 10"/>
          <p:cNvSpPr/>
          <p:nvPr/>
        </p:nvSpPr>
        <p:spPr>
          <a:xfrm>
            <a:off x="777240" y="264276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6" name="Text 11"/>
          <p:cNvSpPr/>
          <p:nvPr/>
        </p:nvSpPr>
        <p:spPr>
          <a:xfrm>
            <a:off x="777240" y="284364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export async function login(email: string, password: string)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7" name="Text 12"/>
          <p:cNvSpPr/>
          <p:nvPr/>
        </p:nvSpPr>
        <p:spPr>
          <a:xfrm>
            <a:off x="777240" y="304488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user = await db.user.findUnique({ where: { email }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8" name="Text 13"/>
          <p:cNvSpPr/>
          <p:nvPr/>
        </p:nvSpPr>
        <p:spPr>
          <a:xfrm>
            <a:off x="777240" y="324612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(!user) throw new AuthError('INVALID_CREDENTIALS');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9" name="Text 14"/>
          <p:cNvSpPr/>
          <p:nvPr/>
        </p:nvSpPr>
        <p:spPr>
          <a:xfrm>
            <a:off x="777240" y="344736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0" name="Text 15"/>
          <p:cNvSpPr/>
          <p:nvPr/>
        </p:nvSpPr>
        <p:spPr>
          <a:xfrm>
            <a:off x="777240" y="364860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ok = await </a:t>
            </a: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bcrypt.compare(password, </a:t>
            </a: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user.password);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1" name="Text 16"/>
          <p:cNvSpPr/>
          <p:nvPr/>
        </p:nvSpPr>
        <p:spPr>
          <a:xfrm>
            <a:off x="777240" y="384948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(!ok)  throw new AuthError('INVALID_CREDENTIALS');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2" name="Text 17"/>
          <p:cNvSpPr/>
          <p:nvPr/>
        </p:nvSpPr>
        <p:spPr>
          <a:xfrm>
            <a:off x="777240" y="405072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3" name="Text 18"/>
          <p:cNvSpPr/>
          <p:nvPr/>
        </p:nvSpPr>
        <p:spPr>
          <a:xfrm>
            <a:off x="777240" y="425196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const secret = new TextEncoder().encode(process.env.JWT_SECRET);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4" name="Text 19"/>
          <p:cNvSpPr/>
          <p:nvPr/>
        </p:nvSpPr>
        <p:spPr>
          <a:xfrm>
            <a:off x="777240" y="445320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const token  = await new SignJWT({ userId: user.id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5" name="Text 20"/>
          <p:cNvSpPr/>
          <p:nvPr/>
        </p:nvSpPr>
        <p:spPr>
          <a:xfrm>
            <a:off x="777240" y="465444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.setProtectedHeader({ alg: 'HS256'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6" name="Text 21"/>
          <p:cNvSpPr/>
          <p:nvPr/>
        </p:nvSpPr>
        <p:spPr>
          <a:xfrm>
            <a:off x="777240" y="485532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.setIssuedAt()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7" name="Text 22"/>
          <p:cNvSpPr/>
          <p:nvPr/>
        </p:nvSpPr>
        <p:spPr>
          <a:xfrm>
            <a:off x="777240" y="505656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.setExpirationTime('7d')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8" name="Text 23"/>
          <p:cNvSpPr/>
          <p:nvPr/>
        </p:nvSpPr>
        <p:spPr>
          <a:xfrm>
            <a:off x="777240" y="525780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.sign(secret);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9" name="Text 24"/>
          <p:cNvSpPr/>
          <p:nvPr/>
        </p:nvSpPr>
        <p:spPr>
          <a:xfrm>
            <a:off x="777240" y="545904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0" name="Text 25"/>
          <p:cNvSpPr/>
          <p:nvPr/>
        </p:nvSpPr>
        <p:spPr>
          <a:xfrm>
            <a:off x="777240" y="566028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return { token, user };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1" name="Text 26"/>
          <p:cNvSpPr/>
          <p:nvPr/>
        </p:nvSpPr>
        <p:spPr>
          <a:xfrm>
            <a:off x="777240" y="586116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2" name="Shape 27"/>
          <p:cNvSpPr/>
          <p:nvPr/>
        </p:nvSpPr>
        <p:spPr>
          <a:xfrm>
            <a:off x="8092440" y="1691640"/>
            <a:ext cx="3516840" cy="456840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3" name="Text 28"/>
          <p:cNvSpPr/>
          <p:nvPr/>
        </p:nvSpPr>
        <p:spPr>
          <a:xfrm>
            <a:off x="8275320" y="1783080"/>
            <a:ext cx="31968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4" name="Shape 29"/>
          <p:cNvSpPr/>
          <p:nvPr/>
        </p:nvSpPr>
        <p:spPr>
          <a:xfrm>
            <a:off x="8275320" y="2240280"/>
            <a:ext cx="407880" cy="40788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5" name="Text 30"/>
          <p:cNvSpPr/>
          <p:nvPr/>
        </p:nvSpPr>
        <p:spPr>
          <a:xfrm>
            <a:off x="8275320" y="224028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6" name="Text 31"/>
          <p:cNvSpPr/>
          <p:nvPr/>
        </p:nvSpPr>
        <p:spPr>
          <a:xfrm>
            <a:off x="8778240" y="219456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bcrypt.compare en temps constant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7" name="Shape 32"/>
          <p:cNvSpPr/>
          <p:nvPr/>
        </p:nvSpPr>
        <p:spPr>
          <a:xfrm>
            <a:off x="8275320" y="2880360"/>
            <a:ext cx="407880" cy="40788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8" name="Text 33"/>
          <p:cNvSpPr/>
          <p:nvPr/>
        </p:nvSpPr>
        <p:spPr>
          <a:xfrm>
            <a:off x="8275320" y="2844360"/>
            <a:ext cx="407880" cy="44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9" name="Text 34"/>
          <p:cNvSpPr/>
          <p:nvPr/>
        </p:nvSpPr>
        <p:spPr>
          <a:xfrm>
            <a:off x="8778240" y="283464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Même message si user inconnu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0" name="Shape 35"/>
          <p:cNvSpPr/>
          <p:nvPr/>
        </p:nvSpPr>
        <p:spPr>
          <a:xfrm>
            <a:off x="8275320" y="3520440"/>
            <a:ext cx="407880" cy="40788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1" name="Text 36"/>
          <p:cNvSpPr/>
          <p:nvPr/>
        </p:nvSpPr>
        <p:spPr>
          <a:xfrm>
            <a:off x="8275320" y="3484440"/>
            <a:ext cx="407880" cy="47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2" name="Text 37"/>
          <p:cNvSpPr/>
          <p:nvPr/>
        </p:nvSpPr>
        <p:spPr>
          <a:xfrm>
            <a:off x="8778240" y="347472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HS256 (jose)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3" name="Shape 38"/>
          <p:cNvSpPr/>
          <p:nvPr/>
        </p:nvSpPr>
        <p:spPr>
          <a:xfrm>
            <a:off x="8275320" y="4160520"/>
            <a:ext cx="407880" cy="40788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4" name="Text 39"/>
          <p:cNvSpPr/>
          <p:nvPr/>
        </p:nvSpPr>
        <p:spPr>
          <a:xfrm>
            <a:off x="8275320" y="4114800"/>
            <a:ext cx="40788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◷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5" name="Text 40"/>
          <p:cNvSpPr/>
          <p:nvPr/>
        </p:nvSpPr>
        <p:spPr>
          <a:xfrm>
            <a:off x="8778240" y="411480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Expiration explicite 7 jours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6" name="Shape 41"/>
          <p:cNvSpPr/>
          <p:nvPr/>
        </p:nvSpPr>
        <p:spPr>
          <a:xfrm>
            <a:off x="8275320" y="4800600"/>
            <a:ext cx="407880" cy="40788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7" name="Text 42"/>
          <p:cNvSpPr/>
          <p:nvPr/>
        </p:nvSpPr>
        <p:spPr>
          <a:xfrm>
            <a:off x="8275320" y="4764600"/>
            <a:ext cx="4078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8" name="Text 43"/>
          <p:cNvSpPr/>
          <p:nvPr/>
        </p:nvSpPr>
        <p:spPr>
          <a:xfrm>
            <a:off x="8778240" y="475488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Secret env var jamais commité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9" name="Shape 44"/>
          <p:cNvSpPr/>
          <p:nvPr/>
        </p:nvSpPr>
        <p:spPr>
          <a:xfrm>
            <a:off x="8275320" y="5440680"/>
            <a:ext cx="407880" cy="40788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0" name="Text 45"/>
          <p:cNvSpPr/>
          <p:nvPr/>
        </p:nvSpPr>
        <p:spPr>
          <a:xfrm>
            <a:off x="8275320" y="5293800"/>
            <a:ext cx="407880" cy="64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1" name="Text 46"/>
          <p:cNvSpPr/>
          <p:nvPr/>
        </p:nvSpPr>
        <p:spPr>
          <a:xfrm>
            <a:off x="8778240" y="539496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Erreurs typées (AuthError)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7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73" name="Text 47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4" name="Text 48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5" name="Text 0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6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 — Server-Sent Events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7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8" name="Shape 3"/>
          <p:cNvSpPr/>
          <p:nvPr/>
        </p:nvSpPr>
        <p:spPr>
          <a:xfrm>
            <a:off x="166320" y="1655640"/>
            <a:ext cx="1276560" cy="499320"/>
          </a:xfrm>
          <a:prstGeom prst="roundRect">
            <a:avLst>
              <a:gd name="adj" fmla="val 14545"/>
            </a:avLst>
          </a:prstGeom>
          <a:solidFill>
            <a:srgbClr val="EC4899">
              <a:alpha val="4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79" name="Text 4"/>
          <p:cNvSpPr/>
          <p:nvPr/>
        </p:nvSpPr>
        <p:spPr>
          <a:xfrm>
            <a:off x="166320" y="1655640"/>
            <a:ext cx="12765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 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0" name="Shape 5"/>
          <p:cNvSpPr/>
          <p:nvPr/>
        </p:nvSpPr>
        <p:spPr>
          <a:xfrm>
            <a:off x="806400" y="2158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1" name="Shape 6"/>
          <p:cNvSpPr/>
          <p:nvPr/>
        </p:nvSpPr>
        <p:spPr>
          <a:xfrm>
            <a:off x="3275280" y="1655640"/>
            <a:ext cx="1276560" cy="499320"/>
          </a:xfrm>
          <a:prstGeom prst="roundRect">
            <a:avLst>
              <a:gd name="adj" fmla="val 14545"/>
            </a:avLst>
          </a:prstGeom>
          <a:solidFill>
            <a:srgbClr val="06B6D4">
              <a:alpha val="4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2" name="Text 7"/>
          <p:cNvSpPr/>
          <p:nvPr/>
        </p:nvSpPr>
        <p:spPr>
          <a:xfrm>
            <a:off x="3275280" y="1655640"/>
            <a:ext cx="12765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3" name="Shape 8"/>
          <p:cNvSpPr/>
          <p:nvPr/>
        </p:nvSpPr>
        <p:spPr>
          <a:xfrm>
            <a:off x="3915360" y="2158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4" name="Shape 9"/>
          <p:cNvSpPr/>
          <p:nvPr/>
        </p:nvSpPr>
        <p:spPr>
          <a:xfrm>
            <a:off x="6018480" y="1655640"/>
            <a:ext cx="1276560" cy="499320"/>
          </a:xfrm>
          <a:prstGeom prst="roundRect">
            <a:avLst>
              <a:gd name="adj" fmla="val 14545"/>
            </a:avLst>
          </a:prstGeom>
          <a:solidFill>
            <a:srgbClr val="8B5CF6">
              <a:alpha val="4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5" name="Text 10"/>
          <p:cNvSpPr/>
          <p:nvPr/>
        </p:nvSpPr>
        <p:spPr>
          <a:xfrm>
            <a:off x="6018480" y="1655640"/>
            <a:ext cx="12765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6" name="Shape 11"/>
          <p:cNvSpPr/>
          <p:nvPr/>
        </p:nvSpPr>
        <p:spPr>
          <a:xfrm>
            <a:off x="6658560" y="2158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7" name="Shape 12"/>
          <p:cNvSpPr/>
          <p:nvPr/>
        </p:nvSpPr>
        <p:spPr>
          <a:xfrm>
            <a:off x="8395920" y="1655640"/>
            <a:ext cx="1276560" cy="499320"/>
          </a:xfrm>
          <a:prstGeom prst="roundRect">
            <a:avLst>
              <a:gd name="adj" fmla="val 14545"/>
            </a:avLst>
          </a:prstGeom>
          <a:solidFill>
            <a:srgbClr val="F59E0B">
              <a:alpha val="4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88" name="Text 13"/>
          <p:cNvSpPr/>
          <p:nvPr/>
        </p:nvSpPr>
        <p:spPr>
          <a:xfrm>
            <a:off x="8395920" y="1655640"/>
            <a:ext cx="12765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9" name="Shape 14"/>
          <p:cNvSpPr/>
          <p:nvPr/>
        </p:nvSpPr>
        <p:spPr>
          <a:xfrm>
            <a:off x="9036000" y="2158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0" name="Shape 15"/>
          <p:cNvSpPr/>
          <p:nvPr/>
        </p:nvSpPr>
        <p:spPr>
          <a:xfrm>
            <a:off x="10773360" y="1655640"/>
            <a:ext cx="1276560" cy="499320"/>
          </a:xfrm>
          <a:prstGeom prst="roundRect">
            <a:avLst>
              <a:gd name="adj" fmla="val 14545"/>
            </a:avLst>
          </a:prstGeom>
          <a:solidFill>
            <a:srgbClr val="10B981">
              <a:alpha val="4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1" name="Text 16"/>
          <p:cNvSpPr/>
          <p:nvPr/>
        </p:nvSpPr>
        <p:spPr>
          <a:xfrm>
            <a:off x="10773360" y="1655640"/>
            <a:ext cx="12765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</a:t>
            </a: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er </a:t>
            </a: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(SS</a:t>
            </a: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2" name="Shape 17"/>
          <p:cNvSpPr/>
          <p:nvPr/>
        </p:nvSpPr>
        <p:spPr>
          <a:xfrm>
            <a:off x="11413440" y="2158560"/>
            <a:ext cx="360" cy="2834640"/>
          </a:xfrm>
          <a:prstGeom prst="line">
            <a:avLst/>
          </a:prstGeom>
          <a:ln w="12700">
            <a:solidFill>
              <a:srgbClr val="3F3F4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3" name="Shape 18"/>
          <p:cNvSpPr/>
          <p:nvPr/>
        </p:nvSpPr>
        <p:spPr>
          <a:xfrm>
            <a:off x="806400" y="2615760"/>
            <a:ext cx="310896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4" name="Text 19"/>
          <p:cNvSpPr/>
          <p:nvPr/>
        </p:nvSpPr>
        <p:spPr>
          <a:xfrm>
            <a:off x="806400" y="2323080"/>
            <a:ext cx="31053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POST /api/private/chat/send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5" name="Shape 20"/>
          <p:cNvSpPr/>
          <p:nvPr/>
        </p:nvSpPr>
        <p:spPr>
          <a:xfrm>
            <a:off x="3915360" y="3027240"/>
            <a:ext cx="2743200" cy="360"/>
          </a:xfrm>
          <a:prstGeom prst="line">
            <a:avLst/>
          </a:prstGeom>
          <a:ln w="25400">
            <a:solidFill>
              <a:srgbClr val="06B6D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6" name="Text 21"/>
          <p:cNvSpPr/>
          <p:nvPr/>
        </p:nvSpPr>
        <p:spPr>
          <a:xfrm>
            <a:off x="3915360" y="2734560"/>
            <a:ext cx="2739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INSERT message (Prisma)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7" name="Shape 22"/>
          <p:cNvSpPr/>
          <p:nvPr/>
        </p:nvSpPr>
        <p:spPr>
          <a:xfrm>
            <a:off x="3915360" y="3438720"/>
            <a:ext cx="512064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98" name="Text 23"/>
          <p:cNvSpPr/>
          <p:nvPr/>
        </p:nvSpPr>
        <p:spPr>
          <a:xfrm>
            <a:off x="3915360" y="3146040"/>
            <a:ext cx="51170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SET latest:chat:{from}:{to}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9" name="Shape 24"/>
          <p:cNvSpPr/>
          <p:nvPr/>
        </p:nvSpPr>
        <p:spPr>
          <a:xfrm flipH="1">
            <a:off x="806400" y="3850200"/>
            <a:ext cx="310896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0" name="Text 25"/>
          <p:cNvSpPr/>
          <p:nvPr/>
        </p:nvSpPr>
        <p:spPr>
          <a:xfrm>
            <a:off x="806400" y="3557520"/>
            <a:ext cx="31053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200 OK status SENT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1" name="Shape 26"/>
          <p:cNvSpPr/>
          <p:nvPr/>
        </p:nvSpPr>
        <p:spPr>
          <a:xfrm flipH="1">
            <a:off x="9036000" y="4307400"/>
            <a:ext cx="2377440" cy="360"/>
          </a:xfrm>
          <a:prstGeom prst="line">
            <a:avLst/>
          </a:prstGeom>
          <a:ln w="25400">
            <a:solidFill>
              <a:srgbClr val="10B981"/>
            </a:solidFill>
            <a:prstDash val="dash"/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2" name="Text 27"/>
          <p:cNvSpPr/>
          <p:nvPr/>
        </p:nvSpPr>
        <p:spPr>
          <a:xfrm>
            <a:off x="9036000" y="4014720"/>
            <a:ext cx="23738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GET latest:chat:* (polling REST)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3" name="Shape 28"/>
          <p:cNvSpPr/>
          <p:nvPr/>
        </p:nvSpPr>
        <p:spPr>
          <a:xfrm>
            <a:off x="9036000" y="4718880"/>
            <a:ext cx="2377440" cy="360"/>
          </a:xfrm>
          <a:prstGeom prst="line">
            <a:avLst/>
          </a:prstGeom>
          <a:ln w="25400">
            <a:solidFill>
              <a:srgbClr val="F59E0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4" name="Text 29"/>
          <p:cNvSpPr/>
          <p:nvPr/>
        </p:nvSpPr>
        <p:spPr>
          <a:xfrm>
            <a:off x="9036000" y="4426200"/>
            <a:ext cx="23738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payload SSE  data: {...}\n\n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5" name="Shape 30"/>
          <p:cNvSpPr/>
          <p:nvPr/>
        </p:nvSpPr>
        <p:spPr>
          <a:xfrm>
            <a:off x="548640" y="5313240"/>
            <a:ext cx="11060640" cy="956520"/>
          </a:xfrm>
          <a:prstGeom prst="roundRect">
            <a:avLst>
              <a:gd name="adj" fmla="val 7619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6" name="Text 31"/>
          <p:cNvSpPr/>
          <p:nvPr/>
        </p:nvSpPr>
        <p:spPr>
          <a:xfrm>
            <a:off x="777240" y="5404680"/>
            <a:ext cx="10603440" cy="77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Compromis assumé · Upstash Redis est un service REST (pas de pub/sub TCP) : on poll la clé latest:chat:* depuis l'endpoint SSE, ce qui reste compatible avec Vercel serverless et suffit pour le volume du projet. Roadmap : Redis classique en pub/sub si la charge augmente.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0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8" name="Text 32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9" name="Text 33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0" name="Text 0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1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SSE — endpoint /chat/listen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2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3" name="Shape 3"/>
          <p:cNvSpPr/>
          <p:nvPr/>
        </p:nvSpPr>
        <p:spPr>
          <a:xfrm>
            <a:off x="548640" y="1691640"/>
            <a:ext cx="7311600" cy="456840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4" name="Shape 4"/>
          <p:cNvSpPr/>
          <p:nvPr/>
        </p:nvSpPr>
        <p:spPr>
          <a:xfrm>
            <a:off x="777240" y="1874520"/>
            <a:ext cx="133560" cy="13356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5" name="Shape 5"/>
          <p:cNvSpPr/>
          <p:nvPr/>
        </p:nvSpPr>
        <p:spPr>
          <a:xfrm>
            <a:off x="960120" y="1874520"/>
            <a:ext cx="133560" cy="13356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6" name="Shape 6"/>
          <p:cNvSpPr/>
          <p:nvPr/>
        </p:nvSpPr>
        <p:spPr>
          <a:xfrm>
            <a:off x="1143000" y="1874520"/>
            <a:ext cx="133560" cy="13356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7" name="Text 7"/>
          <p:cNvSpPr/>
          <p:nvPr/>
        </p:nvSpPr>
        <p:spPr>
          <a:xfrm>
            <a:off x="1371600" y="1783080"/>
            <a:ext cx="54828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src/app/api/private/chat/listen/route.ts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8" name="Text 8"/>
          <p:cNvSpPr/>
          <p:nvPr/>
        </p:nvSpPr>
        <p:spPr>
          <a:xfrm>
            <a:off x="777240" y="224028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export async function GET(req: NextRequest)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9" name="Text 9"/>
          <p:cNvSpPr/>
          <p:nvPr/>
        </p:nvSpPr>
        <p:spPr>
          <a:xfrm>
            <a:off x="777240" y="238212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userId = await getUserIdFromRequest(req);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0" name="Text 10"/>
          <p:cNvSpPr/>
          <p:nvPr/>
        </p:nvSpPr>
        <p:spPr>
          <a:xfrm>
            <a:off x="777240" y="252360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(!userId) return new Response('Unauthorized', { status: 401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1" name="Text 11"/>
          <p:cNvSpPr/>
          <p:nvPr/>
        </p:nvSpPr>
        <p:spPr>
          <a:xfrm>
            <a:off x="777240" y="266544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2" name="Text 12"/>
          <p:cNvSpPr/>
          <p:nvPr/>
        </p:nvSpPr>
        <p:spPr>
          <a:xfrm>
            <a:off x="777240" y="280728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{ conversationId, type } = parseParams(req.url);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3" name="Text 13"/>
          <p:cNvSpPr/>
          <p:nvPr/>
        </p:nvSpPr>
        <p:spPr>
          <a:xfrm>
            <a:off x="777240" y="294912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4" name="Text 14"/>
          <p:cNvSpPr/>
          <p:nvPr/>
        </p:nvSpPr>
        <p:spPr>
          <a:xfrm>
            <a:off x="777240" y="309060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const stream = new ReadableStream({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5" name="Text 15"/>
          <p:cNvSpPr/>
          <p:nvPr/>
        </p:nvSpPr>
        <p:spPr>
          <a:xfrm>
            <a:off x="777240" y="323244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start(controller)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6" name="Text 16"/>
          <p:cNvSpPr/>
          <p:nvPr/>
        </p:nvSpPr>
        <p:spPr>
          <a:xfrm>
            <a:off x="777240" y="337428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const enc = new TextEncoder();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7" name="Text 17"/>
          <p:cNvSpPr/>
          <p:nvPr/>
        </p:nvSpPr>
        <p:spPr>
          <a:xfrm>
            <a:off x="777240" y="351576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controller.enqueue(enc.encode('data: {"type":"connected"}\n\n'));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8" name="Text 18"/>
          <p:cNvSpPr/>
          <p:nvPr/>
        </p:nvSpPr>
        <p:spPr>
          <a:xfrm>
            <a:off x="777240" y="365760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9" name="Text 19"/>
          <p:cNvSpPr/>
          <p:nvPr/>
        </p:nvSpPr>
        <p:spPr>
          <a:xfrm>
            <a:off x="777240" y="379944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  let active = true, lastId = '';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0" name="Text 20"/>
          <p:cNvSpPr/>
          <p:nvPr/>
        </p:nvSpPr>
        <p:spPr>
          <a:xfrm>
            <a:off x="777240" y="394092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</a:t>
            </a: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(async </a:t>
            </a: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function </a:t>
            </a: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poll()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1" name="Text 21"/>
          <p:cNvSpPr/>
          <p:nvPr/>
        </p:nvSpPr>
        <p:spPr>
          <a:xfrm>
            <a:off x="777240" y="408276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while (active)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2" name="Text 22"/>
          <p:cNvSpPr/>
          <p:nvPr/>
        </p:nvSpPr>
        <p:spPr>
          <a:xfrm>
            <a:off x="777240" y="422460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    const key = `latest:chat:${userId}:${conversationId}`;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3" name="Text 23"/>
          <p:cNvSpPr/>
          <p:nvPr/>
        </p:nvSpPr>
        <p:spPr>
          <a:xfrm>
            <a:off x="777240" y="436644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 const data = await redis.get(key);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4" name="Text 24"/>
          <p:cNvSpPr/>
          <p:nvPr/>
        </p:nvSpPr>
        <p:spPr>
          <a:xfrm>
            <a:off x="777240" y="450792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  if (data &amp;&amp; data.id !== lastId) {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5" name="Text 25"/>
          <p:cNvSpPr/>
          <p:nvPr/>
        </p:nvSpPr>
        <p:spPr>
          <a:xfrm>
            <a:off x="777240" y="464976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        lastId = data.id;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6" name="Text 26"/>
          <p:cNvSpPr/>
          <p:nvPr/>
        </p:nvSpPr>
        <p:spPr>
          <a:xfrm>
            <a:off x="777240" y="479160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      controller.enqueue(enc.encode(`data: ${JSON.stringify(data)}\n\n`));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7" name="Text 27"/>
          <p:cNvSpPr/>
          <p:nvPr/>
        </p:nvSpPr>
        <p:spPr>
          <a:xfrm>
            <a:off x="777240" y="493308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  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8" name="Text 28"/>
          <p:cNvSpPr/>
          <p:nvPr/>
        </p:nvSpPr>
        <p:spPr>
          <a:xfrm>
            <a:off x="777240" y="507492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      await sleep(1000);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9" name="Text 29"/>
          <p:cNvSpPr/>
          <p:nvPr/>
        </p:nvSpPr>
        <p:spPr>
          <a:xfrm>
            <a:off x="777240" y="521676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  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0" name="Text 30"/>
          <p:cNvSpPr/>
          <p:nvPr/>
        </p:nvSpPr>
        <p:spPr>
          <a:xfrm>
            <a:off x="777240" y="535824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    })();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1" name="Text 31"/>
          <p:cNvSpPr/>
          <p:nvPr/>
        </p:nvSpPr>
        <p:spPr>
          <a:xfrm>
            <a:off x="777240" y="550008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req.signal.addEventListener('abort', () =&gt; { active = false; controller.close();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2" name="Text 32"/>
          <p:cNvSpPr/>
          <p:nvPr/>
        </p:nvSpPr>
        <p:spPr>
          <a:xfrm>
            <a:off x="777240" y="564192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},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3" name="Text 33"/>
          <p:cNvSpPr/>
          <p:nvPr/>
        </p:nvSpPr>
        <p:spPr>
          <a:xfrm>
            <a:off x="777240" y="578376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 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4" name="Text 34"/>
          <p:cNvSpPr/>
          <p:nvPr/>
        </p:nvSpPr>
        <p:spPr>
          <a:xfrm>
            <a:off x="777240" y="592524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return new Response(stream, { headers: { 'Content-Type': 'text/event-stream' } });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5" name="Text 35"/>
          <p:cNvSpPr/>
          <p:nvPr/>
        </p:nvSpPr>
        <p:spPr>
          <a:xfrm>
            <a:off x="777240" y="6067080"/>
            <a:ext cx="6945840" cy="13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6" name="Shape 36"/>
          <p:cNvSpPr/>
          <p:nvPr/>
        </p:nvSpPr>
        <p:spPr>
          <a:xfrm>
            <a:off x="8092440" y="1691640"/>
            <a:ext cx="3516840" cy="456840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7" name="Text 37"/>
          <p:cNvSpPr/>
          <p:nvPr/>
        </p:nvSpPr>
        <p:spPr>
          <a:xfrm>
            <a:off x="8275320" y="1783080"/>
            <a:ext cx="31968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Mécanique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8" name="Shape 38"/>
          <p:cNvSpPr/>
          <p:nvPr/>
        </p:nvSpPr>
        <p:spPr>
          <a:xfrm>
            <a:off x="8275320" y="2240280"/>
            <a:ext cx="407880" cy="40788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49" name="Text 39"/>
          <p:cNvSpPr/>
          <p:nvPr/>
        </p:nvSpPr>
        <p:spPr>
          <a:xfrm>
            <a:off x="8275320" y="224028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▶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0" name="Text 40"/>
          <p:cNvSpPr/>
          <p:nvPr/>
        </p:nvSpPr>
        <p:spPr>
          <a:xfrm>
            <a:off x="8778240" y="219456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ReadableStream Web standard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1" name="Shape 41"/>
          <p:cNvSpPr/>
          <p:nvPr/>
        </p:nvSpPr>
        <p:spPr>
          <a:xfrm>
            <a:off x="8275320" y="2880360"/>
            <a:ext cx="407880" cy="40788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2" name="Text 42"/>
          <p:cNvSpPr/>
          <p:nvPr/>
        </p:nvSpPr>
        <p:spPr>
          <a:xfrm>
            <a:off x="8275320" y="288036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3" name="Text 43"/>
          <p:cNvSpPr/>
          <p:nvPr/>
        </p:nvSpPr>
        <p:spPr>
          <a:xfrm>
            <a:off x="8778240" y="283464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Polling Redis 1s (REST)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4" name="Shape 44"/>
          <p:cNvSpPr/>
          <p:nvPr/>
        </p:nvSpPr>
        <p:spPr>
          <a:xfrm>
            <a:off x="8275320" y="3520440"/>
            <a:ext cx="407880" cy="40788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5" name="Text 45"/>
          <p:cNvSpPr/>
          <p:nvPr/>
        </p:nvSpPr>
        <p:spPr>
          <a:xfrm>
            <a:off x="8275320" y="352044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6" name="Text 46"/>
          <p:cNvSpPr/>
          <p:nvPr/>
        </p:nvSpPr>
        <p:spPr>
          <a:xfrm>
            <a:off x="8778240" y="347472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Clé latest:chat:&lt;from&gt;:&lt;to&gt;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7" name="Shape 47"/>
          <p:cNvSpPr/>
          <p:nvPr/>
        </p:nvSpPr>
        <p:spPr>
          <a:xfrm>
            <a:off x="8275320" y="4160520"/>
            <a:ext cx="407880" cy="40788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58" name="Text 48"/>
          <p:cNvSpPr/>
          <p:nvPr/>
        </p:nvSpPr>
        <p:spPr>
          <a:xfrm>
            <a:off x="8275320" y="416052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9" name="Text 49"/>
          <p:cNvSpPr/>
          <p:nvPr/>
        </p:nvSpPr>
        <p:spPr>
          <a:xfrm>
            <a:off x="8778240" y="411480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Déduplication par lastId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0" name="Shape 50"/>
          <p:cNvSpPr/>
          <p:nvPr/>
        </p:nvSpPr>
        <p:spPr>
          <a:xfrm>
            <a:off x="8275320" y="4800600"/>
            <a:ext cx="407880" cy="40788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1" name="Text 51"/>
          <p:cNvSpPr/>
          <p:nvPr/>
        </p:nvSpPr>
        <p:spPr>
          <a:xfrm>
            <a:off x="8275320" y="480060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⊘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2" name="Text 52"/>
          <p:cNvSpPr/>
          <p:nvPr/>
        </p:nvSpPr>
        <p:spPr>
          <a:xfrm>
            <a:off x="8778240" y="475488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abort → cleanup poll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3" name="Shape 53"/>
          <p:cNvSpPr/>
          <p:nvPr/>
        </p:nvSpPr>
        <p:spPr>
          <a:xfrm>
            <a:off x="8275320" y="5440680"/>
            <a:ext cx="407880" cy="40788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64" name="Text 54"/>
          <p:cNvSpPr/>
          <p:nvPr/>
        </p:nvSpPr>
        <p:spPr>
          <a:xfrm>
            <a:off x="8275320" y="544068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5" name="Text 55"/>
          <p:cNvSpPr/>
          <p:nvPr/>
        </p:nvSpPr>
        <p:spPr>
          <a:xfrm>
            <a:off x="8778240" y="539496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userId injecté par middleware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6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67" name="Text 56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8" name="Text 57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9" name="Text 0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0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API · 60+ endpoints REST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1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2" name="Shape 3"/>
          <p:cNvSpPr/>
          <p:nvPr/>
        </p:nvSpPr>
        <p:spPr>
          <a:xfrm>
            <a:off x="457200" y="1691640"/>
            <a:ext cx="3654000" cy="22366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3" name="Shape 4"/>
          <p:cNvSpPr/>
          <p:nvPr/>
        </p:nvSpPr>
        <p:spPr>
          <a:xfrm>
            <a:off x="457200" y="1691640"/>
            <a:ext cx="69480" cy="223668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4" name="Text 5"/>
          <p:cNvSpPr/>
          <p:nvPr/>
        </p:nvSpPr>
        <p:spPr>
          <a:xfrm>
            <a:off x="685800" y="1783080"/>
            <a:ext cx="32882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Auth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5" name="Shape 6"/>
          <p:cNvSpPr/>
          <p:nvPr/>
        </p:nvSpPr>
        <p:spPr>
          <a:xfrm>
            <a:off x="685800" y="2194560"/>
            <a:ext cx="590760" cy="28908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6" name="Text 7"/>
          <p:cNvSpPr/>
          <p:nvPr/>
        </p:nvSpPr>
        <p:spPr>
          <a:xfrm>
            <a:off x="685800" y="2194560"/>
            <a:ext cx="5907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7" name="Text 8"/>
          <p:cNvSpPr/>
          <p:nvPr/>
        </p:nvSpPr>
        <p:spPr>
          <a:xfrm>
            <a:off x="1325880" y="2194560"/>
            <a:ext cx="26481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/api/public/auth/register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8" name="Shape 9"/>
          <p:cNvSpPr/>
          <p:nvPr/>
        </p:nvSpPr>
        <p:spPr>
          <a:xfrm>
            <a:off x="685800" y="2606040"/>
            <a:ext cx="590760" cy="28908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9" name="Text 10"/>
          <p:cNvSpPr/>
          <p:nvPr/>
        </p:nvSpPr>
        <p:spPr>
          <a:xfrm>
            <a:off x="685800" y="2606040"/>
            <a:ext cx="5907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0" name="Text 11"/>
          <p:cNvSpPr/>
          <p:nvPr/>
        </p:nvSpPr>
        <p:spPr>
          <a:xfrm>
            <a:off x="1325880" y="2606040"/>
            <a:ext cx="26481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/api/public/auth/login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1" name="Shape 12"/>
          <p:cNvSpPr/>
          <p:nvPr/>
        </p:nvSpPr>
        <p:spPr>
          <a:xfrm>
            <a:off x="685800" y="3017520"/>
            <a:ext cx="590760" cy="28908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2" name="Text 13"/>
          <p:cNvSpPr/>
          <p:nvPr/>
        </p:nvSpPr>
        <p:spPr>
          <a:xfrm>
            <a:off x="685800" y="3017520"/>
            <a:ext cx="5907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3" name="Text 14"/>
          <p:cNvSpPr/>
          <p:nvPr/>
        </p:nvSpPr>
        <p:spPr>
          <a:xfrm>
            <a:off x="1325880" y="3017520"/>
            <a:ext cx="26481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/api/public/auth/logout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4" name="Shape 15"/>
          <p:cNvSpPr/>
          <p:nvPr/>
        </p:nvSpPr>
        <p:spPr>
          <a:xfrm>
            <a:off x="685800" y="3429000"/>
            <a:ext cx="590760" cy="2890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5" name="Text 16"/>
          <p:cNvSpPr/>
          <p:nvPr/>
        </p:nvSpPr>
        <p:spPr>
          <a:xfrm>
            <a:off x="685800" y="3429000"/>
            <a:ext cx="5907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6" name="Text 17"/>
          <p:cNvSpPr/>
          <p:nvPr/>
        </p:nvSpPr>
        <p:spPr>
          <a:xfrm>
            <a:off x="1325880" y="3429000"/>
            <a:ext cx="26481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/api/public/auth/callback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7" name="Shape 18"/>
          <p:cNvSpPr/>
          <p:nvPr/>
        </p:nvSpPr>
        <p:spPr>
          <a:xfrm>
            <a:off x="4251960" y="1691640"/>
            <a:ext cx="3654000" cy="22366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8" name="Shape 19"/>
          <p:cNvSpPr/>
          <p:nvPr/>
        </p:nvSpPr>
        <p:spPr>
          <a:xfrm>
            <a:off x="4251960" y="1691640"/>
            <a:ext cx="69480" cy="223668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9" name="Text 20"/>
          <p:cNvSpPr/>
          <p:nvPr/>
        </p:nvSpPr>
        <p:spPr>
          <a:xfrm>
            <a:off x="4480560" y="1783080"/>
            <a:ext cx="32882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User &amp; Profil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0" name="Shape 21"/>
          <p:cNvSpPr/>
          <p:nvPr/>
        </p:nvSpPr>
        <p:spPr>
          <a:xfrm>
            <a:off x="4480560" y="2194560"/>
            <a:ext cx="590760" cy="2890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1" name="Text 22"/>
          <p:cNvSpPr/>
          <p:nvPr/>
        </p:nvSpPr>
        <p:spPr>
          <a:xfrm>
            <a:off x="4480560" y="2194560"/>
            <a:ext cx="5907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2" name="Text 23"/>
          <p:cNvSpPr/>
          <p:nvPr/>
        </p:nvSpPr>
        <p:spPr>
          <a:xfrm>
            <a:off x="5120640" y="2194560"/>
            <a:ext cx="26481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3" name="Shape 24"/>
          <p:cNvSpPr/>
          <p:nvPr/>
        </p:nvSpPr>
        <p:spPr>
          <a:xfrm>
            <a:off x="4480560" y="2606040"/>
            <a:ext cx="590760" cy="289080"/>
          </a:xfrm>
          <a:prstGeom prst="roundRect">
            <a:avLst>
              <a:gd name="adj" fmla="val 18750"/>
            </a:avLst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4" name="Text 25"/>
          <p:cNvSpPr/>
          <p:nvPr/>
        </p:nvSpPr>
        <p:spPr>
          <a:xfrm>
            <a:off x="4480560" y="2606040"/>
            <a:ext cx="5907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PUT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5" name="Text 26"/>
          <p:cNvSpPr/>
          <p:nvPr/>
        </p:nvSpPr>
        <p:spPr>
          <a:xfrm>
            <a:off x="5120640" y="2606040"/>
            <a:ext cx="26481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6" name="Shape 27"/>
          <p:cNvSpPr/>
          <p:nvPr/>
        </p:nvSpPr>
        <p:spPr>
          <a:xfrm>
            <a:off x="4480560" y="3017520"/>
            <a:ext cx="590760" cy="2890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7" name="Text 28"/>
          <p:cNvSpPr/>
          <p:nvPr/>
        </p:nvSpPr>
        <p:spPr>
          <a:xfrm>
            <a:off x="4480560" y="3017520"/>
            <a:ext cx="5907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8" name="Text 29"/>
          <p:cNvSpPr/>
          <p:nvPr/>
        </p:nvSpPr>
        <p:spPr>
          <a:xfrm>
            <a:off x="5120640" y="3017520"/>
            <a:ext cx="26481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/api/private/friend-requests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9" name="Shape 30"/>
          <p:cNvSpPr/>
          <p:nvPr/>
        </p:nvSpPr>
        <p:spPr>
          <a:xfrm>
            <a:off x="4480560" y="3429000"/>
            <a:ext cx="590760" cy="28908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0" name="Text 31"/>
          <p:cNvSpPr/>
          <p:nvPr/>
        </p:nvSpPr>
        <p:spPr>
          <a:xfrm>
            <a:off x="4480560" y="3429000"/>
            <a:ext cx="5907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1" name="Text 32"/>
          <p:cNvSpPr/>
          <p:nvPr/>
        </p:nvSpPr>
        <p:spPr>
          <a:xfrm>
            <a:off x="5120640" y="3429000"/>
            <a:ext cx="26481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/api/private/friend-requests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2" name="Shape 33"/>
          <p:cNvSpPr/>
          <p:nvPr/>
        </p:nvSpPr>
        <p:spPr>
          <a:xfrm>
            <a:off x="8046720" y="1691640"/>
            <a:ext cx="3654000" cy="22366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3" name="Shape 34"/>
          <p:cNvSpPr/>
          <p:nvPr/>
        </p:nvSpPr>
        <p:spPr>
          <a:xfrm>
            <a:off x="8046720" y="1691640"/>
            <a:ext cx="69480" cy="223668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4" name="Text 35"/>
          <p:cNvSpPr/>
          <p:nvPr/>
        </p:nvSpPr>
        <p:spPr>
          <a:xfrm>
            <a:off x="8275320" y="1783080"/>
            <a:ext cx="32882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Contenu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5" name="Shape 36"/>
          <p:cNvSpPr/>
          <p:nvPr/>
        </p:nvSpPr>
        <p:spPr>
          <a:xfrm>
            <a:off x="8275320" y="2194560"/>
            <a:ext cx="590760" cy="2890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6" name="Text 37"/>
          <p:cNvSpPr/>
          <p:nvPr/>
        </p:nvSpPr>
        <p:spPr>
          <a:xfrm>
            <a:off x="8275320" y="2194560"/>
            <a:ext cx="5907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7" name="Text 38"/>
          <p:cNvSpPr/>
          <p:nvPr/>
        </p:nvSpPr>
        <p:spPr>
          <a:xfrm>
            <a:off x="8915400" y="2194560"/>
            <a:ext cx="26481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8" name="Shape 39"/>
          <p:cNvSpPr/>
          <p:nvPr/>
        </p:nvSpPr>
        <p:spPr>
          <a:xfrm>
            <a:off x="8275320" y="2606040"/>
            <a:ext cx="590760" cy="28908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09" name="Text 40"/>
          <p:cNvSpPr/>
          <p:nvPr/>
        </p:nvSpPr>
        <p:spPr>
          <a:xfrm>
            <a:off x="8275320" y="2606040"/>
            <a:ext cx="5907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0" name="Text 41"/>
          <p:cNvSpPr/>
          <p:nvPr/>
        </p:nvSpPr>
        <p:spPr>
          <a:xfrm>
            <a:off x="8915400" y="2606040"/>
            <a:ext cx="26481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1" name="Shape 42"/>
          <p:cNvSpPr/>
          <p:nvPr/>
        </p:nvSpPr>
        <p:spPr>
          <a:xfrm>
            <a:off x="8275320" y="3017520"/>
            <a:ext cx="590760" cy="2890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2" name="Text 43"/>
          <p:cNvSpPr/>
          <p:nvPr/>
        </p:nvSpPr>
        <p:spPr>
          <a:xfrm>
            <a:off x="8275320" y="3017520"/>
            <a:ext cx="5907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3" name="Text 44"/>
          <p:cNvSpPr/>
          <p:nvPr/>
        </p:nvSpPr>
        <p:spPr>
          <a:xfrm>
            <a:off x="8915400" y="3017520"/>
            <a:ext cx="26481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/api/private/stories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4" name="Shape 45"/>
          <p:cNvSpPr/>
          <p:nvPr/>
        </p:nvSpPr>
        <p:spPr>
          <a:xfrm>
            <a:off x="8275320" y="3429000"/>
            <a:ext cx="590760" cy="28908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5" name="Text 46"/>
          <p:cNvSpPr/>
          <p:nvPr/>
        </p:nvSpPr>
        <p:spPr>
          <a:xfrm>
            <a:off x="8275320" y="3429000"/>
            <a:ext cx="5907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6" name="Text 47"/>
          <p:cNvSpPr/>
          <p:nvPr/>
        </p:nvSpPr>
        <p:spPr>
          <a:xfrm>
            <a:off x="8915400" y="3429000"/>
            <a:ext cx="26481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/api/private/stories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7" name="Shape 48"/>
          <p:cNvSpPr/>
          <p:nvPr/>
        </p:nvSpPr>
        <p:spPr>
          <a:xfrm>
            <a:off x="457200" y="4069080"/>
            <a:ext cx="3654000" cy="22366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8" name="Shape 49"/>
          <p:cNvSpPr/>
          <p:nvPr/>
        </p:nvSpPr>
        <p:spPr>
          <a:xfrm>
            <a:off x="457200" y="4069080"/>
            <a:ext cx="69480" cy="223668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19" name="Text 50"/>
          <p:cNvSpPr/>
          <p:nvPr/>
        </p:nvSpPr>
        <p:spPr>
          <a:xfrm>
            <a:off x="685800" y="4160520"/>
            <a:ext cx="32882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Messagerie &amp; 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0" name="Shape 51"/>
          <p:cNvSpPr/>
          <p:nvPr/>
        </p:nvSpPr>
        <p:spPr>
          <a:xfrm>
            <a:off x="685800" y="4572000"/>
            <a:ext cx="590760" cy="2890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1" name="Text 52"/>
          <p:cNvSpPr/>
          <p:nvPr/>
        </p:nvSpPr>
        <p:spPr>
          <a:xfrm>
            <a:off x="685800" y="4572000"/>
            <a:ext cx="5907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2" name="Text 53"/>
          <p:cNvSpPr/>
          <p:nvPr/>
        </p:nvSpPr>
        <p:spPr>
          <a:xfrm>
            <a:off x="1325880" y="4572000"/>
            <a:ext cx="26481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/api/private/conversations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3" name="Shape 54"/>
          <p:cNvSpPr/>
          <p:nvPr/>
        </p:nvSpPr>
        <p:spPr>
          <a:xfrm>
            <a:off x="685800" y="4983480"/>
            <a:ext cx="590760" cy="28908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4" name="Text 55"/>
          <p:cNvSpPr/>
          <p:nvPr/>
        </p:nvSpPr>
        <p:spPr>
          <a:xfrm>
            <a:off x="685800" y="4983480"/>
            <a:ext cx="5907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5" name="Text 56"/>
          <p:cNvSpPr/>
          <p:nvPr/>
        </p:nvSpPr>
        <p:spPr>
          <a:xfrm>
            <a:off x="1325880" y="4983480"/>
            <a:ext cx="26481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/api/private/chat/send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6" name="Shape 57"/>
          <p:cNvSpPr/>
          <p:nvPr/>
        </p:nvSpPr>
        <p:spPr>
          <a:xfrm>
            <a:off x="685800" y="5394960"/>
            <a:ext cx="590760" cy="289080"/>
          </a:xfrm>
          <a:prstGeom prst="roundRect">
            <a:avLst>
              <a:gd name="adj" fmla="val 18750"/>
            </a:avLst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7" name="Text 58"/>
          <p:cNvSpPr/>
          <p:nvPr/>
        </p:nvSpPr>
        <p:spPr>
          <a:xfrm>
            <a:off x="685800" y="5394960"/>
            <a:ext cx="5907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8" name="Text 59"/>
          <p:cNvSpPr/>
          <p:nvPr/>
        </p:nvSpPr>
        <p:spPr>
          <a:xfrm>
            <a:off x="1325880" y="5394960"/>
            <a:ext cx="26481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/api/private/chat/listen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9" name="Shape 60"/>
          <p:cNvSpPr/>
          <p:nvPr/>
        </p:nvSpPr>
        <p:spPr>
          <a:xfrm>
            <a:off x="685800" y="5806440"/>
            <a:ext cx="590760" cy="289080"/>
          </a:xfrm>
          <a:prstGeom prst="roundRect">
            <a:avLst>
              <a:gd name="adj" fmla="val 18750"/>
            </a:avLst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0" name="Text 61"/>
          <p:cNvSpPr/>
          <p:nvPr/>
        </p:nvSpPr>
        <p:spPr>
          <a:xfrm>
            <a:off x="685800" y="5806440"/>
            <a:ext cx="5907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1" name="Text 62"/>
          <p:cNvSpPr/>
          <p:nvPr/>
        </p:nvSpPr>
        <p:spPr>
          <a:xfrm>
            <a:off x="1325880" y="5806440"/>
            <a:ext cx="26481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/api/private/chat/typing/listen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2" name="Shape 63"/>
          <p:cNvSpPr/>
          <p:nvPr/>
        </p:nvSpPr>
        <p:spPr>
          <a:xfrm>
            <a:off x="4251960" y="4069080"/>
            <a:ext cx="3654000" cy="22366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3" name="Shape 64"/>
          <p:cNvSpPr/>
          <p:nvPr/>
        </p:nvSpPr>
        <p:spPr>
          <a:xfrm>
            <a:off x="4251960" y="4069080"/>
            <a:ext cx="69480" cy="223668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4" name="Text 65"/>
          <p:cNvSpPr/>
          <p:nvPr/>
        </p:nvSpPr>
        <p:spPr>
          <a:xfrm>
            <a:off x="4480560" y="4160520"/>
            <a:ext cx="32882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Communautés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5" name="Shape 66"/>
          <p:cNvSpPr/>
          <p:nvPr/>
        </p:nvSpPr>
        <p:spPr>
          <a:xfrm>
            <a:off x="4480560" y="4572000"/>
            <a:ext cx="590760" cy="2890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6" name="Text 67"/>
          <p:cNvSpPr/>
          <p:nvPr/>
        </p:nvSpPr>
        <p:spPr>
          <a:xfrm>
            <a:off x="4480560" y="4572000"/>
            <a:ext cx="5907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7" name="Text 68"/>
          <p:cNvSpPr/>
          <p:nvPr/>
        </p:nvSpPr>
        <p:spPr>
          <a:xfrm>
            <a:off x="5120640" y="4572000"/>
            <a:ext cx="26481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/api/private/groups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8" name="Shape 69"/>
          <p:cNvSpPr/>
          <p:nvPr/>
        </p:nvSpPr>
        <p:spPr>
          <a:xfrm>
            <a:off x="4480560" y="4983480"/>
            <a:ext cx="590760" cy="28908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39" name="Text 70"/>
          <p:cNvSpPr/>
          <p:nvPr/>
        </p:nvSpPr>
        <p:spPr>
          <a:xfrm>
            <a:off x="4480560" y="4983480"/>
            <a:ext cx="5907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0" name="Text 71"/>
          <p:cNvSpPr/>
          <p:nvPr/>
        </p:nvSpPr>
        <p:spPr>
          <a:xfrm>
            <a:off x="5120640" y="4983480"/>
            <a:ext cx="26481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/api/private/groups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1" name="Shape 72"/>
          <p:cNvSpPr/>
          <p:nvPr/>
        </p:nvSpPr>
        <p:spPr>
          <a:xfrm>
            <a:off x="4480560" y="5394960"/>
            <a:ext cx="590760" cy="2890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2" name="Text 73"/>
          <p:cNvSpPr/>
          <p:nvPr/>
        </p:nvSpPr>
        <p:spPr>
          <a:xfrm>
            <a:off x="4480560" y="5394960"/>
            <a:ext cx="5907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3" name="Text 74"/>
          <p:cNvSpPr/>
          <p:nvPr/>
        </p:nvSpPr>
        <p:spPr>
          <a:xfrm>
            <a:off x="5120640" y="5394960"/>
            <a:ext cx="26481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/api/private/events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4" name="Shape 75"/>
          <p:cNvSpPr/>
          <p:nvPr/>
        </p:nvSpPr>
        <p:spPr>
          <a:xfrm>
            <a:off x="4480560" y="5806440"/>
            <a:ext cx="590760" cy="289080"/>
          </a:xfrm>
          <a:prstGeom prst="roundRect">
            <a:avLst>
              <a:gd name="adj" fmla="val 18750"/>
            </a:avLst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5" name="Text 76"/>
          <p:cNvSpPr/>
          <p:nvPr/>
        </p:nvSpPr>
        <p:spPr>
          <a:xfrm>
            <a:off x="4480560" y="5806440"/>
            <a:ext cx="5907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POST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6" name="Text 77"/>
          <p:cNvSpPr/>
          <p:nvPr/>
        </p:nvSpPr>
        <p:spPr>
          <a:xfrm>
            <a:off x="5120640" y="5806440"/>
            <a:ext cx="26481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/api/private/events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7" name="Shape 78"/>
          <p:cNvSpPr/>
          <p:nvPr/>
        </p:nvSpPr>
        <p:spPr>
          <a:xfrm>
            <a:off x="8046720" y="4069080"/>
            <a:ext cx="3654000" cy="2236680"/>
          </a:xfrm>
          <a:prstGeom prst="roundRect">
            <a:avLst>
              <a:gd name="adj" fmla="val 326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8" name="Shape 79"/>
          <p:cNvSpPr/>
          <p:nvPr/>
        </p:nvSpPr>
        <p:spPr>
          <a:xfrm>
            <a:off x="8046720" y="4069080"/>
            <a:ext cx="69480" cy="223668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9" name="Text 80"/>
          <p:cNvSpPr/>
          <p:nvPr/>
        </p:nvSpPr>
        <p:spPr>
          <a:xfrm>
            <a:off x="8275320" y="4160520"/>
            <a:ext cx="328824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Recherche &amp; Notif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0" name="Shape 81"/>
          <p:cNvSpPr/>
          <p:nvPr/>
        </p:nvSpPr>
        <p:spPr>
          <a:xfrm>
            <a:off x="8275320" y="4572000"/>
            <a:ext cx="590760" cy="2890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1" name="Text 82"/>
          <p:cNvSpPr/>
          <p:nvPr/>
        </p:nvSpPr>
        <p:spPr>
          <a:xfrm>
            <a:off x="8275320" y="4572000"/>
            <a:ext cx="5907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2" name="Text 83"/>
          <p:cNvSpPr/>
          <p:nvPr/>
        </p:nvSpPr>
        <p:spPr>
          <a:xfrm>
            <a:off x="8915400" y="4572000"/>
            <a:ext cx="26481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/api/private/search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3" name="Shape 84"/>
          <p:cNvSpPr/>
          <p:nvPr/>
        </p:nvSpPr>
        <p:spPr>
          <a:xfrm>
            <a:off x="8275320" y="4983480"/>
            <a:ext cx="590760" cy="2890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4" name="Text 85"/>
          <p:cNvSpPr/>
          <p:nvPr/>
        </p:nvSpPr>
        <p:spPr>
          <a:xfrm>
            <a:off x="8275320" y="4983480"/>
            <a:ext cx="5907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5" name="Text 86"/>
          <p:cNvSpPr/>
          <p:nvPr/>
        </p:nvSpPr>
        <p:spPr>
          <a:xfrm>
            <a:off x="8915400" y="4983480"/>
            <a:ext cx="26481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/api/private/invitations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6" name="Shape 87"/>
          <p:cNvSpPr/>
          <p:nvPr/>
        </p:nvSpPr>
        <p:spPr>
          <a:xfrm>
            <a:off x="8275320" y="5394960"/>
            <a:ext cx="590760" cy="289080"/>
          </a:xfrm>
          <a:prstGeom prst="roundRect">
            <a:avLst>
              <a:gd name="adj" fmla="val 18750"/>
            </a:avLst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7" name="Text 88"/>
          <p:cNvSpPr/>
          <p:nvPr/>
        </p:nvSpPr>
        <p:spPr>
          <a:xfrm>
            <a:off x="8275320" y="5394960"/>
            <a:ext cx="5907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GET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8" name="Text 89"/>
          <p:cNvSpPr/>
          <p:nvPr/>
        </p:nvSpPr>
        <p:spPr>
          <a:xfrm>
            <a:off x="8915400" y="5394960"/>
            <a:ext cx="26481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/api/private/notifications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9" name="Shape 90"/>
          <p:cNvSpPr/>
          <p:nvPr/>
        </p:nvSpPr>
        <p:spPr>
          <a:xfrm>
            <a:off x="8275320" y="5806440"/>
            <a:ext cx="590760" cy="289080"/>
          </a:xfrm>
          <a:prstGeom prst="roundRect">
            <a:avLst>
              <a:gd name="adj" fmla="val 18750"/>
            </a:avLst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0" name="Text 91"/>
          <p:cNvSpPr/>
          <p:nvPr/>
        </p:nvSpPr>
        <p:spPr>
          <a:xfrm>
            <a:off x="8275320" y="5806440"/>
            <a:ext cx="5907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PATCH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1" name="Text 92"/>
          <p:cNvSpPr/>
          <p:nvPr/>
        </p:nvSpPr>
        <p:spPr>
          <a:xfrm>
            <a:off x="8915400" y="5806440"/>
            <a:ext cx="264816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/api/private/notifications/:id/read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6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3" name="Text 93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4" name="Text 94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5" name="Text 0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6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Middleware d'authentification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7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8" name="Shape 3"/>
          <p:cNvSpPr/>
          <p:nvPr/>
        </p:nvSpPr>
        <p:spPr>
          <a:xfrm>
            <a:off x="548640" y="1691640"/>
            <a:ext cx="7311600" cy="456840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9" name="Shape 4"/>
          <p:cNvSpPr/>
          <p:nvPr/>
        </p:nvSpPr>
        <p:spPr>
          <a:xfrm>
            <a:off x="777240" y="1874520"/>
            <a:ext cx="133560" cy="13356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0" name="Shape 5"/>
          <p:cNvSpPr/>
          <p:nvPr/>
        </p:nvSpPr>
        <p:spPr>
          <a:xfrm>
            <a:off x="960120" y="1874520"/>
            <a:ext cx="133560" cy="13356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1" name="Shape 6"/>
          <p:cNvSpPr/>
          <p:nvPr/>
        </p:nvSpPr>
        <p:spPr>
          <a:xfrm>
            <a:off x="1143000" y="1874520"/>
            <a:ext cx="133560" cy="13356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2" name="Text 7"/>
          <p:cNvSpPr/>
          <p:nvPr/>
        </p:nvSpPr>
        <p:spPr>
          <a:xfrm>
            <a:off x="1371600" y="1783080"/>
            <a:ext cx="54828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src/middleware.ts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3" name="Text 8"/>
          <p:cNvSpPr/>
          <p:nvPr/>
        </p:nvSpPr>
        <p:spPr>
          <a:xfrm>
            <a:off x="777240" y="224028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export async function middleware(req: NextRequest)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4" name="Text 9"/>
          <p:cNvSpPr/>
          <p:nvPr/>
        </p:nvSpPr>
        <p:spPr>
          <a:xfrm>
            <a:off x="777240" y="245052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{ pathname } = req.nextUrl;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5" name="Text 10"/>
          <p:cNvSpPr/>
          <p:nvPr/>
        </p:nvSpPr>
        <p:spPr>
          <a:xfrm>
            <a:off x="777240" y="266076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const isPublic = pathname.startsWith('/api/public')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6" name="Text 11"/>
          <p:cNvSpPr/>
          <p:nvPr/>
        </p:nvSpPr>
        <p:spPr>
          <a:xfrm>
            <a:off x="777240" y="287136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|| ['/login', '/register'].some(r =&gt; pathname.startsWith(r));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7" name="Text 12"/>
          <p:cNvSpPr/>
          <p:nvPr/>
        </p:nvSpPr>
        <p:spPr>
          <a:xfrm>
            <a:off x="777240" y="308160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if (isPublic) return NextResponse.next();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8" name="Text 13"/>
          <p:cNvSpPr/>
          <p:nvPr/>
        </p:nvSpPr>
        <p:spPr>
          <a:xfrm>
            <a:off x="777240" y="329184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9" name="Text 14"/>
          <p:cNvSpPr/>
          <p:nvPr/>
        </p:nvSpPr>
        <p:spPr>
          <a:xfrm>
            <a:off x="777240" y="350208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const token = req.cookies.get('authToken')?.value;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0" name="Text 15"/>
          <p:cNvSpPr/>
          <p:nvPr/>
        </p:nvSpPr>
        <p:spPr>
          <a:xfrm>
            <a:off x="777240" y="371232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if (!token) return NextResponse.redirect('/login');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1" name="Text 16"/>
          <p:cNvSpPr/>
          <p:nvPr/>
        </p:nvSpPr>
        <p:spPr>
          <a:xfrm>
            <a:off x="777240" y="392292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2" name="Text 17"/>
          <p:cNvSpPr/>
          <p:nvPr/>
        </p:nvSpPr>
        <p:spPr>
          <a:xfrm>
            <a:off x="777240" y="413316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try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3" name="Text 18"/>
          <p:cNvSpPr/>
          <p:nvPr/>
        </p:nvSpPr>
        <p:spPr>
          <a:xfrm>
            <a:off x="777240" y="434340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    const { userId } = await verifyJwt(token);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4" name="Text 19"/>
          <p:cNvSpPr/>
          <p:nvPr/>
        </p:nvSpPr>
        <p:spPr>
          <a:xfrm>
            <a:off x="777240" y="455364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const headers = new Headers(req.headers);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5" name="Text 20"/>
          <p:cNvSpPr/>
          <p:nvPr/>
        </p:nvSpPr>
        <p:spPr>
          <a:xfrm>
            <a:off x="777240" y="476388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headers.set('x-user-id', userId);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6" name="Text 21"/>
          <p:cNvSpPr/>
          <p:nvPr/>
        </p:nvSpPr>
        <p:spPr>
          <a:xfrm>
            <a:off x="777240" y="497448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return NextResponse.next({ request: { headers }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7" name="Text 22"/>
          <p:cNvSpPr/>
          <p:nvPr/>
        </p:nvSpPr>
        <p:spPr>
          <a:xfrm>
            <a:off x="777240" y="518472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} catch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8" name="Text 23"/>
          <p:cNvSpPr/>
          <p:nvPr/>
        </p:nvSpPr>
        <p:spPr>
          <a:xfrm>
            <a:off x="777240" y="539496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return NextResponse.redirect('/login');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9" name="Text 24"/>
          <p:cNvSpPr/>
          <p:nvPr/>
        </p:nvSpPr>
        <p:spPr>
          <a:xfrm>
            <a:off x="777240" y="560520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0" name="Text 25"/>
          <p:cNvSpPr/>
          <p:nvPr/>
        </p:nvSpPr>
        <p:spPr>
          <a:xfrm>
            <a:off x="777240" y="5815440"/>
            <a:ext cx="6945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1" name="Shape 26"/>
          <p:cNvSpPr/>
          <p:nvPr/>
        </p:nvSpPr>
        <p:spPr>
          <a:xfrm>
            <a:off x="8092440" y="1691640"/>
            <a:ext cx="3516840" cy="456840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2" name="Text 27"/>
          <p:cNvSpPr/>
          <p:nvPr/>
        </p:nvSpPr>
        <p:spPr>
          <a:xfrm>
            <a:off x="8275320" y="1783080"/>
            <a:ext cx="31968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Points clés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3" name="Shape 28"/>
          <p:cNvSpPr/>
          <p:nvPr/>
        </p:nvSpPr>
        <p:spPr>
          <a:xfrm>
            <a:off x="8275320" y="2240280"/>
            <a:ext cx="407880" cy="40788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4" name="Text 29"/>
          <p:cNvSpPr/>
          <p:nvPr/>
        </p:nvSpPr>
        <p:spPr>
          <a:xfrm>
            <a:off x="8275320" y="2204280"/>
            <a:ext cx="407880" cy="44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5" name="Text 30"/>
          <p:cNvSpPr/>
          <p:nvPr/>
        </p:nvSpPr>
        <p:spPr>
          <a:xfrm>
            <a:off x="8778240" y="219456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Allow-list pour routes publiques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6" name="Shape 31"/>
          <p:cNvSpPr/>
          <p:nvPr/>
        </p:nvSpPr>
        <p:spPr>
          <a:xfrm>
            <a:off x="8275320" y="2880360"/>
            <a:ext cx="407880" cy="40788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97" name="Text 32"/>
          <p:cNvSpPr/>
          <p:nvPr/>
        </p:nvSpPr>
        <p:spPr>
          <a:xfrm>
            <a:off x="8275320" y="2808360"/>
            <a:ext cx="40788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8" name="Text 33"/>
          <p:cNvSpPr/>
          <p:nvPr/>
        </p:nvSpPr>
        <p:spPr>
          <a:xfrm>
            <a:off x="8778240" y="283464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Cookie HttpOnly authToken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9" name="Shape 34"/>
          <p:cNvSpPr/>
          <p:nvPr/>
        </p:nvSpPr>
        <p:spPr>
          <a:xfrm>
            <a:off x="8275320" y="3520440"/>
            <a:ext cx="407880" cy="40788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0" name="Text 35"/>
          <p:cNvSpPr/>
          <p:nvPr/>
        </p:nvSpPr>
        <p:spPr>
          <a:xfrm>
            <a:off x="8275320" y="352044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✓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1" name="Text 36"/>
          <p:cNvSpPr/>
          <p:nvPr/>
        </p:nvSpPr>
        <p:spPr>
          <a:xfrm>
            <a:off x="8778240" y="347472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Vérification JWT via jose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2" name="Shape 37"/>
          <p:cNvSpPr/>
          <p:nvPr/>
        </p:nvSpPr>
        <p:spPr>
          <a:xfrm>
            <a:off x="8275320" y="4160520"/>
            <a:ext cx="407880" cy="40788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3" name="Text 38"/>
          <p:cNvSpPr/>
          <p:nvPr/>
        </p:nvSpPr>
        <p:spPr>
          <a:xfrm>
            <a:off x="8275320" y="416052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↩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4" name="Text 39"/>
          <p:cNvSpPr/>
          <p:nvPr/>
        </p:nvSpPr>
        <p:spPr>
          <a:xfrm>
            <a:off x="8778240" y="411480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Redirect /login si invalide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5" name="Shape 40"/>
          <p:cNvSpPr/>
          <p:nvPr/>
        </p:nvSpPr>
        <p:spPr>
          <a:xfrm>
            <a:off x="8275320" y="4800600"/>
            <a:ext cx="407880" cy="40788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6" name="Text 41"/>
          <p:cNvSpPr/>
          <p:nvPr/>
        </p:nvSpPr>
        <p:spPr>
          <a:xfrm>
            <a:off x="8275320" y="480060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7" name="Text 42"/>
          <p:cNvSpPr/>
          <p:nvPr/>
        </p:nvSpPr>
        <p:spPr>
          <a:xfrm>
            <a:off x="8778240" y="475488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Injection x-user-id header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8" name="Shape 43"/>
          <p:cNvSpPr/>
          <p:nvPr/>
        </p:nvSpPr>
        <p:spPr>
          <a:xfrm>
            <a:off x="8275320" y="5440680"/>
            <a:ext cx="407880" cy="40788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09" name="Text 44"/>
          <p:cNvSpPr/>
          <p:nvPr/>
        </p:nvSpPr>
        <p:spPr>
          <a:xfrm>
            <a:off x="8275320" y="5224680"/>
            <a:ext cx="407880" cy="83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▣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0" name="Text 45"/>
          <p:cNvSpPr/>
          <p:nvPr/>
        </p:nvSpPr>
        <p:spPr>
          <a:xfrm>
            <a:off x="8778240" y="539496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par défaut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1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12" name="Text 46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3" name="Text 47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39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4" name="Text 0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5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applicative &amp; RGPD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6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17" name="Shape 3"/>
          <p:cNvSpPr/>
          <p:nvPr/>
        </p:nvSpPr>
        <p:spPr>
          <a:xfrm>
            <a:off x="548640" y="1691640"/>
            <a:ext cx="5528520" cy="456840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18" name="Text 4"/>
          <p:cNvSpPr/>
          <p:nvPr/>
        </p:nvSpPr>
        <p:spPr>
          <a:xfrm>
            <a:off x="731520" y="1783080"/>
            <a:ext cx="5025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Mesures en place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9" name="Text 5"/>
          <p:cNvSpPr/>
          <p:nvPr/>
        </p:nvSpPr>
        <p:spPr>
          <a:xfrm>
            <a:off x="777240" y="2194560"/>
            <a:ext cx="36216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0" name="Text 6"/>
          <p:cNvSpPr/>
          <p:nvPr/>
        </p:nvSpPr>
        <p:spPr>
          <a:xfrm>
            <a:off x="1188720" y="2194560"/>
            <a:ext cx="484272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JWT signé (jose) · cookies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HttpOnly · SameSite=Lax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1" name="Text 7"/>
          <p:cNvSpPr/>
          <p:nvPr/>
        </p:nvSpPr>
        <p:spPr>
          <a:xfrm>
            <a:off x="777240" y="2743200"/>
            <a:ext cx="36216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2" name="Text 8"/>
          <p:cNvSpPr/>
          <p:nvPr/>
        </p:nvSpPr>
        <p:spPr>
          <a:xfrm>
            <a:off x="1188720" y="2743200"/>
            <a:ext cx="484272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bcrypt cost 12 sur tous les mots de passe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3" name="Text 9"/>
          <p:cNvSpPr/>
          <p:nvPr/>
        </p:nvSpPr>
        <p:spPr>
          <a:xfrm>
            <a:off x="777240" y="3291840"/>
            <a:ext cx="36216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4" name="Text 10"/>
          <p:cNvSpPr/>
          <p:nvPr/>
        </p:nvSpPr>
        <p:spPr>
          <a:xfrm>
            <a:off x="1188720" y="3291840"/>
            <a:ext cx="484272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Validation Zod systématique des payloads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5" name="Text 11"/>
          <p:cNvSpPr/>
          <p:nvPr/>
        </p:nvSpPr>
        <p:spPr>
          <a:xfrm>
            <a:off x="777240" y="3840480"/>
            <a:ext cx="36216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▣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6" name="Text 12"/>
          <p:cNvSpPr/>
          <p:nvPr/>
        </p:nvSpPr>
        <p:spPr>
          <a:xfrm>
            <a:off x="1188720" y="3840480"/>
            <a:ext cx="484272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OAuth Google avec state cookie anti-CSRF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7" name="Text 13"/>
          <p:cNvSpPr/>
          <p:nvPr/>
        </p:nvSpPr>
        <p:spPr>
          <a:xfrm>
            <a:off x="777240" y="4389120"/>
            <a:ext cx="36216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⊘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8" name="Text 14"/>
          <p:cNvSpPr/>
          <p:nvPr/>
        </p:nvSpPr>
        <p:spPr>
          <a:xfrm>
            <a:off x="1188720" y="4389120"/>
            <a:ext cx="484272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SQL injection bloquée par Prisma (paramétrage)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9" name="Text 15"/>
          <p:cNvSpPr/>
          <p:nvPr/>
        </p:nvSpPr>
        <p:spPr>
          <a:xfrm>
            <a:off x="777240" y="4937760"/>
            <a:ext cx="36216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⌕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0" name="Text 16"/>
          <p:cNvSpPr/>
          <p:nvPr/>
        </p:nvSpPr>
        <p:spPr>
          <a:xfrm>
            <a:off x="1188720" y="4937760"/>
            <a:ext cx="484272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OWASP Top 10 audité — voir securite-rgpd.md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1" name="Text 17"/>
          <p:cNvSpPr/>
          <p:nvPr/>
        </p:nvSpPr>
        <p:spPr>
          <a:xfrm>
            <a:off x="777240" y="5486400"/>
            <a:ext cx="36216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◌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2" name="Text 18"/>
          <p:cNvSpPr/>
          <p:nvPr/>
        </p:nvSpPr>
        <p:spPr>
          <a:xfrm>
            <a:off x="1188720" y="5486400"/>
            <a:ext cx="484272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HTTPS forcé en production via Vercel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3" name="Shape 19"/>
          <p:cNvSpPr/>
          <p:nvPr/>
        </p:nvSpPr>
        <p:spPr>
          <a:xfrm>
            <a:off x="6263640" y="1691640"/>
            <a:ext cx="5528520" cy="456840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4" name="Text 20"/>
          <p:cNvSpPr/>
          <p:nvPr/>
        </p:nvSpPr>
        <p:spPr>
          <a:xfrm>
            <a:off x="6446520" y="1783080"/>
            <a:ext cx="5025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Conformité RGPD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5" name="Text 21"/>
          <p:cNvSpPr/>
          <p:nvPr/>
        </p:nvSpPr>
        <p:spPr>
          <a:xfrm>
            <a:off x="6446520" y="2194560"/>
            <a:ext cx="5025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Données collectées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6" name="Text 22"/>
          <p:cNvSpPr/>
          <p:nvPr/>
        </p:nvSpPr>
        <p:spPr>
          <a:xfrm>
            <a:off x="6446520" y="2468880"/>
            <a:ext cx="520848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Email, nom, date de naissance, contenus publiés. Aucun traitement marketing ; aucune donnée sensible au sens art. 9.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7" name="Text 23"/>
          <p:cNvSpPr/>
          <p:nvPr/>
        </p:nvSpPr>
        <p:spPr>
          <a:xfrm>
            <a:off x="6446520" y="3108960"/>
            <a:ext cx="5025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Droits 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de la 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perso</a:t>
            </a: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nne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8" name="Text 24"/>
          <p:cNvSpPr/>
          <p:nvPr/>
        </p:nvSpPr>
        <p:spPr>
          <a:xfrm>
            <a:off x="6446520" y="3383280"/>
            <a:ext cx="36540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Accès &amp; consultation profil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9" name="Shape 25"/>
          <p:cNvSpPr/>
          <p:nvPr/>
        </p:nvSpPr>
        <p:spPr>
          <a:xfrm>
            <a:off x="10058400" y="3410640"/>
            <a:ext cx="1368000" cy="25236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0" name="Text 26"/>
          <p:cNvSpPr/>
          <p:nvPr/>
        </p:nvSpPr>
        <p:spPr>
          <a:xfrm>
            <a:off x="10058400" y="3410640"/>
            <a:ext cx="13680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1" name="Text 27"/>
          <p:cNvSpPr/>
          <p:nvPr/>
        </p:nvSpPr>
        <p:spPr>
          <a:xfrm>
            <a:off x="6446520" y="3749040"/>
            <a:ext cx="36540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Rectification (settings)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2" name="Shape 28"/>
          <p:cNvSpPr/>
          <p:nvPr/>
        </p:nvSpPr>
        <p:spPr>
          <a:xfrm>
            <a:off x="10058400" y="3776400"/>
            <a:ext cx="1368000" cy="25236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3" name="Text 29"/>
          <p:cNvSpPr/>
          <p:nvPr/>
        </p:nvSpPr>
        <p:spPr>
          <a:xfrm>
            <a:off x="10058400" y="3776400"/>
            <a:ext cx="13680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4" name="Text 30"/>
          <p:cNvSpPr/>
          <p:nvPr/>
        </p:nvSpPr>
        <p:spPr>
          <a:xfrm>
            <a:off x="6446520" y="4114800"/>
            <a:ext cx="36540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Effacement / droit à l'oubli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5" name="Shape 31"/>
          <p:cNvSpPr/>
          <p:nvPr/>
        </p:nvSpPr>
        <p:spPr>
          <a:xfrm>
            <a:off x="10058400" y="4142160"/>
            <a:ext cx="1368000" cy="252360"/>
          </a:xfrm>
          <a:prstGeom prst="roundRect">
            <a:avLst>
              <a:gd name="adj" fmla="val 53571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6" name="Text 32"/>
          <p:cNvSpPr/>
          <p:nvPr/>
        </p:nvSpPr>
        <p:spPr>
          <a:xfrm>
            <a:off x="10058400" y="4142160"/>
            <a:ext cx="13680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7" name="Text 33"/>
          <p:cNvSpPr/>
          <p:nvPr/>
        </p:nvSpPr>
        <p:spPr>
          <a:xfrm>
            <a:off x="6446520" y="4480560"/>
            <a:ext cx="36540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Portabilité (export JSON)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8" name="Shape 34"/>
          <p:cNvSpPr/>
          <p:nvPr/>
        </p:nvSpPr>
        <p:spPr>
          <a:xfrm>
            <a:off x="10058400" y="4507920"/>
            <a:ext cx="1368000" cy="252360"/>
          </a:xfrm>
          <a:prstGeom prst="roundRect">
            <a:avLst>
              <a:gd name="adj" fmla="val 53571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9" name="Text 35"/>
          <p:cNvSpPr/>
          <p:nvPr/>
        </p:nvSpPr>
        <p:spPr>
          <a:xfrm>
            <a:off x="10058400" y="4507920"/>
            <a:ext cx="13680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0" name="Text 36"/>
          <p:cNvSpPr/>
          <p:nvPr/>
        </p:nvSpPr>
        <p:spPr>
          <a:xfrm>
            <a:off x="6446520" y="4846320"/>
            <a:ext cx="36540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Opposition / consentement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1" name="Shape 37"/>
          <p:cNvSpPr/>
          <p:nvPr/>
        </p:nvSpPr>
        <p:spPr>
          <a:xfrm>
            <a:off x="10058400" y="4873680"/>
            <a:ext cx="1368000" cy="252360"/>
          </a:xfrm>
          <a:prstGeom prst="roundRect">
            <a:avLst>
              <a:gd name="adj" fmla="val 53571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52" name="Text 38"/>
          <p:cNvSpPr/>
          <p:nvPr/>
        </p:nvSpPr>
        <p:spPr>
          <a:xfrm>
            <a:off x="10058400" y="4873680"/>
            <a:ext cx="1368000" cy="25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3" name="Text 39"/>
          <p:cNvSpPr/>
          <p:nvPr/>
        </p:nvSpPr>
        <p:spPr>
          <a:xfrm>
            <a:off x="6446520" y="5349240"/>
            <a:ext cx="520848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Roadmap durcissement : rate-limit, headers CSP, sanitization markdown (DOMPurify).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5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5" name="Text 40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6" name="Text 41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7" name="Rectangle 1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920" tIns="45000" rIns="34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58" name="TextBox 2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9" name="TextBox 3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Cheminement d'une requête SQL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0" name="Rectangle 4"/>
          <p:cNvSpPr/>
          <p:nvPr/>
        </p:nvSpPr>
        <p:spPr>
          <a:xfrm>
            <a:off x="548640" y="1691640"/>
            <a:ext cx="7311600" cy="45684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1" name="Oval 5"/>
          <p:cNvSpPr/>
          <p:nvPr/>
        </p:nvSpPr>
        <p:spPr>
          <a:xfrm>
            <a:off x="777240" y="1874520"/>
            <a:ext cx="133560" cy="13356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960" tIns="45000" rIns="669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2" name="Oval 6"/>
          <p:cNvSpPr/>
          <p:nvPr/>
        </p:nvSpPr>
        <p:spPr>
          <a:xfrm>
            <a:off x="960120" y="1874520"/>
            <a:ext cx="133560" cy="13356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960" tIns="45000" rIns="669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3" name="Oval 7"/>
          <p:cNvSpPr/>
          <p:nvPr/>
        </p:nvSpPr>
        <p:spPr>
          <a:xfrm>
            <a:off x="1143000" y="1874520"/>
            <a:ext cx="133560" cy="13356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960" tIns="45000" rIns="669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4" name="TextBox 8"/>
          <p:cNvSpPr/>
          <p:nvPr/>
        </p:nvSpPr>
        <p:spPr>
          <a:xfrm>
            <a:off x="1371600" y="1783080"/>
            <a:ext cx="63972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src/app/api/private/post/[id]/route.ts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5" name="TextBox 9"/>
          <p:cNvSpPr/>
          <p:nvPr/>
        </p:nvSpPr>
        <p:spPr>
          <a:xfrm>
            <a:off x="777240" y="224028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import { db } from '@/lib/db';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6" name="TextBox 10"/>
          <p:cNvSpPr/>
          <p:nvPr/>
        </p:nvSpPr>
        <p:spPr>
          <a:xfrm>
            <a:off x="777240" y="244152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import { getUserIdFromRequest } from '@/lib/server/api/getUserId';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7" name="TextBox 12"/>
          <p:cNvSpPr/>
          <p:nvPr/>
        </p:nvSpPr>
        <p:spPr>
          <a:xfrm>
            <a:off x="777240" y="264276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export async function GET(req: NextRequest, ctx)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8" name="TextBox 13"/>
          <p:cNvSpPr/>
          <p:nvPr/>
        </p:nvSpPr>
        <p:spPr>
          <a:xfrm>
            <a:off x="777240" y="284364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const userId = await getUserIdFromRequest(req);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9" name="TextBox 14"/>
          <p:cNvSpPr/>
          <p:nvPr/>
        </p:nvSpPr>
        <p:spPr>
          <a:xfrm>
            <a:off x="777240" y="304488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if (!userId) return respondError('Unauthorized', 401);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0" name="TextBox 16"/>
          <p:cNvSpPr/>
          <p:nvPr/>
        </p:nvSpPr>
        <p:spPr>
          <a:xfrm>
            <a:off x="777240" y="324612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const { id } = await ctx.params;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1" name="TextBox 18"/>
          <p:cNvSpPr/>
          <p:nvPr/>
        </p:nvSpPr>
        <p:spPr>
          <a:xfrm>
            <a:off x="777240" y="344736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1. Validation entrée — Zod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2" name="TextBox 19"/>
          <p:cNvSpPr/>
          <p:nvPr/>
        </p:nvSpPr>
        <p:spPr>
          <a:xfrm>
            <a:off x="777240" y="364860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const params = z.object({ id: z.string().cuid() }).parse({ id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3" name="TextBox 21"/>
          <p:cNvSpPr/>
          <p:nvPr/>
        </p:nvSpPr>
        <p:spPr>
          <a:xfrm>
            <a:off x="777240" y="384948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2. Query Prisma type-safe → SQL paramétré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4" name="TextBox 22"/>
          <p:cNvSpPr/>
          <p:nvPr/>
        </p:nvSpPr>
        <p:spPr>
          <a:xfrm>
            <a:off x="777240" y="405072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  const post = await db.post.findUnique({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5" name="TextBox 23"/>
          <p:cNvSpPr/>
          <p:nvPr/>
        </p:nvSpPr>
        <p:spPr>
          <a:xfrm>
            <a:off x="777240" y="425196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where: { id: params.id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6" name="TextBox 24"/>
          <p:cNvSpPr/>
          <p:nvPr/>
        </p:nvSpPr>
        <p:spPr>
          <a:xfrm>
            <a:off x="777240" y="445320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include: 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7" name="TextBox 25"/>
          <p:cNvSpPr/>
          <p:nvPr/>
        </p:nvSpPr>
        <p:spPr>
          <a:xfrm>
            <a:off x="777240" y="465444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user:     { select: { id, username, avatar }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8" name="TextBox 26"/>
          <p:cNvSpPr/>
          <p:nvPr/>
        </p:nvSpPr>
        <p:spPr>
          <a:xfrm>
            <a:off x="777240" y="485532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comments: { select: { id, message, datetime }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9" name="TextBox 27"/>
          <p:cNvSpPr/>
          <p:nvPr/>
        </p:nvSpPr>
        <p:spPr>
          <a:xfrm>
            <a:off x="777240" y="505656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reactions: true,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0" name="TextBox 28"/>
          <p:cNvSpPr/>
          <p:nvPr/>
        </p:nvSpPr>
        <p:spPr>
          <a:xfrm>
            <a:off x="777240" y="525780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1" name="TextBox 29"/>
          <p:cNvSpPr/>
          <p:nvPr/>
        </p:nvSpPr>
        <p:spPr>
          <a:xfrm>
            <a:off x="777240" y="545904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  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2" name="TextBox 31"/>
          <p:cNvSpPr/>
          <p:nvPr/>
        </p:nvSpPr>
        <p:spPr>
          <a:xfrm>
            <a:off x="777240" y="566028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// 3. Retour structuré + types inférés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3" name="TextBox 32"/>
          <p:cNvSpPr/>
          <p:nvPr/>
        </p:nvSpPr>
        <p:spPr>
          <a:xfrm>
            <a:off x="777240" y="586116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return respondSuccess(post);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4" name="TextBox 33"/>
          <p:cNvSpPr/>
          <p:nvPr/>
        </p:nvSpPr>
        <p:spPr>
          <a:xfrm>
            <a:off x="777240" y="606240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5" name="Rectangle 34"/>
          <p:cNvSpPr/>
          <p:nvPr/>
        </p:nvSpPr>
        <p:spPr>
          <a:xfrm>
            <a:off x="8092440" y="1691640"/>
            <a:ext cx="3516840" cy="456840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86" name="TextBox 35"/>
          <p:cNvSpPr/>
          <p:nvPr/>
        </p:nvSpPr>
        <p:spPr>
          <a:xfrm>
            <a:off x="8275320" y="1783080"/>
            <a:ext cx="315108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Pipeline en 5 étapes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7" name="Oval 36"/>
          <p:cNvSpPr/>
          <p:nvPr/>
        </p:nvSpPr>
        <p:spPr>
          <a:xfrm>
            <a:off x="8275320" y="2240280"/>
            <a:ext cx="407880" cy="4078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88" name="TextBox 37"/>
          <p:cNvSpPr/>
          <p:nvPr/>
        </p:nvSpPr>
        <p:spPr>
          <a:xfrm>
            <a:off x="8275320" y="224028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9" name="TextBox 38"/>
          <p:cNvSpPr/>
          <p:nvPr/>
        </p:nvSpPr>
        <p:spPr>
          <a:xfrm>
            <a:off x="8814240" y="2302560"/>
            <a:ext cx="26481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Middleware → x-user-id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0" name="Oval 39"/>
          <p:cNvSpPr/>
          <p:nvPr/>
        </p:nvSpPr>
        <p:spPr>
          <a:xfrm>
            <a:off x="8275320" y="2880360"/>
            <a:ext cx="407880" cy="4078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1" name="TextBox 40"/>
          <p:cNvSpPr/>
          <p:nvPr/>
        </p:nvSpPr>
        <p:spPr>
          <a:xfrm>
            <a:off x="8275320" y="288036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2" name="TextBox 41"/>
          <p:cNvSpPr/>
          <p:nvPr/>
        </p:nvSpPr>
        <p:spPr>
          <a:xfrm>
            <a:off x="8814240" y="2978640"/>
            <a:ext cx="26481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 valide l'entrée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3" name="Oval 42"/>
          <p:cNvSpPr/>
          <p:nvPr/>
        </p:nvSpPr>
        <p:spPr>
          <a:xfrm>
            <a:off x="8275320" y="3520440"/>
            <a:ext cx="407880" cy="4078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4" name="TextBox 43"/>
          <p:cNvSpPr/>
          <p:nvPr/>
        </p:nvSpPr>
        <p:spPr>
          <a:xfrm>
            <a:off x="8275320" y="352044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5" name="TextBox 44"/>
          <p:cNvSpPr/>
          <p:nvPr/>
        </p:nvSpPr>
        <p:spPr>
          <a:xfrm>
            <a:off x="8814240" y="3582720"/>
            <a:ext cx="26481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compose le SQL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6" name="Oval 45"/>
          <p:cNvSpPr/>
          <p:nvPr/>
        </p:nvSpPr>
        <p:spPr>
          <a:xfrm>
            <a:off x="8275320" y="4160520"/>
            <a:ext cx="407880" cy="407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7" name="TextBox 46"/>
          <p:cNvSpPr/>
          <p:nvPr/>
        </p:nvSpPr>
        <p:spPr>
          <a:xfrm>
            <a:off x="8275320" y="416052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8" name="TextBox 47"/>
          <p:cNvSpPr/>
          <p:nvPr/>
        </p:nvSpPr>
        <p:spPr>
          <a:xfrm>
            <a:off x="8814240" y="4222800"/>
            <a:ext cx="26481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pg envoie SQL paramétré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9" name="Oval 48"/>
          <p:cNvSpPr/>
          <p:nvPr/>
        </p:nvSpPr>
        <p:spPr>
          <a:xfrm>
            <a:off x="8275320" y="4800600"/>
            <a:ext cx="407880" cy="4078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0" name="TextBox 49"/>
          <p:cNvSpPr/>
          <p:nvPr/>
        </p:nvSpPr>
        <p:spPr>
          <a:xfrm>
            <a:off x="8275320" y="480060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1" name="TextBox 50"/>
          <p:cNvSpPr/>
          <p:nvPr/>
        </p:nvSpPr>
        <p:spPr>
          <a:xfrm>
            <a:off x="8814240" y="4862880"/>
            <a:ext cx="2648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Réponse typée TypeScript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2" name="TextBox 51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3" name="TextBox 52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0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5" name="Rectangle 1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920" tIns="45000" rIns="34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6" name="TextBox 2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7" name="TextBox 3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Requête préparée : pourquoi c'est sûr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8" name="Rectangle 4"/>
          <p:cNvSpPr/>
          <p:nvPr/>
        </p:nvSpPr>
        <p:spPr>
          <a:xfrm>
            <a:off x="548640" y="1691640"/>
            <a:ext cx="5345640" cy="45684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9" name="Rectangle 5"/>
          <p:cNvSpPr/>
          <p:nvPr/>
        </p:nvSpPr>
        <p:spPr>
          <a:xfrm>
            <a:off x="548640" y="1691640"/>
            <a:ext cx="5345640" cy="3621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0" name="TextBox 6"/>
          <p:cNvSpPr/>
          <p:nvPr/>
        </p:nvSpPr>
        <p:spPr>
          <a:xfrm>
            <a:off x="685800" y="1755720"/>
            <a:ext cx="50256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❌  Requête naïve — VULNÉRABLE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1" name="TextBox 7"/>
          <p:cNvSpPr/>
          <p:nvPr/>
        </p:nvSpPr>
        <p:spPr>
          <a:xfrm>
            <a:off x="731520" y="224028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⚠️ N'EST PAS dans notre code, illustration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2" name="TextBox 8"/>
          <p:cNvSpPr/>
          <p:nvPr/>
        </p:nvSpPr>
        <p:spPr>
          <a:xfrm>
            <a:off x="731520" y="251460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3" name="TextBox 9"/>
          <p:cNvSpPr/>
          <p:nvPr/>
        </p:nvSpPr>
        <p:spPr>
          <a:xfrm>
            <a:off x="731520" y="278892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const email = req.body.email;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4" name="TextBox 10"/>
          <p:cNvSpPr/>
          <p:nvPr/>
        </p:nvSpPr>
        <p:spPr>
          <a:xfrm>
            <a:off x="731520" y="306324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5" name="TextBox 11"/>
          <p:cNvSpPr/>
          <p:nvPr/>
        </p:nvSpPr>
        <p:spPr>
          <a:xfrm>
            <a:off x="731520" y="333756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const result = await db.$queryRawUnsafe(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6" name="TextBox 12"/>
          <p:cNvSpPr/>
          <p:nvPr/>
        </p:nvSpPr>
        <p:spPr>
          <a:xfrm>
            <a:off x="731520" y="361188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`SELECT * FROM users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7" name="TextBox 13"/>
          <p:cNvSpPr/>
          <p:nvPr/>
        </p:nvSpPr>
        <p:spPr>
          <a:xfrm>
            <a:off x="731520" y="388620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   WHERE email = '${email}'`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8" name="TextBox 14"/>
          <p:cNvSpPr/>
          <p:nvPr/>
        </p:nvSpPr>
        <p:spPr>
          <a:xfrm>
            <a:off x="731520" y="416052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9" name="TextBox 15"/>
          <p:cNvSpPr/>
          <p:nvPr/>
        </p:nvSpPr>
        <p:spPr>
          <a:xfrm>
            <a:off x="731520" y="443484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0" name="TextBox 16"/>
          <p:cNvSpPr/>
          <p:nvPr/>
        </p:nvSpPr>
        <p:spPr>
          <a:xfrm>
            <a:off x="731520" y="470916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Si email = "x' OR '1'='1"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1" name="TextBox 17"/>
          <p:cNvSpPr/>
          <p:nvPr/>
        </p:nvSpPr>
        <p:spPr>
          <a:xfrm>
            <a:off x="731520" y="498348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// → SELECT * FROM users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2" name="TextBox 18"/>
          <p:cNvSpPr/>
          <p:nvPr/>
        </p:nvSpPr>
        <p:spPr>
          <a:xfrm>
            <a:off x="731520" y="525780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//   WHERE email = 'x' OR '1'='1'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3" name="TextBox 19"/>
          <p:cNvSpPr/>
          <p:nvPr/>
        </p:nvSpPr>
        <p:spPr>
          <a:xfrm>
            <a:off x="731520" y="553212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</a:rPr>
              <a:t>// → renvoie TOUS les utilisateurs ☠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4" name="Rectangle 20"/>
          <p:cNvSpPr/>
          <p:nvPr/>
        </p:nvSpPr>
        <p:spPr>
          <a:xfrm>
            <a:off x="6080760" y="1691640"/>
            <a:ext cx="5345640" cy="45684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5" name="Rectangle 21"/>
          <p:cNvSpPr/>
          <p:nvPr/>
        </p:nvSpPr>
        <p:spPr>
          <a:xfrm>
            <a:off x="6080760" y="1691640"/>
            <a:ext cx="5345640" cy="3621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6" name="TextBox 22"/>
          <p:cNvSpPr/>
          <p:nvPr/>
        </p:nvSpPr>
        <p:spPr>
          <a:xfrm>
            <a:off x="6217920" y="1755720"/>
            <a:ext cx="50256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✓  Prisma — PROTÉGÉ par défaut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7" name="TextBox 23"/>
          <p:cNvSpPr/>
          <p:nvPr/>
        </p:nvSpPr>
        <p:spPr>
          <a:xfrm>
            <a:off x="6263640" y="224028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✅ Le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pattern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utilisé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partout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dans le </a:t>
            </a: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projet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8" name="TextBox 24"/>
          <p:cNvSpPr/>
          <p:nvPr/>
        </p:nvSpPr>
        <p:spPr>
          <a:xfrm>
            <a:off x="6263640" y="251460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9" name="TextBox 25"/>
          <p:cNvSpPr/>
          <p:nvPr/>
        </p:nvSpPr>
        <p:spPr>
          <a:xfrm>
            <a:off x="6263640" y="278892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const email = req.body.email;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0" name="TextBox 26"/>
          <p:cNvSpPr/>
          <p:nvPr/>
        </p:nvSpPr>
        <p:spPr>
          <a:xfrm>
            <a:off x="6263640" y="306324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1" name="TextBox 27"/>
          <p:cNvSpPr/>
          <p:nvPr/>
        </p:nvSpPr>
        <p:spPr>
          <a:xfrm>
            <a:off x="6263640" y="333756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const user = await db.user.findUnique({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2" name="TextBox 28"/>
          <p:cNvSpPr/>
          <p:nvPr/>
        </p:nvSpPr>
        <p:spPr>
          <a:xfrm>
            <a:off x="6263640" y="361188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where: { email },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3" name="TextBox 29"/>
          <p:cNvSpPr/>
          <p:nvPr/>
        </p:nvSpPr>
        <p:spPr>
          <a:xfrm>
            <a:off x="6263640" y="388620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});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4" name="TextBox 30"/>
          <p:cNvSpPr/>
          <p:nvPr/>
        </p:nvSpPr>
        <p:spPr>
          <a:xfrm>
            <a:off x="6263640" y="416052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5" name="TextBox 31"/>
          <p:cNvSpPr/>
          <p:nvPr/>
        </p:nvSpPr>
        <p:spPr>
          <a:xfrm>
            <a:off x="6263640" y="443484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 Prisma envoie au driver pg 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6" name="TextBox 32"/>
          <p:cNvSpPr/>
          <p:nvPr/>
        </p:nvSpPr>
        <p:spPr>
          <a:xfrm>
            <a:off x="6263640" y="470916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  SELECT * FROM users WHERE email = $1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7" name="TextBox 33"/>
          <p:cNvSpPr/>
          <p:nvPr/>
        </p:nvSpPr>
        <p:spPr>
          <a:xfrm>
            <a:off x="6263640" y="498348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  avec params = ['x' OR ''1''=''1']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8" name="TextBox 34"/>
          <p:cNvSpPr/>
          <p:nvPr/>
        </p:nvSpPr>
        <p:spPr>
          <a:xfrm>
            <a:off x="6263640" y="525780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//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9" name="TextBox 35"/>
          <p:cNvSpPr/>
          <p:nvPr/>
        </p:nvSpPr>
        <p:spPr>
          <a:xfrm>
            <a:off x="6263640" y="553212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PostgreSQL traite $1 comme STRING littérale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0" name="TextBox 36"/>
          <p:cNvSpPr/>
          <p:nvPr/>
        </p:nvSpPr>
        <p:spPr>
          <a:xfrm>
            <a:off x="6263640" y="5806440"/>
            <a:ext cx="507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// → 0 ligne renvoyée 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1" name="TextBox 37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2" name="TextBox 38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4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4" name="Rectangle 1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920" tIns="45000" rIns="34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5" name="TextBox 2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04 · DÉVELOPPEMENT · 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6" name="TextBox 3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Anti-SQLi : défense en profondeur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7" name="Rectangle 4"/>
          <p:cNvSpPr/>
          <p:nvPr/>
        </p:nvSpPr>
        <p:spPr>
          <a:xfrm>
            <a:off x="548640" y="1691640"/>
            <a:ext cx="7311600" cy="8650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8" name="Rectangle 5"/>
          <p:cNvSpPr/>
          <p:nvPr/>
        </p:nvSpPr>
        <p:spPr>
          <a:xfrm>
            <a:off x="548640" y="1691640"/>
            <a:ext cx="106200" cy="865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3280" tIns="45000" rIns="532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9" name="TextBox 6"/>
          <p:cNvSpPr/>
          <p:nvPr/>
        </p:nvSpPr>
        <p:spPr>
          <a:xfrm>
            <a:off x="822960" y="1783080"/>
            <a:ext cx="453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1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0" name="TextBox 7"/>
          <p:cNvSpPr/>
          <p:nvPr/>
        </p:nvSpPr>
        <p:spPr>
          <a:xfrm>
            <a:off x="1417320" y="1783080"/>
            <a:ext cx="22824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1" name="TextBox 8"/>
          <p:cNvSpPr/>
          <p:nvPr/>
        </p:nvSpPr>
        <p:spPr>
          <a:xfrm>
            <a:off x="1417320" y="2057400"/>
            <a:ext cx="5025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Validation type + format avant tout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2" name="TextBox 9"/>
          <p:cNvSpPr/>
          <p:nvPr/>
        </p:nvSpPr>
        <p:spPr>
          <a:xfrm>
            <a:off x="4718880" y="2286000"/>
            <a:ext cx="210204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z.string().email().min(6)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3" name="Rectangle 10"/>
          <p:cNvSpPr/>
          <p:nvPr/>
        </p:nvSpPr>
        <p:spPr>
          <a:xfrm>
            <a:off x="548640" y="2743200"/>
            <a:ext cx="7311600" cy="8650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4" name="Rectangle 11"/>
          <p:cNvSpPr/>
          <p:nvPr/>
        </p:nvSpPr>
        <p:spPr>
          <a:xfrm>
            <a:off x="548640" y="2743200"/>
            <a:ext cx="106200" cy="8650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3280" tIns="45000" rIns="532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5" name="TextBox 12"/>
          <p:cNvSpPr/>
          <p:nvPr/>
        </p:nvSpPr>
        <p:spPr>
          <a:xfrm>
            <a:off x="822960" y="2834640"/>
            <a:ext cx="453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2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6" name="TextBox 13"/>
          <p:cNvSpPr/>
          <p:nvPr/>
        </p:nvSpPr>
        <p:spPr>
          <a:xfrm>
            <a:off x="1417320" y="2834640"/>
            <a:ext cx="22824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7" name="TextBox 14"/>
          <p:cNvSpPr/>
          <p:nvPr/>
        </p:nvSpPr>
        <p:spPr>
          <a:xfrm>
            <a:off x="1417320" y="3108960"/>
            <a:ext cx="5025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Compose un SQL paramétré (jamais de concat)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8" name="TextBox 15"/>
          <p:cNvSpPr/>
          <p:nvPr/>
        </p:nvSpPr>
        <p:spPr>
          <a:xfrm>
            <a:off x="4665960" y="3276000"/>
            <a:ext cx="310536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db.user.findUnique({ where: { email } })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9" name="Rectangle 16"/>
          <p:cNvSpPr/>
          <p:nvPr/>
        </p:nvSpPr>
        <p:spPr>
          <a:xfrm>
            <a:off x="548640" y="3794760"/>
            <a:ext cx="7311600" cy="8650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0" name="Rectangle 17"/>
          <p:cNvSpPr/>
          <p:nvPr/>
        </p:nvSpPr>
        <p:spPr>
          <a:xfrm>
            <a:off x="548640" y="3794760"/>
            <a:ext cx="106200" cy="8650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3280" tIns="45000" rIns="532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1" name="TextBox 18"/>
          <p:cNvSpPr/>
          <p:nvPr/>
        </p:nvSpPr>
        <p:spPr>
          <a:xfrm>
            <a:off x="822960" y="3886200"/>
            <a:ext cx="453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3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2" name="TextBox 19"/>
          <p:cNvSpPr/>
          <p:nvPr/>
        </p:nvSpPr>
        <p:spPr>
          <a:xfrm>
            <a:off x="1417320" y="3886200"/>
            <a:ext cx="22824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DRIVER PG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3" name="TextBox 20"/>
          <p:cNvSpPr/>
          <p:nvPr/>
        </p:nvSpPr>
        <p:spPr>
          <a:xfrm>
            <a:off x="1417320" y="4160520"/>
            <a:ext cx="5025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Sépare query texte + array de params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4" name="TextBox 21"/>
          <p:cNvSpPr/>
          <p:nvPr/>
        </p:nvSpPr>
        <p:spPr>
          <a:xfrm>
            <a:off x="4699440" y="4333680"/>
            <a:ext cx="242208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PREPARE → EXECUTE($1, $2, ...)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5" name="Rectangle 22"/>
          <p:cNvSpPr/>
          <p:nvPr/>
        </p:nvSpPr>
        <p:spPr>
          <a:xfrm>
            <a:off x="548640" y="4846320"/>
            <a:ext cx="7311600" cy="8650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6" name="Rectangle 23"/>
          <p:cNvSpPr/>
          <p:nvPr/>
        </p:nvSpPr>
        <p:spPr>
          <a:xfrm>
            <a:off x="548640" y="4846320"/>
            <a:ext cx="106200" cy="865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3280" tIns="45000" rIns="532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7" name="TextBox 24"/>
          <p:cNvSpPr/>
          <p:nvPr/>
        </p:nvSpPr>
        <p:spPr>
          <a:xfrm>
            <a:off x="822960" y="4937760"/>
            <a:ext cx="453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4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8" name="TextBox 25"/>
          <p:cNvSpPr/>
          <p:nvPr/>
        </p:nvSpPr>
        <p:spPr>
          <a:xfrm>
            <a:off x="1417320" y="4937760"/>
            <a:ext cx="22824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POSTGRES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9" name="TextBox 26"/>
          <p:cNvSpPr/>
          <p:nvPr/>
        </p:nvSpPr>
        <p:spPr>
          <a:xfrm>
            <a:off x="1417320" y="5212080"/>
            <a:ext cx="5025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Traite chaque param comme littéral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0" name="TextBox 27"/>
          <p:cNvSpPr/>
          <p:nvPr/>
        </p:nvSpPr>
        <p:spPr>
          <a:xfrm>
            <a:off x="4721040" y="5421240"/>
            <a:ext cx="401976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WHERE email = $1   (binding)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1" name="Rectangle 28"/>
          <p:cNvSpPr/>
          <p:nvPr/>
        </p:nvSpPr>
        <p:spPr>
          <a:xfrm>
            <a:off x="8092440" y="1691640"/>
            <a:ext cx="3516840" cy="456840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2" name="TextBox 29"/>
          <p:cNvSpPr/>
          <p:nvPr/>
        </p:nvSpPr>
        <p:spPr>
          <a:xfrm>
            <a:off x="8275320" y="1783080"/>
            <a:ext cx="315108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Payload attaque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3" name="Oval 30"/>
          <p:cNvSpPr/>
          <p:nvPr/>
        </p:nvSpPr>
        <p:spPr>
          <a:xfrm>
            <a:off x="8275320" y="2240280"/>
            <a:ext cx="407880" cy="4078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4" name="TextBox 31"/>
          <p:cNvSpPr/>
          <p:nvPr/>
        </p:nvSpPr>
        <p:spPr>
          <a:xfrm>
            <a:off x="8275320" y="224028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5" name="TextBox 32"/>
          <p:cNvSpPr/>
          <p:nvPr/>
        </p:nvSpPr>
        <p:spPr>
          <a:xfrm>
            <a:off x="8814240" y="2302560"/>
            <a:ext cx="26481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' OR 1=1-- envoyé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6" name="Oval 33"/>
          <p:cNvSpPr/>
          <p:nvPr/>
        </p:nvSpPr>
        <p:spPr>
          <a:xfrm>
            <a:off x="8275320" y="2880360"/>
            <a:ext cx="407880" cy="4078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7" name="TextBox 34"/>
          <p:cNvSpPr/>
          <p:nvPr/>
        </p:nvSpPr>
        <p:spPr>
          <a:xfrm>
            <a:off x="8275320" y="288036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8" name="TextBox 35"/>
          <p:cNvSpPr/>
          <p:nvPr/>
        </p:nvSpPr>
        <p:spPr>
          <a:xfrm>
            <a:off x="8814240" y="2978640"/>
            <a:ext cx="26481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Zod : pas un email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9" name="Oval 36"/>
          <p:cNvSpPr/>
          <p:nvPr/>
        </p:nvSpPr>
        <p:spPr>
          <a:xfrm>
            <a:off x="8275320" y="3520440"/>
            <a:ext cx="407880" cy="4078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0" name="TextBox 37"/>
          <p:cNvSpPr/>
          <p:nvPr/>
        </p:nvSpPr>
        <p:spPr>
          <a:xfrm>
            <a:off x="8275320" y="352044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1" name="TextBox 38"/>
          <p:cNvSpPr/>
          <p:nvPr/>
        </p:nvSpPr>
        <p:spPr>
          <a:xfrm>
            <a:off x="8814240" y="3582720"/>
            <a:ext cx="26481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: paramètre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2" name="Oval 39"/>
          <p:cNvSpPr/>
          <p:nvPr/>
        </p:nvSpPr>
        <p:spPr>
          <a:xfrm>
            <a:off x="8275320" y="4160520"/>
            <a:ext cx="407880" cy="4078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3" name="TextBox 40"/>
          <p:cNvSpPr/>
          <p:nvPr/>
        </p:nvSpPr>
        <p:spPr>
          <a:xfrm>
            <a:off x="8275320" y="416052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4" name="TextBox 41"/>
          <p:cNvSpPr/>
          <p:nvPr/>
        </p:nvSpPr>
        <p:spPr>
          <a:xfrm>
            <a:off x="8814240" y="4222800"/>
            <a:ext cx="26481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Driver : binding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5" name="Oval 42"/>
          <p:cNvSpPr/>
          <p:nvPr/>
        </p:nvSpPr>
        <p:spPr>
          <a:xfrm>
            <a:off x="8275320" y="4800600"/>
            <a:ext cx="407880" cy="407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6" name="TextBox 43"/>
          <p:cNvSpPr/>
          <p:nvPr/>
        </p:nvSpPr>
        <p:spPr>
          <a:xfrm>
            <a:off x="8275320" y="480060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7" name="TextBox 44"/>
          <p:cNvSpPr/>
          <p:nvPr/>
        </p:nvSpPr>
        <p:spPr>
          <a:xfrm>
            <a:off x="8814240" y="4898880"/>
            <a:ext cx="26481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PG : 0 résultat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8" name="TextBox 45"/>
          <p:cNvSpPr/>
          <p:nvPr/>
        </p:nvSpPr>
        <p:spPr>
          <a:xfrm>
            <a:off x="548640" y="598932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OWASP Top 10 — A03:2021 Injection · neutralisée structurellement par 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9" name="TextBox 46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0" name="TextBox 47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9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2" name="Text 0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3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Stratégie de tests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4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95" name="Shape 3"/>
          <p:cNvSpPr/>
          <p:nvPr/>
        </p:nvSpPr>
        <p:spPr>
          <a:xfrm>
            <a:off x="2790000" y="1600200"/>
            <a:ext cx="1242360" cy="949680"/>
          </a:xfrm>
          <a:prstGeom prst="rect">
            <a:avLst/>
          </a:prstGeom>
          <a:solidFill>
            <a:srgbClr val="EF4444">
              <a:alpha val="4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96" name="Text 4"/>
          <p:cNvSpPr/>
          <p:nvPr/>
        </p:nvSpPr>
        <p:spPr>
          <a:xfrm>
            <a:off x="2790000" y="1600200"/>
            <a:ext cx="1242360" cy="94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E2E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7" name="Shape 5"/>
          <p:cNvSpPr/>
          <p:nvPr/>
        </p:nvSpPr>
        <p:spPr>
          <a:xfrm>
            <a:off x="2166840" y="2553840"/>
            <a:ext cx="2488320" cy="1331280"/>
          </a:xfrm>
          <a:prstGeom prst="rect">
            <a:avLst/>
          </a:prstGeom>
          <a:solidFill>
            <a:srgbClr val="F59E0B">
              <a:alpha val="4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98" name="Text 6"/>
          <p:cNvSpPr/>
          <p:nvPr/>
        </p:nvSpPr>
        <p:spPr>
          <a:xfrm>
            <a:off x="2166840" y="2553840"/>
            <a:ext cx="2488320" cy="13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d'intégration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9" name="Shape 7"/>
          <p:cNvSpPr/>
          <p:nvPr/>
        </p:nvSpPr>
        <p:spPr>
          <a:xfrm>
            <a:off x="1336320" y="3888720"/>
            <a:ext cx="4149360" cy="1522080"/>
          </a:xfrm>
          <a:prstGeom prst="rect">
            <a:avLst/>
          </a:prstGeom>
          <a:solidFill>
            <a:srgbClr val="10B981">
              <a:alpha val="4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0" name="Text 8"/>
          <p:cNvSpPr/>
          <p:nvPr/>
        </p:nvSpPr>
        <p:spPr>
          <a:xfrm>
            <a:off x="1336320" y="3888720"/>
            <a:ext cx="4149360" cy="152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unitaires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1" name="Shape 9"/>
          <p:cNvSpPr/>
          <p:nvPr/>
        </p:nvSpPr>
        <p:spPr>
          <a:xfrm>
            <a:off x="6919200" y="1387080"/>
            <a:ext cx="3885480" cy="4001400"/>
          </a:xfrm>
          <a:prstGeom prst="roundRect">
            <a:avLst>
              <a:gd name="adj" fmla="val 16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2" name="Text 10"/>
          <p:cNvSpPr/>
          <p:nvPr/>
        </p:nvSpPr>
        <p:spPr>
          <a:xfrm>
            <a:off x="7077960" y="1468800"/>
            <a:ext cx="356796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Pyramide adoptée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3" name="Shape 11"/>
          <p:cNvSpPr/>
          <p:nvPr/>
        </p:nvSpPr>
        <p:spPr>
          <a:xfrm>
            <a:off x="7077960" y="1877400"/>
            <a:ext cx="75960" cy="732240"/>
          </a:xfrm>
          <a:prstGeom prst="rect">
            <a:avLst/>
          </a:prstGeom>
          <a:solidFill>
            <a:srgbClr val="EF444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8160" tIns="45000" rIns="381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4" name="Text 12"/>
          <p:cNvSpPr/>
          <p:nvPr/>
        </p:nvSpPr>
        <p:spPr>
          <a:xfrm>
            <a:off x="7236720" y="1877400"/>
            <a:ext cx="237744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E2E (Playwright)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5" name="Shape 13"/>
          <p:cNvSpPr/>
          <p:nvPr/>
        </p:nvSpPr>
        <p:spPr>
          <a:xfrm>
            <a:off x="9657000" y="1918440"/>
            <a:ext cx="988920" cy="241920"/>
          </a:xfrm>
          <a:prstGeom prst="roundRect">
            <a:avLst>
              <a:gd name="adj" fmla="val 50000"/>
            </a:avLst>
          </a:prstGeom>
          <a:solidFill>
            <a:srgbClr val="EF4444">
              <a:alpha val="25000"/>
            </a:srgbClr>
          </a:solidFill>
          <a:ln w="9525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6" name="Text 14"/>
          <p:cNvSpPr/>
          <p:nvPr/>
        </p:nvSpPr>
        <p:spPr>
          <a:xfrm>
            <a:off x="9657000" y="1918440"/>
            <a:ext cx="988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Roadmap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7" name="Text 15"/>
          <p:cNvSpPr/>
          <p:nvPr/>
        </p:nvSpPr>
        <p:spPr>
          <a:xfrm>
            <a:off x="7236720" y="2204280"/>
            <a:ext cx="340920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Parcours critiques : inscription, post, chat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8" name="Shape 16"/>
          <p:cNvSpPr/>
          <p:nvPr/>
        </p:nvSpPr>
        <p:spPr>
          <a:xfrm>
            <a:off x="7077960" y="2694600"/>
            <a:ext cx="75960" cy="73224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8160" tIns="45000" rIns="381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9" name="Text 17"/>
          <p:cNvSpPr/>
          <p:nvPr/>
        </p:nvSpPr>
        <p:spPr>
          <a:xfrm>
            <a:off x="7236720" y="2694600"/>
            <a:ext cx="237744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Intégration API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0" name="Shape 18"/>
          <p:cNvSpPr/>
          <p:nvPr/>
        </p:nvSpPr>
        <p:spPr>
          <a:xfrm>
            <a:off x="9657000" y="2735640"/>
            <a:ext cx="988920" cy="241920"/>
          </a:xfrm>
          <a:prstGeom prst="roundRect">
            <a:avLst>
              <a:gd name="adj" fmla="val 50000"/>
            </a:avLst>
          </a:prstGeom>
          <a:solidFill>
            <a:srgbClr val="F59E0B">
              <a:alpha val="25000"/>
            </a:srgbClr>
          </a:solidFill>
          <a:ln w="9525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1" name="Text 19"/>
          <p:cNvSpPr/>
          <p:nvPr/>
        </p:nvSpPr>
        <p:spPr>
          <a:xfrm>
            <a:off x="9657000" y="2735640"/>
            <a:ext cx="988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En place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2" name="Text 20"/>
          <p:cNvSpPr/>
          <p:nvPr/>
        </p:nvSpPr>
        <p:spPr>
          <a:xfrm>
            <a:off x="7236720" y="3021480"/>
            <a:ext cx="340920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Jest + ts-jest sur /api/auth (authentification)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3" name="Shape 21"/>
          <p:cNvSpPr/>
          <p:nvPr/>
        </p:nvSpPr>
        <p:spPr>
          <a:xfrm>
            <a:off x="7077960" y="3512160"/>
            <a:ext cx="75960" cy="73224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8160" tIns="45000" rIns="381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4" name="Text 22"/>
          <p:cNvSpPr/>
          <p:nvPr/>
        </p:nvSpPr>
        <p:spPr>
          <a:xfrm>
            <a:off x="7236720" y="3512160"/>
            <a:ext cx="237744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Unitaires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5" name="Shape 23"/>
          <p:cNvSpPr/>
          <p:nvPr/>
        </p:nvSpPr>
        <p:spPr>
          <a:xfrm>
            <a:off x="9657000" y="3552840"/>
            <a:ext cx="988920" cy="24192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6" name="Text 24"/>
          <p:cNvSpPr/>
          <p:nvPr/>
        </p:nvSpPr>
        <p:spPr>
          <a:xfrm>
            <a:off x="9657000" y="3552840"/>
            <a:ext cx="988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 place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7" name="Text 25"/>
          <p:cNvSpPr/>
          <p:nvPr/>
        </p:nvSpPr>
        <p:spPr>
          <a:xfrm>
            <a:off x="7236720" y="3839040"/>
            <a:ext cx="340920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Helpers, validators Zod, hashing, JWT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8" name="Shape 26"/>
          <p:cNvSpPr/>
          <p:nvPr/>
        </p:nvSpPr>
        <p:spPr>
          <a:xfrm>
            <a:off x="7077960" y="4329360"/>
            <a:ext cx="75960" cy="73224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8160" tIns="45000" rIns="381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9" name="Text 27"/>
          <p:cNvSpPr/>
          <p:nvPr/>
        </p:nvSpPr>
        <p:spPr>
          <a:xfrm>
            <a:off x="7236720" y="4329360"/>
            <a:ext cx="237744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Lint &amp; types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0" name="Shape 28"/>
          <p:cNvSpPr/>
          <p:nvPr/>
        </p:nvSpPr>
        <p:spPr>
          <a:xfrm>
            <a:off x="9657000" y="4370040"/>
            <a:ext cx="988920" cy="24192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21" name="Text 29"/>
          <p:cNvSpPr/>
          <p:nvPr/>
        </p:nvSpPr>
        <p:spPr>
          <a:xfrm>
            <a:off x="9657000" y="4370040"/>
            <a:ext cx="9889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CI bloquant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2" name="Text 30"/>
          <p:cNvSpPr/>
          <p:nvPr/>
        </p:nvSpPr>
        <p:spPr>
          <a:xfrm>
            <a:off x="7236720" y="4656240"/>
            <a:ext cx="340920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ESLint + TypeScript strict, prisma generate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3" name="Shape 31"/>
          <p:cNvSpPr/>
          <p:nvPr/>
        </p:nvSpPr>
        <p:spPr>
          <a:xfrm>
            <a:off x="548640" y="5577840"/>
            <a:ext cx="11060640" cy="682200"/>
          </a:xfrm>
          <a:prstGeom prst="roundRect">
            <a:avLst>
              <a:gd name="adj" fmla="val 10667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24" name="Text 32"/>
          <p:cNvSpPr/>
          <p:nvPr/>
        </p:nvSpPr>
        <p:spPr>
          <a:xfrm>
            <a:off x="777240" y="5623560"/>
            <a:ext cx="1060344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Coverage cible : </a:t>
            </a: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80% sur les modules critiques (auth, chat, persistence). </a:t>
            </a: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Jeux d'essai documentés dans tests-strategy.md.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2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26" name="Text 33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7" name="Text 34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8" name="Text 0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9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Pipeline CI/CD GitHub Actions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0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1" name="Shape 3"/>
          <p:cNvSpPr/>
          <p:nvPr/>
        </p:nvSpPr>
        <p:spPr>
          <a:xfrm>
            <a:off x="434520" y="2194560"/>
            <a:ext cx="1368000" cy="21909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2" name="Shape 4"/>
          <p:cNvSpPr/>
          <p:nvPr/>
        </p:nvSpPr>
        <p:spPr>
          <a:xfrm>
            <a:off x="800280" y="2423160"/>
            <a:ext cx="636480" cy="636480"/>
          </a:xfrm>
          <a:prstGeom prst="ellipse">
            <a:avLst/>
          </a:prstGeom>
          <a:solidFill>
            <a:srgbClr val="A1A1AA">
              <a:alpha val="30000"/>
            </a:srgbClr>
          </a:solidFill>
          <a:ln w="19050">
            <a:solidFill>
              <a:srgbClr val="A1A1A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3" name="Text 5"/>
          <p:cNvSpPr/>
          <p:nvPr/>
        </p:nvSpPr>
        <p:spPr>
          <a:xfrm>
            <a:off x="800280" y="2315160"/>
            <a:ext cx="636480" cy="80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↗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4" name="Text 6"/>
          <p:cNvSpPr/>
          <p:nvPr/>
        </p:nvSpPr>
        <p:spPr>
          <a:xfrm>
            <a:off x="480240" y="3154680"/>
            <a:ext cx="127656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Push / PR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5" name="Text 7"/>
          <p:cNvSpPr/>
          <p:nvPr/>
        </p:nvSpPr>
        <p:spPr>
          <a:xfrm>
            <a:off x="480240" y="3520440"/>
            <a:ext cx="1276560" cy="77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main · feature-*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6" name="Shape 8"/>
          <p:cNvSpPr/>
          <p:nvPr/>
        </p:nvSpPr>
        <p:spPr>
          <a:xfrm>
            <a:off x="180576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7" name="Shape 9"/>
          <p:cNvSpPr/>
          <p:nvPr/>
        </p:nvSpPr>
        <p:spPr>
          <a:xfrm>
            <a:off x="1851840" y="2194560"/>
            <a:ext cx="1368000" cy="21909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8" name="Shape 10"/>
          <p:cNvSpPr/>
          <p:nvPr/>
        </p:nvSpPr>
        <p:spPr>
          <a:xfrm>
            <a:off x="2217600" y="2423160"/>
            <a:ext cx="636480" cy="6364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39" name="Text 11"/>
          <p:cNvSpPr/>
          <p:nvPr/>
        </p:nvSpPr>
        <p:spPr>
          <a:xfrm>
            <a:off x="2217600" y="2351160"/>
            <a:ext cx="636480" cy="70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0" name="Text 12"/>
          <p:cNvSpPr/>
          <p:nvPr/>
        </p:nvSpPr>
        <p:spPr>
          <a:xfrm>
            <a:off x="1897560" y="3154680"/>
            <a:ext cx="127656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Checkout &amp; Setup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1" name="Text 13"/>
          <p:cNvSpPr/>
          <p:nvPr/>
        </p:nvSpPr>
        <p:spPr>
          <a:xfrm>
            <a:off x="1897560" y="3520440"/>
            <a:ext cx="1276560" cy="77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actions/checkout · setup-bun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2" name="Shape 14"/>
          <p:cNvSpPr/>
          <p:nvPr/>
        </p:nvSpPr>
        <p:spPr>
          <a:xfrm>
            <a:off x="322308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3" name="Shape 15"/>
          <p:cNvSpPr/>
          <p:nvPr/>
        </p:nvSpPr>
        <p:spPr>
          <a:xfrm>
            <a:off x="3269160" y="2194560"/>
            <a:ext cx="1368000" cy="21909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4" name="Shape 16"/>
          <p:cNvSpPr/>
          <p:nvPr/>
        </p:nvSpPr>
        <p:spPr>
          <a:xfrm>
            <a:off x="3634920" y="2423160"/>
            <a:ext cx="636480" cy="63648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5" name="Text 17"/>
          <p:cNvSpPr/>
          <p:nvPr/>
        </p:nvSpPr>
        <p:spPr>
          <a:xfrm>
            <a:off x="3634920" y="2315160"/>
            <a:ext cx="63648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6" name="Text 18"/>
          <p:cNvSpPr/>
          <p:nvPr/>
        </p:nvSpPr>
        <p:spPr>
          <a:xfrm>
            <a:off x="3314880" y="3154680"/>
            <a:ext cx="127656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Install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7" name="Text 19"/>
          <p:cNvSpPr/>
          <p:nvPr/>
        </p:nvSpPr>
        <p:spPr>
          <a:xfrm>
            <a:off x="3314880" y="3520440"/>
            <a:ext cx="1276560" cy="77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install --frozen-lockfile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8" name="Shape 20"/>
          <p:cNvSpPr/>
          <p:nvPr/>
        </p:nvSpPr>
        <p:spPr>
          <a:xfrm>
            <a:off x="464040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49" name="Shape 21"/>
          <p:cNvSpPr/>
          <p:nvPr/>
        </p:nvSpPr>
        <p:spPr>
          <a:xfrm>
            <a:off x="4686480" y="2194560"/>
            <a:ext cx="1368000" cy="21909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0" name="Shape 22"/>
          <p:cNvSpPr/>
          <p:nvPr/>
        </p:nvSpPr>
        <p:spPr>
          <a:xfrm>
            <a:off x="5052240" y="2423160"/>
            <a:ext cx="636480" cy="63648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1" name="Text 23"/>
          <p:cNvSpPr/>
          <p:nvPr/>
        </p:nvSpPr>
        <p:spPr>
          <a:xfrm>
            <a:off x="5052240" y="2315160"/>
            <a:ext cx="636480" cy="80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2" name="Text 24"/>
          <p:cNvSpPr/>
          <p:nvPr/>
        </p:nvSpPr>
        <p:spPr>
          <a:xfrm>
            <a:off x="4732200" y="3154680"/>
            <a:ext cx="127656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generate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3" name="Text 25"/>
          <p:cNvSpPr/>
          <p:nvPr/>
        </p:nvSpPr>
        <p:spPr>
          <a:xfrm>
            <a:off x="4732200" y="3520440"/>
            <a:ext cx="1276560" cy="77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bunx prisma generate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4" name="Shape 26"/>
          <p:cNvSpPr/>
          <p:nvPr/>
        </p:nvSpPr>
        <p:spPr>
          <a:xfrm>
            <a:off x="605772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5" name="Shape 27"/>
          <p:cNvSpPr/>
          <p:nvPr/>
        </p:nvSpPr>
        <p:spPr>
          <a:xfrm>
            <a:off x="6103800" y="2194560"/>
            <a:ext cx="1368000" cy="21909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6" name="Shape 28"/>
          <p:cNvSpPr/>
          <p:nvPr/>
        </p:nvSpPr>
        <p:spPr>
          <a:xfrm>
            <a:off x="6469560" y="2423160"/>
            <a:ext cx="636480" cy="6364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7" name="Text 29"/>
          <p:cNvSpPr/>
          <p:nvPr/>
        </p:nvSpPr>
        <p:spPr>
          <a:xfrm>
            <a:off x="6469560" y="2351160"/>
            <a:ext cx="6364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≡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8" name="Text 30"/>
          <p:cNvSpPr/>
          <p:nvPr/>
        </p:nvSpPr>
        <p:spPr>
          <a:xfrm>
            <a:off x="6149520" y="3154680"/>
            <a:ext cx="127656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9" name="Text 31"/>
          <p:cNvSpPr/>
          <p:nvPr/>
        </p:nvSpPr>
        <p:spPr>
          <a:xfrm>
            <a:off x="6149520" y="3520440"/>
            <a:ext cx="1276560" cy="77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lint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0" name="Shape 32"/>
          <p:cNvSpPr/>
          <p:nvPr/>
        </p:nvSpPr>
        <p:spPr>
          <a:xfrm>
            <a:off x="747504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1" name="Shape 33"/>
          <p:cNvSpPr/>
          <p:nvPr/>
        </p:nvSpPr>
        <p:spPr>
          <a:xfrm>
            <a:off x="7521120" y="2194560"/>
            <a:ext cx="1368000" cy="21909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2" name="Shape 34"/>
          <p:cNvSpPr/>
          <p:nvPr/>
        </p:nvSpPr>
        <p:spPr>
          <a:xfrm>
            <a:off x="7886880" y="2423160"/>
            <a:ext cx="636480" cy="636480"/>
          </a:xfrm>
          <a:prstGeom prst="ellipse">
            <a:avLst/>
          </a:prstGeom>
          <a:solidFill>
            <a:srgbClr val="EF4444">
              <a:alpha val="30000"/>
            </a:srgbClr>
          </a:solidFill>
          <a:ln w="1905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3" name="Text 35"/>
          <p:cNvSpPr/>
          <p:nvPr/>
        </p:nvSpPr>
        <p:spPr>
          <a:xfrm>
            <a:off x="7886880" y="2423160"/>
            <a:ext cx="63648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4" name="Text 36"/>
          <p:cNvSpPr/>
          <p:nvPr/>
        </p:nvSpPr>
        <p:spPr>
          <a:xfrm>
            <a:off x="7566840" y="3154680"/>
            <a:ext cx="127656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5" name="Text 37"/>
          <p:cNvSpPr/>
          <p:nvPr/>
        </p:nvSpPr>
        <p:spPr>
          <a:xfrm>
            <a:off x="7566840" y="3520440"/>
            <a:ext cx="1276560" cy="77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test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6" name="Shape 38"/>
          <p:cNvSpPr/>
          <p:nvPr/>
        </p:nvSpPr>
        <p:spPr>
          <a:xfrm>
            <a:off x="889236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7" name="Shape 39"/>
          <p:cNvSpPr/>
          <p:nvPr/>
        </p:nvSpPr>
        <p:spPr>
          <a:xfrm>
            <a:off x="8938440" y="2194560"/>
            <a:ext cx="1368000" cy="21909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8" name="Shape 40"/>
          <p:cNvSpPr/>
          <p:nvPr/>
        </p:nvSpPr>
        <p:spPr>
          <a:xfrm>
            <a:off x="9304200" y="2423160"/>
            <a:ext cx="636480" cy="636480"/>
          </a:xfrm>
          <a:prstGeom prst="ellipse">
            <a:avLst/>
          </a:prstGeom>
          <a:solidFill>
            <a:srgbClr val="F472B6">
              <a:alpha val="30000"/>
            </a:srgbClr>
          </a:solidFill>
          <a:ln w="19050">
            <a:solidFill>
              <a:srgbClr val="F472B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9" name="Text 41"/>
          <p:cNvSpPr/>
          <p:nvPr/>
        </p:nvSpPr>
        <p:spPr>
          <a:xfrm>
            <a:off x="9304200" y="2351160"/>
            <a:ext cx="6364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◧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0" name="Text 42"/>
          <p:cNvSpPr/>
          <p:nvPr/>
        </p:nvSpPr>
        <p:spPr>
          <a:xfrm>
            <a:off x="8984160" y="3154680"/>
            <a:ext cx="127656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Build Next.js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1" name="Text 43"/>
          <p:cNvSpPr/>
          <p:nvPr/>
        </p:nvSpPr>
        <p:spPr>
          <a:xfrm>
            <a:off x="8984160" y="3520440"/>
            <a:ext cx="1276560" cy="77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run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2" name="Shape 44"/>
          <p:cNvSpPr/>
          <p:nvPr/>
        </p:nvSpPr>
        <p:spPr>
          <a:xfrm>
            <a:off x="10309680" y="2743200"/>
            <a:ext cx="45720" cy="360"/>
          </a:xfrm>
          <a:prstGeom prst="line">
            <a:avLst/>
          </a:prstGeom>
          <a:ln w="1905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22680" tIns="-44640" rIns="2268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3" name="Shape 45"/>
          <p:cNvSpPr/>
          <p:nvPr/>
        </p:nvSpPr>
        <p:spPr>
          <a:xfrm>
            <a:off x="10355760" y="2194560"/>
            <a:ext cx="1368000" cy="2190960"/>
          </a:xfrm>
          <a:prstGeom prst="roundRect">
            <a:avLst>
              <a:gd name="adj" fmla="val 5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4" name="Shape 46"/>
          <p:cNvSpPr/>
          <p:nvPr/>
        </p:nvSpPr>
        <p:spPr>
          <a:xfrm>
            <a:off x="10721520" y="2423160"/>
            <a:ext cx="636480" cy="63648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5" name="Text 47"/>
          <p:cNvSpPr/>
          <p:nvPr/>
        </p:nvSpPr>
        <p:spPr>
          <a:xfrm>
            <a:off x="10721520" y="2351160"/>
            <a:ext cx="6364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▲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6" name="Text 48"/>
          <p:cNvSpPr/>
          <p:nvPr/>
        </p:nvSpPr>
        <p:spPr>
          <a:xfrm>
            <a:off x="10401480" y="3154680"/>
            <a:ext cx="127656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Deploy 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7" name="Text 49"/>
          <p:cNvSpPr/>
          <p:nvPr/>
        </p:nvSpPr>
        <p:spPr>
          <a:xfrm>
            <a:off x="10401480" y="3520440"/>
            <a:ext cx="1276560" cy="77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preview ou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8" name="Shape 50"/>
          <p:cNvSpPr/>
          <p:nvPr/>
        </p:nvSpPr>
        <p:spPr>
          <a:xfrm>
            <a:off x="548640" y="4754880"/>
            <a:ext cx="11060640" cy="1550880"/>
          </a:xfrm>
          <a:prstGeom prst="roundRect">
            <a:avLst>
              <a:gd name="adj" fmla="val 5882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9" name="Text 51"/>
          <p:cNvSpPr/>
          <p:nvPr/>
        </p:nvSpPr>
        <p:spPr>
          <a:xfrm>
            <a:off x="731520" y="4846320"/>
            <a:ext cx="54828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.github/workflows/ci.yml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0" name="Text 52"/>
          <p:cNvSpPr/>
          <p:nvPr/>
        </p:nvSpPr>
        <p:spPr>
          <a:xfrm>
            <a:off x="731520" y="5120640"/>
            <a:ext cx="1069488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  <a:ea typeface="Consolas"/>
              </a:rPr>
              <a:t>name: CI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1" name="Text 53"/>
          <p:cNvSpPr/>
          <p:nvPr/>
        </p:nvSpPr>
        <p:spPr>
          <a:xfrm>
            <a:off x="731520" y="5312520"/>
            <a:ext cx="1069488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on: [push, pull_request]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2" name="Text 54"/>
          <p:cNvSpPr/>
          <p:nvPr/>
        </p:nvSpPr>
        <p:spPr>
          <a:xfrm>
            <a:off x="731520" y="5504760"/>
            <a:ext cx="1069488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jobs: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3" name="Text 55"/>
          <p:cNvSpPr/>
          <p:nvPr/>
        </p:nvSpPr>
        <p:spPr>
          <a:xfrm>
            <a:off x="731520" y="5696640"/>
            <a:ext cx="1069488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build: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4" name="Text 56"/>
          <p:cNvSpPr/>
          <p:nvPr/>
        </p:nvSpPr>
        <p:spPr>
          <a:xfrm>
            <a:off x="731520" y="5888880"/>
            <a:ext cx="1069488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    runs-on: ubuntu-latest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5" name="Text 57"/>
          <p:cNvSpPr/>
          <p:nvPr/>
        </p:nvSpPr>
        <p:spPr>
          <a:xfrm>
            <a:off x="731520" y="6080760"/>
            <a:ext cx="1069488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steps: [checkout, setup-bun, install, prisma:generate, lint, test, build]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8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7" name="Text 58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8" name="Text 59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9" name="Rectangle 1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920" tIns="45000" rIns="34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0" name="TextBox 2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CI/CD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1" name="TextBox 3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Du commit à la production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2" name="Rectangle 4"/>
          <p:cNvSpPr/>
          <p:nvPr/>
        </p:nvSpPr>
        <p:spPr>
          <a:xfrm>
            <a:off x="685800" y="2011680"/>
            <a:ext cx="1661040" cy="11851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3" name="Rectangle 5"/>
          <p:cNvSpPr/>
          <p:nvPr/>
        </p:nvSpPr>
        <p:spPr>
          <a:xfrm>
            <a:off x="685800" y="2011680"/>
            <a:ext cx="1661040" cy="694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4" name="TextBox 6"/>
          <p:cNvSpPr/>
          <p:nvPr/>
        </p:nvSpPr>
        <p:spPr>
          <a:xfrm>
            <a:off x="685800" y="2194560"/>
            <a:ext cx="166104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⟳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5" name="TextBox 7"/>
          <p:cNvSpPr/>
          <p:nvPr/>
        </p:nvSpPr>
        <p:spPr>
          <a:xfrm>
            <a:off x="685800" y="2743200"/>
            <a:ext cx="166104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git push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6" name="TextBox 8"/>
          <p:cNvSpPr/>
          <p:nvPr/>
        </p:nvSpPr>
        <p:spPr>
          <a:xfrm>
            <a:off x="685800" y="2971800"/>
            <a:ext cx="166104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main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7" name="TextBox 9"/>
          <p:cNvSpPr/>
          <p:nvPr/>
        </p:nvSpPr>
        <p:spPr>
          <a:xfrm>
            <a:off x="2370960" y="2514600"/>
            <a:ext cx="198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8" name="Rectangle 10"/>
          <p:cNvSpPr/>
          <p:nvPr/>
        </p:nvSpPr>
        <p:spPr>
          <a:xfrm>
            <a:off x="2502360" y="2011680"/>
            <a:ext cx="1661040" cy="11851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9" name="Rectangle 11"/>
          <p:cNvSpPr/>
          <p:nvPr/>
        </p:nvSpPr>
        <p:spPr>
          <a:xfrm>
            <a:off x="2502360" y="2011680"/>
            <a:ext cx="1661040" cy="694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0" name="TextBox 12"/>
          <p:cNvSpPr/>
          <p:nvPr/>
        </p:nvSpPr>
        <p:spPr>
          <a:xfrm>
            <a:off x="2502360" y="2194560"/>
            <a:ext cx="166104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◉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1" name="TextBox 13"/>
          <p:cNvSpPr/>
          <p:nvPr/>
        </p:nvSpPr>
        <p:spPr>
          <a:xfrm>
            <a:off x="2502360" y="2743200"/>
            <a:ext cx="166104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2" name="TextBox 14"/>
          <p:cNvSpPr/>
          <p:nvPr/>
        </p:nvSpPr>
        <p:spPr>
          <a:xfrm>
            <a:off x="2502360" y="2971800"/>
            <a:ext cx="166104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ci.yml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3" name="TextBox 15"/>
          <p:cNvSpPr/>
          <p:nvPr/>
        </p:nvSpPr>
        <p:spPr>
          <a:xfrm>
            <a:off x="4187520" y="2514600"/>
            <a:ext cx="198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4" name="Rectangle 16"/>
          <p:cNvSpPr/>
          <p:nvPr/>
        </p:nvSpPr>
        <p:spPr>
          <a:xfrm>
            <a:off x="4318560" y="2011680"/>
            <a:ext cx="1661400" cy="11851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5" name="Rectangle 17"/>
          <p:cNvSpPr/>
          <p:nvPr/>
        </p:nvSpPr>
        <p:spPr>
          <a:xfrm>
            <a:off x="4318560" y="2011680"/>
            <a:ext cx="1661400" cy="69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6" name="TextBox 18"/>
          <p:cNvSpPr/>
          <p:nvPr/>
        </p:nvSpPr>
        <p:spPr>
          <a:xfrm>
            <a:off x="4318560" y="2194560"/>
            <a:ext cx="166140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7" name="TextBox 19"/>
          <p:cNvSpPr/>
          <p:nvPr/>
        </p:nvSpPr>
        <p:spPr>
          <a:xfrm>
            <a:off x="4318560" y="2743200"/>
            <a:ext cx="166140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8" name="TextBox 20"/>
          <p:cNvSpPr/>
          <p:nvPr/>
        </p:nvSpPr>
        <p:spPr>
          <a:xfrm>
            <a:off x="4318560" y="2971800"/>
            <a:ext cx="166140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Jest passe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9" name="TextBox 21"/>
          <p:cNvSpPr/>
          <p:nvPr/>
        </p:nvSpPr>
        <p:spPr>
          <a:xfrm>
            <a:off x="6004080" y="2514600"/>
            <a:ext cx="197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0" name="Rectangle 22"/>
          <p:cNvSpPr/>
          <p:nvPr/>
        </p:nvSpPr>
        <p:spPr>
          <a:xfrm>
            <a:off x="6135120" y="2011680"/>
            <a:ext cx="1661400" cy="11851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1" name="Rectangle 23"/>
          <p:cNvSpPr/>
          <p:nvPr/>
        </p:nvSpPr>
        <p:spPr>
          <a:xfrm>
            <a:off x="6135120" y="2011680"/>
            <a:ext cx="1661400" cy="69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2" name="TextBox 24"/>
          <p:cNvSpPr/>
          <p:nvPr/>
        </p:nvSpPr>
        <p:spPr>
          <a:xfrm>
            <a:off x="6135120" y="2194560"/>
            <a:ext cx="166140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▣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3" name="TextBox 25"/>
          <p:cNvSpPr/>
          <p:nvPr/>
        </p:nvSpPr>
        <p:spPr>
          <a:xfrm>
            <a:off x="6135120" y="2743200"/>
            <a:ext cx="166140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Build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4" name="TextBox 26"/>
          <p:cNvSpPr/>
          <p:nvPr/>
        </p:nvSpPr>
        <p:spPr>
          <a:xfrm>
            <a:off x="6135120" y="2971800"/>
            <a:ext cx="166140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next build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5" name="TextBox 27"/>
          <p:cNvSpPr/>
          <p:nvPr/>
        </p:nvSpPr>
        <p:spPr>
          <a:xfrm>
            <a:off x="7820640" y="2514600"/>
            <a:ext cx="198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6" name="Rectangle 28"/>
          <p:cNvSpPr/>
          <p:nvPr/>
        </p:nvSpPr>
        <p:spPr>
          <a:xfrm>
            <a:off x="7951680" y="2011680"/>
            <a:ext cx="1661040" cy="11851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7" name="Rectangle 29"/>
          <p:cNvSpPr/>
          <p:nvPr/>
        </p:nvSpPr>
        <p:spPr>
          <a:xfrm>
            <a:off x="7951680" y="2011680"/>
            <a:ext cx="1661040" cy="6948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18" name="TextBox 30"/>
          <p:cNvSpPr/>
          <p:nvPr/>
        </p:nvSpPr>
        <p:spPr>
          <a:xfrm>
            <a:off x="7951680" y="2194560"/>
            <a:ext cx="166104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9" name="TextBox 31"/>
          <p:cNvSpPr/>
          <p:nvPr/>
        </p:nvSpPr>
        <p:spPr>
          <a:xfrm>
            <a:off x="7951680" y="2743200"/>
            <a:ext cx="166104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Vercel deploy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0" name="TextBox 32"/>
          <p:cNvSpPr/>
          <p:nvPr/>
        </p:nvSpPr>
        <p:spPr>
          <a:xfrm>
            <a:off x="7951680" y="2971800"/>
            <a:ext cx="166104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Edge runtime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1" name="TextBox 33"/>
          <p:cNvSpPr/>
          <p:nvPr/>
        </p:nvSpPr>
        <p:spPr>
          <a:xfrm>
            <a:off x="9637200" y="2514600"/>
            <a:ext cx="198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→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2" name="Rectangle 34"/>
          <p:cNvSpPr/>
          <p:nvPr/>
        </p:nvSpPr>
        <p:spPr>
          <a:xfrm>
            <a:off x="9768240" y="2011680"/>
            <a:ext cx="1661040" cy="118512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3" name="Rectangle 35"/>
          <p:cNvSpPr/>
          <p:nvPr/>
        </p:nvSpPr>
        <p:spPr>
          <a:xfrm>
            <a:off x="9768240" y="2011680"/>
            <a:ext cx="1661040" cy="694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4" name="TextBox 36"/>
          <p:cNvSpPr/>
          <p:nvPr/>
        </p:nvSpPr>
        <p:spPr>
          <a:xfrm>
            <a:off x="9768240" y="2194560"/>
            <a:ext cx="166104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8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●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5" name="TextBox 37"/>
          <p:cNvSpPr/>
          <p:nvPr/>
        </p:nvSpPr>
        <p:spPr>
          <a:xfrm>
            <a:off x="9768240" y="2743200"/>
            <a:ext cx="166104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Production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6" name="TextBox 38"/>
          <p:cNvSpPr/>
          <p:nvPr/>
        </p:nvSpPr>
        <p:spPr>
          <a:xfrm>
            <a:off x="9768240" y="2971800"/>
            <a:ext cx="166104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URL live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7" name="Rectangle 39"/>
          <p:cNvSpPr/>
          <p:nvPr/>
        </p:nvSpPr>
        <p:spPr>
          <a:xfrm>
            <a:off x="548640" y="3749040"/>
            <a:ext cx="6854400" cy="246528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8" name="Oval 40"/>
          <p:cNvSpPr/>
          <p:nvPr/>
        </p:nvSpPr>
        <p:spPr>
          <a:xfrm>
            <a:off x="777240" y="3931920"/>
            <a:ext cx="133560" cy="13356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960" tIns="45000" rIns="669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9" name="Oval 41"/>
          <p:cNvSpPr/>
          <p:nvPr/>
        </p:nvSpPr>
        <p:spPr>
          <a:xfrm>
            <a:off x="960120" y="3931920"/>
            <a:ext cx="133560" cy="13356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960" tIns="45000" rIns="669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0" name="Oval 42"/>
          <p:cNvSpPr/>
          <p:nvPr/>
        </p:nvSpPr>
        <p:spPr>
          <a:xfrm>
            <a:off x="1143000" y="3931920"/>
            <a:ext cx="133560" cy="13356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960" tIns="45000" rIns="669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1" name="TextBox 43"/>
          <p:cNvSpPr/>
          <p:nvPr/>
        </p:nvSpPr>
        <p:spPr>
          <a:xfrm>
            <a:off x="1371600" y="3840480"/>
            <a:ext cx="59400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.github/workflows/ci.yml — déclencheurs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2" name="TextBox 44"/>
          <p:cNvSpPr/>
          <p:nvPr/>
        </p:nvSpPr>
        <p:spPr>
          <a:xfrm>
            <a:off x="777240" y="4297680"/>
            <a:ext cx="63972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name: CI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3" name="TextBox 45"/>
          <p:cNvSpPr/>
          <p:nvPr/>
        </p:nvSpPr>
        <p:spPr>
          <a:xfrm>
            <a:off x="777240" y="4498920"/>
            <a:ext cx="63972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4" name="TextBox 46"/>
          <p:cNvSpPr/>
          <p:nvPr/>
        </p:nvSpPr>
        <p:spPr>
          <a:xfrm>
            <a:off x="777240" y="4700160"/>
            <a:ext cx="63972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5" name="TextBox 47"/>
          <p:cNvSpPr/>
          <p:nvPr/>
        </p:nvSpPr>
        <p:spPr>
          <a:xfrm>
            <a:off x="777240" y="4901040"/>
            <a:ext cx="63972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push: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6" name="TextBox 48"/>
          <p:cNvSpPr/>
          <p:nvPr/>
        </p:nvSpPr>
        <p:spPr>
          <a:xfrm>
            <a:off x="777240" y="5102280"/>
            <a:ext cx="63972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 [main]              # auto-deploy sur main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7" name="TextBox 49"/>
          <p:cNvSpPr/>
          <p:nvPr/>
        </p:nvSpPr>
        <p:spPr>
          <a:xfrm>
            <a:off x="777240" y="5303520"/>
            <a:ext cx="63972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pull_request:                   # check sur PR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8" name="TextBox 50"/>
          <p:cNvSpPr/>
          <p:nvPr/>
        </p:nvSpPr>
        <p:spPr>
          <a:xfrm>
            <a:off x="777240" y="5504760"/>
            <a:ext cx="63972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 [main, develop]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9" name="TextBox 51"/>
          <p:cNvSpPr/>
          <p:nvPr/>
        </p:nvSpPr>
        <p:spPr>
          <a:xfrm>
            <a:off x="777240" y="5706000"/>
            <a:ext cx="63972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workflow_dispatch:              # bouton manuel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0" name="Rectangle 52"/>
          <p:cNvSpPr/>
          <p:nvPr/>
        </p:nvSpPr>
        <p:spPr>
          <a:xfrm>
            <a:off x="8092440" y="3749040"/>
            <a:ext cx="3516840" cy="246528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1" name="TextBox 53"/>
          <p:cNvSpPr/>
          <p:nvPr/>
        </p:nvSpPr>
        <p:spPr>
          <a:xfrm>
            <a:off x="8275320" y="3840480"/>
            <a:ext cx="315108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Chiffres clés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2" name="Oval 54"/>
          <p:cNvSpPr/>
          <p:nvPr/>
        </p:nvSpPr>
        <p:spPr>
          <a:xfrm>
            <a:off x="8275320" y="4297680"/>
            <a:ext cx="407880" cy="407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3" name="TextBox 55"/>
          <p:cNvSpPr/>
          <p:nvPr/>
        </p:nvSpPr>
        <p:spPr>
          <a:xfrm>
            <a:off x="8275320" y="4379400"/>
            <a:ext cx="40788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4" name="TextBox 56"/>
          <p:cNvSpPr/>
          <p:nvPr/>
        </p:nvSpPr>
        <p:spPr>
          <a:xfrm>
            <a:off x="8814240" y="4359960"/>
            <a:ext cx="2648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~2 min commit → preview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5" name="Oval 57"/>
          <p:cNvSpPr/>
          <p:nvPr/>
        </p:nvSpPr>
        <p:spPr>
          <a:xfrm>
            <a:off x="8275320" y="4937760"/>
            <a:ext cx="407880" cy="4078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6" name="TextBox 58"/>
          <p:cNvSpPr/>
          <p:nvPr/>
        </p:nvSpPr>
        <p:spPr>
          <a:xfrm>
            <a:off x="8275320" y="493776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7" name="TextBox 59"/>
          <p:cNvSpPr/>
          <p:nvPr/>
        </p:nvSpPr>
        <p:spPr>
          <a:xfrm>
            <a:off x="8814240" y="5000040"/>
            <a:ext cx="26481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 bloquants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8" name="Oval 60"/>
          <p:cNvSpPr/>
          <p:nvPr/>
        </p:nvSpPr>
        <p:spPr>
          <a:xfrm>
            <a:off x="8275320" y="5577840"/>
            <a:ext cx="407880" cy="40788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9" name="TextBox 61"/>
          <p:cNvSpPr/>
          <p:nvPr/>
        </p:nvSpPr>
        <p:spPr>
          <a:xfrm>
            <a:off x="8275320" y="557784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0" name="TextBox 62"/>
          <p:cNvSpPr/>
          <p:nvPr/>
        </p:nvSpPr>
        <p:spPr>
          <a:xfrm>
            <a:off x="8814240" y="5676120"/>
            <a:ext cx="26481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Vercel preview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1" name="TextBox 63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2" name="TextBox 64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5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4" name="Rectangle 1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920" tIns="45000" rIns="34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5" name="TextBox 2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CI/CD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6" name="TextBox 3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Workflow GitHub Actions — détail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7" name="Rectangle 4"/>
          <p:cNvSpPr/>
          <p:nvPr/>
        </p:nvSpPr>
        <p:spPr>
          <a:xfrm>
            <a:off x="548640" y="1691640"/>
            <a:ext cx="7311600" cy="45684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8" name="Oval 5"/>
          <p:cNvSpPr/>
          <p:nvPr/>
        </p:nvSpPr>
        <p:spPr>
          <a:xfrm>
            <a:off x="777240" y="1874520"/>
            <a:ext cx="133560" cy="133560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960" tIns="45000" rIns="669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9" name="Oval 6"/>
          <p:cNvSpPr/>
          <p:nvPr/>
        </p:nvSpPr>
        <p:spPr>
          <a:xfrm>
            <a:off x="960120" y="1874520"/>
            <a:ext cx="133560" cy="13356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960" tIns="45000" rIns="669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0" name="Oval 7"/>
          <p:cNvSpPr/>
          <p:nvPr/>
        </p:nvSpPr>
        <p:spPr>
          <a:xfrm>
            <a:off x="1143000" y="1874520"/>
            <a:ext cx="133560" cy="133560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960" tIns="45000" rIns="669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1" name="TextBox 8"/>
          <p:cNvSpPr/>
          <p:nvPr/>
        </p:nvSpPr>
        <p:spPr>
          <a:xfrm>
            <a:off x="1371600" y="1783080"/>
            <a:ext cx="63972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.github/workflows/ci.yml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2" name="TextBox 9"/>
          <p:cNvSpPr/>
          <p:nvPr/>
        </p:nvSpPr>
        <p:spPr>
          <a:xfrm>
            <a:off x="777240" y="219456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name: CI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3" name="TextBox 11"/>
          <p:cNvSpPr/>
          <p:nvPr/>
        </p:nvSpPr>
        <p:spPr>
          <a:xfrm>
            <a:off x="777240" y="237744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4" name="TextBox 12"/>
          <p:cNvSpPr/>
          <p:nvPr/>
        </p:nvSpPr>
        <p:spPr>
          <a:xfrm>
            <a:off x="777240" y="256032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push:        { branches: [main]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5" name="TextBox 13"/>
          <p:cNvSpPr/>
          <p:nvPr/>
        </p:nvSpPr>
        <p:spPr>
          <a:xfrm>
            <a:off x="777240" y="274320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pull_request: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6" name="TextBox 15"/>
          <p:cNvSpPr/>
          <p:nvPr/>
        </p:nvSpPr>
        <p:spPr>
          <a:xfrm>
            <a:off x="777240" y="292608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jobs: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7" name="TextBox 16"/>
          <p:cNvSpPr/>
          <p:nvPr/>
        </p:nvSpPr>
        <p:spPr>
          <a:xfrm>
            <a:off x="777240" y="310896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build: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8" name="TextBox 17"/>
          <p:cNvSpPr/>
          <p:nvPr/>
        </p:nvSpPr>
        <p:spPr>
          <a:xfrm>
            <a:off x="777240" y="329184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runs-on: ubuntu-latest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9" name="TextBox 18"/>
          <p:cNvSpPr/>
          <p:nvPr/>
        </p:nvSpPr>
        <p:spPr>
          <a:xfrm>
            <a:off x="777240" y="347472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timeout-minutes: 10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0" name="TextBox 20"/>
          <p:cNvSpPr/>
          <p:nvPr/>
        </p:nvSpPr>
        <p:spPr>
          <a:xfrm>
            <a:off x="777240" y="365760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  steps: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1" name="TextBox 21"/>
          <p:cNvSpPr/>
          <p:nvPr/>
        </p:nvSpPr>
        <p:spPr>
          <a:xfrm>
            <a:off x="777240" y="384048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      - uses: actions/checkout@v4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2" name="TextBox 23"/>
          <p:cNvSpPr/>
          <p:nvPr/>
        </p:nvSpPr>
        <p:spPr>
          <a:xfrm>
            <a:off x="777240" y="402336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472B6"/>
                </a:solidFill>
                <a:effectLst/>
                <a:uFillTx/>
                <a:latin typeface="Consolas"/>
              </a:rPr>
              <a:t>      - uses: oven-sh/setup-bun@v1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3" name="TextBox 24"/>
          <p:cNvSpPr/>
          <p:nvPr/>
        </p:nvSpPr>
        <p:spPr>
          <a:xfrm>
            <a:off x="777240" y="420624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  with: { bun-version: '1'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4" name="TextBox 26"/>
          <p:cNvSpPr/>
          <p:nvPr/>
        </p:nvSpPr>
        <p:spPr>
          <a:xfrm>
            <a:off x="777240" y="438912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Install deps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5" name="TextBox 27"/>
          <p:cNvSpPr/>
          <p:nvPr/>
        </p:nvSpPr>
        <p:spPr>
          <a:xfrm>
            <a:off x="777240" y="457200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install --frozen-lockfile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6" name="TextBox 29"/>
          <p:cNvSpPr/>
          <p:nvPr/>
        </p:nvSpPr>
        <p:spPr>
          <a:xfrm>
            <a:off x="777240" y="475488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Prisma generate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7" name="TextBox 30"/>
          <p:cNvSpPr/>
          <p:nvPr/>
        </p:nvSpPr>
        <p:spPr>
          <a:xfrm>
            <a:off x="777240" y="493776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bunx prisma </a:t>
            </a: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generate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8" name="TextBox 32"/>
          <p:cNvSpPr/>
          <p:nvPr/>
        </p:nvSpPr>
        <p:spPr>
          <a:xfrm>
            <a:off x="777240" y="512064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9" name="TextBox 33"/>
          <p:cNvSpPr/>
          <p:nvPr/>
        </p:nvSpPr>
        <p:spPr>
          <a:xfrm>
            <a:off x="777240" y="530352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run lint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0" name="TextBox 35"/>
          <p:cNvSpPr/>
          <p:nvPr/>
        </p:nvSpPr>
        <p:spPr>
          <a:xfrm>
            <a:off x="777240" y="548640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Tests d'intégration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1" name="TextBox 36"/>
          <p:cNvSpPr/>
          <p:nvPr/>
        </p:nvSpPr>
        <p:spPr>
          <a:xfrm>
            <a:off x="777240" y="566928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run test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2" name="TextBox 38"/>
          <p:cNvSpPr/>
          <p:nvPr/>
        </p:nvSpPr>
        <p:spPr>
          <a:xfrm>
            <a:off x="777240" y="585216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      - name: Build </a:t>
            </a: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</a:rPr>
              <a:t>Next.js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3" name="TextBox 39"/>
          <p:cNvSpPr/>
          <p:nvPr/>
        </p:nvSpPr>
        <p:spPr>
          <a:xfrm>
            <a:off x="777240" y="6035040"/>
            <a:ext cx="68544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  run: bun run 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4" name="Rectangle 40"/>
          <p:cNvSpPr/>
          <p:nvPr/>
        </p:nvSpPr>
        <p:spPr>
          <a:xfrm>
            <a:off x="8092440" y="1691640"/>
            <a:ext cx="3516840" cy="456840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5" name="TextBox 41"/>
          <p:cNvSpPr/>
          <p:nvPr/>
        </p:nvSpPr>
        <p:spPr>
          <a:xfrm>
            <a:off x="8275320" y="1783080"/>
            <a:ext cx="315108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Que fait chaque étape ?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6" name="Oval 42"/>
          <p:cNvSpPr/>
          <p:nvPr/>
        </p:nvSpPr>
        <p:spPr>
          <a:xfrm>
            <a:off x="8275320" y="2240280"/>
            <a:ext cx="407880" cy="40788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7" name="TextBox 43"/>
          <p:cNvSpPr/>
          <p:nvPr/>
        </p:nvSpPr>
        <p:spPr>
          <a:xfrm>
            <a:off x="8275320" y="224028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</a:rPr>
              <a:t>◐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8" name="TextBox 44"/>
          <p:cNvSpPr/>
          <p:nvPr/>
        </p:nvSpPr>
        <p:spPr>
          <a:xfrm>
            <a:off x="8814240" y="2302560"/>
            <a:ext cx="26481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checkout : clone le repo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9" name="Oval 45"/>
          <p:cNvSpPr/>
          <p:nvPr/>
        </p:nvSpPr>
        <p:spPr>
          <a:xfrm>
            <a:off x="8275320" y="2880360"/>
            <a:ext cx="407880" cy="40788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0" name="TextBox 46"/>
          <p:cNvSpPr/>
          <p:nvPr/>
        </p:nvSpPr>
        <p:spPr>
          <a:xfrm>
            <a:off x="8275320" y="288036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●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1" name="TextBox 47"/>
          <p:cNvSpPr/>
          <p:nvPr/>
        </p:nvSpPr>
        <p:spPr>
          <a:xfrm>
            <a:off x="8814240" y="2942640"/>
            <a:ext cx="26481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setup-bun : runtime CI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2" name="Oval 48"/>
          <p:cNvSpPr/>
          <p:nvPr/>
        </p:nvSpPr>
        <p:spPr>
          <a:xfrm>
            <a:off x="8275320" y="3520440"/>
            <a:ext cx="407880" cy="4078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3" name="TextBox 49"/>
          <p:cNvSpPr/>
          <p:nvPr/>
        </p:nvSpPr>
        <p:spPr>
          <a:xfrm>
            <a:off x="8275320" y="352044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4" name="TextBox 50"/>
          <p:cNvSpPr/>
          <p:nvPr/>
        </p:nvSpPr>
        <p:spPr>
          <a:xfrm>
            <a:off x="8814240" y="3582720"/>
            <a:ext cx="26481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bun install : deps lockées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5" name="Oval 51"/>
          <p:cNvSpPr/>
          <p:nvPr/>
        </p:nvSpPr>
        <p:spPr>
          <a:xfrm>
            <a:off x="8275320" y="4160520"/>
            <a:ext cx="407880" cy="4078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6" name="TextBox 52"/>
          <p:cNvSpPr/>
          <p:nvPr/>
        </p:nvSpPr>
        <p:spPr>
          <a:xfrm>
            <a:off x="8275320" y="416052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7" name="TextBox 53"/>
          <p:cNvSpPr/>
          <p:nvPr/>
        </p:nvSpPr>
        <p:spPr>
          <a:xfrm>
            <a:off x="8814240" y="4222800"/>
            <a:ext cx="26481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prisma generate : types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8" name="Oval 54"/>
          <p:cNvSpPr/>
          <p:nvPr/>
        </p:nvSpPr>
        <p:spPr>
          <a:xfrm>
            <a:off x="8275320" y="4800600"/>
            <a:ext cx="407880" cy="407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9" name="TextBox 55"/>
          <p:cNvSpPr/>
          <p:nvPr/>
        </p:nvSpPr>
        <p:spPr>
          <a:xfrm>
            <a:off x="8275320" y="480060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</a:rPr>
              <a:t>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0" name="TextBox 56"/>
          <p:cNvSpPr/>
          <p:nvPr/>
        </p:nvSpPr>
        <p:spPr>
          <a:xfrm>
            <a:off x="8814240" y="4862880"/>
            <a:ext cx="26481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lint + test : qualité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1" name="Oval 57"/>
          <p:cNvSpPr/>
          <p:nvPr/>
        </p:nvSpPr>
        <p:spPr>
          <a:xfrm>
            <a:off x="8275320" y="5440680"/>
            <a:ext cx="407880" cy="40788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2" name="TextBox 58"/>
          <p:cNvSpPr/>
          <p:nvPr/>
        </p:nvSpPr>
        <p:spPr>
          <a:xfrm>
            <a:off x="8275320" y="544068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▲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3" name="TextBox 59"/>
          <p:cNvSpPr/>
          <p:nvPr/>
        </p:nvSpPr>
        <p:spPr>
          <a:xfrm>
            <a:off x="8814240" y="5538960"/>
            <a:ext cx="264816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build : artefact .next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4" name="TextBox 60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5" name="TextBox 61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06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7" name="Rectangle 1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920" tIns="45000" rIns="3492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8" name="TextBox 2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</a:rPr>
              <a:t>05 · DÉPLOIEMENT · CI/CD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9" name="TextBox 3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Triggers : 3 façons de déclencher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0" name="Rectangle 4"/>
          <p:cNvSpPr/>
          <p:nvPr/>
        </p:nvSpPr>
        <p:spPr>
          <a:xfrm>
            <a:off x="548640" y="1691640"/>
            <a:ext cx="3654000" cy="45684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1" name="Rectangle 5"/>
          <p:cNvSpPr/>
          <p:nvPr/>
        </p:nvSpPr>
        <p:spPr>
          <a:xfrm>
            <a:off x="548640" y="1691640"/>
            <a:ext cx="3654000" cy="878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3920" rIns="9000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2" name="TextBox 6"/>
          <p:cNvSpPr/>
          <p:nvPr/>
        </p:nvSpPr>
        <p:spPr>
          <a:xfrm>
            <a:off x="731520" y="1965960"/>
            <a:ext cx="72792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⟳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3" name="TextBox 7"/>
          <p:cNvSpPr/>
          <p:nvPr/>
        </p:nvSpPr>
        <p:spPr>
          <a:xfrm>
            <a:off x="1508760" y="1965960"/>
            <a:ext cx="25110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push sur main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4" name="TextBox 8"/>
          <p:cNvSpPr/>
          <p:nvPr/>
        </p:nvSpPr>
        <p:spPr>
          <a:xfrm>
            <a:off x="1508760" y="2331720"/>
            <a:ext cx="25110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Merge d'une PR sur main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5" name="Rectangle 9"/>
          <p:cNvSpPr/>
          <p:nvPr/>
        </p:nvSpPr>
        <p:spPr>
          <a:xfrm>
            <a:off x="731520" y="2788920"/>
            <a:ext cx="3288240" cy="45360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6" name="TextBox 10"/>
          <p:cNvSpPr/>
          <p:nvPr/>
        </p:nvSpPr>
        <p:spPr>
          <a:xfrm>
            <a:off x="822960" y="2853000"/>
            <a:ext cx="310536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complet + auto-deploy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7" name="TextBox 11"/>
          <p:cNvSpPr/>
          <p:nvPr/>
        </p:nvSpPr>
        <p:spPr>
          <a:xfrm>
            <a:off x="777240" y="3520440"/>
            <a:ext cx="31968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8" name="TextBox 12"/>
          <p:cNvSpPr/>
          <p:nvPr/>
        </p:nvSpPr>
        <p:spPr>
          <a:xfrm>
            <a:off x="777240" y="3776400"/>
            <a:ext cx="31968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push: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9" name="TextBox 13"/>
          <p:cNvSpPr/>
          <p:nvPr/>
        </p:nvSpPr>
        <p:spPr>
          <a:xfrm>
            <a:off x="777240" y="4032360"/>
            <a:ext cx="31968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0" name="TextBox 14"/>
          <p:cNvSpPr/>
          <p:nvPr/>
        </p:nvSpPr>
        <p:spPr>
          <a:xfrm>
            <a:off x="777240" y="4288680"/>
            <a:ext cx="31968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</a:rPr>
              <a:t>      - main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1" name="TextBox 15"/>
          <p:cNvSpPr/>
          <p:nvPr/>
        </p:nvSpPr>
        <p:spPr>
          <a:xfrm>
            <a:off x="731520" y="498348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2" name="TextBox 16"/>
          <p:cNvSpPr/>
          <p:nvPr/>
        </p:nvSpPr>
        <p:spPr>
          <a:xfrm>
            <a:off x="731520" y="534924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Déploiement auto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3" name="TextBox 17"/>
          <p:cNvSpPr/>
          <p:nvPr/>
        </p:nvSpPr>
        <p:spPr>
          <a:xfrm>
            <a:off x="731520" y="562356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en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4" name="Rectangle 18"/>
          <p:cNvSpPr/>
          <p:nvPr/>
        </p:nvSpPr>
        <p:spPr>
          <a:xfrm>
            <a:off x="4343400" y="1691640"/>
            <a:ext cx="3654000" cy="45684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25" name="Rectangle 19"/>
          <p:cNvSpPr/>
          <p:nvPr/>
        </p:nvSpPr>
        <p:spPr>
          <a:xfrm>
            <a:off x="4343400" y="1691640"/>
            <a:ext cx="3654000" cy="87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3920" rIns="9000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26" name="TextBox 20"/>
          <p:cNvSpPr/>
          <p:nvPr/>
        </p:nvSpPr>
        <p:spPr>
          <a:xfrm>
            <a:off x="4526280" y="1965960"/>
            <a:ext cx="72792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⊕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7" name="TextBox 21"/>
          <p:cNvSpPr/>
          <p:nvPr/>
        </p:nvSpPr>
        <p:spPr>
          <a:xfrm>
            <a:off x="5303520" y="1965960"/>
            <a:ext cx="25110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pull_request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8" name="TextBox 22"/>
          <p:cNvSpPr/>
          <p:nvPr/>
        </p:nvSpPr>
        <p:spPr>
          <a:xfrm>
            <a:off x="5303520" y="2331720"/>
            <a:ext cx="25110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Ouverture / update d'une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9" name="Rectangle 23"/>
          <p:cNvSpPr/>
          <p:nvPr/>
        </p:nvSpPr>
        <p:spPr>
          <a:xfrm>
            <a:off x="4526280" y="2788920"/>
            <a:ext cx="3288240" cy="45360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0" name="TextBox 24"/>
          <p:cNvSpPr/>
          <p:nvPr/>
        </p:nvSpPr>
        <p:spPr>
          <a:xfrm>
            <a:off x="4617720" y="2853000"/>
            <a:ext cx="310536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CI + Preview Vercel + Neon branch isolée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1" name="TextBox 25"/>
          <p:cNvSpPr/>
          <p:nvPr/>
        </p:nvSpPr>
        <p:spPr>
          <a:xfrm>
            <a:off x="4572000" y="3520440"/>
            <a:ext cx="31968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2" name="TextBox 26"/>
          <p:cNvSpPr/>
          <p:nvPr/>
        </p:nvSpPr>
        <p:spPr>
          <a:xfrm>
            <a:off x="4572000" y="3776400"/>
            <a:ext cx="31968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pull_request: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3" name="TextBox 27"/>
          <p:cNvSpPr/>
          <p:nvPr/>
        </p:nvSpPr>
        <p:spPr>
          <a:xfrm>
            <a:off x="4572000" y="4032360"/>
            <a:ext cx="31968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branches: [main, develop]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4" name="TextBox 28"/>
          <p:cNvSpPr/>
          <p:nvPr/>
        </p:nvSpPr>
        <p:spPr>
          <a:xfrm>
            <a:off x="4572000" y="4288680"/>
            <a:ext cx="31968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types: [opened, synchronize]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5" name="TextBox 29"/>
          <p:cNvSpPr/>
          <p:nvPr/>
        </p:nvSpPr>
        <p:spPr>
          <a:xfrm>
            <a:off x="4526280" y="498348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59E0B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6" name="TextBox 30"/>
          <p:cNvSpPr/>
          <p:nvPr/>
        </p:nvSpPr>
        <p:spPr>
          <a:xfrm>
            <a:off x="4526280" y="534924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Status check obligatoire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7" name="TextBox 31"/>
          <p:cNvSpPr/>
          <p:nvPr/>
        </p:nvSpPr>
        <p:spPr>
          <a:xfrm>
            <a:off x="4526280" y="562356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avant merge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8" name="Rectangle 32"/>
          <p:cNvSpPr/>
          <p:nvPr/>
        </p:nvSpPr>
        <p:spPr>
          <a:xfrm>
            <a:off x="8138160" y="1691640"/>
            <a:ext cx="3654000" cy="4568400"/>
          </a:xfrm>
          <a:prstGeom prst="rect">
            <a:avLst/>
          </a:prstGeom>
          <a:solidFill>
            <a:srgbClr val="0D0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9" name="Rectangle 33"/>
          <p:cNvSpPr/>
          <p:nvPr/>
        </p:nvSpPr>
        <p:spPr>
          <a:xfrm>
            <a:off x="8138160" y="1691640"/>
            <a:ext cx="3654000" cy="87840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3920" rIns="90000" bIns="439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0" name="TextBox 34"/>
          <p:cNvSpPr/>
          <p:nvPr/>
        </p:nvSpPr>
        <p:spPr>
          <a:xfrm>
            <a:off x="8321040" y="1965960"/>
            <a:ext cx="72792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2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◉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1" name="TextBox 35"/>
          <p:cNvSpPr/>
          <p:nvPr/>
        </p:nvSpPr>
        <p:spPr>
          <a:xfrm>
            <a:off x="9098280" y="1965960"/>
            <a:ext cx="25110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onsolas"/>
              </a:rPr>
              <a:t>workflow_dispatch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2" name="TextBox 36"/>
          <p:cNvSpPr/>
          <p:nvPr/>
        </p:nvSpPr>
        <p:spPr>
          <a:xfrm>
            <a:off x="9098280" y="2331720"/>
            <a:ext cx="25110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Bouton manuel dans GitHub UI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3" name="Rectangle 37"/>
          <p:cNvSpPr/>
          <p:nvPr/>
        </p:nvSpPr>
        <p:spPr>
          <a:xfrm>
            <a:off x="8321040" y="2788920"/>
            <a:ext cx="3288240" cy="453600"/>
          </a:xfrm>
          <a:prstGeom prst="rect">
            <a:avLst/>
          </a:prstGeom>
          <a:solidFill>
            <a:srgbClr val="272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4" name="TextBox 38"/>
          <p:cNvSpPr/>
          <p:nvPr/>
        </p:nvSpPr>
        <p:spPr>
          <a:xfrm>
            <a:off x="8412480" y="2853000"/>
            <a:ext cx="310536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Rejeu d'un déploiement, debug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5" name="TextBox 39"/>
          <p:cNvSpPr/>
          <p:nvPr/>
        </p:nvSpPr>
        <p:spPr>
          <a:xfrm>
            <a:off x="8366760" y="3520440"/>
            <a:ext cx="31968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</a:rPr>
              <a:t>on: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6" name="TextBox 40"/>
          <p:cNvSpPr/>
          <p:nvPr/>
        </p:nvSpPr>
        <p:spPr>
          <a:xfrm>
            <a:off x="8366760" y="3776400"/>
            <a:ext cx="31968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</a:rPr>
              <a:t>  workflow_dispatch: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7" name="TextBox 41"/>
          <p:cNvSpPr/>
          <p:nvPr/>
        </p:nvSpPr>
        <p:spPr>
          <a:xfrm>
            <a:off x="8366760" y="4032360"/>
            <a:ext cx="31968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inputs: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8" name="TextBox 42"/>
          <p:cNvSpPr/>
          <p:nvPr/>
        </p:nvSpPr>
        <p:spPr>
          <a:xfrm>
            <a:off x="8366760" y="4288680"/>
            <a:ext cx="31968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</a:rPr>
              <a:t>      env: { type: choice 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9" name="TextBox 43"/>
          <p:cNvSpPr/>
          <p:nvPr/>
        </p:nvSpPr>
        <p:spPr>
          <a:xfrm>
            <a:off x="8321040" y="498348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472B6"/>
                </a:solidFill>
                <a:effectLst/>
                <a:uFillTx/>
                <a:latin typeface="Calibri"/>
              </a:rPr>
              <a:t>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0" name="TextBox 44"/>
          <p:cNvSpPr/>
          <p:nvPr/>
        </p:nvSpPr>
        <p:spPr>
          <a:xfrm>
            <a:off x="8321040" y="534924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Lancement manuel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1" name="TextBox 45"/>
          <p:cNvSpPr/>
          <p:nvPr/>
        </p:nvSpPr>
        <p:spPr>
          <a:xfrm>
            <a:off x="8321040" y="5623560"/>
            <a:ext cx="32882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</a:rPr>
              <a:t>pour rebuild d'urgence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2" name="TextBox 46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3" name="TextBox 47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</a:rPr>
              <a:t>48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5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5" name="Text 0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6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Dockerfile — image applicative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7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58" name="Shape 3"/>
          <p:cNvSpPr/>
          <p:nvPr/>
        </p:nvSpPr>
        <p:spPr>
          <a:xfrm>
            <a:off x="548640" y="1691640"/>
            <a:ext cx="7311600" cy="456840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59" name="Shape 4"/>
          <p:cNvSpPr/>
          <p:nvPr/>
        </p:nvSpPr>
        <p:spPr>
          <a:xfrm>
            <a:off x="777240" y="1874520"/>
            <a:ext cx="133560" cy="13356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0" name="Shape 5"/>
          <p:cNvSpPr/>
          <p:nvPr/>
        </p:nvSpPr>
        <p:spPr>
          <a:xfrm>
            <a:off x="960120" y="1874520"/>
            <a:ext cx="133560" cy="13356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1" name="Shape 6"/>
          <p:cNvSpPr/>
          <p:nvPr/>
        </p:nvSpPr>
        <p:spPr>
          <a:xfrm>
            <a:off x="1143000" y="1874520"/>
            <a:ext cx="133560" cy="13356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2" name="Text 7"/>
          <p:cNvSpPr/>
          <p:nvPr/>
        </p:nvSpPr>
        <p:spPr>
          <a:xfrm>
            <a:off x="1371600" y="1783080"/>
            <a:ext cx="54828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Dockerfile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3" name="Text 8"/>
          <p:cNvSpPr/>
          <p:nvPr/>
        </p:nvSpPr>
        <p:spPr>
          <a:xfrm>
            <a:off x="777240" y="224028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1 — deps (cache layer)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4" name="Text 9"/>
          <p:cNvSpPr/>
          <p:nvPr/>
        </p:nvSpPr>
        <p:spPr>
          <a:xfrm>
            <a:off x="777240" y="241416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 AS deps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5" name="Text 10"/>
          <p:cNvSpPr/>
          <p:nvPr/>
        </p:nvSpPr>
        <p:spPr>
          <a:xfrm>
            <a:off x="777240" y="258768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6" name="Text 11"/>
          <p:cNvSpPr/>
          <p:nvPr/>
        </p:nvSpPr>
        <p:spPr>
          <a:xfrm>
            <a:off x="777240" y="276156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package.json bun.lock ./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7" name="Text 12"/>
          <p:cNvSpPr/>
          <p:nvPr/>
        </p:nvSpPr>
        <p:spPr>
          <a:xfrm>
            <a:off x="777240" y="293508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RUN bun install --frozen-lockfile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8" name="Text 13"/>
          <p:cNvSpPr/>
          <p:nvPr/>
        </p:nvSpPr>
        <p:spPr>
          <a:xfrm>
            <a:off x="777240" y="310896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9" name="Text 14"/>
          <p:cNvSpPr/>
          <p:nvPr/>
        </p:nvSpPr>
        <p:spPr>
          <a:xfrm>
            <a:off x="777240" y="328284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2 —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0" name="Text 15"/>
          <p:cNvSpPr/>
          <p:nvPr/>
        </p:nvSpPr>
        <p:spPr>
          <a:xfrm>
            <a:off x="777240" y="345636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 AS builder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1" name="Text 16"/>
          <p:cNvSpPr/>
          <p:nvPr/>
        </p:nvSpPr>
        <p:spPr>
          <a:xfrm>
            <a:off x="777240" y="363024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2" name="Text 17"/>
          <p:cNvSpPr/>
          <p:nvPr/>
        </p:nvSpPr>
        <p:spPr>
          <a:xfrm>
            <a:off x="777240" y="380376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--from=deps /app/node_modules ./node_modules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3" name="Text 18"/>
          <p:cNvSpPr/>
          <p:nvPr/>
        </p:nvSpPr>
        <p:spPr>
          <a:xfrm>
            <a:off x="777240" y="397764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. 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4" name="Text 19"/>
          <p:cNvSpPr/>
          <p:nvPr/>
        </p:nvSpPr>
        <p:spPr>
          <a:xfrm>
            <a:off x="777240" y="415152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RUN bunx prisma generate &amp;&amp; bun run build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5" name="Text 20"/>
          <p:cNvSpPr/>
          <p:nvPr/>
        </p:nvSpPr>
        <p:spPr>
          <a:xfrm>
            <a:off x="777240" y="432504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6" name="Text 21"/>
          <p:cNvSpPr/>
          <p:nvPr/>
        </p:nvSpPr>
        <p:spPr>
          <a:xfrm>
            <a:off x="777240" y="449892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1717A"/>
                </a:solidFill>
                <a:effectLst/>
                <a:uFillTx/>
                <a:latin typeface="Consolas"/>
                <a:ea typeface="Consolas"/>
              </a:rPr>
              <a:t># Stage 3 — runner (image légère)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7" name="Text 22"/>
          <p:cNvSpPr/>
          <p:nvPr/>
        </p:nvSpPr>
        <p:spPr>
          <a:xfrm>
            <a:off x="777240" y="467244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FROM oven/bun:1-slim AS runner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8" name="Text 23"/>
          <p:cNvSpPr/>
          <p:nvPr/>
        </p:nvSpPr>
        <p:spPr>
          <a:xfrm>
            <a:off x="777240" y="484632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WORKDIR /app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9" name="Text 24"/>
          <p:cNvSpPr/>
          <p:nvPr/>
        </p:nvSpPr>
        <p:spPr>
          <a:xfrm>
            <a:off x="777240" y="502020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ENV NODE_ENV=production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0" name="Text 25"/>
          <p:cNvSpPr/>
          <p:nvPr/>
        </p:nvSpPr>
        <p:spPr>
          <a:xfrm>
            <a:off x="777240" y="519372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/app/.next ./.next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1" name="Text 26"/>
          <p:cNvSpPr/>
          <p:nvPr/>
        </p:nvSpPr>
        <p:spPr>
          <a:xfrm>
            <a:off x="777240" y="536760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/app/node_modules ./node_modules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2" name="Text 27"/>
          <p:cNvSpPr/>
          <p:nvPr/>
        </p:nvSpPr>
        <p:spPr>
          <a:xfrm>
            <a:off x="777240" y="554112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COPY --from=builder /app/package.json ./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3" name="Text 28"/>
          <p:cNvSpPr/>
          <p:nvPr/>
        </p:nvSpPr>
        <p:spPr>
          <a:xfrm>
            <a:off x="777240" y="571500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EXPOSE 3000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4" name="Text 29"/>
          <p:cNvSpPr/>
          <p:nvPr/>
        </p:nvSpPr>
        <p:spPr>
          <a:xfrm>
            <a:off x="777240" y="588888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CMD ["bun", "run", "start"]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5" name="Shape 30"/>
          <p:cNvSpPr/>
          <p:nvPr/>
        </p:nvSpPr>
        <p:spPr>
          <a:xfrm>
            <a:off x="8092440" y="1691640"/>
            <a:ext cx="3516840" cy="456840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86" name="Text 31"/>
          <p:cNvSpPr/>
          <p:nvPr/>
        </p:nvSpPr>
        <p:spPr>
          <a:xfrm>
            <a:off x="8275320" y="1783080"/>
            <a:ext cx="31968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Choix techniques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7" name="Shape 32"/>
          <p:cNvSpPr/>
          <p:nvPr/>
        </p:nvSpPr>
        <p:spPr>
          <a:xfrm>
            <a:off x="8275320" y="2240280"/>
            <a:ext cx="407880" cy="40788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88" name="Text 33"/>
          <p:cNvSpPr/>
          <p:nvPr/>
        </p:nvSpPr>
        <p:spPr>
          <a:xfrm>
            <a:off x="8275320" y="2136240"/>
            <a:ext cx="407880" cy="58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9" name="Text 34"/>
          <p:cNvSpPr/>
          <p:nvPr/>
        </p:nvSpPr>
        <p:spPr>
          <a:xfrm>
            <a:off x="8814240" y="219456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Multi-stage : cache deps séparé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0" name="Shape 35"/>
          <p:cNvSpPr/>
          <p:nvPr/>
        </p:nvSpPr>
        <p:spPr>
          <a:xfrm>
            <a:off x="8275320" y="2880360"/>
            <a:ext cx="407880" cy="40788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1" name="Text 36"/>
          <p:cNvSpPr/>
          <p:nvPr/>
        </p:nvSpPr>
        <p:spPr>
          <a:xfrm>
            <a:off x="8275320" y="288036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2" name="Text 37"/>
          <p:cNvSpPr/>
          <p:nvPr/>
        </p:nvSpPr>
        <p:spPr>
          <a:xfrm>
            <a:off x="8814240" y="283464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Bun runtime (build &amp; run)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3" name="Shape 38"/>
          <p:cNvSpPr/>
          <p:nvPr/>
        </p:nvSpPr>
        <p:spPr>
          <a:xfrm>
            <a:off x="8275320" y="3520440"/>
            <a:ext cx="407880" cy="40788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4" name="Text 39"/>
          <p:cNvSpPr/>
          <p:nvPr/>
        </p:nvSpPr>
        <p:spPr>
          <a:xfrm>
            <a:off x="8275320" y="3484440"/>
            <a:ext cx="407880" cy="44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5" name="Text 40"/>
          <p:cNvSpPr/>
          <p:nvPr/>
        </p:nvSpPr>
        <p:spPr>
          <a:xfrm>
            <a:off x="8814240" y="347472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generate avant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6" name="Shape 41"/>
          <p:cNvSpPr/>
          <p:nvPr/>
        </p:nvSpPr>
        <p:spPr>
          <a:xfrm>
            <a:off x="8275320" y="4160520"/>
            <a:ext cx="407880" cy="40788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97" name="Text 42"/>
          <p:cNvSpPr/>
          <p:nvPr/>
        </p:nvSpPr>
        <p:spPr>
          <a:xfrm>
            <a:off x="8275320" y="4124520"/>
            <a:ext cx="407880" cy="44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◯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8" name="Text 43"/>
          <p:cNvSpPr/>
          <p:nvPr/>
        </p:nvSpPr>
        <p:spPr>
          <a:xfrm>
            <a:off x="8814240" y="411480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Image slim finale (~150 Mo)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9" name="Shape 44"/>
          <p:cNvSpPr/>
          <p:nvPr/>
        </p:nvSpPr>
        <p:spPr>
          <a:xfrm>
            <a:off x="8275320" y="4800600"/>
            <a:ext cx="407880" cy="40788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0" name="Text 45"/>
          <p:cNvSpPr/>
          <p:nvPr/>
        </p:nvSpPr>
        <p:spPr>
          <a:xfrm>
            <a:off x="8275320" y="4728600"/>
            <a:ext cx="407880" cy="52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1" name="Text 46"/>
          <p:cNvSpPr/>
          <p:nvPr/>
        </p:nvSpPr>
        <p:spPr>
          <a:xfrm>
            <a:off x="8814240" y="475488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Pas de secret dans l'image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2" name="Shape 47"/>
          <p:cNvSpPr/>
          <p:nvPr/>
        </p:nvSpPr>
        <p:spPr>
          <a:xfrm>
            <a:off x="8275320" y="5440680"/>
            <a:ext cx="407880" cy="40788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3" name="Text 48"/>
          <p:cNvSpPr/>
          <p:nvPr/>
        </p:nvSpPr>
        <p:spPr>
          <a:xfrm>
            <a:off x="8275320" y="544068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↗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4" name="Text 49"/>
          <p:cNvSpPr/>
          <p:nvPr/>
        </p:nvSpPr>
        <p:spPr>
          <a:xfrm>
            <a:off x="8814240" y="539496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Port 3000 explicite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05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06" name="Text 50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7" name="Text 51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49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8" name="Text 0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9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docker-compose.yml — env local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0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1" name="Shape 3"/>
          <p:cNvSpPr/>
          <p:nvPr/>
        </p:nvSpPr>
        <p:spPr>
          <a:xfrm>
            <a:off x="548640" y="1691640"/>
            <a:ext cx="7311600" cy="4568400"/>
          </a:xfrm>
          <a:prstGeom prst="roundRect">
            <a:avLst>
              <a:gd name="adj" fmla="val 2000"/>
            </a:avLst>
          </a:prstGeom>
          <a:solidFill>
            <a:srgbClr val="0D0E14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2" name="Shape 4"/>
          <p:cNvSpPr/>
          <p:nvPr/>
        </p:nvSpPr>
        <p:spPr>
          <a:xfrm>
            <a:off x="777240" y="1874520"/>
            <a:ext cx="133560" cy="133560"/>
          </a:xfrm>
          <a:prstGeom prst="ellipse">
            <a:avLst/>
          </a:prstGeom>
          <a:solidFill>
            <a:srgbClr val="FF5F5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3" name="Shape 5"/>
          <p:cNvSpPr/>
          <p:nvPr/>
        </p:nvSpPr>
        <p:spPr>
          <a:xfrm>
            <a:off x="960120" y="1874520"/>
            <a:ext cx="133560" cy="133560"/>
          </a:xfrm>
          <a:prstGeom prst="ellipse">
            <a:avLst/>
          </a:prstGeom>
          <a:solidFill>
            <a:srgbClr val="FFBD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4" name="Shape 6"/>
          <p:cNvSpPr/>
          <p:nvPr/>
        </p:nvSpPr>
        <p:spPr>
          <a:xfrm>
            <a:off x="1143000" y="1874520"/>
            <a:ext cx="133560" cy="133560"/>
          </a:xfrm>
          <a:prstGeom prst="ellipse">
            <a:avLst/>
          </a:prstGeom>
          <a:solidFill>
            <a:srgbClr val="27C9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960" tIns="45000" rIns="6696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5" name="Text 7"/>
          <p:cNvSpPr/>
          <p:nvPr/>
        </p:nvSpPr>
        <p:spPr>
          <a:xfrm>
            <a:off x="1371600" y="1783080"/>
            <a:ext cx="54828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1A1AA"/>
                </a:solidFill>
                <a:effectLst/>
                <a:uFillTx/>
                <a:latin typeface="Consolas"/>
                <a:ea typeface="Consolas"/>
              </a:rPr>
              <a:t>docker-compose.yml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6" name="Text 8"/>
          <p:cNvSpPr/>
          <p:nvPr/>
        </p:nvSpPr>
        <p:spPr>
          <a:xfrm>
            <a:off x="777240" y="224028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C4899"/>
                </a:solidFill>
                <a:effectLst/>
                <a:uFillTx/>
                <a:latin typeface="Consolas"/>
                <a:ea typeface="Consolas"/>
              </a:rPr>
              <a:t>services: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7" name="Text 9"/>
          <p:cNvSpPr/>
          <p:nvPr/>
        </p:nvSpPr>
        <p:spPr>
          <a:xfrm>
            <a:off x="777240" y="241416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app: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8" name="Text 10"/>
          <p:cNvSpPr/>
          <p:nvPr/>
        </p:nvSpPr>
        <p:spPr>
          <a:xfrm>
            <a:off x="777240" y="258768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build: 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9" name="Text 11"/>
          <p:cNvSpPr/>
          <p:nvPr/>
        </p:nvSpPr>
        <p:spPr>
          <a:xfrm>
            <a:off x="777240" y="276156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ports: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0" name="Text 12"/>
          <p:cNvSpPr/>
          <p:nvPr/>
        </p:nvSpPr>
        <p:spPr>
          <a:xfrm>
            <a:off x="777240" y="293508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  - "3000:3000"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1" name="Text 13"/>
          <p:cNvSpPr/>
          <p:nvPr/>
        </p:nvSpPr>
        <p:spPr>
          <a:xfrm>
            <a:off x="777240" y="310896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environment: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2" name="Text 14"/>
          <p:cNvSpPr/>
          <p:nvPr/>
        </p:nvSpPr>
        <p:spPr>
          <a:xfrm>
            <a:off x="777240" y="328284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DATABASE_URL: ${DATABASE_URL}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3" name="Text 15"/>
          <p:cNvSpPr/>
          <p:nvPr/>
        </p:nvSpPr>
        <p:spPr>
          <a:xfrm>
            <a:off x="777240" y="345636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UPSTASH_REDIS_REST_URL: ${UPSTASH_REDIS_REST_URL}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4" name="Text 16"/>
          <p:cNvSpPr/>
          <p:nvPr/>
        </p:nvSpPr>
        <p:spPr>
          <a:xfrm>
            <a:off x="777240" y="363024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JWT_SECRET: ${JWT_SECRET}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5" name="Text 17"/>
          <p:cNvSpPr/>
          <p:nvPr/>
        </p:nvSpPr>
        <p:spPr>
          <a:xfrm>
            <a:off x="777240" y="380376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env_file: [ .env 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6" name="Text 18"/>
          <p:cNvSpPr/>
          <p:nvPr/>
        </p:nvSpPr>
        <p:spPr>
          <a:xfrm>
            <a:off x="777240" y="397764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7" name="Text 19"/>
          <p:cNvSpPr/>
          <p:nvPr/>
        </p:nvSpPr>
        <p:spPr>
          <a:xfrm>
            <a:off x="777240" y="415152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db: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8" name="Text 20"/>
          <p:cNvSpPr/>
          <p:nvPr/>
        </p:nvSpPr>
        <p:spPr>
          <a:xfrm>
            <a:off x="777240" y="432504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image: postgres:16-alpine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9" name="Text 21"/>
          <p:cNvSpPr/>
          <p:nvPr/>
        </p:nvSpPr>
        <p:spPr>
          <a:xfrm>
            <a:off x="777240" y="449892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ports: ["5432:5432"]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0" name="Text 22"/>
          <p:cNvSpPr/>
          <p:nvPr/>
        </p:nvSpPr>
        <p:spPr>
          <a:xfrm>
            <a:off x="777240" y="467244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59E0B"/>
                </a:solidFill>
                <a:effectLst/>
                <a:uFillTx/>
                <a:latin typeface="Consolas"/>
                <a:ea typeface="Consolas"/>
              </a:rPr>
              <a:t>    environment: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1" name="Text 23"/>
          <p:cNvSpPr/>
          <p:nvPr/>
        </p:nvSpPr>
        <p:spPr>
          <a:xfrm>
            <a:off x="777240" y="484632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POSTGRES_DB: social-network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2" name="Text 24"/>
          <p:cNvSpPr/>
          <p:nvPr/>
        </p:nvSpPr>
        <p:spPr>
          <a:xfrm>
            <a:off x="777240" y="502020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B5CF6"/>
                </a:solidFill>
                <a:effectLst/>
                <a:uFillTx/>
                <a:latin typeface="Consolas"/>
                <a:ea typeface="Consolas"/>
              </a:rPr>
              <a:t>      POSTGRES_USER: postgres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3" name="Text 25"/>
          <p:cNvSpPr/>
          <p:nvPr/>
        </p:nvSpPr>
        <p:spPr>
          <a:xfrm>
            <a:off x="777240" y="519372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F4444"/>
                </a:solidFill>
                <a:effectLst/>
                <a:uFillTx/>
                <a:latin typeface="Consolas"/>
                <a:ea typeface="Consolas"/>
              </a:rPr>
              <a:t>      POSTGRES_PASSWORD: postgres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4" name="Text 26"/>
          <p:cNvSpPr/>
          <p:nvPr/>
        </p:nvSpPr>
        <p:spPr>
          <a:xfrm>
            <a:off x="777240" y="536760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5" name="Text 27"/>
          <p:cNvSpPr/>
          <p:nvPr/>
        </p:nvSpPr>
        <p:spPr>
          <a:xfrm>
            <a:off x="777240" y="554112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06B6D4"/>
                </a:solidFill>
                <a:effectLst/>
                <a:uFillTx/>
                <a:latin typeface="Consolas"/>
                <a:ea typeface="Consolas"/>
              </a:rPr>
              <a:t>  redis: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6" name="Text 28"/>
          <p:cNvSpPr/>
          <p:nvPr/>
        </p:nvSpPr>
        <p:spPr>
          <a:xfrm>
            <a:off x="777240" y="571500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    image: redis:7-alpine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7" name="Text 29"/>
          <p:cNvSpPr/>
          <p:nvPr/>
        </p:nvSpPr>
        <p:spPr>
          <a:xfrm>
            <a:off x="777240" y="5888880"/>
            <a:ext cx="694584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10B981"/>
                </a:solidFill>
                <a:effectLst/>
                <a:uFillTx/>
                <a:latin typeface="Consolas"/>
                <a:ea typeface="Consolas"/>
              </a:rPr>
              <a:t>    ports: ["6379:6379"]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8" name="Shape 30"/>
          <p:cNvSpPr/>
          <p:nvPr/>
        </p:nvSpPr>
        <p:spPr>
          <a:xfrm>
            <a:off x="8128440" y="1691640"/>
            <a:ext cx="3516840" cy="4568400"/>
          </a:xfrm>
          <a:prstGeom prst="roundRect">
            <a:avLst>
              <a:gd name="adj" fmla="val 2078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39" name="Text 31"/>
          <p:cNvSpPr/>
          <p:nvPr/>
        </p:nvSpPr>
        <p:spPr>
          <a:xfrm>
            <a:off x="8275320" y="1783080"/>
            <a:ext cx="31968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Pourquoi compose ?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0" name="Shape 32"/>
          <p:cNvSpPr/>
          <p:nvPr/>
        </p:nvSpPr>
        <p:spPr>
          <a:xfrm>
            <a:off x="8275320" y="2240280"/>
            <a:ext cx="407880" cy="40788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1" name="Text 33"/>
          <p:cNvSpPr/>
          <p:nvPr/>
        </p:nvSpPr>
        <p:spPr>
          <a:xfrm>
            <a:off x="8275320" y="224028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⚓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2" name="Text 34"/>
          <p:cNvSpPr/>
          <p:nvPr/>
        </p:nvSpPr>
        <p:spPr>
          <a:xfrm>
            <a:off x="8814240" y="219456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Reproduit prod en local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3" name="Shape 35"/>
          <p:cNvSpPr/>
          <p:nvPr/>
        </p:nvSpPr>
        <p:spPr>
          <a:xfrm>
            <a:off x="8275320" y="2880360"/>
            <a:ext cx="407880" cy="407880"/>
          </a:xfrm>
          <a:prstGeom prst="ellipse">
            <a:avLst/>
          </a:prstGeom>
          <a:solidFill>
            <a:srgbClr val="8B5CF6">
              <a:alpha val="30000"/>
            </a:srgbClr>
          </a:solidFill>
          <a:ln w="127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4" name="Text 36"/>
          <p:cNvSpPr/>
          <p:nvPr/>
        </p:nvSpPr>
        <p:spPr>
          <a:xfrm>
            <a:off x="8275320" y="2844360"/>
            <a:ext cx="407880" cy="44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▤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5" name="Text 37"/>
          <p:cNvSpPr/>
          <p:nvPr/>
        </p:nvSpPr>
        <p:spPr>
          <a:xfrm>
            <a:off x="8814240" y="283464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 + services cloud (Neon · Upstash)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6" name="Shape 38"/>
          <p:cNvSpPr/>
          <p:nvPr/>
        </p:nvSpPr>
        <p:spPr>
          <a:xfrm>
            <a:off x="8275320" y="3520440"/>
            <a:ext cx="407880" cy="407880"/>
          </a:xfrm>
          <a:prstGeom prst="ellipse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47" name="Text 39"/>
          <p:cNvSpPr/>
          <p:nvPr/>
        </p:nvSpPr>
        <p:spPr>
          <a:xfrm>
            <a:off x="8275320" y="352044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↻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8" name="Text 40"/>
          <p:cNvSpPr/>
          <p:nvPr/>
        </p:nvSpPr>
        <p:spPr>
          <a:xfrm>
            <a:off x="8814240" y="347472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Depends_on respecté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9" name="Shape 41"/>
          <p:cNvSpPr/>
          <p:nvPr/>
        </p:nvSpPr>
        <p:spPr>
          <a:xfrm>
            <a:off x="8275320" y="4160520"/>
            <a:ext cx="407880" cy="40788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0" name="Text 42"/>
          <p:cNvSpPr/>
          <p:nvPr/>
        </p:nvSpPr>
        <p:spPr>
          <a:xfrm>
            <a:off x="8275320" y="416052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✦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1" name="Text 43"/>
          <p:cNvSpPr/>
          <p:nvPr/>
        </p:nvSpPr>
        <p:spPr>
          <a:xfrm>
            <a:off x="8814240" y="411480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Variables d'env via .env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2" name="Shape 44"/>
          <p:cNvSpPr/>
          <p:nvPr/>
        </p:nvSpPr>
        <p:spPr>
          <a:xfrm>
            <a:off x="8275320" y="4800600"/>
            <a:ext cx="407880" cy="407880"/>
          </a:xfrm>
          <a:prstGeom prst="ellipse">
            <a:avLst/>
          </a:prstGeom>
          <a:solidFill>
            <a:srgbClr val="10B981">
              <a:alpha val="30000"/>
            </a:srgbClr>
          </a:solidFill>
          <a:ln w="127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3" name="Text 45"/>
          <p:cNvSpPr/>
          <p:nvPr/>
        </p:nvSpPr>
        <p:spPr>
          <a:xfrm>
            <a:off x="8275320" y="4764600"/>
            <a:ext cx="4438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▷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4" name="Text 46"/>
          <p:cNvSpPr/>
          <p:nvPr/>
        </p:nvSpPr>
        <p:spPr>
          <a:xfrm>
            <a:off x="8814240" y="475488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compose up = ready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5" name="Shape 47"/>
          <p:cNvSpPr/>
          <p:nvPr/>
        </p:nvSpPr>
        <p:spPr>
          <a:xfrm>
            <a:off x="8275320" y="5440680"/>
            <a:ext cx="407880" cy="407880"/>
          </a:xfrm>
          <a:prstGeom prst="ellipse">
            <a:avLst/>
          </a:prstGeom>
          <a:solidFill>
            <a:srgbClr val="EF4444">
              <a:alpha val="30000"/>
            </a:srgbClr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56" name="Text 48"/>
          <p:cNvSpPr/>
          <p:nvPr/>
        </p:nvSpPr>
        <p:spPr>
          <a:xfrm>
            <a:off x="8275320" y="5440680"/>
            <a:ext cx="40788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⊕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7" name="Text 49"/>
          <p:cNvSpPr/>
          <p:nvPr/>
        </p:nvSpPr>
        <p:spPr>
          <a:xfrm>
            <a:off x="8814240" y="5394960"/>
            <a:ext cx="2739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Profil dev (hot reload)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5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59" name="Text 50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0" name="Text 51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1" name="Text 0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05 · DÉPLOIEMENT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2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Production · Vercel + Neon + Upstash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3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4" name="Shape 3"/>
          <p:cNvSpPr/>
          <p:nvPr/>
        </p:nvSpPr>
        <p:spPr>
          <a:xfrm>
            <a:off x="480240" y="1691640"/>
            <a:ext cx="3699720" cy="420264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5" name="Shape 4"/>
          <p:cNvSpPr/>
          <p:nvPr/>
        </p:nvSpPr>
        <p:spPr>
          <a:xfrm>
            <a:off x="480240" y="1691640"/>
            <a:ext cx="3699720" cy="4536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6" name="Text 5"/>
          <p:cNvSpPr/>
          <p:nvPr/>
        </p:nvSpPr>
        <p:spPr>
          <a:xfrm>
            <a:off x="480240" y="1691640"/>
            <a:ext cx="369972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DÉVELOPPEMENT LOCAL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7" name="Shape 6"/>
          <p:cNvSpPr/>
          <p:nvPr/>
        </p:nvSpPr>
        <p:spPr>
          <a:xfrm>
            <a:off x="708840" y="2331720"/>
            <a:ext cx="545040" cy="5450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68" name="Text 7"/>
          <p:cNvSpPr/>
          <p:nvPr/>
        </p:nvSpPr>
        <p:spPr>
          <a:xfrm>
            <a:off x="708840" y="2331720"/>
            <a:ext cx="54504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⚓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9" name="Text 8"/>
          <p:cNvSpPr/>
          <p:nvPr/>
        </p:nvSpPr>
        <p:spPr>
          <a:xfrm>
            <a:off x="1348920" y="2331720"/>
            <a:ext cx="269388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docker-compose.yml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0" name="Text 9"/>
          <p:cNvSpPr/>
          <p:nvPr/>
        </p:nvSpPr>
        <p:spPr>
          <a:xfrm>
            <a:off x="1348920" y="2651760"/>
            <a:ext cx="269388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Postgres + Redis + App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1" name="Shape 10"/>
          <p:cNvSpPr/>
          <p:nvPr/>
        </p:nvSpPr>
        <p:spPr>
          <a:xfrm>
            <a:off x="708840" y="3474720"/>
            <a:ext cx="545040" cy="5450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2" name="Text 11"/>
          <p:cNvSpPr/>
          <p:nvPr/>
        </p:nvSpPr>
        <p:spPr>
          <a:xfrm>
            <a:off x="708840" y="3474720"/>
            <a:ext cx="54504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3" name="Text 12"/>
          <p:cNvSpPr/>
          <p:nvPr/>
        </p:nvSpPr>
        <p:spPr>
          <a:xfrm>
            <a:off x="1348920" y="3474720"/>
            <a:ext cx="269388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Bun + hot reload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4" name="Text 13"/>
          <p:cNvSpPr/>
          <p:nvPr/>
        </p:nvSpPr>
        <p:spPr>
          <a:xfrm>
            <a:off x="1348920" y="3794760"/>
            <a:ext cx="269388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bun dev profil dev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5" name="Shape 14"/>
          <p:cNvSpPr/>
          <p:nvPr/>
        </p:nvSpPr>
        <p:spPr>
          <a:xfrm>
            <a:off x="708840" y="4617720"/>
            <a:ext cx="545040" cy="54504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76" name="Text 15"/>
          <p:cNvSpPr/>
          <p:nvPr/>
        </p:nvSpPr>
        <p:spPr>
          <a:xfrm>
            <a:off x="708840" y="4617720"/>
            <a:ext cx="54504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↻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7" name="Text 16"/>
          <p:cNvSpPr/>
          <p:nvPr/>
        </p:nvSpPr>
        <p:spPr>
          <a:xfrm>
            <a:off x="1348920" y="4617720"/>
            <a:ext cx="269388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Migrations auto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8" name="Text 17"/>
          <p:cNvSpPr/>
          <p:nvPr/>
        </p:nvSpPr>
        <p:spPr>
          <a:xfrm>
            <a:off x="1348920" y="4937760"/>
            <a:ext cx="269388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 migrate dev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9" name="Shape 18"/>
          <p:cNvSpPr/>
          <p:nvPr/>
        </p:nvSpPr>
        <p:spPr>
          <a:xfrm>
            <a:off x="4155840" y="3794760"/>
            <a:ext cx="9144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45720" tIns="-44640" rIns="4572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0" name="Shape 19"/>
          <p:cNvSpPr/>
          <p:nvPr/>
        </p:nvSpPr>
        <p:spPr>
          <a:xfrm>
            <a:off x="4229280" y="1691640"/>
            <a:ext cx="3699720" cy="420264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1" name="Shape 20"/>
          <p:cNvSpPr/>
          <p:nvPr/>
        </p:nvSpPr>
        <p:spPr>
          <a:xfrm>
            <a:off x="4229280" y="1691640"/>
            <a:ext cx="3699720" cy="45360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2" name="Text 21"/>
          <p:cNvSpPr/>
          <p:nvPr/>
        </p:nvSpPr>
        <p:spPr>
          <a:xfrm>
            <a:off x="4229280" y="1691640"/>
            <a:ext cx="369972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PRÉ-PROD / CI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3" name="Shape 22"/>
          <p:cNvSpPr/>
          <p:nvPr/>
        </p:nvSpPr>
        <p:spPr>
          <a:xfrm>
            <a:off x="4457880" y="2331720"/>
            <a:ext cx="545040" cy="5450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4" name="Text 23"/>
          <p:cNvSpPr/>
          <p:nvPr/>
        </p:nvSpPr>
        <p:spPr>
          <a:xfrm>
            <a:off x="4457880" y="2259720"/>
            <a:ext cx="545040" cy="61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5" name="Text 24"/>
          <p:cNvSpPr/>
          <p:nvPr/>
        </p:nvSpPr>
        <p:spPr>
          <a:xfrm>
            <a:off x="5097960" y="2331720"/>
            <a:ext cx="269388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GitHub Actions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6" name="Text 25"/>
          <p:cNvSpPr/>
          <p:nvPr/>
        </p:nvSpPr>
        <p:spPr>
          <a:xfrm>
            <a:off x="5097960" y="2651760"/>
            <a:ext cx="269388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Lint · Test · Build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7" name="Shape 26"/>
          <p:cNvSpPr/>
          <p:nvPr/>
        </p:nvSpPr>
        <p:spPr>
          <a:xfrm>
            <a:off x="4457880" y="3474720"/>
            <a:ext cx="545040" cy="5450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88" name="Text 27"/>
          <p:cNvSpPr/>
          <p:nvPr/>
        </p:nvSpPr>
        <p:spPr>
          <a:xfrm>
            <a:off x="4457880" y="3474720"/>
            <a:ext cx="54504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❀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9" name="Text 28"/>
          <p:cNvSpPr/>
          <p:nvPr/>
        </p:nvSpPr>
        <p:spPr>
          <a:xfrm>
            <a:off x="5097960" y="3474720"/>
            <a:ext cx="269388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Preview 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0" name="Text 29"/>
          <p:cNvSpPr/>
          <p:nvPr/>
        </p:nvSpPr>
        <p:spPr>
          <a:xfrm>
            <a:off x="5097960" y="3794760"/>
            <a:ext cx="269388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URL unique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1" name="Shape 30"/>
          <p:cNvSpPr/>
          <p:nvPr/>
        </p:nvSpPr>
        <p:spPr>
          <a:xfrm>
            <a:off x="4457880" y="4617720"/>
            <a:ext cx="545040" cy="54504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2" name="Text 31"/>
          <p:cNvSpPr/>
          <p:nvPr/>
        </p:nvSpPr>
        <p:spPr>
          <a:xfrm>
            <a:off x="4457880" y="4617720"/>
            <a:ext cx="54504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3" name="Text 32"/>
          <p:cNvSpPr/>
          <p:nvPr/>
        </p:nvSpPr>
        <p:spPr>
          <a:xfrm>
            <a:off x="5097960" y="4617720"/>
            <a:ext cx="269388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Neon Branching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4" name="Text 33"/>
          <p:cNvSpPr/>
          <p:nvPr/>
        </p:nvSpPr>
        <p:spPr>
          <a:xfrm>
            <a:off x="5097960" y="4937760"/>
            <a:ext cx="269388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BDD isolée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5" name="Shape 34"/>
          <p:cNvSpPr/>
          <p:nvPr/>
        </p:nvSpPr>
        <p:spPr>
          <a:xfrm>
            <a:off x="7904880" y="3794760"/>
            <a:ext cx="91440" cy="360"/>
          </a:xfrm>
          <a:prstGeom prst="line">
            <a:avLst/>
          </a:prstGeom>
          <a:ln w="25400">
            <a:solidFill>
              <a:srgbClr val="EC489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45720" tIns="-44640" rIns="45720" bIns="-4464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6" name="Shape 35"/>
          <p:cNvSpPr/>
          <p:nvPr/>
        </p:nvSpPr>
        <p:spPr>
          <a:xfrm>
            <a:off x="7978320" y="1691640"/>
            <a:ext cx="3699720" cy="420264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7" name="Shape 36"/>
          <p:cNvSpPr/>
          <p:nvPr/>
        </p:nvSpPr>
        <p:spPr>
          <a:xfrm>
            <a:off x="7978320" y="1691640"/>
            <a:ext cx="3699720" cy="45360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98" name="Text 37"/>
          <p:cNvSpPr/>
          <p:nvPr/>
        </p:nvSpPr>
        <p:spPr>
          <a:xfrm>
            <a:off x="7978320" y="1691640"/>
            <a:ext cx="369972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9" name="Shape 38"/>
          <p:cNvSpPr/>
          <p:nvPr/>
        </p:nvSpPr>
        <p:spPr>
          <a:xfrm>
            <a:off x="8206920" y="2331720"/>
            <a:ext cx="545040" cy="54504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0" name="Text 39"/>
          <p:cNvSpPr/>
          <p:nvPr/>
        </p:nvSpPr>
        <p:spPr>
          <a:xfrm>
            <a:off x="8206920" y="2259720"/>
            <a:ext cx="545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▲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1" name="Text 40"/>
          <p:cNvSpPr/>
          <p:nvPr/>
        </p:nvSpPr>
        <p:spPr>
          <a:xfrm>
            <a:off x="8847000" y="2331720"/>
            <a:ext cx="269388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2" name="Text 41"/>
          <p:cNvSpPr/>
          <p:nvPr/>
        </p:nvSpPr>
        <p:spPr>
          <a:xfrm>
            <a:off x="8847000" y="2651760"/>
            <a:ext cx="269388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+ edge functions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3" name="Shape 42"/>
          <p:cNvSpPr/>
          <p:nvPr/>
        </p:nvSpPr>
        <p:spPr>
          <a:xfrm>
            <a:off x="8206920" y="3474720"/>
            <a:ext cx="545040" cy="54504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4" name="Text 43"/>
          <p:cNvSpPr/>
          <p:nvPr/>
        </p:nvSpPr>
        <p:spPr>
          <a:xfrm>
            <a:off x="8206920" y="3402720"/>
            <a:ext cx="545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5" name="Text 44"/>
          <p:cNvSpPr/>
          <p:nvPr/>
        </p:nvSpPr>
        <p:spPr>
          <a:xfrm>
            <a:off x="8847000" y="3474720"/>
            <a:ext cx="269388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Neon PostgreSQL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6" name="Text 45"/>
          <p:cNvSpPr/>
          <p:nvPr/>
        </p:nvSpPr>
        <p:spPr>
          <a:xfrm>
            <a:off x="8847000" y="3794760"/>
            <a:ext cx="269388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Branches main +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7" name="Shape 46"/>
          <p:cNvSpPr/>
          <p:nvPr/>
        </p:nvSpPr>
        <p:spPr>
          <a:xfrm>
            <a:off x="8206920" y="4617720"/>
            <a:ext cx="545040" cy="54504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08" name="Text 47"/>
          <p:cNvSpPr/>
          <p:nvPr/>
        </p:nvSpPr>
        <p:spPr>
          <a:xfrm>
            <a:off x="8206920" y="4617720"/>
            <a:ext cx="54504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9" name="Text 48"/>
          <p:cNvSpPr/>
          <p:nvPr/>
        </p:nvSpPr>
        <p:spPr>
          <a:xfrm>
            <a:off x="8847000" y="4617720"/>
            <a:ext cx="269388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Upstash Redis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0" name="Text 49"/>
          <p:cNvSpPr/>
          <p:nvPr/>
        </p:nvSpPr>
        <p:spPr>
          <a:xfrm>
            <a:off x="8847000" y="4937760"/>
            <a:ext cx="269388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REST · pay-as-you-go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1" name="Shape 50"/>
          <p:cNvSpPr/>
          <p:nvPr/>
        </p:nvSpPr>
        <p:spPr>
          <a:xfrm>
            <a:off x="548640" y="6035040"/>
            <a:ext cx="11060640" cy="270720"/>
          </a:xfrm>
          <a:prstGeom prst="roundRect">
            <a:avLst>
              <a:gd name="adj" fmla="val 26667"/>
            </a:avLst>
          </a:prstGeom>
          <a:solidFill>
            <a:srgbClr val="1F2028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2" name="Text 51"/>
          <p:cNvSpPr/>
          <p:nvPr/>
        </p:nvSpPr>
        <p:spPr>
          <a:xfrm>
            <a:off x="777240" y="6035040"/>
            <a:ext cx="106034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Rollback Vercel one-click · Healthcheck applicatif · Secrets via env vars (jamais committés) · SSL automatique.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1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14" name="Text 52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5" name="Text 53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6" name="Text 0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04 · DÉVELOPPEMENT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7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Veille technique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8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19" name="Shape 3"/>
          <p:cNvSpPr/>
          <p:nvPr/>
        </p:nvSpPr>
        <p:spPr>
          <a:xfrm>
            <a:off x="548640" y="1691640"/>
            <a:ext cx="5528520" cy="456840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20" name="Text 4"/>
          <p:cNvSpPr/>
          <p:nvPr/>
        </p:nvSpPr>
        <p:spPr>
          <a:xfrm>
            <a:off x="731520" y="1783080"/>
            <a:ext cx="5025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Sources suivies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1" name="Text 5"/>
          <p:cNvSpPr/>
          <p:nvPr/>
        </p:nvSpPr>
        <p:spPr>
          <a:xfrm>
            <a:off x="777240" y="2240280"/>
            <a:ext cx="453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2" name="Text 6"/>
          <p:cNvSpPr/>
          <p:nvPr/>
        </p:nvSpPr>
        <p:spPr>
          <a:xfrm>
            <a:off x="1280160" y="2240280"/>
            <a:ext cx="45684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Vercel Blog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3" name="Text 7"/>
          <p:cNvSpPr/>
          <p:nvPr/>
        </p:nvSpPr>
        <p:spPr>
          <a:xfrm>
            <a:off x="1280160" y="2514600"/>
            <a:ext cx="45684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Annonces Next.js, App Router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4" name="Text 8"/>
          <p:cNvSpPr/>
          <p:nvPr/>
        </p:nvSpPr>
        <p:spPr>
          <a:xfrm>
            <a:off x="813240" y="2880360"/>
            <a:ext cx="453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5" name="Text 9"/>
          <p:cNvSpPr/>
          <p:nvPr/>
        </p:nvSpPr>
        <p:spPr>
          <a:xfrm>
            <a:off x="1280160" y="2880360"/>
            <a:ext cx="45684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React Docs (canary)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6" name="Text 10"/>
          <p:cNvSpPr/>
          <p:nvPr/>
        </p:nvSpPr>
        <p:spPr>
          <a:xfrm>
            <a:off x="1280160" y="3154680"/>
            <a:ext cx="45684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 Components,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7" name="Text 11"/>
          <p:cNvSpPr/>
          <p:nvPr/>
        </p:nvSpPr>
        <p:spPr>
          <a:xfrm>
            <a:off x="777240" y="3520440"/>
            <a:ext cx="453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8" name="Text 12"/>
          <p:cNvSpPr/>
          <p:nvPr/>
        </p:nvSpPr>
        <p:spPr>
          <a:xfrm>
            <a:off x="1280160" y="3520440"/>
            <a:ext cx="45684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OWASP Cheat Sheets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9" name="Text 13"/>
          <p:cNvSpPr/>
          <p:nvPr/>
        </p:nvSpPr>
        <p:spPr>
          <a:xfrm>
            <a:off x="1280160" y="3794760"/>
            <a:ext cx="45684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Sécurité applicative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0" name="Text 14"/>
          <p:cNvSpPr/>
          <p:nvPr/>
        </p:nvSpPr>
        <p:spPr>
          <a:xfrm>
            <a:off x="813240" y="4160520"/>
            <a:ext cx="453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□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1" name="Text 15"/>
          <p:cNvSpPr/>
          <p:nvPr/>
        </p:nvSpPr>
        <p:spPr>
          <a:xfrm>
            <a:off x="1280160" y="4160520"/>
            <a:ext cx="45684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RFC / WHATWG specs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2" name="Text 16"/>
          <p:cNvSpPr/>
          <p:nvPr/>
        </p:nvSpPr>
        <p:spPr>
          <a:xfrm>
            <a:off x="1280160" y="4434840"/>
            <a:ext cx="45684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HTTP, cookies, fetch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3" name="Text 17"/>
          <p:cNvSpPr/>
          <p:nvPr/>
        </p:nvSpPr>
        <p:spPr>
          <a:xfrm>
            <a:off x="777240" y="4800600"/>
            <a:ext cx="453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✦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4" name="Text 18"/>
          <p:cNvSpPr/>
          <p:nvPr/>
        </p:nvSpPr>
        <p:spPr>
          <a:xfrm>
            <a:off x="1280160" y="4800600"/>
            <a:ext cx="45684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Twitter dev community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5" name="Text 19"/>
          <p:cNvSpPr/>
          <p:nvPr/>
        </p:nvSpPr>
        <p:spPr>
          <a:xfrm>
            <a:off x="1280160" y="5074920"/>
            <a:ext cx="45684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Theo, Lee Robinson, Dan Abramov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6" name="Text 20"/>
          <p:cNvSpPr/>
          <p:nvPr/>
        </p:nvSpPr>
        <p:spPr>
          <a:xfrm>
            <a:off x="813240" y="5440680"/>
            <a:ext cx="4536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▷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7" name="Text 21"/>
          <p:cNvSpPr/>
          <p:nvPr/>
        </p:nvSpPr>
        <p:spPr>
          <a:xfrm>
            <a:off x="1280160" y="5440680"/>
            <a:ext cx="45684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YouTube — Theo, Fireship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8" name="Text 22"/>
          <p:cNvSpPr/>
          <p:nvPr/>
        </p:nvSpPr>
        <p:spPr>
          <a:xfrm>
            <a:off x="1280160" y="5715000"/>
            <a:ext cx="4568400" cy="22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Synthèses &amp; démos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9" name="Shape 23"/>
          <p:cNvSpPr/>
          <p:nvPr/>
        </p:nvSpPr>
        <p:spPr>
          <a:xfrm>
            <a:off x="6263640" y="1691640"/>
            <a:ext cx="5528520" cy="456840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0" name="Text 24"/>
          <p:cNvSpPr/>
          <p:nvPr/>
        </p:nvSpPr>
        <p:spPr>
          <a:xfrm>
            <a:off x="6446520" y="1783080"/>
            <a:ext cx="5025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Méthode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1" name="Shape 25"/>
          <p:cNvSpPr/>
          <p:nvPr/>
        </p:nvSpPr>
        <p:spPr>
          <a:xfrm>
            <a:off x="6446520" y="2240280"/>
            <a:ext cx="499320" cy="49932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2" name="Text 26"/>
          <p:cNvSpPr/>
          <p:nvPr/>
        </p:nvSpPr>
        <p:spPr>
          <a:xfrm>
            <a:off x="6446520" y="2240280"/>
            <a:ext cx="49932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3" name="Text 27"/>
          <p:cNvSpPr/>
          <p:nvPr/>
        </p:nvSpPr>
        <p:spPr>
          <a:xfrm>
            <a:off x="7040880" y="2312280"/>
            <a:ext cx="45684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Filtrer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4" name="Text 28"/>
          <p:cNvSpPr/>
          <p:nvPr/>
        </p:nvSpPr>
        <p:spPr>
          <a:xfrm>
            <a:off x="7040880" y="2478600"/>
            <a:ext cx="45684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Critère : signal-to-noise élevé, sources primaires d'abord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5" name="Shape 29"/>
          <p:cNvSpPr/>
          <p:nvPr/>
        </p:nvSpPr>
        <p:spPr>
          <a:xfrm>
            <a:off x="6446520" y="3017520"/>
            <a:ext cx="499320" cy="49932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6" name="Text 30"/>
          <p:cNvSpPr/>
          <p:nvPr/>
        </p:nvSpPr>
        <p:spPr>
          <a:xfrm>
            <a:off x="6446520" y="3017520"/>
            <a:ext cx="49932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7" name="Text 31"/>
          <p:cNvSpPr/>
          <p:nvPr/>
        </p:nvSpPr>
        <p:spPr>
          <a:xfrm>
            <a:off x="7040880" y="3089520"/>
            <a:ext cx="45684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Lire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8" name="Text 32"/>
          <p:cNvSpPr/>
          <p:nvPr/>
        </p:nvSpPr>
        <p:spPr>
          <a:xfrm>
            <a:off x="7040880" y="3255840"/>
            <a:ext cx="45684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30 min / matin, Pocket pour le offline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9" name="Shape 33"/>
          <p:cNvSpPr/>
          <p:nvPr/>
        </p:nvSpPr>
        <p:spPr>
          <a:xfrm>
            <a:off x="6446520" y="3794760"/>
            <a:ext cx="499320" cy="49932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0" name="Text 34"/>
          <p:cNvSpPr/>
          <p:nvPr/>
        </p:nvSpPr>
        <p:spPr>
          <a:xfrm>
            <a:off x="6446520" y="3794760"/>
            <a:ext cx="49932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1" name="Text 35"/>
          <p:cNvSpPr/>
          <p:nvPr/>
        </p:nvSpPr>
        <p:spPr>
          <a:xfrm>
            <a:off x="7040880" y="3830760"/>
            <a:ext cx="45684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2" name="Text 36"/>
          <p:cNvSpPr/>
          <p:nvPr/>
        </p:nvSpPr>
        <p:spPr>
          <a:xfrm>
            <a:off x="7040880" y="4033080"/>
            <a:ext cx="45684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Petite preuve de concept si la techno entre dans le projet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3" name="Shape 37"/>
          <p:cNvSpPr/>
          <p:nvPr/>
        </p:nvSpPr>
        <p:spPr>
          <a:xfrm>
            <a:off x="6446520" y="4572000"/>
            <a:ext cx="499320" cy="49932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4" name="Text 38"/>
          <p:cNvSpPr/>
          <p:nvPr/>
        </p:nvSpPr>
        <p:spPr>
          <a:xfrm>
            <a:off x="6446520" y="4572000"/>
            <a:ext cx="49932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5" name="Text 39"/>
          <p:cNvSpPr/>
          <p:nvPr/>
        </p:nvSpPr>
        <p:spPr>
          <a:xfrm>
            <a:off x="7040880" y="4644000"/>
            <a:ext cx="45684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6" name="Text 40"/>
          <p:cNvSpPr/>
          <p:nvPr/>
        </p:nvSpPr>
        <p:spPr>
          <a:xfrm>
            <a:off x="7040880" y="4810320"/>
            <a:ext cx="45684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Notes dans Obsidian, lien vers la source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7" name="Shape 41"/>
          <p:cNvSpPr/>
          <p:nvPr/>
        </p:nvSpPr>
        <p:spPr>
          <a:xfrm>
            <a:off x="6446520" y="5349240"/>
            <a:ext cx="499320" cy="499320"/>
          </a:xfrm>
          <a:prstGeom prst="ellipse">
            <a:avLst/>
          </a:prstGeom>
          <a:solidFill>
            <a:srgbClr val="EC4899">
              <a:alpha val="25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58" name="Text 42"/>
          <p:cNvSpPr/>
          <p:nvPr/>
        </p:nvSpPr>
        <p:spPr>
          <a:xfrm>
            <a:off x="6446520" y="5349240"/>
            <a:ext cx="49932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9" name="Text 43"/>
          <p:cNvSpPr/>
          <p:nvPr/>
        </p:nvSpPr>
        <p:spPr>
          <a:xfrm>
            <a:off x="7040880" y="5421240"/>
            <a:ext cx="45684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Partager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0" name="Text 44"/>
          <p:cNvSpPr/>
          <p:nvPr/>
        </p:nvSpPr>
        <p:spPr>
          <a:xfrm>
            <a:off x="7040880" y="5587560"/>
            <a:ext cx="45684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Discussion équipe sur les choix structurants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6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2" name="Text 45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3" name="Text 46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52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4" name="Text 0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5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Métriques du projet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6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7" name="Shape 3"/>
          <p:cNvSpPr/>
          <p:nvPr/>
        </p:nvSpPr>
        <p:spPr>
          <a:xfrm>
            <a:off x="548640" y="1691640"/>
            <a:ext cx="2693880" cy="164232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8" name="Text 4"/>
          <p:cNvSpPr/>
          <p:nvPr/>
        </p:nvSpPr>
        <p:spPr>
          <a:xfrm>
            <a:off x="548640" y="1783080"/>
            <a:ext cx="269388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9" name="Text 5"/>
          <p:cNvSpPr/>
          <p:nvPr/>
        </p:nvSpPr>
        <p:spPr>
          <a:xfrm>
            <a:off x="548640" y="2697480"/>
            <a:ext cx="269388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modèles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0" name="Shape 6"/>
          <p:cNvSpPr/>
          <p:nvPr/>
        </p:nvSpPr>
        <p:spPr>
          <a:xfrm>
            <a:off x="3383280" y="1691640"/>
            <a:ext cx="2693880" cy="164232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1" name="Text 7"/>
          <p:cNvSpPr/>
          <p:nvPr/>
        </p:nvSpPr>
        <p:spPr>
          <a:xfrm>
            <a:off x="3383280" y="1783080"/>
            <a:ext cx="269388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60+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2" name="Text 8"/>
          <p:cNvSpPr/>
          <p:nvPr/>
        </p:nvSpPr>
        <p:spPr>
          <a:xfrm>
            <a:off x="3383280" y="2697480"/>
            <a:ext cx="269388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endpoints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3" name="Shape 9"/>
          <p:cNvSpPr/>
          <p:nvPr/>
        </p:nvSpPr>
        <p:spPr>
          <a:xfrm>
            <a:off x="6217920" y="1691640"/>
            <a:ext cx="2693880" cy="164232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4" name="Text 10"/>
          <p:cNvSpPr/>
          <p:nvPr/>
        </p:nvSpPr>
        <p:spPr>
          <a:xfrm>
            <a:off x="6217920" y="1783080"/>
            <a:ext cx="269388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12+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5" name="Text 11"/>
          <p:cNvSpPr/>
          <p:nvPr/>
        </p:nvSpPr>
        <p:spPr>
          <a:xfrm>
            <a:off x="6217920" y="2697480"/>
            <a:ext cx="269388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pages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principales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6" name="Shape 12"/>
          <p:cNvSpPr/>
          <p:nvPr/>
        </p:nvSpPr>
        <p:spPr>
          <a:xfrm>
            <a:off x="9052560" y="1691640"/>
            <a:ext cx="2693880" cy="1642320"/>
          </a:xfrm>
          <a:prstGeom prst="roundRect">
            <a:avLst>
              <a:gd name="adj" fmla="val 4444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7" name="Text 13"/>
          <p:cNvSpPr/>
          <p:nvPr/>
        </p:nvSpPr>
        <p:spPr>
          <a:xfrm>
            <a:off x="9052560" y="1783080"/>
            <a:ext cx="269388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8" name="Text 14"/>
          <p:cNvSpPr/>
          <p:nvPr/>
        </p:nvSpPr>
        <p:spPr>
          <a:xfrm>
            <a:off x="9052560" y="2697480"/>
            <a:ext cx="269388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user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9" name="Text 15"/>
          <p:cNvSpPr/>
          <p:nvPr/>
        </p:nvSpPr>
        <p:spPr>
          <a:xfrm>
            <a:off x="548640" y="3611880"/>
            <a:ext cx="109692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Répartition des features livrées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0" name="Shape 16"/>
          <p:cNvSpPr/>
          <p:nvPr/>
        </p:nvSpPr>
        <p:spPr>
          <a:xfrm>
            <a:off x="548640" y="3977640"/>
            <a:ext cx="5528520" cy="2328120"/>
          </a:xfrm>
          <a:prstGeom prst="roundRect">
            <a:avLst>
              <a:gd name="adj" fmla="val 313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2381" name="Chart 0"/>
          <p:cNvGraphicFramePr/>
          <p:nvPr/>
        </p:nvGraphicFramePr>
        <p:xfrm>
          <a:off x="640080" y="4069080"/>
          <a:ext cx="5345640" cy="2145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382" name="Shape 17"/>
          <p:cNvSpPr/>
          <p:nvPr/>
        </p:nvSpPr>
        <p:spPr>
          <a:xfrm>
            <a:off x="6263640" y="3977640"/>
            <a:ext cx="5528520" cy="2328120"/>
          </a:xfrm>
          <a:prstGeom prst="roundRect">
            <a:avLst>
              <a:gd name="adj" fmla="val 313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3" name="Text 18"/>
          <p:cNvSpPr/>
          <p:nvPr/>
        </p:nvSpPr>
        <p:spPr>
          <a:xfrm>
            <a:off x="6400800" y="4069080"/>
            <a:ext cx="53456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Charge de travail par phase (jours)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84" name="Chart 1"/>
          <p:cNvGraphicFramePr/>
          <p:nvPr/>
        </p:nvGraphicFramePr>
        <p:xfrm>
          <a:off x="6400800" y="4343400"/>
          <a:ext cx="5208480" cy="1870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2385" name="Image 0" descr="/sessions/sweet-funny-newton/mnt/outputs/build/assets/konekt-logo.png"/>
          <p:cNvPicPr/>
          <p:nvPr/>
        </p:nvPicPr>
        <p:blipFill>
          <a:blip r:embed="rId3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86" name="Text 19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7" name="Text 20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53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8" name="Text 0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9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une application sécurisée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0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1" name="Shape 3"/>
          <p:cNvSpPr/>
          <p:nvPr/>
        </p:nvSpPr>
        <p:spPr>
          <a:xfrm>
            <a:off x="548640" y="1691640"/>
            <a:ext cx="3654000" cy="1550880"/>
          </a:xfrm>
          <a:prstGeom prst="roundRect">
            <a:avLst>
              <a:gd name="adj" fmla="val 7059"/>
            </a:avLst>
          </a:prstGeom>
          <a:solidFill>
            <a:srgbClr val="EC4899">
              <a:alpha val="35000"/>
            </a:srgbClr>
          </a:solidFill>
          <a:ln w="2540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2" name="Text 4"/>
          <p:cNvSpPr/>
          <p:nvPr/>
        </p:nvSpPr>
        <p:spPr>
          <a:xfrm>
            <a:off x="548640" y="1691640"/>
            <a:ext cx="365400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BC01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3" name="Text 5"/>
          <p:cNvSpPr/>
          <p:nvPr/>
        </p:nvSpPr>
        <p:spPr>
          <a:xfrm>
            <a:off x="548640" y="2606040"/>
            <a:ext cx="36540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4" name="Text 6"/>
          <p:cNvSpPr/>
          <p:nvPr/>
        </p:nvSpPr>
        <p:spPr>
          <a:xfrm>
            <a:off x="548640" y="2880360"/>
            <a:ext cx="36540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5" name="Shape 7"/>
          <p:cNvSpPr/>
          <p:nvPr/>
        </p:nvSpPr>
        <p:spPr>
          <a:xfrm>
            <a:off x="4389120" y="1691640"/>
            <a:ext cx="7220160" cy="155088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96" name="Text 8"/>
          <p:cNvSpPr/>
          <p:nvPr/>
        </p:nvSpPr>
        <p:spPr>
          <a:xfrm>
            <a:off x="4572000" y="1783080"/>
            <a:ext cx="68544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7" name="Text 9"/>
          <p:cNvSpPr/>
          <p:nvPr/>
        </p:nvSpPr>
        <p:spPr>
          <a:xfrm>
            <a:off x="4572000" y="2103120"/>
            <a:ext cx="6854400" cy="10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Concevoir, développer et tester une application en intégrant les principes de sécurité dès la phase de conception.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8" name="Text 10"/>
          <p:cNvSpPr/>
          <p:nvPr/>
        </p:nvSpPr>
        <p:spPr>
          <a:xfrm>
            <a:off x="548640" y="3383280"/>
            <a:ext cx="109692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9" name="Shape 11"/>
          <p:cNvSpPr/>
          <p:nvPr/>
        </p:nvSpPr>
        <p:spPr>
          <a:xfrm>
            <a:off x="548640" y="3703320"/>
            <a:ext cx="5528520" cy="10479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0" name="Shape 12"/>
          <p:cNvSpPr/>
          <p:nvPr/>
        </p:nvSpPr>
        <p:spPr>
          <a:xfrm>
            <a:off x="548640" y="3703320"/>
            <a:ext cx="87840" cy="10479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1" name="Text 13"/>
          <p:cNvSpPr/>
          <p:nvPr/>
        </p:nvSpPr>
        <p:spPr>
          <a:xfrm>
            <a:off x="777240" y="3840480"/>
            <a:ext cx="5162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Maquetter une application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2" name="Text 14"/>
          <p:cNvSpPr/>
          <p:nvPr/>
        </p:nvSpPr>
        <p:spPr>
          <a:xfrm>
            <a:off x="777240" y="4160520"/>
            <a:ext cx="516276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Wireframes + mockups 6 pages principales, design system Konekt dédié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3" name="Shape 15"/>
          <p:cNvSpPr/>
          <p:nvPr/>
        </p:nvSpPr>
        <p:spPr>
          <a:xfrm>
            <a:off x="6217920" y="3703320"/>
            <a:ext cx="5528520" cy="10479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4" name="Shape 16"/>
          <p:cNvSpPr/>
          <p:nvPr/>
        </p:nvSpPr>
        <p:spPr>
          <a:xfrm>
            <a:off x="6217920" y="3703320"/>
            <a:ext cx="87840" cy="10479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5" name="Text 17"/>
          <p:cNvSpPr/>
          <p:nvPr/>
        </p:nvSpPr>
        <p:spPr>
          <a:xfrm>
            <a:off x="6446520" y="3840480"/>
            <a:ext cx="5162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une interface utilisateur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6" name="Text 18"/>
          <p:cNvSpPr/>
          <p:nvPr/>
        </p:nvSpPr>
        <p:spPr>
          <a:xfrm>
            <a:off x="6446520" y="4160520"/>
            <a:ext cx="516276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Next.js App Router, React Server Components, Tailwind + shadcn/ui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7" name="Shape 19"/>
          <p:cNvSpPr/>
          <p:nvPr/>
        </p:nvSpPr>
        <p:spPr>
          <a:xfrm>
            <a:off x="548640" y="4846320"/>
            <a:ext cx="5528520" cy="10479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8" name="Shape 20"/>
          <p:cNvSpPr/>
          <p:nvPr/>
        </p:nvSpPr>
        <p:spPr>
          <a:xfrm>
            <a:off x="548640" y="4846320"/>
            <a:ext cx="87840" cy="10479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09" name="Text 21"/>
          <p:cNvSpPr/>
          <p:nvPr/>
        </p:nvSpPr>
        <p:spPr>
          <a:xfrm>
            <a:off x="777240" y="4983480"/>
            <a:ext cx="5162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des composants réutilisables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0" name="Text 22"/>
          <p:cNvSpPr/>
          <p:nvPr/>
        </p:nvSpPr>
        <p:spPr>
          <a:xfrm>
            <a:off x="777240" y="5303520"/>
            <a:ext cx="516276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Button, Avatar, Card, Dialog, Input — bibliothèque cohérente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1" name="Shape 23"/>
          <p:cNvSpPr/>
          <p:nvPr/>
        </p:nvSpPr>
        <p:spPr>
          <a:xfrm>
            <a:off x="6217920" y="4846320"/>
            <a:ext cx="5528520" cy="10479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2" name="Shape 24"/>
          <p:cNvSpPr/>
          <p:nvPr/>
        </p:nvSpPr>
        <p:spPr>
          <a:xfrm>
            <a:off x="6217920" y="4846320"/>
            <a:ext cx="87840" cy="104796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3" name="Text 25"/>
          <p:cNvSpPr/>
          <p:nvPr/>
        </p:nvSpPr>
        <p:spPr>
          <a:xfrm>
            <a:off x="6446520" y="4983480"/>
            <a:ext cx="5162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Intégrer la sécurité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4" name="Text 26"/>
          <p:cNvSpPr/>
          <p:nvPr/>
        </p:nvSpPr>
        <p:spPr>
          <a:xfrm>
            <a:off x="6446520" y="5303520"/>
            <a:ext cx="516276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JWT signé (jose), bcrypt cost 12, cookies HttpOnly, validation Zod, OWASP Top 10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5" name="Text 27"/>
          <p:cNvSpPr/>
          <p:nvPr/>
        </p:nvSpPr>
        <p:spPr>
          <a:xfrm>
            <a:off x="692640" y="5989320"/>
            <a:ext cx="36540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6" name="Shape 28"/>
          <p:cNvSpPr/>
          <p:nvPr/>
        </p:nvSpPr>
        <p:spPr>
          <a:xfrm>
            <a:off x="2599200" y="5989320"/>
            <a:ext cx="2190960" cy="27072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7" name="Text 29"/>
          <p:cNvSpPr/>
          <p:nvPr/>
        </p:nvSpPr>
        <p:spPr>
          <a:xfrm>
            <a:off x="2599200" y="5989320"/>
            <a:ext cx="21909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Sécurité applicative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8" name="Shape 30"/>
          <p:cNvSpPr/>
          <p:nvPr/>
        </p:nvSpPr>
        <p:spPr>
          <a:xfrm>
            <a:off x="4885200" y="5989320"/>
            <a:ext cx="2190960" cy="27072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19" name="Text 31"/>
          <p:cNvSpPr/>
          <p:nvPr/>
        </p:nvSpPr>
        <p:spPr>
          <a:xfrm>
            <a:off x="4885200" y="5989320"/>
            <a:ext cx="21909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Validation Zod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0" name="Shape 32"/>
          <p:cNvSpPr/>
          <p:nvPr/>
        </p:nvSpPr>
        <p:spPr>
          <a:xfrm>
            <a:off x="7171200" y="5989320"/>
            <a:ext cx="2190960" cy="27072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1" name="Text 33"/>
          <p:cNvSpPr/>
          <p:nvPr/>
        </p:nvSpPr>
        <p:spPr>
          <a:xfrm>
            <a:off x="7171200" y="5989320"/>
            <a:ext cx="21909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Middleware JWT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2" name="Shape 34"/>
          <p:cNvSpPr/>
          <p:nvPr/>
        </p:nvSpPr>
        <p:spPr>
          <a:xfrm>
            <a:off x="9457200" y="5989320"/>
            <a:ext cx="2190960" cy="270720"/>
          </a:xfrm>
          <a:prstGeom prst="roundRect">
            <a:avLst>
              <a:gd name="adj" fmla="val 50000"/>
            </a:avLst>
          </a:prstGeom>
          <a:solidFill>
            <a:srgbClr val="EC4899">
              <a:alpha val="25000"/>
            </a:srgbClr>
          </a:solidFill>
          <a:ln w="9525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23" name="Text 35"/>
          <p:cNvSpPr/>
          <p:nvPr/>
        </p:nvSpPr>
        <p:spPr>
          <a:xfrm>
            <a:off x="9457200" y="5989320"/>
            <a:ext cx="21909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Audit RGPD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24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25" name="Text 36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6" name="Text 37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54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7" name="Text 0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8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et développer la persistance des données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9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0" name="Shape 3"/>
          <p:cNvSpPr/>
          <p:nvPr/>
        </p:nvSpPr>
        <p:spPr>
          <a:xfrm>
            <a:off x="548640" y="1691640"/>
            <a:ext cx="3654000" cy="1550880"/>
          </a:xfrm>
          <a:prstGeom prst="roundRect">
            <a:avLst>
              <a:gd name="adj" fmla="val 7059"/>
            </a:avLst>
          </a:prstGeom>
          <a:solidFill>
            <a:srgbClr val="06B6D4">
              <a:alpha val="35000"/>
            </a:srgbClr>
          </a:solidFill>
          <a:ln w="2540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1" name="Text 4"/>
          <p:cNvSpPr/>
          <p:nvPr/>
        </p:nvSpPr>
        <p:spPr>
          <a:xfrm>
            <a:off x="548640" y="1691640"/>
            <a:ext cx="365400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BC02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2" name="Text 5"/>
          <p:cNvSpPr/>
          <p:nvPr/>
        </p:nvSpPr>
        <p:spPr>
          <a:xfrm>
            <a:off x="548640" y="2606040"/>
            <a:ext cx="36540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3" name="Text 6"/>
          <p:cNvSpPr/>
          <p:nvPr/>
        </p:nvSpPr>
        <p:spPr>
          <a:xfrm>
            <a:off x="548640" y="2880360"/>
            <a:ext cx="36540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4" name="Shape 7"/>
          <p:cNvSpPr/>
          <p:nvPr/>
        </p:nvSpPr>
        <p:spPr>
          <a:xfrm>
            <a:off x="4389120" y="1691640"/>
            <a:ext cx="7220160" cy="155088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5" name="Text 8"/>
          <p:cNvSpPr/>
          <p:nvPr/>
        </p:nvSpPr>
        <p:spPr>
          <a:xfrm>
            <a:off x="4572000" y="1783080"/>
            <a:ext cx="68544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6" name="Text 9"/>
          <p:cNvSpPr/>
          <p:nvPr/>
        </p:nvSpPr>
        <p:spPr>
          <a:xfrm>
            <a:off x="4572000" y="2103120"/>
            <a:ext cx="6854400" cy="10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Modéliser une base de données relationnelle, écrire les requêtes optimisées et garantir l'intégrité.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7" name="Text 10"/>
          <p:cNvSpPr/>
          <p:nvPr/>
        </p:nvSpPr>
        <p:spPr>
          <a:xfrm>
            <a:off x="548640" y="3383280"/>
            <a:ext cx="109692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8" name="Shape 11"/>
          <p:cNvSpPr/>
          <p:nvPr/>
        </p:nvSpPr>
        <p:spPr>
          <a:xfrm>
            <a:off x="548640" y="3703320"/>
            <a:ext cx="5528520" cy="10479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9" name="Shape 12"/>
          <p:cNvSpPr/>
          <p:nvPr/>
        </p:nvSpPr>
        <p:spPr>
          <a:xfrm>
            <a:off x="548640" y="3703320"/>
            <a:ext cx="87840" cy="10479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0" name="Text 13"/>
          <p:cNvSpPr/>
          <p:nvPr/>
        </p:nvSpPr>
        <p:spPr>
          <a:xfrm>
            <a:off x="777240" y="3840480"/>
            <a:ext cx="5162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Analyser le besoin et concevoir un MCD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1" name="Text 14"/>
          <p:cNvSpPr/>
          <p:nvPr/>
        </p:nvSpPr>
        <p:spPr>
          <a:xfrm>
            <a:off x="777240" y="4160520"/>
            <a:ext cx="516276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43 user stories → 18 entités identifiées, cardinalités explicites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2" name="Shape 15"/>
          <p:cNvSpPr/>
          <p:nvPr/>
        </p:nvSpPr>
        <p:spPr>
          <a:xfrm>
            <a:off x="6217920" y="3703320"/>
            <a:ext cx="5528520" cy="10479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3" name="Shape 16"/>
          <p:cNvSpPr/>
          <p:nvPr/>
        </p:nvSpPr>
        <p:spPr>
          <a:xfrm>
            <a:off x="6217920" y="3703320"/>
            <a:ext cx="87840" cy="10479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4" name="Text 17"/>
          <p:cNvSpPr/>
          <p:nvPr/>
        </p:nvSpPr>
        <p:spPr>
          <a:xfrm>
            <a:off x="6446520" y="3840480"/>
            <a:ext cx="5162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Mettre en place une base relationnelle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5" name="Text 18"/>
          <p:cNvSpPr/>
          <p:nvPr/>
        </p:nvSpPr>
        <p:spPr>
          <a:xfrm>
            <a:off x="6446520" y="4160520"/>
            <a:ext cx="516276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PostgreSQL Neon, migrations versionnées prisma/migrations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6" name="Shape 19"/>
          <p:cNvSpPr/>
          <p:nvPr/>
        </p:nvSpPr>
        <p:spPr>
          <a:xfrm>
            <a:off x="548640" y="4846320"/>
            <a:ext cx="5528520" cy="10479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7" name="Shape 20"/>
          <p:cNvSpPr/>
          <p:nvPr/>
        </p:nvSpPr>
        <p:spPr>
          <a:xfrm>
            <a:off x="548640" y="4846320"/>
            <a:ext cx="87840" cy="10479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8" name="Text 21"/>
          <p:cNvSpPr/>
          <p:nvPr/>
        </p:nvSpPr>
        <p:spPr>
          <a:xfrm>
            <a:off x="777240" y="4983480"/>
            <a:ext cx="5162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des composants d'accès aux données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9" name="Text 22"/>
          <p:cNvSpPr/>
          <p:nvPr/>
        </p:nvSpPr>
        <p:spPr>
          <a:xfrm>
            <a:off x="777240" y="5303520"/>
            <a:ext cx="516276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Prisma ORM type-safe, helpers src/lib/server/&lt;domaine&gt;/&lt;entité&gt;.ts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0" name="Shape 23"/>
          <p:cNvSpPr/>
          <p:nvPr/>
        </p:nvSpPr>
        <p:spPr>
          <a:xfrm>
            <a:off x="6217920" y="4846320"/>
            <a:ext cx="5528520" cy="10479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1" name="Shape 24"/>
          <p:cNvSpPr/>
          <p:nvPr/>
        </p:nvSpPr>
        <p:spPr>
          <a:xfrm>
            <a:off x="6217920" y="4846320"/>
            <a:ext cx="87840" cy="104796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2" name="Text 25"/>
          <p:cNvSpPr/>
          <p:nvPr/>
        </p:nvSpPr>
        <p:spPr>
          <a:xfrm>
            <a:off x="6446520" y="4983480"/>
            <a:ext cx="5162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Garantir l'intégrité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3" name="Text 26"/>
          <p:cNvSpPr/>
          <p:nvPr/>
        </p:nvSpPr>
        <p:spPr>
          <a:xfrm>
            <a:off x="6446520" y="5303520"/>
            <a:ext cx="516276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PK, FK, UNIQUE composées (réactions), ENUM métier, cascades maîtrisées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4" name="Text 27"/>
          <p:cNvSpPr/>
          <p:nvPr/>
        </p:nvSpPr>
        <p:spPr>
          <a:xfrm>
            <a:off x="692640" y="5989320"/>
            <a:ext cx="36540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5" name="Shape 28"/>
          <p:cNvSpPr/>
          <p:nvPr/>
        </p:nvSpPr>
        <p:spPr>
          <a:xfrm>
            <a:off x="2599200" y="5989320"/>
            <a:ext cx="2190960" cy="27072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6" name="Text 29"/>
          <p:cNvSpPr/>
          <p:nvPr/>
        </p:nvSpPr>
        <p:spPr>
          <a:xfrm>
            <a:off x="2599200" y="5989320"/>
            <a:ext cx="21909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MCD / MLD / MPD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7" name="Shape 30"/>
          <p:cNvSpPr/>
          <p:nvPr/>
        </p:nvSpPr>
        <p:spPr>
          <a:xfrm>
            <a:off x="4885200" y="5989320"/>
            <a:ext cx="2190960" cy="27072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8" name="Text 31"/>
          <p:cNvSpPr/>
          <p:nvPr/>
        </p:nvSpPr>
        <p:spPr>
          <a:xfrm>
            <a:off x="4885200" y="5989320"/>
            <a:ext cx="21909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18 modèles Prisma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9" name="Shape 32"/>
          <p:cNvSpPr/>
          <p:nvPr/>
        </p:nvSpPr>
        <p:spPr>
          <a:xfrm>
            <a:off x="7171200" y="5989320"/>
            <a:ext cx="2190960" cy="27072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0" name="Text 33"/>
          <p:cNvSpPr/>
          <p:nvPr/>
        </p:nvSpPr>
        <p:spPr>
          <a:xfrm>
            <a:off x="7171200" y="5989320"/>
            <a:ext cx="21909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40+ relations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1" name="Shape 34"/>
          <p:cNvSpPr/>
          <p:nvPr/>
        </p:nvSpPr>
        <p:spPr>
          <a:xfrm>
            <a:off x="9457200" y="5989320"/>
            <a:ext cx="2190960" cy="270720"/>
          </a:xfrm>
          <a:prstGeom prst="roundRect">
            <a:avLst>
              <a:gd name="adj" fmla="val 50000"/>
            </a:avLst>
          </a:prstGeom>
          <a:solidFill>
            <a:srgbClr val="06B6D4">
              <a:alpha val="25000"/>
            </a:srgbClr>
          </a:solidFill>
          <a:ln w="9525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2" name="Text 35"/>
          <p:cNvSpPr/>
          <p:nvPr/>
        </p:nvSpPr>
        <p:spPr>
          <a:xfrm>
            <a:off x="9457200" y="5989320"/>
            <a:ext cx="21909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7 enums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63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64" name="Text 36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5" name="Text 37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55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6" name="Text 0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7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Concevoir et développer une application multicouche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8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9" name="Shape 3"/>
          <p:cNvSpPr/>
          <p:nvPr/>
        </p:nvSpPr>
        <p:spPr>
          <a:xfrm>
            <a:off x="548640" y="1691640"/>
            <a:ext cx="3654000" cy="1550880"/>
          </a:xfrm>
          <a:prstGeom prst="roundRect">
            <a:avLst>
              <a:gd name="adj" fmla="val 7059"/>
            </a:avLst>
          </a:prstGeom>
          <a:solidFill>
            <a:srgbClr val="8B5CF6">
              <a:alpha val="35000"/>
            </a:srgbClr>
          </a:solidFill>
          <a:ln w="254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0" name="Text 4"/>
          <p:cNvSpPr/>
          <p:nvPr/>
        </p:nvSpPr>
        <p:spPr>
          <a:xfrm>
            <a:off x="548640" y="1691640"/>
            <a:ext cx="365400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BC03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1" name="Text 5"/>
          <p:cNvSpPr/>
          <p:nvPr/>
        </p:nvSpPr>
        <p:spPr>
          <a:xfrm>
            <a:off x="548640" y="2606040"/>
            <a:ext cx="36540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2" name="Text 6"/>
          <p:cNvSpPr/>
          <p:nvPr/>
        </p:nvSpPr>
        <p:spPr>
          <a:xfrm>
            <a:off x="548640" y="2880360"/>
            <a:ext cx="36540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3" name="Shape 7"/>
          <p:cNvSpPr/>
          <p:nvPr/>
        </p:nvSpPr>
        <p:spPr>
          <a:xfrm>
            <a:off x="4389120" y="1691640"/>
            <a:ext cx="7220160" cy="155088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4" name="Text 8"/>
          <p:cNvSpPr/>
          <p:nvPr/>
        </p:nvSpPr>
        <p:spPr>
          <a:xfrm>
            <a:off x="4572000" y="1783080"/>
            <a:ext cx="68544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5" name="Text 9"/>
          <p:cNvSpPr/>
          <p:nvPr/>
        </p:nvSpPr>
        <p:spPr>
          <a:xfrm>
            <a:off x="4572000" y="2103120"/>
            <a:ext cx="6854400" cy="10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Construire une application répartie front + back avec une logique métier propre, des API et du temps réel.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6" name="Text 10"/>
          <p:cNvSpPr/>
          <p:nvPr/>
        </p:nvSpPr>
        <p:spPr>
          <a:xfrm>
            <a:off x="548640" y="3383280"/>
            <a:ext cx="109692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7" name="Shape 11"/>
          <p:cNvSpPr/>
          <p:nvPr/>
        </p:nvSpPr>
        <p:spPr>
          <a:xfrm>
            <a:off x="548640" y="3703320"/>
            <a:ext cx="5528520" cy="10479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8" name="Shape 12"/>
          <p:cNvSpPr/>
          <p:nvPr/>
        </p:nvSpPr>
        <p:spPr>
          <a:xfrm>
            <a:off x="548640" y="3703320"/>
            <a:ext cx="87840" cy="10479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9" name="Text 13"/>
          <p:cNvSpPr/>
          <p:nvPr/>
        </p:nvSpPr>
        <p:spPr>
          <a:xfrm>
            <a:off x="777240" y="3840480"/>
            <a:ext cx="5162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Architecture multicouche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0" name="Text 14"/>
          <p:cNvSpPr/>
          <p:nvPr/>
        </p:nvSpPr>
        <p:spPr>
          <a:xfrm>
            <a:off x="777240" y="4160520"/>
            <a:ext cx="516276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Présentation → Métier → Persistance → Infrastructure, frontières claires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1" name="Shape 15"/>
          <p:cNvSpPr/>
          <p:nvPr/>
        </p:nvSpPr>
        <p:spPr>
          <a:xfrm>
            <a:off x="6217920" y="3703320"/>
            <a:ext cx="5528520" cy="10479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2" name="Shape 16"/>
          <p:cNvSpPr/>
          <p:nvPr/>
        </p:nvSpPr>
        <p:spPr>
          <a:xfrm>
            <a:off x="6217920" y="3703320"/>
            <a:ext cx="87840" cy="10479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3" name="Text 17"/>
          <p:cNvSpPr/>
          <p:nvPr/>
        </p:nvSpPr>
        <p:spPr>
          <a:xfrm>
            <a:off x="6446520" y="3840480"/>
            <a:ext cx="5162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la partie front-end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4" name="Text 18"/>
          <p:cNvSpPr/>
          <p:nvPr/>
        </p:nvSpPr>
        <p:spPr>
          <a:xfrm>
            <a:off x="6446520" y="4160520"/>
            <a:ext cx="516276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App Router, Server Components, hooks personnalisés (use-real-time-chat…)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5" name="Shape 19"/>
          <p:cNvSpPr/>
          <p:nvPr/>
        </p:nvSpPr>
        <p:spPr>
          <a:xfrm>
            <a:off x="548640" y="4846320"/>
            <a:ext cx="5528520" cy="10479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6" name="Shape 20"/>
          <p:cNvSpPr/>
          <p:nvPr/>
        </p:nvSpPr>
        <p:spPr>
          <a:xfrm>
            <a:off x="548640" y="4846320"/>
            <a:ext cx="87840" cy="10479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7" name="Text 21"/>
          <p:cNvSpPr/>
          <p:nvPr/>
        </p:nvSpPr>
        <p:spPr>
          <a:xfrm>
            <a:off x="777240" y="4983480"/>
            <a:ext cx="5162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Développer la partie back-end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8" name="Text 22"/>
          <p:cNvSpPr/>
          <p:nvPr/>
        </p:nvSpPr>
        <p:spPr>
          <a:xfrm>
            <a:off x="777240" y="5303520"/>
            <a:ext cx="516276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Route Handlers REST + SSE, Server Actions, validation Zod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9" name="Shape 23"/>
          <p:cNvSpPr/>
          <p:nvPr/>
        </p:nvSpPr>
        <p:spPr>
          <a:xfrm>
            <a:off x="6217920" y="4846320"/>
            <a:ext cx="5528520" cy="10479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0" name="Shape 24"/>
          <p:cNvSpPr/>
          <p:nvPr/>
        </p:nvSpPr>
        <p:spPr>
          <a:xfrm>
            <a:off x="6217920" y="4846320"/>
            <a:ext cx="87840" cy="10479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1" name="Text 25"/>
          <p:cNvSpPr/>
          <p:nvPr/>
        </p:nvSpPr>
        <p:spPr>
          <a:xfrm>
            <a:off x="6446520" y="4983480"/>
            <a:ext cx="5162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2" name="Text 26"/>
          <p:cNvSpPr/>
          <p:nvPr/>
        </p:nvSpPr>
        <p:spPr>
          <a:xfrm>
            <a:off x="6446520" y="5303520"/>
            <a:ext cx="516276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Server-Sent Events + Upstash Redis (compatible serverless Vercel)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3" name="Text 27"/>
          <p:cNvSpPr/>
          <p:nvPr/>
        </p:nvSpPr>
        <p:spPr>
          <a:xfrm>
            <a:off x="692640" y="5989320"/>
            <a:ext cx="36540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4" name="Shape 28"/>
          <p:cNvSpPr/>
          <p:nvPr/>
        </p:nvSpPr>
        <p:spPr>
          <a:xfrm>
            <a:off x="2599200" y="5989320"/>
            <a:ext cx="2190960" cy="27072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5" name="Text 29"/>
          <p:cNvSpPr/>
          <p:nvPr/>
        </p:nvSpPr>
        <p:spPr>
          <a:xfrm>
            <a:off x="2599200" y="5989320"/>
            <a:ext cx="21909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20+ endpoints API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6" name="Shape 30"/>
          <p:cNvSpPr/>
          <p:nvPr/>
        </p:nvSpPr>
        <p:spPr>
          <a:xfrm>
            <a:off x="4885200" y="5989320"/>
            <a:ext cx="2190960" cy="27072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7" name="Text 31"/>
          <p:cNvSpPr/>
          <p:nvPr/>
        </p:nvSpPr>
        <p:spPr>
          <a:xfrm>
            <a:off x="4885200" y="5989320"/>
            <a:ext cx="21909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Architecture 4 couches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8" name="Shape 32"/>
          <p:cNvSpPr/>
          <p:nvPr/>
        </p:nvSpPr>
        <p:spPr>
          <a:xfrm>
            <a:off x="7171200" y="5989320"/>
            <a:ext cx="2190960" cy="27072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9" name="Text 33"/>
          <p:cNvSpPr/>
          <p:nvPr/>
        </p:nvSpPr>
        <p:spPr>
          <a:xfrm>
            <a:off x="7171200" y="5989320"/>
            <a:ext cx="21909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Push SSE temps réel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0" name="Shape 34"/>
          <p:cNvSpPr/>
          <p:nvPr/>
        </p:nvSpPr>
        <p:spPr>
          <a:xfrm>
            <a:off x="9457200" y="5989320"/>
            <a:ext cx="2190960" cy="270720"/>
          </a:xfrm>
          <a:prstGeom prst="roundRect">
            <a:avLst>
              <a:gd name="adj" fmla="val 50000"/>
            </a:avLst>
          </a:prstGeom>
          <a:solidFill>
            <a:srgbClr val="8B5CF6">
              <a:alpha val="25000"/>
            </a:srgbClr>
          </a:solidFill>
          <a:ln w="9525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1" name="Text 35"/>
          <p:cNvSpPr/>
          <p:nvPr/>
        </p:nvSpPr>
        <p:spPr>
          <a:xfrm>
            <a:off x="9457200" y="5989320"/>
            <a:ext cx="21909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Server Actions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02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03" name="Text 36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4" name="Text 37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56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5" name="Text 0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 · BC03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6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Préparer le déploiement d'une application sécurisée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7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8" name="Shape 3"/>
          <p:cNvSpPr/>
          <p:nvPr/>
        </p:nvSpPr>
        <p:spPr>
          <a:xfrm>
            <a:off x="548640" y="1691640"/>
            <a:ext cx="3654000" cy="1550880"/>
          </a:xfrm>
          <a:prstGeom prst="roundRect">
            <a:avLst>
              <a:gd name="adj" fmla="val 7059"/>
            </a:avLst>
          </a:prstGeom>
          <a:solidFill>
            <a:srgbClr val="10B981">
              <a:alpha val="35000"/>
            </a:srgbClr>
          </a:solidFill>
          <a:ln w="2540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9" name="Text 4"/>
          <p:cNvSpPr/>
          <p:nvPr/>
        </p:nvSpPr>
        <p:spPr>
          <a:xfrm>
            <a:off x="548640" y="1691640"/>
            <a:ext cx="365400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BC03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0" name="Text 5"/>
          <p:cNvSpPr/>
          <p:nvPr/>
        </p:nvSpPr>
        <p:spPr>
          <a:xfrm>
            <a:off x="548640" y="2606040"/>
            <a:ext cx="36540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Bloc de compétences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1" name="Text 6"/>
          <p:cNvSpPr/>
          <p:nvPr/>
        </p:nvSpPr>
        <p:spPr>
          <a:xfrm>
            <a:off x="548640" y="2880360"/>
            <a:ext cx="36540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RNCP 37873  ·  CDA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2" name="Shape 7"/>
          <p:cNvSpPr/>
          <p:nvPr/>
        </p:nvSpPr>
        <p:spPr>
          <a:xfrm>
            <a:off x="4389120" y="1691640"/>
            <a:ext cx="7220160" cy="1550880"/>
          </a:xfrm>
          <a:prstGeom prst="roundRect">
            <a:avLst>
              <a:gd name="adj" fmla="val 4706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13" name="Text 8"/>
          <p:cNvSpPr/>
          <p:nvPr/>
        </p:nvSpPr>
        <p:spPr>
          <a:xfrm>
            <a:off x="4572000" y="1783080"/>
            <a:ext cx="68544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En quoi le bloc consiste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4" name="Text 9"/>
          <p:cNvSpPr/>
          <p:nvPr/>
        </p:nvSpPr>
        <p:spPr>
          <a:xfrm>
            <a:off x="4572000" y="2103120"/>
            <a:ext cx="6854400" cy="10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Mettre en place une chaîne CI/CD complète, conteneuriser et déployer en environnement de production sécurisé.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5" name="Text 10"/>
          <p:cNvSpPr/>
          <p:nvPr/>
        </p:nvSpPr>
        <p:spPr>
          <a:xfrm>
            <a:off x="548640" y="3383280"/>
            <a:ext cx="109692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couvertes par Konekt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6" name="Shape 11"/>
          <p:cNvSpPr/>
          <p:nvPr/>
        </p:nvSpPr>
        <p:spPr>
          <a:xfrm>
            <a:off x="548640" y="3703320"/>
            <a:ext cx="5528520" cy="10479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17" name="Shape 12"/>
          <p:cNvSpPr/>
          <p:nvPr/>
        </p:nvSpPr>
        <p:spPr>
          <a:xfrm>
            <a:off x="548640" y="3703320"/>
            <a:ext cx="87840" cy="104796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18" name="Text 13"/>
          <p:cNvSpPr/>
          <p:nvPr/>
        </p:nvSpPr>
        <p:spPr>
          <a:xfrm>
            <a:off x="777240" y="3840480"/>
            <a:ext cx="5162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Préparer et documenter le déploiement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9" name="Text 14"/>
          <p:cNvSpPr/>
          <p:nvPr/>
        </p:nvSpPr>
        <p:spPr>
          <a:xfrm>
            <a:off x="777240" y="4160520"/>
            <a:ext cx="516276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Dockerfile multi-stage, docker-compose, variables d'env documentées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0" name="Shape 15"/>
          <p:cNvSpPr/>
          <p:nvPr/>
        </p:nvSpPr>
        <p:spPr>
          <a:xfrm>
            <a:off x="6217920" y="3703320"/>
            <a:ext cx="5528520" cy="10479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1" name="Shape 16"/>
          <p:cNvSpPr/>
          <p:nvPr/>
        </p:nvSpPr>
        <p:spPr>
          <a:xfrm>
            <a:off x="6217920" y="3703320"/>
            <a:ext cx="87840" cy="104796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2" name="Text 17"/>
          <p:cNvSpPr/>
          <p:nvPr/>
        </p:nvSpPr>
        <p:spPr>
          <a:xfrm>
            <a:off x="6446520" y="3840480"/>
            <a:ext cx="5162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Contribuer à la mise en production DevOps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3" name="Text 18"/>
          <p:cNvSpPr/>
          <p:nvPr/>
        </p:nvSpPr>
        <p:spPr>
          <a:xfrm>
            <a:off x="6446520" y="4160520"/>
            <a:ext cx="516276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GitHub Actions : lint + test + build + deploy, secrets cloisonnés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4" name="Shape 19"/>
          <p:cNvSpPr/>
          <p:nvPr/>
        </p:nvSpPr>
        <p:spPr>
          <a:xfrm>
            <a:off x="548640" y="4846320"/>
            <a:ext cx="5528520" cy="10479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5" name="Shape 20"/>
          <p:cNvSpPr/>
          <p:nvPr/>
        </p:nvSpPr>
        <p:spPr>
          <a:xfrm>
            <a:off x="548640" y="4846320"/>
            <a:ext cx="87840" cy="104796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6" name="Text 21"/>
          <p:cNvSpPr/>
          <p:nvPr/>
        </p:nvSpPr>
        <p:spPr>
          <a:xfrm>
            <a:off x="777240" y="4983480"/>
            <a:ext cx="5162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Industrialiser la livraison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7" name="Text 22"/>
          <p:cNvSpPr/>
          <p:nvPr/>
        </p:nvSpPr>
        <p:spPr>
          <a:xfrm>
            <a:off x="777240" y="5303520"/>
            <a:ext cx="516276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Vercel (preview par PR + prod), Neon branching pour BDD isolée par PR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8" name="Shape 23"/>
          <p:cNvSpPr/>
          <p:nvPr/>
        </p:nvSpPr>
        <p:spPr>
          <a:xfrm>
            <a:off x="6217920" y="4846320"/>
            <a:ext cx="5528520" cy="1047960"/>
          </a:xfrm>
          <a:prstGeom prst="roundRect">
            <a:avLst>
              <a:gd name="adj" fmla="val 6957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29" name="Shape 24"/>
          <p:cNvSpPr/>
          <p:nvPr/>
        </p:nvSpPr>
        <p:spPr>
          <a:xfrm>
            <a:off x="6217920" y="4846320"/>
            <a:ext cx="87840" cy="104796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0" name="Text 25"/>
          <p:cNvSpPr/>
          <p:nvPr/>
        </p:nvSpPr>
        <p:spPr>
          <a:xfrm>
            <a:off x="6446520" y="4983480"/>
            <a:ext cx="516276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Garantir l'exploitabilité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1" name="Text 26"/>
          <p:cNvSpPr/>
          <p:nvPr/>
        </p:nvSpPr>
        <p:spPr>
          <a:xfrm>
            <a:off x="6446520" y="5303520"/>
            <a:ext cx="5162760" cy="54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Healthcheck, rollback Vercel one-click, logs structurés, monitoring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2" name="Text 27"/>
          <p:cNvSpPr/>
          <p:nvPr/>
        </p:nvSpPr>
        <p:spPr>
          <a:xfrm>
            <a:off x="548640" y="5989320"/>
            <a:ext cx="36540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Preuves du dossier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3" name="Shape 28"/>
          <p:cNvSpPr/>
          <p:nvPr/>
        </p:nvSpPr>
        <p:spPr>
          <a:xfrm>
            <a:off x="2743200" y="5989320"/>
            <a:ext cx="2190960" cy="27072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4" name="Text 29"/>
          <p:cNvSpPr/>
          <p:nvPr/>
        </p:nvSpPr>
        <p:spPr>
          <a:xfrm>
            <a:off x="2743200" y="5989320"/>
            <a:ext cx="21909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Docker multi-stage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5" name="Shape 30"/>
          <p:cNvSpPr/>
          <p:nvPr/>
        </p:nvSpPr>
        <p:spPr>
          <a:xfrm>
            <a:off x="5029200" y="5989320"/>
            <a:ext cx="2190960" cy="27072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6" name="Text 31"/>
          <p:cNvSpPr/>
          <p:nvPr/>
        </p:nvSpPr>
        <p:spPr>
          <a:xfrm>
            <a:off x="5029200" y="5989320"/>
            <a:ext cx="21909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CI/CD GitHub Actions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7" name="Shape 32"/>
          <p:cNvSpPr/>
          <p:nvPr/>
        </p:nvSpPr>
        <p:spPr>
          <a:xfrm>
            <a:off x="7315200" y="5989320"/>
            <a:ext cx="2190960" cy="27072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38" name="Text 33"/>
          <p:cNvSpPr/>
          <p:nvPr/>
        </p:nvSpPr>
        <p:spPr>
          <a:xfrm>
            <a:off x="7315200" y="5989320"/>
            <a:ext cx="21909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Vercel + Neon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9" name="Shape 34"/>
          <p:cNvSpPr/>
          <p:nvPr/>
        </p:nvSpPr>
        <p:spPr>
          <a:xfrm>
            <a:off x="9601200" y="5989320"/>
            <a:ext cx="2190960" cy="270720"/>
          </a:xfrm>
          <a:prstGeom prst="roundRect">
            <a:avLst>
              <a:gd name="adj" fmla="val 50000"/>
            </a:avLst>
          </a:prstGeom>
          <a:solidFill>
            <a:srgbClr val="10B981">
              <a:alpha val="25000"/>
            </a:srgbClr>
          </a:solidFill>
          <a:ln w="9525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0" name="Text 35"/>
          <p:cNvSpPr/>
          <p:nvPr/>
        </p:nvSpPr>
        <p:spPr>
          <a:xfrm>
            <a:off x="9601200" y="5989320"/>
            <a:ext cx="219096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Rollback + monitoring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41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42" name="Text 36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3" name="Text 37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57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4" name="Text 0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5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Difficultés rencontrées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6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7" name="Shape 3"/>
          <p:cNvSpPr/>
          <p:nvPr/>
        </p:nvSpPr>
        <p:spPr>
          <a:xfrm>
            <a:off x="548640" y="1691640"/>
            <a:ext cx="5528520" cy="21909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8" name="Shape 4"/>
          <p:cNvSpPr/>
          <p:nvPr/>
        </p:nvSpPr>
        <p:spPr>
          <a:xfrm>
            <a:off x="777240" y="1920240"/>
            <a:ext cx="865080" cy="86508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49" name="Text 5"/>
          <p:cNvSpPr/>
          <p:nvPr/>
        </p:nvSpPr>
        <p:spPr>
          <a:xfrm>
            <a:off x="777240" y="1920240"/>
            <a:ext cx="865080" cy="86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↻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0" name="Text 6"/>
          <p:cNvSpPr/>
          <p:nvPr/>
        </p:nvSpPr>
        <p:spPr>
          <a:xfrm>
            <a:off x="1783080" y="2073960"/>
            <a:ext cx="420264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Temps réel sans WebSocket persistant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1" name="Text 7"/>
          <p:cNvSpPr/>
          <p:nvPr/>
        </p:nvSpPr>
        <p:spPr>
          <a:xfrm>
            <a:off x="777240" y="2880360"/>
            <a:ext cx="516276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Vercel serverless + Upstash Redis REST = pas de pub/sub TCP. J'ai construit un mécanisme SSE + polling Redis qui reste compatible serverless tout en garantissant l'ordre d'arrivée et la persistance Prisma avant push.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2" name="Shape 8"/>
          <p:cNvSpPr/>
          <p:nvPr/>
        </p:nvSpPr>
        <p:spPr>
          <a:xfrm>
            <a:off x="6217920" y="1691640"/>
            <a:ext cx="5528520" cy="21909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3" name="Shape 9"/>
          <p:cNvSpPr/>
          <p:nvPr/>
        </p:nvSpPr>
        <p:spPr>
          <a:xfrm>
            <a:off x="6446520" y="1920240"/>
            <a:ext cx="865080" cy="86508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4" name="Text 10"/>
          <p:cNvSpPr/>
          <p:nvPr/>
        </p:nvSpPr>
        <p:spPr>
          <a:xfrm>
            <a:off x="6446520" y="1776240"/>
            <a:ext cx="865080" cy="11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⊕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5" name="Text 11"/>
          <p:cNvSpPr/>
          <p:nvPr/>
        </p:nvSpPr>
        <p:spPr>
          <a:xfrm>
            <a:off x="7452360" y="2073960"/>
            <a:ext cx="420264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Modélisation Prisma de bout en bout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6" name="Text 12"/>
          <p:cNvSpPr/>
          <p:nvPr/>
        </p:nvSpPr>
        <p:spPr>
          <a:xfrm>
            <a:off x="6446520" y="2880360"/>
            <a:ext cx="516276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18 modèles avec des contraintes d'unicité, des cascades à choisir avec soin et des enums métier. J'ai itéré sur le MCD plusieurs fois avant d'arriver à un schéma équilibré.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7" name="Shape 13"/>
          <p:cNvSpPr/>
          <p:nvPr/>
        </p:nvSpPr>
        <p:spPr>
          <a:xfrm>
            <a:off x="548640" y="4023360"/>
            <a:ext cx="5528520" cy="21909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8" name="Shape 14"/>
          <p:cNvSpPr/>
          <p:nvPr/>
        </p:nvSpPr>
        <p:spPr>
          <a:xfrm>
            <a:off x="777240" y="4251960"/>
            <a:ext cx="865080" cy="86508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59" name="Text 15"/>
          <p:cNvSpPr/>
          <p:nvPr/>
        </p:nvSpPr>
        <p:spPr>
          <a:xfrm>
            <a:off x="777240" y="4215960"/>
            <a:ext cx="865080" cy="86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◉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0" name="Text 16"/>
          <p:cNvSpPr/>
          <p:nvPr/>
        </p:nvSpPr>
        <p:spPr>
          <a:xfrm>
            <a:off x="1783080" y="4441680"/>
            <a:ext cx="420264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Auth custom sans NextAuth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1" name="Text 17"/>
          <p:cNvSpPr/>
          <p:nvPr/>
        </p:nvSpPr>
        <p:spPr>
          <a:xfrm>
            <a:off x="777240" y="5212080"/>
            <a:ext cx="516276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Choix assumé pour comprendre le fonctionnement du JWT. Il a fallu gérer le middleware, le state OAuth, l'injection de headers et l'éventuelle révocation — toujours en roadmap.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2" name="Shape 18"/>
          <p:cNvSpPr/>
          <p:nvPr/>
        </p:nvSpPr>
        <p:spPr>
          <a:xfrm>
            <a:off x="6217920" y="4023360"/>
            <a:ext cx="5528520" cy="2190960"/>
          </a:xfrm>
          <a:prstGeom prst="roundRect">
            <a:avLst>
              <a:gd name="adj" fmla="val 3333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63" name="Shape 19"/>
          <p:cNvSpPr/>
          <p:nvPr/>
        </p:nvSpPr>
        <p:spPr>
          <a:xfrm>
            <a:off x="6446520" y="4251960"/>
            <a:ext cx="865080" cy="865080"/>
          </a:xfrm>
          <a:prstGeom prst="ellipse">
            <a:avLst/>
          </a:prstGeom>
          <a:solidFill>
            <a:srgbClr val="F59E0B">
              <a:alpha val="30000"/>
            </a:srgbClr>
          </a:solidFill>
          <a:ln w="1905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64" name="Text 20"/>
          <p:cNvSpPr/>
          <p:nvPr/>
        </p:nvSpPr>
        <p:spPr>
          <a:xfrm>
            <a:off x="6446520" y="4143960"/>
            <a:ext cx="86508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▤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5" name="Text 21"/>
          <p:cNvSpPr/>
          <p:nvPr/>
        </p:nvSpPr>
        <p:spPr>
          <a:xfrm>
            <a:off x="7452360" y="4441680"/>
            <a:ext cx="420264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Documentation jury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6" name="Text 22"/>
          <p:cNvSpPr/>
          <p:nvPr/>
        </p:nvSpPr>
        <p:spPr>
          <a:xfrm>
            <a:off x="6446520" y="5212080"/>
            <a:ext cx="516276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Structurer le dossier de certification pour qu'il reste lisible par un jury non technique tout en étant suffisamment précis pour la partie technique. Beaucoup d'allers-retours sur la table des matières.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6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68" name="Text 23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9" name="Text 24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58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0" name="Text 0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1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Ce que j'ai appris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2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3" name="Shape 3"/>
          <p:cNvSpPr/>
          <p:nvPr/>
        </p:nvSpPr>
        <p:spPr>
          <a:xfrm>
            <a:off x="476640" y="1691640"/>
            <a:ext cx="5528520" cy="456840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4" name="Text 4"/>
          <p:cNvSpPr/>
          <p:nvPr/>
        </p:nvSpPr>
        <p:spPr>
          <a:xfrm>
            <a:off x="659520" y="1783080"/>
            <a:ext cx="5025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Compétences techniques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5" name="Shape 5"/>
          <p:cNvSpPr/>
          <p:nvPr/>
        </p:nvSpPr>
        <p:spPr>
          <a:xfrm>
            <a:off x="705240" y="2350080"/>
            <a:ext cx="142560" cy="1425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6" name="Text 6"/>
          <p:cNvSpPr/>
          <p:nvPr/>
        </p:nvSpPr>
        <p:spPr>
          <a:xfrm>
            <a:off x="933840" y="2240280"/>
            <a:ext cx="484272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TypeScript strict, génériques, schémas Zod partagés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7" name="Shape 7"/>
          <p:cNvSpPr/>
          <p:nvPr/>
        </p:nvSpPr>
        <p:spPr>
          <a:xfrm>
            <a:off x="705240" y="2807280"/>
            <a:ext cx="142560" cy="1425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78" name="Text 8"/>
          <p:cNvSpPr/>
          <p:nvPr/>
        </p:nvSpPr>
        <p:spPr>
          <a:xfrm>
            <a:off x="933840" y="2697480"/>
            <a:ext cx="484272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Next.js 15 — App Router, Server Components, 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9" name="Shape 9"/>
          <p:cNvSpPr/>
          <p:nvPr/>
        </p:nvSpPr>
        <p:spPr>
          <a:xfrm>
            <a:off x="705240" y="3264480"/>
            <a:ext cx="142560" cy="1425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0" name="Text 10"/>
          <p:cNvSpPr/>
          <p:nvPr/>
        </p:nvSpPr>
        <p:spPr>
          <a:xfrm>
            <a:off x="933840" y="3154680"/>
            <a:ext cx="484272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Prisma — modélisation, migrations, requêtes complexes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1" name="Shape 11"/>
          <p:cNvSpPr/>
          <p:nvPr/>
        </p:nvSpPr>
        <p:spPr>
          <a:xfrm>
            <a:off x="705240" y="3721680"/>
            <a:ext cx="142560" cy="1425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2" name="Text 12"/>
          <p:cNvSpPr/>
          <p:nvPr/>
        </p:nvSpPr>
        <p:spPr>
          <a:xfrm>
            <a:off x="933840" y="3611880"/>
            <a:ext cx="484272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PostgreSQL — relations riches, contraintes, indexation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3" name="Shape 13"/>
          <p:cNvSpPr/>
          <p:nvPr/>
        </p:nvSpPr>
        <p:spPr>
          <a:xfrm>
            <a:off x="705240" y="4178880"/>
            <a:ext cx="142560" cy="1425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4" name="Text 14"/>
          <p:cNvSpPr/>
          <p:nvPr/>
        </p:nvSpPr>
        <p:spPr>
          <a:xfrm>
            <a:off x="933840" y="4069080"/>
            <a:ext cx="484272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Redis — cache + buffer SSE serverless-compatible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5" name="Shape 15"/>
          <p:cNvSpPr/>
          <p:nvPr/>
        </p:nvSpPr>
        <p:spPr>
          <a:xfrm>
            <a:off x="705240" y="4636080"/>
            <a:ext cx="142560" cy="1425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6" name="Text 16"/>
          <p:cNvSpPr/>
          <p:nvPr/>
        </p:nvSpPr>
        <p:spPr>
          <a:xfrm>
            <a:off x="933840" y="4526280"/>
            <a:ext cx="484272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applicative — OWASP, RGPD, JWT, bcrypt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7" name="Shape 17"/>
          <p:cNvSpPr/>
          <p:nvPr/>
        </p:nvSpPr>
        <p:spPr>
          <a:xfrm>
            <a:off x="705240" y="5093280"/>
            <a:ext cx="142560" cy="1425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88" name="Text 18"/>
          <p:cNvSpPr/>
          <p:nvPr/>
        </p:nvSpPr>
        <p:spPr>
          <a:xfrm>
            <a:off x="933840" y="4983480"/>
            <a:ext cx="484272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Docker — multi-stage, compose, healthcheck, secrets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9" name="Shape 19"/>
          <p:cNvSpPr/>
          <p:nvPr/>
        </p:nvSpPr>
        <p:spPr>
          <a:xfrm>
            <a:off x="705240" y="5550480"/>
            <a:ext cx="142560" cy="1425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0" name="Text 20"/>
          <p:cNvSpPr/>
          <p:nvPr/>
        </p:nvSpPr>
        <p:spPr>
          <a:xfrm>
            <a:off x="933840" y="5440680"/>
            <a:ext cx="484272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CI/CD GitHub Actions — pipeline lint+test+build+deploy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1" name="Shape 21"/>
          <p:cNvSpPr/>
          <p:nvPr/>
        </p:nvSpPr>
        <p:spPr>
          <a:xfrm>
            <a:off x="6191640" y="1691640"/>
            <a:ext cx="5528520" cy="4568400"/>
          </a:xfrm>
          <a:prstGeom prst="roundRect">
            <a:avLst>
              <a:gd name="adj" fmla="val 16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2" name="Text 22"/>
          <p:cNvSpPr/>
          <p:nvPr/>
        </p:nvSpPr>
        <p:spPr>
          <a:xfrm>
            <a:off x="6374520" y="1783080"/>
            <a:ext cx="50256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Compétences transverses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3" name="Shape 23"/>
          <p:cNvSpPr/>
          <p:nvPr/>
        </p:nvSpPr>
        <p:spPr>
          <a:xfrm>
            <a:off x="6420240" y="2350080"/>
            <a:ext cx="142560" cy="1425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4" name="Text 24"/>
          <p:cNvSpPr/>
          <p:nvPr/>
        </p:nvSpPr>
        <p:spPr>
          <a:xfrm>
            <a:off x="6648840" y="2240280"/>
            <a:ext cx="484272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Découpe d'un gros projet en sprints + user stories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5" name="Shape 25"/>
          <p:cNvSpPr/>
          <p:nvPr/>
        </p:nvSpPr>
        <p:spPr>
          <a:xfrm>
            <a:off x="6420240" y="2807280"/>
            <a:ext cx="142560" cy="1425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6" name="Text 26"/>
          <p:cNvSpPr/>
          <p:nvPr/>
        </p:nvSpPr>
        <p:spPr>
          <a:xfrm>
            <a:off x="6648840" y="2697480"/>
            <a:ext cx="484272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Documentation technique adressée à des développeurs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7" name="Shape 27"/>
          <p:cNvSpPr/>
          <p:nvPr/>
        </p:nvSpPr>
        <p:spPr>
          <a:xfrm>
            <a:off x="6420240" y="3264480"/>
            <a:ext cx="142560" cy="1425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98" name="Text 28"/>
          <p:cNvSpPr/>
          <p:nvPr/>
        </p:nvSpPr>
        <p:spPr>
          <a:xfrm>
            <a:off x="6648840" y="3154680"/>
            <a:ext cx="484272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Lecture critique du code des coéquipiers (code review)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9" name="Shape 29"/>
          <p:cNvSpPr/>
          <p:nvPr/>
        </p:nvSpPr>
        <p:spPr>
          <a:xfrm>
            <a:off x="6420240" y="3721680"/>
            <a:ext cx="142560" cy="1425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0" name="Text 30"/>
          <p:cNvSpPr/>
          <p:nvPr/>
        </p:nvSpPr>
        <p:spPr>
          <a:xfrm>
            <a:off x="6648840" y="3611880"/>
            <a:ext cx="484272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Veille technique organisée et soutenable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1" name="Shape 31"/>
          <p:cNvSpPr/>
          <p:nvPr/>
        </p:nvSpPr>
        <p:spPr>
          <a:xfrm>
            <a:off x="6420240" y="4178880"/>
            <a:ext cx="142560" cy="1425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2" name="Text 32"/>
          <p:cNvSpPr/>
          <p:nvPr/>
        </p:nvSpPr>
        <p:spPr>
          <a:xfrm>
            <a:off x="6648840" y="4069080"/>
            <a:ext cx="484272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Estimation et priorisation pragmatique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3" name="Shape 33"/>
          <p:cNvSpPr/>
          <p:nvPr/>
        </p:nvSpPr>
        <p:spPr>
          <a:xfrm>
            <a:off x="6420240" y="4636080"/>
            <a:ext cx="142560" cy="1425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4" name="Text 34"/>
          <p:cNvSpPr/>
          <p:nvPr/>
        </p:nvSpPr>
        <p:spPr>
          <a:xfrm>
            <a:off x="6648840" y="4526280"/>
            <a:ext cx="484272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Justification de choix d'architecture face à un jury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5" name="Shape 35"/>
          <p:cNvSpPr/>
          <p:nvPr/>
        </p:nvSpPr>
        <p:spPr>
          <a:xfrm>
            <a:off x="6420240" y="5093280"/>
            <a:ext cx="142560" cy="1425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6" name="Text 36"/>
          <p:cNvSpPr/>
          <p:nvPr/>
        </p:nvSpPr>
        <p:spPr>
          <a:xfrm>
            <a:off x="6648840" y="4983480"/>
            <a:ext cx="484272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Communication métier ↔ technique (atout de reconversion)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7" name="Shape 37"/>
          <p:cNvSpPr/>
          <p:nvPr/>
        </p:nvSpPr>
        <p:spPr>
          <a:xfrm>
            <a:off x="6420240" y="5550480"/>
            <a:ext cx="142560" cy="142560"/>
          </a:xfrm>
          <a:prstGeom prst="ellipse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8" name="Text 38"/>
          <p:cNvSpPr/>
          <p:nvPr/>
        </p:nvSpPr>
        <p:spPr>
          <a:xfrm>
            <a:off x="6648840" y="5440680"/>
            <a:ext cx="4842720" cy="40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Endurance sur un projet long de plusieurs mois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09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10" name="Text 39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1" name="Text 40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59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2" name="Text 0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3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Axes d'amélioration &amp; roadmap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4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5" name="Shape 3"/>
          <p:cNvSpPr/>
          <p:nvPr/>
        </p:nvSpPr>
        <p:spPr>
          <a:xfrm>
            <a:off x="480240" y="1691640"/>
            <a:ext cx="3699720" cy="456840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6" name="Shape 4"/>
          <p:cNvSpPr/>
          <p:nvPr/>
        </p:nvSpPr>
        <p:spPr>
          <a:xfrm>
            <a:off x="480240" y="1691640"/>
            <a:ext cx="3699720" cy="4536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7" name="Text 5"/>
          <p:cNvSpPr/>
          <p:nvPr/>
        </p:nvSpPr>
        <p:spPr>
          <a:xfrm>
            <a:off x="480240" y="1691640"/>
            <a:ext cx="369972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COURT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8" name="Shape 6"/>
          <p:cNvSpPr/>
          <p:nvPr/>
        </p:nvSpPr>
        <p:spPr>
          <a:xfrm>
            <a:off x="708840" y="2468880"/>
            <a:ext cx="142560" cy="1425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19" name="Text 7"/>
          <p:cNvSpPr/>
          <p:nvPr/>
        </p:nvSpPr>
        <p:spPr>
          <a:xfrm>
            <a:off x="983160" y="2377440"/>
            <a:ext cx="3013920" cy="86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Sanitization markdown (DOMPurify) — XSS résiduelle ChatMessage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0" name="Shape 8"/>
          <p:cNvSpPr/>
          <p:nvPr/>
        </p:nvSpPr>
        <p:spPr>
          <a:xfrm>
            <a:off x="708840" y="3429000"/>
            <a:ext cx="142560" cy="1425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1" name="Text 9"/>
          <p:cNvSpPr/>
          <p:nvPr/>
        </p:nvSpPr>
        <p:spPr>
          <a:xfrm>
            <a:off x="983160" y="3337560"/>
            <a:ext cx="3013920" cy="86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Rate limit /login, /register, /chat/send via @upstash/ratelimit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2" name="Shape 10"/>
          <p:cNvSpPr/>
          <p:nvPr/>
        </p:nvSpPr>
        <p:spPr>
          <a:xfrm>
            <a:off x="708840" y="4389120"/>
            <a:ext cx="142560" cy="1425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3" name="Text 11"/>
          <p:cNvSpPr/>
          <p:nvPr/>
        </p:nvSpPr>
        <p:spPr>
          <a:xfrm>
            <a:off x="983160" y="4297680"/>
            <a:ext cx="3013920" cy="86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Headers HTTP de sécurité (CSP, X-Frame, Referrer)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4" name="Shape 12"/>
          <p:cNvSpPr/>
          <p:nvPr/>
        </p:nvSpPr>
        <p:spPr>
          <a:xfrm>
            <a:off x="708840" y="5349240"/>
            <a:ext cx="142560" cy="142560"/>
          </a:xfrm>
          <a:prstGeom prst="ellipse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5" name="Text 13"/>
          <p:cNvSpPr/>
          <p:nvPr/>
        </p:nvSpPr>
        <p:spPr>
          <a:xfrm>
            <a:off x="983160" y="5257800"/>
            <a:ext cx="3013920" cy="86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Sentry + alertes prod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6" name="Shape 14"/>
          <p:cNvSpPr/>
          <p:nvPr/>
        </p:nvSpPr>
        <p:spPr>
          <a:xfrm>
            <a:off x="4229280" y="1691640"/>
            <a:ext cx="3699720" cy="456840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7" name="Shape 15"/>
          <p:cNvSpPr/>
          <p:nvPr/>
        </p:nvSpPr>
        <p:spPr>
          <a:xfrm>
            <a:off x="4229280" y="1691640"/>
            <a:ext cx="3699720" cy="453600"/>
          </a:xfrm>
          <a:prstGeom prst="rect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28" name="Text 16"/>
          <p:cNvSpPr/>
          <p:nvPr/>
        </p:nvSpPr>
        <p:spPr>
          <a:xfrm>
            <a:off x="4229280" y="1691640"/>
            <a:ext cx="369972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MOYEN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9" name="Shape 17"/>
          <p:cNvSpPr/>
          <p:nvPr/>
        </p:nvSpPr>
        <p:spPr>
          <a:xfrm>
            <a:off x="4457880" y="2468880"/>
            <a:ext cx="142560" cy="14256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0" name="Text 18"/>
          <p:cNvSpPr/>
          <p:nvPr/>
        </p:nvSpPr>
        <p:spPr>
          <a:xfrm>
            <a:off x="4732200" y="2377440"/>
            <a:ext cx="3013920" cy="86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Tests E2E Playwright sur les parcours critiques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1" name="Shape 19"/>
          <p:cNvSpPr/>
          <p:nvPr/>
        </p:nvSpPr>
        <p:spPr>
          <a:xfrm>
            <a:off x="4457880" y="3429000"/>
            <a:ext cx="142560" cy="14256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2" name="Text 20"/>
          <p:cNvSpPr/>
          <p:nvPr/>
        </p:nvSpPr>
        <p:spPr>
          <a:xfrm>
            <a:off x="4732200" y="3337560"/>
            <a:ext cx="3013920" cy="86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Droit RGPD : suppression compte + export JSON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3" name="Shape 21"/>
          <p:cNvSpPr/>
          <p:nvPr/>
        </p:nvSpPr>
        <p:spPr>
          <a:xfrm>
            <a:off x="4457880" y="4389120"/>
            <a:ext cx="142560" cy="14256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4" name="Text 22"/>
          <p:cNvSpPr/>
          <p:nvPr/>
        </p:nvSpPr>
        <p:spPr>
          <a:xfrm>
            <a:off x="4732200" y="4297680"/>
            <a:ext cx="3013920" cy="86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Notifications push natives (Web Push)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5" name="Shape 23"/>
          <p:cNvSpPr/>
          <p:nvPr/>
        </p:nvSpPr>
        <p:spPr>
          <a:xfrm>
            <a:off x="4457880" y="5349240"/>
            <a:ext cx="142560" cy="142560"/>
          </a:xfrm>
          <a:prstGeom prst="ellipse">
            <a:avLst/>
          </a:prstGeom>
          <a:solidFill>
            <a:srgbClr val="06B6D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6" name="Text 24"/>
          <p:cNvSpPr/>
          <p:nvPr/>
        </p:nvSpPr>
        <p:spPr>
          <a:xfrm>
            <a:off x="4732200" y="5257800"/>
            <a:ext cx="3013920" cy="86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Modération &amp; signalement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7" name="Shape 25"/>
          <p:cNvSpPr/>
          <p:nvPr/>
        </p:nvSpPr>
        <p:spPr>
          <a:xfrm>
            <a:off x="7978320" y="1691640"/>
            <a:ext cx="3699720" cy="4568400"/>
          </a:xfrm>
          <a:prstGeom prst="roundRect">
            <a:avLst>
              <a:gd name="adj" fmla="val 1975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8" name="Shape 26"/>
          <p:cNvSpPr/>
          <p:nvPr/>
        </p:nvSpPr>
        <p:spPr>
          <a:xfrm>
            <a:off x="7978320" y="1691640"/>
            <a:ext cx="3699720" cy="45360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39" name="Text 27"/>
          <p:cNvSpPr/>
          <p:nvPr/>
        </p:nvSpPr>
        <p:spPr>
          <a:xfrm>
            <a:off x="7978320" y="1691640"/>
            <a:ext cx="369972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LONG TERME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0" name="Shape 28"/>
          <p:cNvSpPr/>
          <p:nvPr/>
        </p:nvSpPr>
        <p:spPr>
          <a:xfrm>
            <a:off x="8206920" y="2468880"/>
            <a:ext cx="142560" cy="14256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1" name="Text 29"/>
          <p:cNvSpPr/>
          <p:nvPr/>
        </p:nvSpPr>
        <p:spPr>
          <a:xfrm>
            <a:off x="8481240" y="2377440"/>
            <a:ext cx="3013920" cy="86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Décomposer en services (chat → ws dédié)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2" name="Shape 30"/>
          <p:cNvSpPr/>
          <p:nvPr/>
        </p:nvSpPr>
        <p:spPr>
          <a:xfrm>
            <a:off x="8206920" y="3429000"/>
            <a:ext cx="142560" cy="14256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3" name="Text 31"/>
          <p:cNvSpPr/>
          <p:nvPr/>
        </p:nvSpPr>
        <p:spPr>
          <a:xfrm>
            <a:off x="8481240" y="3337560"/>
            <a:ext cx="3013920" cy="86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Recommandations contenu personnalisées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4" name="Shape 32"/>
          <p:cNvSpPr/>
          <p:nvPr/>
        </p:nvSpPr>
        <p:spPr>
          <a:xfrm>
            <a:off x="8206920" y="4389120"/>
            <a:ext cx="142560" cy="14256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5" name="Text 33"/>
          <p:cNvSpPr/>
          <p:nvPr/>
        </p:nvSpPr>
        <p:spPr>
          <a:xfrm>
            <a:off x="8481240" y="4297680"/>
            <a:ext cx="3013920" cy="86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App mobile dédiée (React Native ?)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6" name="Shape 34"/>
          <p:cNvSpPr/>
          <p:nvPr/>
        </p:nvSpPr>
        <p:spPr>
          <a:xfrm>
            <a:off x="8206920" y="5349240"/>
            <a:ext cx="142560" cy="14256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1280" tIns="45000" rIns="7128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47" name="Text 35"/>
          <p:cNvSpPr/>
          <p:nvPr/>
        </p:nvSpPr>
        <p:spPr>
          <a:xfrm>
            <a:off x="8481240" y="5257800"/>
            <a:ext cx="3013920" cy="86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Métriques produit + analytics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48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49" name="Text 36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0" name="Text 37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60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1" name="Text 0"/>
          <p:cNvSpPr/>
          <p:nvPr/>
        </p:nvSpPr>
        <p:spPr>
          <a:xfrm>
            <a:off x="548640" y="411480"/>
            <a:ext cx="731160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pc="400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06 · BILAN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2" name="Text 1"/>
          <p:cNvSpPr/>
          <p:nvPr/>
        </p:nvSpPr>
        <p:spPr>
          <a:xfrm>
            <a:off x="548640" y="685800"/>
            <a:ext cx="1096920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Conclusion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3" name="Shape 2"/>
          <p:cNvSpPr/>
          <p:nvPr/>
        </p:nvSpPr>
        <p:spPr>
          <a:xfrm>
            <a:off x="365760" y="457200"/>
            <a:ext cx="69480" cy="77364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4920" tIns="45000" rIns="34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4" name="Shape 3"/>
          <p:cNvSpPr/>
          <p:nvPr/>
        </p:nvSpPr>
        <p:spPr>
          <a:xfrm>
            <a:off x="548640" y="1828800"/>
            <a:ext cx="87840" cy="164232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3920" tIns="45000" rIns="4392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5" name="Text 4"/>
          <p:cNvSpPr/>
          <p:nvPr/>
        </p:nvSpPr>
        <p:spPr>
          <a:xfrm>
            <a:off x="822960" y="1783080"/>
            <a:ext cx="10786320" cy="91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Konekt m'a permis de mettre en pratique l'ensemble du cycle de développement d'une application moderne — de la modélisation à la mise en production — tout en faisant des choix techniques justifiés et documentés.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6" name="Text 5"/>
          <p:cNvSpPr/>
          <p:nvPr/>
        </p:nvSpPr>
        <p:spPr>
          <a:xfrm>
            <a:off x="822960" y="2697480"/>
            <a:ext cx="1078632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Au-delà de la certification, ce projet matérialise ma transition concrète vers le métier de Concepteur Développeur d'Applications.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7" name="Shape 6"/>
          <p:cNvSpPr/>
          <p:nvPr/>
        </p:nvSpPr>
        <p:spPr>
          <a:xfrm>
            <a:off x="548640" y="3657600"/>
            <a:ext cx="2693880" cy="182520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8" name="Shape 7"/>
          <p:cNvSpPr/>
          <p:nvPr/>
        </p:nvSpPr>
        <p:spPr>
          <a:xfrm>
            <a:off x="1600200" y="3886200"/>
            <a:ext cx="590760" cy="590760"/>
          </a:xfrm>
          <a:prstGeom prst="ellipse">
            <a:avLst/>
          </a:prstGeom>
          <a:solidFill>
            <a:srgbClr val="EC4899">
              <a:alpha val="30000"/>
            </a:srgbClr>
          </a:solidFill>
          <a:ln w="19050">
            <a:solidFill>
              <a:srgbClr val="EC48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59" name="Text 8"/>
          <p:cNvSpPr/>
          <p:nvPr/>
        </p:nvSpPr>
        <p:spPr>
          <a:xfrm>
            <a:off x="1600200" y="3886200"/>
            <a:ext cx="590760" cy="59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EC4899"/>
                </a:solidFill>
                <a:effectLst/>
                <a:uFillTx/>
                <a:latin typeface="Calibri"/>
                <a:ea typeface="Calibri"/>
              </a:rPr>
              <a:t>✓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0" name="Text 9"/>
          <p:cNvSpPr/>
          <p:nvPr/>
        </p:nvSpPr>
        <p:spPr>
          <a:xfrm>
            <a:off x="640080" y="4572000"/>
            <a:ext cx="25110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Cycle complet maîtrisé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1" name="Text 10"/>
          <p:cNvSpPr/>
          <p:nvPr/>
        </p:nvSpPr>
        <p:spPr>
          <a:xfrm>
            <a:off x="640080" y="4937760"/>
            <a:ext cx="25110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De la conception à la production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2" name="Shape 11"/>
          <p:cNvSpPr/>
          <p:nvPr/>
        </p:nvSpPr>
        <p:spPr>
          <a:xfrm>
            <a:off x="3383280" y="3657600"/>
            <a:ext cx="2693880" cy="182520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3" name="Shape 12"/>
          <p:cNvSpPr/>
          <p:nvPr/>
        </p:nvSpPr>
        <p:spPr>
          <a:xfrm>
            <a:off x="4434840" y="3886200"/>
            <a:ext cx="590760" cy="590760"/>
          </a:xfrm>
          <a:prstGeom prst="ellipse">
            <a:avLst/>
          </a:prstGeom>
          <a:solidFill>
            <a:srgbClr val="06B6D4">
              <a:alpha val="30000"/>
            </a:srgbClr>
          </a:solidFill>
          <a:ln w="19050">
            <a:solidFill>
              <a:srgbClr val="06B6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4" name="Text 13"/>
          <p:cNvSpPr/>
          <p:nvPr/>
        </p:nvSpPr>
        <p:spPr>
          <a:xfrm>
            <a:off x="4434840" y="3814200"/>
            <a:ext cx="59076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06B6D4"/>
                </a:solidFill>
                <a:effectLst/>
                <a:uFillTx/>
                <a:latin typeface="Calibri"/>
                <a:ea typeface="Calibri"/>
              </a:rPr>
              <a:t>▣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5" name="Text 14"/>
          <p:cNvSpPr/>
          <p:nvPr/>
        </p:nvSpPr>
        <p:spPr>
          <a:xfrm>
            <a:off x="3474720" y="4572000"/>
            <a:ext cx="25110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Sécurité &amp; RGPD pris au sérieux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6" name="Text 15"/>
          <p:cNvSpPr/>
          <p:nvPr/>
        </p:nvSpPr>
        <p:spPr>
          <a:xfrm>
            <a:off x="3474720" y="4937760"/>
            <a:ext cx="25110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Audit + roadmap durcissement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7" name="Shape 16"/>
          <p:cNvSpPr/>
          <p:nvPr/>
        </p:nvSpPr>
        <p:spPr>
          <a:xfrm>
            <a:off x="6217920" y="3657600"/>
            <a:ext cx="2693880" cy="182520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8" name="Shape 17"/>
          <p:cNvSpPr/>
          <p:nvPr/>
        </p:nvSpPr>
        <p:spPr>
          <a:xfrm>
            <a:off x="7269480" y="3886200"/>
            <a:ext cx="590760" cy="590760"/>
          </a:xfrm>
          <a:prstGeom prst="ellipse">
            <a:avLst/>
          </a:prstGeom>
          <a:solidFill>
            <a:srgbClr val="8B5CF6">
              <a:alpha val="30000"/>
            </a:srgbClr>
          </a:solidFill>
          <a:ln w="1905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69" name="Text 18"/>
          <p:cNvSpPr/>
          <p:nvPr/>
        </p:nvSpPr>
        <p:spPr>
          <a:xfrm>
            <a:off x="7269480" y="3814200"/>
            <a:ext cx="59076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◉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0" name="Text 19"/>
          <p:cNvSpPr/>
          <p:nvPr/>
        </p:nvSpPr>
        <p:spPr>
          <a:xfrm>
            <a:off x="6309360" y="4572000"/>
            <a:ext cx="25110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Choix techniques justifiés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1" name="Text 20"/>
          <p:cNvSpPr/>
          <p:nvPr/>
        </p:nvSpPr>
        <p:spPr>
          <a:xfrm>
            <a:off x="6309360" y="4937760"/>
            <a:ext cx="25110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Trade-offs assumés et documentés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2" name="Shape 21"/>
          <p:cNvSpPr/>
          <p:nvPr/>
        </p:nvSpPr>
        <p:spPr>
          <a:xfrm>
            <a:off x="9052560" y="3657600"/>
            <a:ext cx="2693880" cy="1825200"/>
          </a:xfrm>
          <a:prstGeom prst="roundRect">
            <a:avLst>
              <a:gd name="adj" fmla="val 4000"/>
            </a:avLst>
          </a:prstGeom>
          <a:solidFill>
            <a:srgbClr val="272730"/>
          </a:solidFill>
          <a:ln w="9525">
            <a:solidFill>
              <a:srgbClr val="3F3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73" name="Shape 22"/>
          <p:cNvSpPr/>
          <p:nvPr/>
        </p:nvSpPr>
        <p:spPr>
          <a:xfrm>
            <a:off x="10104120" y="3886200"/>
            <a:ext cx="590760" cy="590760"/>
          </a:xfrm>
          <a:prstGeom prst="ellipse">
            <a:avLst/>
          </a:prstGeom>
          <a:solidFill>
            <a:srgbClr val="10B981">
              <a:alpha val="30000"/>
            </a:srgbClr>
          </a:solidFill>
          <a:ln w="19050">
            <a:solidFill>
              <a:srgbClr val="10B98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74" name="Text 23"/>
          <p:cNvSpPr/>
          <p:nvPr/>
        </p:nvSpPr>
        <p:spPr>
          <a:xfrm>
            <a:off x="10104120" y="3814200"/>
            <a:ext cx="59076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◎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5" name="Text 24"/>
          <p:cNvSpPr/>
          <p:nvPr/>
        </p:nvSpPr>
        <p:spPr>
          <a:xfrm>
            <a:off x="9144000" y="4572000"/>
            <a:ext cx="251100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Recul critique acquis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6" name="Text 25"/>
          <p:cNvSpPr/>
          <p:nvPr/>
        </p:nvSpPr>
        <p:spPr>
          <a:xfrm>
            <a:off x="9144000" y="4937760"/>
            <a:ext cx="2511000" cy="4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1A1AA"/>
                </a:solidFill>
                <a:effectLst/>
                <a:uFillTx/>
                <a:latin typeface="Calibri"/>
                <a:ea typeface="Calibri"/>
              </a:rPr>
              <a:t>Limites identifiées, plan d'évolution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77" name="Image 0" descr="/sessions/sweet-funny-newton/mnt/outputs/build/assets/konekt-logo.png"/>
          <p:cNvPicPr/>
          <p:nvPr/>
        </p:nvPicPr>
        <p:blipFill>
          <a:blip r:embed="rId1"/>
          <a:stretch/>
        </p:blipFill>
        <p:spPr>
          <a:xfrm>
            <a:off x="411480" y="6446520"/>
            <a:ext cx="270720" cy="27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78" name="Text 27"/>
          <p:cNvSpPr/>
          <p:nvPr/>
        </p:nvSpPr>
        <p:spPr>
          <a:xfrm>
            <a:off x="731520" y="644652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Konekt  ·  RNCP 37873 - CDA  ·  Christophe Lecart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9" name="Text 28"/>
          <p:cNvSpPr/>
          <p:nvPr/>
        </p:nvSpPr>
        <p:spPr>
          <a:xfrm>
            <a:off x="11064240" y="6446520"/>
            <a:ext cx="63648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61 / 62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B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0" name="Shape 0"/>
          <p:cNvSpPr/>
          <p:nvPr/>
        </p:nvSpPr>
        <p:spPr>
          <a:xfrm>
            <a:off x="-2743200" y="3200400"/>
            <a:ext cx="7311600" cy="7311600"/>
          </a:xfrm>
          <a:prstGeom prst="ellipse">
            <a:avLst/>
          </a:prstGeom>
          <a:solidFill>
            <a:srgbClr val="EC4899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81" name="Shape 1"/>
          <p:cNvSpPr/>
          <p:nvPr/>
        </p:nvSpPr>
        <p:spPr>
          <a:xfrm>
            <a:off x="7589520" y="-2743200"/>
            <a:ext cx="7311600" cy="7311600"/>
          </a:xfrm>
          <a:prstGeom prst="ellipse">
            <a:avLst/>
          </a:prstGeom>
          <a:solidFill>
            <a:srgbClr val="8B5CF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82" name="Text 2"/>
          <p:cNvSpPr/>
          <p:nvPr/>
        </p:nvSpPr>
        <p:spPr>
          <a:xfrm>
            <a:off x="457200" y="3108960"/>
            <a:ext cx="11243520" cy="81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Merci pour votre attention</a:t>
            </a:r>
            <a:endParaRPr lang="en-US" sz="5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3" name="Text 3"/>
          <p:cNvSpPr/>
          <p:nvPr/>
        </p:nvSpPr>
        <p:spPr>
          <a:xfrm>
            <a:off x="474120" y="4343400"/>
            <a:ext cx="11243520" cy="45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Place aux questions</a:t>
            </a:r>
            <a:br>
              <a:rPr sz="2200"/>
            </a:br>
            <a:br>
              <a:rPr sz="2200"/>
            </a:br>
            <a:r>
              <a:rPr lang="en-US" sz="2200" b="0" i="1" u="none" strike="noStrike">
                <a:solidFill>
                  <a:srgbClr val="F472B6"/>
                </a:solidFill>
                <a:effectLst/>
                <a:uFillTx/>
                <a:latin typeface="Calibri"/>
                <a:ea typeface="Calibri"/>
              </a:rPr>
              <a:t>^^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4" name="Text 8"/>
          <p:cNvSpPr/>
          <p:nvPr/>
        </p:nvSpPr>
        <p:spPr>
          <a:xfrm>
            <a:off x="3657600" y="5212080"/>
            <a:ext cx="362160" cy="63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5" name="Text 16"/>
          <p:cNvSpPr/>
          <p:nvPr/>
        </p:nvSpPr>
        <p:spPr>
          <a:xfrm>
            <a:off x="457200" y="6172200"/>
            <a:ext cx="1124352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1717A"/>
                </a:solidFill>
                <a:effectLst/>
                <a:uFillTx/>
                <a:latin typeface="Calibri"/>
                <a:ea typeface="Calibri"/>
              </a:rPr>
              <a:t>RNCP 37873 — Concepteur Développeur d'Applications · Zone01 Rouen Normandie · 2026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86" name=""/>
          <p:cNvPicPr/>
          <p:nvPr/>
        </p:nvPicPr>
        <p:blipFill>
          <a:blip r:embed="rId1"/>
          <a:stretch/>
        </p:blipFill>
        <p:spPr>
          <a:xfrm>
            <a:off x="9601200" y="5029200"/>
            <a:ext cx="3426120" cy="1953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87" name=""/>
          <p:cNvPicPr/>
          <p:nvPr/>
        </p:nvPicPr>
        <p:blipFill>
          <a:blip r:embed="rId2"/>
          <a:stretch/>
        </p:blipFill>
        <p:spPr>
          <a:xfrm>
            <a:off x="448200" y="-685800"/>
            <a:ext cx="5492520" cy="4120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230</TotalTime>
  <Application>LibreOffice/26.2.3.2$Linux_X86_64 LibreOffice_project/d4d5ed47b6084125f28d269a5650105d54dde034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2026-05-19T10:21:42Z</dcterms:created>
  <dc:creator>Christophe Lecart</dc:creator>
  <dc:description/>
  <dc:language>en-US</dc:language>
  <cp:lastModifiedBy/>
  <dcterms:modified xsi:type="dcterms:W3CDTF">2026-05-24T02:45:52Z</dcterms:modified>
  <cp:revision>40</cp:revision>
  <dc:subject>PptxGenJS Presentation</dc:subject>
  <dc:title>Konekt - Support Visuel RNCP 37873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47</vt:i4>
  </property>
  <property fmtid="{D5CDD505-2E9C-101B-9397-08002B2CF9AE}" pid="3" name="PresentationFormat">
    <vt:lpwstr>On-screen Show (16:9)</vt:lpwstr>
  </property>
  <property fmtid="{D5CDD505-2E9C-101B-9397-08002B2CF9AE}" pid="4" name="Slides">
    <vt:i4>47</vt:i4>
  </property>
</Properties>
</file>