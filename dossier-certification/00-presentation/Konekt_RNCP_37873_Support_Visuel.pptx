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style2.xml" ContentType="application/vnd.ms-office.chartstyle+xml"/>
  <Override PartName="/ppt/charts/chart2.xml" ContentType="application/vnd.openxmlformats-officedocument.drawingml.chart+xml"/>
  <Override PartName="/ppt/charts/colors2.xml" ContentType="application/vnd.ms-office.chartcolorstyle+xml"/>
  <Override PartName="/ppt/slides/slide29.xml" ContentType="application/vnd.openxmlformats-officedocument.presentationml.slide+xml"/>
  <Override PartName="/ppt/slides/slide26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7.xml" ContentType="application/vnd.openxmlformats-officedocument.presentationml.slide+xml"/>
  <Override PartName="/ppt/slides/slide9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49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44.xml" ContentType="application/vnd.openxmlformats-officedocument.presentationml.slide+xml"/>
  <Override PartName="/ppt/slides/slide18.xml" ContentType="application/vnd.openxmlformats-officedocument.presentationml.slide+xml"/>
  <Override PartName="/ppt/slides/slide41.xml" ContentType="application/vnd.openxmlformats-officedocument.presentationml.slide+xml"/>
  <Override PartName="/ppt/slides/slide38.xml" ContentType="application/vnd.openxmlformats-officedocument.presentationml.slide+xml"/>
  <Override PartName="/ppt/slides/slide35.xml" ContentType="application/vnd.openxmlformats-officedocument.presentationml.slide+xml"/>
  <Override PartName="/ppt/slides/slide50.xml" ContentType="application/vnd.openxmlformats-officedocument.presentationml.slide+xml"/>
  <Override PartName="/ppt/slides/slide16.xml" ContentType="application/vnd.openxmlformats-officedocument.presentationml.slide+xml"/>
  <Override PartName="/ppt/slides/slide40.xml" ContentType="application/vnd.openxmlformats-officedocument.presentationml.slide+xml"/>
  <Override PartName="/ppt/slides/slide2.xml" ContentType="application/vnd.openxmlformats-officedocument.presentationml.slide+xml"/>
  <Override PartName="/ppt/slides/slide23.xml" ContentType="application/vnd.openxmlformats-officedocument.presentationml.slide+xml"/>
  <Override PartName="/ppt/slides/slide5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45.xml" ContentType="application/vnd.openxmlformats-officedocument.presentationml.slide+xml"/>
  <Override PartName="/ppt/slides/slide52.xml" ContentType="application/vnd.openxmlformats-officedocument.presentationml.slide+xml"/>
  <Override PartName="/ppt/slides/slide14.xml" ContentType="application/vnd.openxmlformats-officedocument.presentationml.slide+xml"/>
  <Override PartName="/ppt/slides/slide51.xml" ContentType="application/vnd.openxmlformats-officedocument.presentationml.slide+xml"/>
  <Override PartName="/ppt/slides/slide28.xml" ContentType="application/vnd.openxmlformats-officedocument.presentationml.slide+xml"/>
  <Override PartName="/ppt/slides/slide12.xml" ContentType="application/vnd.openxmlformats-officedocument.presentationml.slide+xml"/>
  <Override PartName="/ppt/slides/slide42.xml" ContentType="application/vnd.openxmlformats-officedocument.presentationml.slide+xml"/>
  <Override PartName="/ppt/slides/slide53.xml" ContentType="application/vnd.openxmlformats-officedocument.presentationml.slide+xml"/>
  <Override PartName="/ppt/slides/slide56.xml" ContentType="application/vnd.openxmlformats-officedocument.presentationml.slide+xml"/>
  <Override PartName="/ppt/slides/slide24.xml" ContentType="application/vnd.openxmlformats-officedocument.presentationml.slide+xml"/>
  <Override PartName="/ppt/slides/slide55.xml" ContentType="application/vnd.openxmlformats-officedocument.presentationml.slide+xml"/>
  <Override PartName="/ppt/slides/slide27.xml" ContentType="application/vnd.openxmlformats-officedocument.presentationml.slide+xml"/>
  <Override PartName="/ppt/slides/slide46.xml" ContentType="application/vnd.openxmlformats-officedocument.presentationml.slide+xml"/>
  <Override PartName="/ppt/slides/slide43.xml" ContentType="application/vnd.openxmlformats-officedocument.presentationml.slide+xml"/>
  <Override PartName="/ppt/slides/slide47.xml" ContentType="application/vnd.openxmlformats-officedocument.presentationml.slide+xml"/>
  <Override PartName="/ppt/slides/slide37.xml" ContentType="application/vnd.openxmlformats-officedocument.presentationml.slide+xml"/>
  <Override PartName="/ppt/slides/slide54.xml" ContentType="application/vnd.openxmlformats-officedocument.presentationml.slide+xml"/>
  <Override PartName="/ppt/slides/slide36.xml" ContentType="application/vnd.openxmlformats-officedocument.presentationml.slide+xml"/>
  <Override PartName="/ppt/slides/slide34.xml" ContentType="application/vnd.openxmlformats-officedocument.presentationml.slide+xml"/>
  <Override PartName="/ppt/slides/slide33.xml" ContentType="application/vnd.openxmlformats-officedocument.presentationml.slide+xml"/>
  <Override PartName="/ppt/slides/slide32.xml" ContentType="application/vnd.openxmlformats-officedocument.presentationml.slide+xml"/>
  <Override PartName="/ppt/slides/slide48.xml" ContentType="application/vnd.openxmlformats-officedocument.presentationml.slide+xml"/>
  <Override PartName="/ppt/slides/slide39.xml" ContentType="application/vnd.openxmlformats-officedocument.presentationml.slide+xml"/>
  <Override PartName="/ppt/slides/slide31.xml" ContentType="application/vnd.openxmlformats-officedocument.presentationml.slide+xml"/>
  <Override PartName="/ppt/slides/slide30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5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presProps" Target="presProps.xml"/>
</Relationships>
</file>

<file path=ppt/charts/_rels/chart1.xml.rels><?xml version="1.0" encoding="UTF-8"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
</Relationships>
</file>

<file path=ppt/charts/_rels/chart2.xml.rels><?xml version="1.0" encoding="UTF-8"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Features</c:v>
                </c:pt>
              </c:strCache>
            </c:strRef>
          </c:tx>
          <c:spPr>
            <a:solidFill>
              <a:srgbClr val="4472C4"/>
            </a:solidFill>
            <a:ln w="9360">
              <a:solidFill>
                <a:srgbClr val="F9F9F9"/>
              </a:solidFill>
              <a:round/>
            </a:ln>
          </c:spPr>
          <c:explosion val="0"/>
          <c:dPt>
            <c:idx val="0"/>
            <c:spPr>
              <a:solidFill>
                <a:srgbClr val="EC4899"/>
              </a:solidFill>
              <a:ln w="0">
                <a:noFill/>
              </a:ln>
            </c:spPr>
          </c:dPt>
          <c:dPt>
            <c:idx val="1"/>
            <c:spPr>
              <a:solidFill>
                <a:srgbClr val="06B6D4"/>
              </a:solidFill>
              <a:ln w="0">
                <a:noFill/>
              </a:ln>
            </c:spPr>
          </c:dPt>
          <c:dPt>
            <c:idx val="2"/>
            <c:spPr>
              <a:solidFill>
                <a:srgbClr val="8B5CF6"/>
              </a:solidFill>
              <a:ln w="0">
                <a:noFill/>
              </a:ln>
            </c:spPr>
          </c:dPt>
          <c:dPt>
            <c:idx val="3"/>
            <c:spPr>
              <a:solidFill>
                <a:srgbClr val="F59E0B"/>
              </a:solidFill>
              <a:ln w="0">
                <a:noFill/>
              </a:ln>
            </c:spPr>
          </c:dPt>
          <c:dPt>
            <c:idx val="4"/>
            <c:spPr>
              <a:solidFill>
                <a:srgbClr val="10B981"/>
              </a:solidFill>
              <a:ln w="0">
                <a:noFill/>
              </a:ln>
            </c:spPr>
          </c:dPt>
          <c:dLbls>
            <c:dLbl>
              <c:idx val="0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1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2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3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4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numFmt formatCode="0%" sourceLinked="0"/>
            <c:txPr>
              <a:bodyPr wrap="square"/>
              <a:lstStyle/>
              <a:p>
                <a:pPr>
                  <a:defRPr sz="18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eparator>
</c:separator>
            <c:showLeaderLines val="0"/>
          </c:dLbls>
          <c:cat>
            <c:strRef>
              <c:f>categories</c:f>
              <c:strCache>
                <c:ptCount val="5"/>
                <c:pt idx="0">
                  <c:v>Posts &amp; Réactions</c:v>
                </c:pt>
                <c:pt idx="1">
                  <c:v>Messagerie (SSE)</c:v>
                </c:pt>
                <c:pt idx="2">
                  <c:v>Groupes &amp; Events</c:v>
                </c:pt>
                <c:pt idx="3">
                  <c:v>Auth &amp; Profil</c:v>
                </c:pt>
                <c:pt idx="4">
                  <c:v>Recherche &amp; Notif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5"/>
                <c:pt idx="0">
                  <c:v>30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  <c:pt idx="4">
                  <c:v>10</c:v>
                </c:pt>
              </c:numCache>
            </c:numRef>
          </c:val>
        </c:ser>
        <c:firstSliceAng val="0"/>
        <c:holeSize val="50"/>
      </c:doughnutChart>
      <c:spPr>
        <a:solidFill>
          <a:srgbClr val="272730"/>
        </a:solidFill>
        <a:ln w="0">
          <a:noFill/>
        </a:ln>
      </c:spPr>
    </c:plotArea>
    <c:legend>
      <c:legendPos val="r"/>
      <c:overlay val="0"/>
      <c:spPr>
        <a:noFill/>
        <a:ln w="0">
          <a:noFill/>
        </a:ln>
      </c:spPr>
      <c:txPr>
        <a:bodyPr/>
        <a:lstStyle/>
        <a:p>
          <a:pPr>
            <a:defRPr sz="1000" b="0" u="none" strike="noStrike">
              <a:solidFill>
                <a:srgbClr val="FFFFFF"/>
              </a:solidFill>
              <a:uFillTx/>
              <a:latin typeface="Calibri"/>
            </a:defRPr>
          </a:pPr>
        </a:p>
      </c:txPr>
    </c:legend>
    <c:plotVisOnly val="1"/>
    <c:dispBlanksAs val="span"/>
  </c:chart>
  <c:spPr>
    <a:solidFill>
      <a:srgbClr val="272730"/>
    </a:solidFill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Jours</c:v>
                </c:pt>
              </c:strCache>
            </c:strRef>
          </c:tx>
          <c:spPr>
            <a:solidFill>
              <a:srgbClr val="EC4899"/>
            </a:solidFill>
            <a:ln w="0">
              <a:noFill/>
            </a:ln>
          </c:spPr>
          <c:invertIfNegative val="0"/>
          <c:dLbls>
            <c:numFmt formatCode="#,##0" sourceLinked="0"/>
            <c:txPr>
              <a:bodyPr wrap="square"/>
              <a:lstStyle/>
              <a:p>
                <a:pPr>
                  <a:defRPr sz="1000" b="0" u="none" strike="noStrike">
                    <a:solidFill>
                      <a:srgbClr val="FFFFFF"/>
                    </a:solidFill>
                    <a:uFillTx/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4"/>
                <c:pt idx="0">
                  <c:v>Conception</c:v>
                </c:pt>
                <c:pt idx="1">
                  <c:v>Développement</c:v>
                </c:pt>
                <c:pt idx="2">
                  <c:v>Tests</c:v>
                </c:pt>
                <c:pt idx="3">
                  <c:v>Déploiement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25</c:v>
                </c:pt>
                <c:pt idx="1">
                  <c:v>14</c:v>
                </c:pt>
                <c:pt idx="2">
                  <c:v>7</c:v>
                </c:pt>
                <c:pt idx="3">
                  <c:v>3</c:v>
                </c:pt>
              </c:numCache>
            </c:numRef>
          </c:val>
        </c:ser>
        <c:gapWidth val="150"/>
        <c:overlap val="0"/>
        <c:axId val="19676854"/>
        <c:axId val="47459759"/>
      </c:barChart>
      <c:catAx>
        <c:axId val="1967685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000" b="0" u="none" strike="noStrike">
                <a:solidFill>
                  <a:srgbClr val="A1A1AA"/>
                </a:solidFill>
                <a:uFillTx/>
                <a:latin typeface="Calibri"/>
              </a:defRPr>
            </a:pPr>
          </a:p>
        </c:txPr>
        <c:crossAx val="47459759"/>
        <c:crosses val="autoZero"/>
        <c:auto val="1"/>
        <c:lblAlgn val="ctr"/>
        <c:lblOffset val="100"/>
        <c:noMultiLvlLbl val="0"/>
      </c:catAx>
      <c:valAx>
        <c:axId val="47459759"/>
        <c:scaling>
          <c:orientation val="minMax"/>
        </c:scaling>
        <c:delete val="0"/>
        <c:axPos val="l"/>
        <c:majorGridlines>
          <c:spPr>
            <a:ln w="6480">
              <a:solidFill>
                <a:srgbClr val="3F3F46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900" b="0" u="none" strike="noStrike">
                <a:solidFill>
                  <a:srgbClr val="A1A1AA"/>
                </a:solidFill>
                <a:uFillTx/>
                <a:latin typeface="Calibri"/>
              </a:defRPr>
            </a:pPr>
          </a:p>
        </c:txPr>
        <c:crossAx val="19676854"/>
        <c:crosses val="autoZero"/>
        <c:crossBetween val="between"/>
      </c:valAx>
      <c:spPr>
        <a:solidFill>
          <a:srgbClr val="272730"/>
        </a:solidFill>
        <a:ln w="0">
          <a:noFill/>
        </a:ln>
      </c:spPr>
    </c:plotArea>
    <c:plotVisOnly val="1"/>
    <c:dispBlanksAs val="span"/>
  </c:chart>
  <c:spPr>
    <a:solidFill>
      <a:srgbClr val="272730"/>
    </a:solidFill>
    <a:ln w="0">
      <a:noFill/>
    </a:ln>
  </c:spPr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419">
  <cs:axisTitle>
    <cs:lnRef idx="0"/>
    <cs:lineWidthScale>1</cs:lineWidthScale>
    <cs:fillRef idx="0"/>
    <cs:effectRef idx="0"/>
    <cs:fontRef idx="minor"/>
    <a:defRPr sz="1800" b="0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2.xml><?xml version="1.0" encoding="utf-8"?>
<cs:chartStyle xmlns:cs="http://schemas.microsoft.com/office/drawing/2012/chartStyle" xmlns:a="http://schemas.openxmlformats.org/drawingml/2006/main" id="419">
  <cs:axisTitle>
    <cs:lnRef idx="0"/>
    <cs:lineWidthScale>1</cs:lineWidthScale>
    <cs:fillRef idx="0"/>
    <cs:effectRef idx="0"/>
    <cs:fontRef idx="minor"/>
    <a:defRPr sz="1800" b="0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89F34411-6254-447F-9D92-692BB2E7CB7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3.xml.rels><?xml version="1.0" encoding="UTF-8"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46.xml.rels><?xml version="1.0" encoding="UTF-8"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
</Relationships>
</file>

<file path=ppt/notesSlides/_rels/notesSlide47.xml.rels><?xml version="1.0" encoding="UTF-8"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
</Relationships>
</file>

<file path=ppt/notesSlides/_rels/notesSlide48.xml.rels><?xml version="1.0" encoding="UTF-8"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
</Relationships>
</file>

<file path=ppt/notesSlides/_rels/notesSlide49.xml.rels><?xml version="1.0" encoding="UTF-8"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
</Relationships>
</file>

<file path=ppt/notesSlides/_rels/notesSlide50.xml.rels><?xml version="1.0" encoding="UTF-8"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
</Relationships>
</file>

<file path=ppt/notesSlides/_rels/notesSlide51.xml.rels><?xml version="1.0" encoding="UTF-8"?>
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
</Relationships>
</file>

<file path=ppt/notesSlides/_rels/notesSlide52.xml.rels><?xml version="1.0" encoding="UTF-8"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
</Relationships>
</file>

<file path=ppt/notesSlides/_rels/notesSlide53.xml.rels><?xml version="1.0" encoding="UTF-8"?>
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
</Relationships>
</file>

<file path=ppt/notesSlides/_rels/notesSlide54.xml.rels><?xml version="1.0" encoding="UTF-8"?>
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
</Relationships>
</file>

<file path=ppt/notesSlides/_rels/notesSlide55.xml.rels><?xml version="1.0" encoding="UTF-8"?>
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
</Relationships>
</file>

<file path=ppt/notesSlides/_rels/notesSlide56.xml.rels><?xml version="1.0" encoding="UTF-8"?>
<Relationships xmlns="http://schemas.openxmlformats.org/package/2006/relationships"><Relationship Id="rId1" Type="http://schemas.openxmlformats.org/officeDocument/2006/relationships/slide" Target="../slides/slide56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7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CCE5512-B474-4C90-B6B9-C4A74CB8C12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0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437D931-CD76-4815-87A4-7195696578A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3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67B143B-EB32-4991-B127-BE594F3E004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6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8CBF14A-FDCF-44A6-98FA-DE190D9673C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9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259E36B-7F45-4576-8DD8-31D9E49BBE6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2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85E2B17-FCB5-41B1-86C7-7D57E42306B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5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B6F99B3-EC9D-4777-A6AF-5C99DFC7C26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8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F58E718-6477-4118-BD02-BC88399F260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1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0F43F19-EF38-45D0-86A9-50135D82DE7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4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059D256-1934-4B07-8526-D2F30F40440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7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0CCFBE6-1DB3-4D47-A251-6918238B796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0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18482FD-2397-4359-A873-93B7CFD13CB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3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E69BE34-A487-49B3-8C7D-40A8EB27C8F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6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BBD1E16-702B-4AC2-AAB0-76CFF797005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9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A13A8E0-FFAB-47E6-855A-7EBD6DA3C95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2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18E2FC3-C263-4EC9-9717-90F3F0B481D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5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519FC0E-374C-461D-A41A-ACB1FC57699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8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2392DD8-455C-4A54-A020-23D43BF6F7A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1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E482CD9-FC3A-4FD6-9D5C-9486374A548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4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D4C88B5-7B2D-4C75-A5E6-685568AC9C7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7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DD2110D-F8EA-45B2-B3C1-4942A2C7707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0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F0911A-832F-4646-9DC3-D3B16C0034F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3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8DD4B6B-0064-400F-A30F-58F615A1B52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6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A014B44-45F7-41E5-9D20-4611A0AEB0A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9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DBAF6F7-1960-4A71-828F-1340F06E8A9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2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8959D3B-C0C5-48F9-8E5B-0FD127B4FD9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5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E1ACD94-F0E8-46F5-B83D-9E9162A61A7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8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3107D85-8157-433E-838B-F56B607A1B0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1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193377D-E0A3-4F6A-A08F-354EAF476E6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4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325C08D-7AB9-4E39-9B51-0E03E22E774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7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629E240-B094-4424-B646-9A94B8711F0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0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0DE5ACD-9505-4809-813F-10DBBB01D3B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3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0AE32AF-7A36-4A5E-BA4B-0B48E4163DB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6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E4C7DAF-E892-4F57-8C8B-4E7805F9D7D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9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86EAAD4-D7A3-48B4-96DB-AC80BE938FD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2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F8099D4-E60A-499D-9FB2-F4A5675C378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5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A0EEDDB-CA7C-4EE7-8B6D-EF153064936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8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FB154BA-0076-4F50-ADFE-099E38909E3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1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D2DE69D-2F0C-4B0A-8764-98922E8FC33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4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B9792EE-2695-4787-BC16-248E79490FC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7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80C8ABA-1F77-4838-A6B1-E8A20A4235F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0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B31E420-AD64-4FC7-9752-06F4A72C544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3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56F0BAE-8ED6-4467-A18D-D2D77B2DF11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6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62F9AE0-B979-4877-8CD3-21DD64B4A33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9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DC46A13-C922-4CF9-894E-151215FCD5F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2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37CF606-8543-4641-BE17-995DB325E1D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5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315DBB2-4873-4667-BDE6-F1BCFF21455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chart" Target="../charts/chart2.xml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-2743200" y="-2743200"/>
            <a:ext cx="7313760" cy="7313760"/>
          </a:xfrm>
          <a:prstGeom prst="ellipse">
            <a:avLst/>
          </a:prstGeom>
          <a:solidFill>
            <a:srgbClr val="EC4899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9418320" y="4114800"/>
            <a:ext cx="6399360" cy="6399360"/>
          </a:xfrm>
          <a:prstGeom prst="ellipse">
            <a:avLst/>
          </a:prstGeom>
          <a:solidFill>
            <a:srgbClr val="8B5CF6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Shape 2"/>
          <p:cNvSpPr/>
          <p:nvPr/>
        </p:nvSpPr>
        <p:spPr>
          <a:xfrm>
            <a:off x="7315200" y="914400"/>
            <a:ext cx="2741760" cy="2741760"/>
          </a:xfrm>
          <a:prstGeom prst="ellipse">
            <a:avLst/>
          </a:prstGeom>
          <a:solidFill>
            <a:srgbClr val="06B6D4">
              <a:alpha val="8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914400" y="2468880"/>
            <a:ext cx="2376000" cy="410040"/>
          </a:xfrm>
          <a:prstGeom prst="roundRect">
            <a:avLst>
              <a:gd name="adj" fmla="val 48889"/>
            </a:avLst>
          </a:prstGeom>
          <a:solidFill>
            <a:srgbClr val="EC4899">
              <a:alpha val="25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Text 4"/>
          <p:cNvSpPr/>
          <p:nvPr/>
        </p:nvSpPr>
        <p:spPr>
          <a:xfrm>
            <a:off x="914400" y="2468880"/>
            <a:ext cx="23760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RNCP 37873  ·  CDA  ·  Niveau 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914400" y="3108960"/>
            <a:ext cx="1005696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Support de soutenance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6"/>
          <p:cNvSpPr/>
          <p:nvPr/>
        </p:nvSpPr>
        <p:spPr>
          <a:xfrm>
            <a:off x="914400" y="3611880"/>
            <a:ext cx="1005696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Réseau social Konekt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7"/>
          <p:cNvSpPr/>
          <p:nvPr/>
        </p:nvSpPr>
        <p:spPr>
          <a:xfrm>
            <a:off x="914400" y="4526280"/>
            <a:ext cx="100569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Une 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plate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form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e 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social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e full-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stack 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temp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 réel 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— 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Next.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js 15, 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Prism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a, 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Postg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reSQ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L, 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SSE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Shape 8"/>
          <p:cNvSpPr/>
          <p:nvPr/>
        </p:nvSpPr>
        <p:spPr>
          <a:xfrm>
            <a:off x="914400" y="5212080"/>
            <a:ext cx="1095840" cy="35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" name="Text 9"/>
          <p:cNvSpPr/>
          <p:nvPr/>
        </p:nvSpPr>
        <p:spPr>
          <a:xfrm>
            <a:off x="914400" y="5349240"/>
            <a:ext cx="731376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Christophe Lecart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Concepteur Développeur d'Applications  ·  Promotion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2024-2026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0"/>
          <p:cNvSpPr/>
          <p:nvPr/>
        </p:nvSpPr>
        <p:spPr>
          <a:xfrm>
            <a:off x="8046720" y="621792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Zone01 Rouen Normandie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1"/>
          <p:cNvSpPr/>
          <p:nvPr/>
        </p:nvSpPr>
        <p:spPr>
          <a:xfrm>
            <a:off x="8046720" y="649224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Soutenance 2026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" name=""/>
          <p:cNvPicPr/>
          <p:nvPr/>
        </p:nvPicPr>
        <p:blipFill>
          <a:blip r:embed="rId1"/>
          <a:stretch/>
        </p:blipFill>
        <p:spPr>
          <a:xfrm>
            <a:off x="-457200" y="-685800"/>
            <a:ext cx="5494320" cy="4122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0"/>
          <p:cNvSpPr/>
          <p:nvPr/>
        </p:nvSpPr>
        <p:spPr>
          <a:xfrm>
            <a:off x="9875520" y="-1371600"/>
            <a:ext cx="3656160" cy="3656160"/>
          </a:xfrm>
          <a:prstGeom prst="ellipse">
            <a:avLst/>
          </a:prstGeom>
          <a:solidFill>
            <a:srgbClr val="EC4899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Shape 1"/>
          <p:cNvSpPr/>
          <p:nvPr/>
        </p:nvSpPr>
        <p:spPr>
          <a:xfrm>
            <a:off x="11247120" y="-457200"/>
            <a:ext cx="1644480" cy="1644480"/>
          </a:xfrm>
          <a:prstGeom prst="ellipse">
            <a:avLst/>
          </a:prstGeom>
          <a:solidFill>
            <a:srgbClr val="8B5CF6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" name="Text 2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PLAN DE LA PRÉSENTATION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Sommaire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4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Shape 5"/>
          <p:cNvSpPr/>
          <p:nvPr/>
        </p:nvSpPr>
        <p:spPr>
          <a:xfrm>
            <a:off x="548640" y="1691640"/>
            <a:ext cx="11062800" cy="63864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Text 6"/>
          <p:cNvSpPr/>
          <p:nvPr/>
        </p:nvSpPr>
        <p:spPr>
          <a:xfrm>
            <a:off x="685800" y="1691640"/>
            <a:ext cx="8215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7"/>
          <p:cNvSpPr/>
          <p:nvPr/>
        </p:nvSpPr>
        <p:spPr>
          <a:xfrm>
            <a:off x="1554480" y="1828800"/>
            <a:ext cx="16920" cy="36432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640" tIns="45000" rIns="8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" name="Text 8"/>
          <p:cNvSpPr/>
          <p:nvPr/>
        </p:nvSpPr>
        <p:spPr>
          <a:xfrm>
            <a:off x="1737360" y="1691640"/>
            <a:ext cx="54849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 candidat &amp; le contexte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9"/>
          <p:cNvSpPr/>
          <p:nvPr/>
        </p:nvSpPr>
        <p:spPr>
          <a:xfrm>
            <a:off x="6400800" y="1691640"/>
            <a:ext cx="5119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Parcours, reconversion, formation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10"/>
          <p:cNvSpPr/>
          <p:nvPr/>
        </p:nvSpPr>
        <p:spPr>
          <a:xfrm>
            <a:off x="548640" y="2404800"/>
            <a:ext cx="11062800" cy="63864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Text 11"/>
          <p:cNvSpPr/>
          <p:nvPr/>
        </p:nvSpPr>
        <p:spPr>
          <a:xfrm>
            <a:off x="685800" y="2404800"/>
            <a:ext cx="8215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02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12"/>
          <p:cNvSpPr/>
          <p:nvPr/>
        </p:nvSpPr>
        <p:spPr>
          <a:xfrm>
            <a:off x="1554480" y="2541960"/>
            <a:ext cx="16920" cy="36432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640" tIns="45000" rIns="8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Text 13"/>
          <p:cNvSpPr/>
          <p:nvPr/>
        </p:nvSpPr>
        <p:spPr>
          <a:xfrm>
            <a:off x="1737360" y="2404800"/>
            <a:ext cx="54849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 projet Konekt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4"/>
          <p:cNvSpPr/>
          <p:nvPr/>
        </p:nvSpPr>
        <p:spPr>
          <a:xfrm>
            <a:off x="6400800" y="2404800"/>
            <a:ext cx="5119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Problématique, périmètre, équipe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5"/>
          <p:cNvSpPr/>
          <p:nvPr/>
        </p:nvSpPr>
        <p:spPr>
          <a:xfrm>
            <a:off x="548640" y="3117960"/>
            <a:ext cx="11062800" cy="63864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" name="Text 16"/>
          <p:cNvSpPr/>
          <p:nvPr/>
        </p:nvSpPr>
        <p:spPr>
          <a:xfrm>
            <a:off x="685800" y="3117960"/>
            <a:ext cx="8215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</a:t>
            </a: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17"/>
          <p:cNvSpPr/>
          <p:nvPr/>
        </p:nvSpPr>
        <p:spPr>
          <a:xfrm>
            <a:off x="1554480" y="3255120"/>
            <a:ext cx="16920" cy="36432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640" tIns="45000" rIns="8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Text 18"/>
          <p:cNvSpPr/>
          <p:nvPr/>
        </p:nvSpPr>
        <p:spPr>
          <a:xfrm>
            <a:off x="1737360" y="3117960"/>
            <a:ext cx="54849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Conception &amp; modélisation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19"/>
          <p:cNvSpPr/>
          <p:nvPr/>
        </p:nvSpPr>
        <p:spPr>
          <a:xfrm>
            <a:off x="6400800" y="3117960"/>
            <a:ext cx="5119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 stories, MCD, design system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20"/>
          <p:cNvSpPr/>
          <p:nvPr/>
        </p:nvSpPr>
        <p:spPr>
          <a:xfrm>
            <a:off x="548640" y="3831480"/>
            <a:ext cx="11062800" cy="63864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" name="Text 21"/>
          <p:cNvSpPr/>
          <p:nvPr/>
        </p:nvSpPr>
        <p:spPr>
          <a:xfrm>
            <a:off x="685800" y="3831480"/>
            <a:ext cx="8215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22"/>
          <p:cNvSpPr/>
          <p:nvPr/>
        </p:nvSpPr>
        <p:spPr>
          <a:xfrm>
            <a:off x="1554480" y="3968640"/>
            <a:ext cx="16920" cy="36432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640" tIns="45000" rIns="8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" name="Text 23"/>
          <p:cNvSpPr/>
          <p:nvPr/>
        </p:nvSpPr>
        <p:spPr>
          <a:xfrm>
            <a:off x="1737360" y="3831480"/>
            <a:ext cx="54849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rc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hi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ct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 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&amp; 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é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el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24"/>
          <p:cNvSpPr/>
          <p:nvPr/>
        </p:nvSpPr>
        <p:spPr>
          <a:xfrm>
            <a:off x="6400800" y="3831480"/>
            <a:ext cx="5119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Stack, API, temps réel, sécurité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25"/>
          <p:cNvSpPr/>
          <p:nvPr/>
        </p:nvSpPr>
        <p:spPr>
          <a:xfrm>
            <a:off x="548640" y="4544640"/>
            <a:ext cx="11062800" cy="63864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" name="Text 26"/>
          <p:cNvSpPr/>
          <p:nvPr/>
        </p:nvSpPr>
        <p:spPr>
          <a:xfrm>
            <a:off x="685800" y="4544640"/>
            <a:ext cx="8215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27"/>
          <p:cNvSpPr/>
          <p:nvPr/>
        </p:nvSpPr>
        <p:spPr>
          <a:xfrm>
            <a:off x="1554480" y="4681800"/>
            <a:ext cx="16920" cy="36432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640" tIns="45000" rIns="8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Text 28"/>
          <p:cNvSpPr/>
          <p:nvPr/>
        </p:nvSpPr>
        <p:spPr>
          <a:xfrm>
            <a:off x="1737360" y="4544640"/>
            <a:ext cx="54849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Tests, 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CI/CD 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&amp; 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déplo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ieme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29"/>
          <p:cNvSpPr/>
          <p:nvPr/>
        </p:nvSpPr>
        <p:spPr>
          <a:xfrm>
            <a:off x="6400800" y="4544640"/>
            <a:ext cx="5119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Q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ua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lit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é,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to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ati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sat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io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od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uc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tio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30"/>
          <p:cNvSpPr/>
          <p:nvPr/>
        </p:nvSpPr>
        <p:spPr>
          <a:xfrm>
            <a:off x="548640" y="5257800"/>
            <a:ext cx="11062800" cy="63864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Text 31"/>
          <p:cNvSpPr/>
          <p:nvPr/>
        </p:nvSpPr>
        <p:spPr>
          <a:xfrm>
            <a:off x="685800" y="5257800"/>
            <a:ext cx="8215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32"/>
          <p:cNvSpPr/>
          <p:nvPr/>
        </p:nvSpPr>
        <p:spPr>
          <a:xfrm>
            <a:off x="1554480" y="5394960"/>
            <a:ext cx="16920" cy="36432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640" tIns="45000" rIns="8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Text 33"/>
          <p:cNvSpPr/>
          <p:nvPr/>
        </p:nvSpPr>
        <p:spPr>
          <a:xfrm>
            <a:off x="1737360" y="5257800"/>
            <a:ext cx="54849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Bilan &amp; compétences RNCP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34"/>
          <p:cNvSpPr/>
          <p:nvPr/>
        </p:nvSpPr>
        <p:spPr>
          <a:xfrm>
            <a:off x="6400800" y="5257800"/>
            <a:ext cx="5119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Apprentiss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ages,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mapping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des blocs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" name="Text 3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3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LE CANDIDAT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Christophe Lecart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" name="Shape 3"/>
          <p:cNvSpPr/>
          <p:nvPr/>
        </p:nvSpPr>
        <p:spPr>
          <a:xfrm>
            <a:off x="731520" y="1691640"/>
            <a:ext cx="2924640" cy="2924640"/>
          </a:xfrm>
          <a:prstGeom prst="ellipse">
            <a:avLst/>
          </a:prstGeom>
          <a:solidFill>
            <a:srgbClr val="EC4899">
              <a:alpha val="30000"/>
            </a:srgbClr>
          </a:solidFill>
          <a:ln w="381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" name="Shape 5"/>
          <p:cNvSpPr/>
          <p:nvPr/>
        </p:nvSpPr>
        <p:spPr>
          <a:xfrm>
            <a:off x="731520" y="4846320"/>
            <a:ext cx="2924640" cy="364320"/>
          </a:xfrm>
          <a:prstGeom prst="roundRect">
            <a:avLst>
              <a:gd name="adj" fmla="val 375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" name="Text 6"/>
          <p:cNvSpPr/>
          <p:nvPr/>
        </p:nvSpPr>
        <p:spPr>
          <a:xfrm>
            <a:off x="731520" y="4846320"/>
            <a:ext cx="2924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RECONVERSION DEV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7"/>
          <p:cNvSpPr/>
          <p:nvPr/>
        </p:nvSpPr>
        <p:spPr>
          <a:xfrm>
            <a:off x="4114800" y="1691640"/>
            <a:ext cx="77709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Du terrain industriel au code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8"/>
          <p:cNvSpPr/>
          <p:nvPr/>
        </p:nvSpPr>
        <p:spPr>
          <a:xfrm>
            <a:off x="4114800" y="2240280"/>
            <a:ext cx="7770960" cy="127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Technicien industriel pendant 20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ans (KONE Ascenseurs, SOCOTEC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Équipements), j'ai entamé en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2024 une transition complète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vers le développement full-stack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via la formation Zone01 Rouen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Normandie.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9"/>
          <p:cNvSpPr/>
          <p:nvPr/>
        </p:nvSpPr>
        <p:spPr>
          <a:xfrm>
            <a:off x="4114800" y="3611880"/>
            <a:ext cx="1827360" cy="127872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" name="Text 10"/>
          <p:cNvSpPr/>
          <p:nvPr/>
        </p:nvSpPr>
        <p:spPr>
          <a:xfrm>
            <a:off x="4114800" y="3703320"/>
            <a:ext cx="182736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20 ans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1"/>
          <p:cNvSpPr/>
          <p:nvPr/>
        </p:nvSpPr>
        <p:spPr>
          <a:xfrm>
            <a:off x="4114800" y="4297680"/>
            <a:ext cx="18273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Expérience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industrielle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12"/>
          <p:cNvSpPr/>
          <p:nvPr/>
        </p:nvSpPr>
        <p:spPr>
          <a:xfrm>
            <a:off x="6080760" y="3611880"/>
            <a:ext cx="1827360" cy="127872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" name="Text 13"/>
          <p:cNvSpPr/>
          <p:nvPr/>
        </p:nvSpPr>
        <p:spPr>
          <a:xfrm>
            <a:off x="6080760" y="3703320"/>
            <a:ext cx="182736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2024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14"/>
          <p:cNvSpPr/>
          <p:nvPr/>
        </p:nvSpPr>
        <p:spPr>
          <a:xfrm>
            <a:off x="6080760" y="4297680"/>
            <a:ext cx="18273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Entrée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Zone01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Shape 15"/>
          <p:cNvSpPr/>
          <p:nvPr/>
        </p:nvSpPr>
        <p:spPr>
          <a:xfrm>
            <a:off x="8046720" y="3611880"/>
            <a:ext cx="1827360" cy="127872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" name="Text 16"/>
          <p:cNvSpPr/>
          <p:nvPr/>
        </p:nvSpPr>
        <p:spPr>
          <a:xfrm>
            <a:off x="8046720" y="3703320"/>
            <a:ext cx="182736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Niveau 6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17"/>
          <p:cNvSpPr/>
          <p:nvPr/>
        </p:nvSpPr>
        <p:spPr>
          <a:xfrm>
            <a:off x="8046720" y="4297680"/>
            <a:ext cx="18273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Certification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visée (RNCP)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18"/>
          <p:cNvSpPr/>
          <p:nvPr/>
        </p:nvSpPr>
        <p:spPr>
          <a:xfrm>
            <a:off x="10012680" y="3611880"/>
            <a:ext cx="1827360" cy="127872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" name="Text 19"/>
          <p:cNvSpPr/>
          <p:nvPr/>
        </p:nvSpPr>
        <p:spPr>
          <a:xfrm>
            <a:off x="10012680" y="3703320"/>
            <a:ext cx="182736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Full-stack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20"/>
          <p:cNvSpPr/>
          <p:nvPr/>
        </p:nvSpPr>
        <p:spPr>
          <a:xfrm>
            <a:off x="10012680" y="4297680"/>
            <a:ext cx="18273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Appétence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backend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21"/>
          <p:cNvSpPr/>
          <p:nvPr/>
        </p:nvSpPr>
        <p:spPr>
          <a:xfrm>
            <a:off x="4114800" y="5074920"/>
            <a:ext cx="7679520" cy="1187280"/>
          </a:xfrm>
          <a:prstGeom prst="roundRect">
            <a:avLst>
              <a:gd name="adj" fmla="val 6154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" name="Text 22"/>
          <p:cNvSpPr/>
          <p:nvPr/>
        </p:nvSpPr>
        <p:spPr>
          <a:xfrm>
            <a:off x="4297680" y="512064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Forces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23"/>
          <p:cNvSpPr/>
          <p:nvPr/>
        </p:nvSpPr>
        <p:spPr>
          <a:xfrm>
            <a:off x="4297680" y="5413320"/>
            <a:ext cx="501480" cy="50148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" name="Text 24"/>
          <p:cNvSpPr/>
          <p:nvPr/>
        </p:nvSpPr>
        <p:spPr>
          <a:xfrm>
            <a:off x="4304880" y="5342040"/>
            <a:ext cx="501480" cy="56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▲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25"/>
          <p:cNvSpPr/>
          <p:nvPr/>
        </p:nvSpPr>
        <p:spPr>
          <a:xfrm>
            <a:off x="4846320" y="5413320"/>
            <a:ext cx="132444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Rigueur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26"/>
          <p:cNvSpPr/>
          <p:nvPr/>
        </p:nvSpPr>
        <p:spPr>
          <a:xfrm>
            <a:off x="6172200" y="5413320"/>
            <a:ext cx="501480" cy="50148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" name="Text 27"/>
          <p:cNvSpPr/>
          <p:nvPr/>
        </p:nvSpPr>
        <p:spPr>
          <a:xfrm>
            <a:off x="6172200" y="5377320"/>
            <a:ext cx="50148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◆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28"/>
          <p:cNvSpPr/>
          <p:nvPr/>
        </p:nvSpPr>
        <p:spPr>
          <a:xfrm>
            <a:off x="6720840" y="5413320"/>
            <a:ext cx="132444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Pragmatisme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29"/>
          <p:cNvSpPr/>
          <p:nvPr/>
        </p:nvSpPr>
        <p:spPr>
          <a:xfrm>
            <a:off x="8046720" y="5413320"/>
            <a:ext cx="501480" cy="50148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" name="Text 30"/>
          <p:cNvSpPr/>
          <p:nvPr/>
        </p:nvSpPr>
        <p:spPr>
          <a:xfrm>
            <a:off x="8046720" y="5377320"/>
            <a:ext cx="50148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●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31"/>
          <p:cNvSpPr/>
          <p:nvPr/>
        </p:nvSpPr>
        <p:spPr>
          <a:xfrm>
            <a:off x="8595360" y="5413320"/>
            <a:ext cx="132444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Autodidacte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32"/>
          <p:cNvSpPr/>
          <p:nvPr/>
        </p:nvSpPr>
        <p:spPr>
          <a:xfrm>
            <a:off x="9921240" y="5413320"/>
            <a:ext cx="501480" cy="50148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" name="Text 33"/>
          <p:cNvSpPr/>
          <p:nvPr/>
        </p:nvSpPr>
        <p:spPr>
          <a:xfrm>
            <a:off x="9921240" y="541332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★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34"/>
          <p:cNvSpPr/>
          <p:nvPr/>
        </p:nvSpPr>
        <p:spPr>
          <a:xfrm>
            <a:off x="10469880" y="5413320"/>
            <a:ext cx="132444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Métier ↔ Tech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5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" name="Text 3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3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8" name=""/>
          <p:cNvPicPr/>
          <p:nvPr/>
        </p:nvPicPr>
        <p:blipFill>
          <a:blip r:embed="rId2"/>
          <a:stretch/>
        </p:blipFill>
        <p:spPr>
          <a:xfrm>
            <a:off x="1284840" y="2266560"/>
            <a:ext cx="1827720" cy="1827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PARCOURS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20 ans de terrain, puis le code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" name="Shape 3"/>
          <p:cNvSpPr/>
          <p:nvPr/>
        </p:nvSpPr>
        <p:spPr>
          <a:xfrm>
            <a:off x="1828800" y="1645920"/>
            <a:ext cx="53280" cy="457056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" name="Shape 4"/>
          <p:cNvSpPr/>
          <p:nvPr/>
        </p:nvSpPr>
        <p:spPr>
          <a:xfrm>
            <a:off x="1691640" y="1801440"/>
            <a:ext cx="327600" cy="327600"/>
          </a:xfrm>
          <a:prstGeom prst="ellipse">
            <a:avLst/>
          </a:prstGeom>
          <a:solidFill>
            <a:srgbClr val="71717A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" name="Text 5"/>
          <p:cNvSpPr/>
          <p:nvPr/>
        </p:nvSpPr>
        <p:spPr>
          <a:xfrm>
            <a:off x="548640" y="1691640"/>
            <a:ext cx="10958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2000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6"/>
          <p:cNvSpPr/>
          <p:nvPr/>
        </p:nvSpPr>
        <p:spPr>
          <a:xfrm>
            <a:off x="2286000" y="1645920"/>
            <a:ext cx="8228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 PRO MSMA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7"/>
          <p:cNvSpPr/>
          <p:nvPr/>
        </p:nvSpPr>
        <p:spPr>
          <a:xfrm>
            <a:off x="2286000" y="1965960"/>
            <a:ext cx="9142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Maintenance Systèmes Mécaniques Automatisés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8"/>
          <p:cNvSpPr/>
          <p:nvPr/>
        </p:nvSpPr>
        <p:spPr>
          <a:xfrm>
            <a:off x="1691640" y="2578680"/>
            <a:ext cx="327600" cy="327600"/>
          </a:xfrm>
          <a:prstGeom prst="ellipse">
            <a:avLst/>
          </a:prstGeom>
          <a:solidFill>
            <a:srgbClr val="71717A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" name="Text 9"/>
          <p:cNvSpPr/>
          <p:nvPr/>
        </p:nvSpPr>
        <p:spPr>
          <a:xfrm>
            <a:off x="548640" y="2468880"/>
            <a:ext cx="10958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2003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0"/>
          <p:cNvSpPr/>
          <p:nvPr/>
        </p:nvSpPr>
        <p:spPr>
          <a:xfrm>
            <a:off x="2286000" y="2423160"/>
            <a:ext cx="8228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BTS MAI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11"/>
          <p:cNvSpPr/>
          <p:nvPr/>
        </p:nvSpPr>
        <p:spPr>
          <a:xfrm>
            <a:off x="2286000" y="2743200"/>
            <a:ext cx="9142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Mécanique et Automatismes Industriels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12"/>
          <p:cNvSpPr/>
          <p:nvPr/>
        </p:nvSpPr>
        <p:spPr>
          <a:xfrm>
            <a:off x="1691640" y="3355920"/>
            <a:ext cx="327600" cy="327600"/>
          </a:xfrm>
          <a:prstGeom prst="ellipse">
            <a:avLst/>
          </a:prstGeom>
          <a:solidFill>
            <a:srgbClr val="06B6D4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" name="Text 13"/>
          <p:cNvSpPr/>
          <p:nvPr/>
        </p:nvSpPr>
        <p:spPr>
          <a:xfrm>
            <a:off x="548640" y="3246120"/>
            <a:ext cx="10958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2004-2010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4"/>
          <p:cNvSpPr/>
          <p:nvPr/>
        </p:nvSpPr>
        <p:spPr>
          <a:xfrm>
            <a:off x="2286000" y="3200400"/>
            <a:ext cx="8228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 Ascenseurs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5"/>
          <p:cNvSpPr/>
          <p:nvPr/>
        </p:nvSpPr>
        <p:spPr>
          <a:xfrm>
            <a:off x="2286000" y="3520440"/>
            <a:ext cx="9142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Technicien régleur et mise en service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16"/>
          <p:cNvSpPr/>
          <p:nvPr/>
        </p:nvSpPr>
        <p:spPr>
          <a:xfrm>
            <a:off x="1691640" y="4133160"/>
            <a:ext cx="327600" cy="327600"/>
          </a:xfrm>
          <a:prstGeom prst="ellipse">
            <a:avLst/>
          </a:prstGeom>
          <a:solidFill>
            <a:srgbClr val="8B5CF6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" name="Text 17"/>
          <p:cNvSpPr/>
          <p:nvPr/>
        </p:nvSpPr>
        <p:spPr>
          <a:xfrm>
            <a:off x="548640" y="4023360"/>
            <a:ext cx="10958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2010-2024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18"/>
          <p:cNvSpPr/>
          <p:nvPr/>
        </p:nvSpPr>
        <p:spPr>
          <a:xfrm>
            <a:off x="2286000" y="3977640"/>
            <a:ext cx="8228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SOCOTEC Équipements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9"/>
          <p:cNvSpPr/>
          <p:nvPr/>
        </p:nvSpPr>
        <p:spPr>
          <a:xfrm>
            <a:off x="2286000" y="4297680"/>
            <a:ext cx="9142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Expert vérifications générales périodiques (14 ans)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20"/>
          <p:cNvSpPr/>
          <p:nvPr/>
        </p:nvSpPr>
        <p:spPr>
          <a:xfrm>
            <a:off x="1691640" y="4910400"/>
            <a:ext cx="327600" cy="327600"/>
          </a:xfrm>
          <a:prstGeom prst="ellipse">
            <a:avLst/>
          </a:prstGeom>
          <a:solidFill>
            <a:srgbClr val="EC4899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" name="Text 21"/>
          <p:cNvSpPr/>
          <p:nvPr/>
        </p:nvSpPr>
        <p:spPr>
          <a:xfrm>
            <a:off x="548640" y="4800600"/>
            <a:ext cx="10958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2024 →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22"/>
          <p:cNvSpPr/>
          <p:nvPr/>
        </p:nvSpPr>
        <p:spPr>
          <a:xfrm>
            <a:off x="2286000" y="4754880"/>
            <a:ext cx="8228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Zone01 Rouen Normandie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23"/>
          <p:cNvSpPr/>
          <p:nvPr/>
        </p:nvSpPr>
        <p:spPr>
          <a:xfrm>
            <a:off x="2286000" y="5074920"/>
            <a:ext cx="9142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Formation CDA — peer learning, projets, stack moderne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24"/>
          <p:cNvSpPr/>
          <p:nvPr/>
        </p:nvSpPr>
        <p:spPr>
          <a:xfrm>
            <a:off x="1691640" y="5687640"/>
            <a:ext cx="327600" cy="327600"/>
          </a:xfrm>
          <a:prstGeom prst="ellipse">
            <a:avLst/>
          </a:prstGeom>
          <a:solidFill>
            <a:srgbClr val="10B981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4" name="Text 25"/>
          <p:cNvSpPr/>
          <p:nvPr/>
        </p:nvSpPr>
        <p:spPr>
          <a:xfrm>
            <a:off x="548640" y="5577840"/>
            <a:ext cx="10958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2026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26"/>
          <p:cNvSpPr/>
          <p:nvPr/>
        </p:nvSpPr>
        <p:spPr>
          <a:xfrm>
            <a:off x="2286000" y="5532120"/>
            <a:ext cx="8228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Soutenance RNCP 37873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27"/>
          <p:cNvSpPr/>
          <p:nvPr/>
        </p:nvSpPr>
        <p:spPr>
          <a:xfrm>
            <a:off x="2286000" y="5852160"/>
            <a:ext cx="9142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Konekt + Dossier professionnel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8" name="Text 28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29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MÉTHODE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Travail en mode agile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3" name="Text 3"/>
          <p:cNvSpPr/>
          <p:nvPr/>
        </p:nvSpPr>
        <p:spPr>
          <a:xfrm>
            <a:off x="548640" y="1691640"/>
            <a:ext cx="109713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Cycle de développement adopté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4"/>
          <p:cNvSpPr/>
          <p:nvPr/>
        </p:nvSpPr>
        <p:spPr>
          <a:xfrm>
            <a:off x="521280" y="2103120"/>
            <a:ext cx="2193120" cy="169020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5" name="Shape 5"/>
          <p:cNvSpPr/>
          <p:nvPr/>
        </p:nvSpPr>
        <p:spPr>
          <a:xfrm>
            <a:off x="1344240" y="2240280"/>
            <a:ext cx="547200" cy="547200"/>
          </a:xfrm>
          <a:prstGeom prst="ellipse">
            <a:avLst/>
          </a:prstGeom>
          <a:solidFill>
            <a:srgbClr val="A1A1AA">
              <a:alpha val="30000"/>
            </a:srgbClr>
          </a:solidFill>
          <a:ln w="19050">
            <a:solidFill>
              <a:srgbClr val="A1A1A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6" name="Text 6"/>
          <p:cNvSpPr/>
          <p:nvPr/>
        </p:nvSpPr>
        <p:spPr>
          <a:xfrm>
            <a:off x="1344240" y="2168280"/>
            <a:ext cx="547200" cy="63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7"/>
          <p:cNvSpPr/>
          <p:nvPr/>
        </p:nvSpPr>
        <p:spPr>
          <a:xfrm>
            <a:off x="612720" y="2834640"/>
            <a:ext cx="2010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Backlog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8"/>
          <p:cNvSpPr/>
          <p:nvPr/>
        </p:nvSpPr>
        <p:spPr>
          <a:xfrm>
            <a:off x="612720" y="3154680"/>
            <a:ext cx="20102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 stories priorisées HIGH/MED/LOW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9"/>
          <p:cNvSpPr/>
          <p:nvPr/>
        </p:nvSpPr>
        <p:spPr>
          <a:xfrm>
            <a:off x="2715480" y="2926080"/>
            <a:ext cx="36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360" tIns="-44640" rIns="1836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" name="Shape 10"/>
          <p:cNvSpPr/>
          <p:nvPr/>
        </p:nvSpPr>
        <p:spPr>
          <a:xfrm>
            <a:off x="2752200" y="2103120"/>
            <a:ext cx="2193120" cy="169020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" name="Shape 11"/>
          <p:cNvSpPr/>
          <p:nvPr/>
        </p:nvSpPr>
        <p:spPr>
          <a:xfrm>
            <a:off x="3575160" y="2240280"/>
            <a:ext cx="547200" cy="54720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" name="Text 12"/>
          <p:cNvSpPr/>
          <p:nvPr/>
        </p:nvSpPr>
        <p:spPr>
          <a:xfrm>
            <a:off x="3575160" y="2096280"/>
            <a:ext cx="547200" cy="80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3"/>
          <p:cNvSpPr/>
          <p:nvPr/>
        </p:nvSpPr>
        <p:spPr>
          <a:xfrm>
            <a:off x="2843640" y="2834640"/>
            <a:ext cx="2010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Sprint planning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4"/>
          <p:cNvSpPr/>
          <p:nvPr/>
        </p:nvSpPr>
        <p:spPr>
          <a:xfrm>
            <a:off x="2843640" y="3154680"/>
            <a:ext cx="20102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Issues GitHub assignées, points estimés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15"/>
          <p:cNvSpPr/>
          <p:nvPr/>
        </p:nvSpPr>
        <p:spPr>
          <a:xfrm>
            <a:off x="4946760" y="2926080"/>
            <a:ext cx="36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360" tIns="-44640" rIns="1836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" name="Shape 16"/>
          <p:cNvSpPr/>
          <p:nvPr/>
        </p:nvSpPr>
        <p:spPr>
          <a:xfrm>
            <a:off x="4983480" y="2103120"/>
            <a:ext cx="2193120" cy="169020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" name="Shape 17"/>
          <p:cNvSpPr/>
          <p:nvPr/>
        </p:nvSpPr>
        <p:spPr>
          <a:xfrm>
            <a:off x="5806440" y="2240280"/>
            <a:ext cx="547200" cy="54720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" name="Text 18"/>
          <p:cNvSpPr/>
          <p:nvPr/>
        </p:nvSpPr>
        <p:spPr>
          <a:xfrm>
            <a:off x="5806440" y="2132280"/>
            <a:ext cx="5472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◯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19"/>
          <p:cNvSpPr/>
          <p:nvPr/>
        </p:nvSpPr>
        <p:spPr>
          <a:xfrm>
            <a:off x="5074920" y="2834640"/>
            <a:ext cx="2010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Daily standup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20"/>
          <p:cNvSpPr/>
          <p:nvPr/>
        </p:nvSpPr>
        <p:spPr>
          <a:xfrm>
            <a:off x="5074920" y="3154680"/>
            <a:ext cx="20102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10 min — avancement, blocages, plan du jour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21"/>
          <p:cNvSpPr/>
          <p:nvPr/>
        </p:nvSpPr>
        <p:spPr>
          <a:xfrm>
            <a:off x="7178040" y="2926080"/>
            <a:ext cx="3636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000" tIns="-44640" rIns="18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" name="Shape 22"/>
          <p:cNvSpPr/>
          <p:nvPr/>
        </p:nvSpPr>
        <p:spPr>
          <a:xfrm>
            <a:off x="7214760" y="2103120"/>
            <a:ext cx="2193120" cy="169020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3" name="Shape 23"/>
          <p:cNvSpPr/>
          <p:nvPr/>
        </p:nvSpPr>
        <p:spPr>
          <a:xfrm>
            <a:off x="8037720" y="2240280"/>
            <a:ext cx="547200" cy="54720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" name="Text 24"/>
          <p:cNvSpPr/>
          <p:nvPr/>
        </p:nvSpPr>
        <p:spPr>
          <a:xfrm>
            <a:off x="8073720" y="2132280"/>
            <a:ext cx="5472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▷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25"/>
          <p:cNvSpPr/>
          <p:nvPr/>
        </p:nvSpPr>
        <p:spPr>
          <a:xfrm>
            <a:off x="7306200" y="2834640"/>
            <a:ext cx="2010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Review &amp; demo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26"/>
          <p:cNvSpPr/>
          <p:nvPr/>
        </p:nvSpPr>
        <p:spPr>
          <a:xfrm>
            <a:off x="7306200" y="3154680"/>
            <a:ext cx="20102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Démo de fin de sprint en équipe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27"/>
          <p:cNvSpPr/>
          <p:nvPr/>
        </p:nvSpPr>
        <p:spPr>
          <a:xfrm>
            <a:off x="9408960" y="2926080"/>
            <a:ext cx="36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360" tIns="-44640" rIns="1836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" name="Shape 28"/>
          <p:cNvSpPr/>
          <p:nvPr/>
        </p:nvSpPr>
        <p:spPr>
          <a:xfrm>
            <a:off x="9445680" y="2103120"/>
            <a:ext cx="2193120" cy="169020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" name="Shape 29"/>
          <p:cNvSpPr/>
          <p:nvPr/>
        </p:nvSpPr>
        <p:spPr>
          <a:xfrm>
            <a:off x="10268640" y="2240280"/>
            <a:ext cx="547200" cy="54720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" name="Text 30"/>
          <p:cNvSpPr/>
          <p:nvPr/>
        </p:nvSpPr>
        <p:spPr>
          <a:xfrm>
            <a:off x="10268640" y="224028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↻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31"/>
          <p:cNvSpPr/>
          <p:nvPr/>
        </p:nvSpPr>
        <p:spPr>
          <a:xfrm>
            <a:off x="9537120" y="2834640"/>
            <a:ext cx="2010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Rétrospective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32"/>
          <p:cNvSpPr/>
          <p:nvPr/>
        </p:nvSpPr>
        <p:spPr>
          <a:xfrm>
            <a:off x="9537120" y="3154680"/>
            <a:ext cx="20102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Ce qui a marché / ce qu'on change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33"/>
          <p:cNvSpPr/>
          <p:nvPr/>
        </p:nvSpPr>
        <p:spPr>
          <a:xfrm>
            <a:off x="548640" y="4023360"/>
            <a:ext cx="553068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" name="Text 34"/>
          <p:cNvSpPr/>
          <p:nvPr/>
        </p:nvSpPr>
        <p:spPr>
          <a:xfrm>
            <a:off x="731520" y="4114800"/>
            <a:ext cx="50277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Outils &amp; rituels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35"/>
          <p:cNvSpPr/>
          <p:nvPr/>
        </p:nvSpPr>
        <p:spPr>
          <a:xfrm>
            <a:off x="777240" y="46360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" name="Text 36"/>
          <p:cNvSpPr/>
          <p:nvPr/>
        </p:nvSpPr>
        <p:spPr>
          <a:xfrm>
            <a:off x="1005840" y="4526280"/>
            <a:ext cx="21931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Issues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37"/>
          <p:cNvSpPr/>
          <p:nvPr/>
        </p:nvSpPr>
        <p:spPr>
          <a:xfrm>
            <a:off x="3246120" y="452628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Backlog vivant, labels, milestones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38"/>
          <p:cNvSpPr/>
          <p:nvPr/>
        </p:nvSpPr>
        <p:spPr>
          <a:xfrm>
            <a:off x="777240" y="504756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" name="Text 39"/>
          <p:cNvSpPr/>
          <p:nvPr/>
        </p:nvSpPr>
        <p:spPr>
          <a:xfrm>
            <a:off x="1005840" y="4937760"/>
            <a:ext cx="21931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Projects (Kanban)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40"/>
          <p:cNvSpPr/>
          <p:nvPr/>
        </p:nvSpPr>
        <p:spPr>
          <a:xfrm>
            <a:off x="3246120" y="493776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Colonnes Todo / Doing / Review / Done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Shape 41"/>
          <p:cNvSpPr/>
          <p:nvPr/>
        </p:nvSpPr>
        <p:spPr>
          <a:xfrm>
            <a:off x="777240" y="545904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" name="Text 42"/>
          <p:cNvSpPr/>
          <p:nvPr/>
        </p:nvSpPr>
        <p:spPr>
          <a:xfrm>
            <a:off x="1005840" y="5349240"/>
            <a:ext cx="21931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Pull Requests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43"/>
          <p:cNvSpPr/>
          <p:nvPr/>
        </p:nvSpPr>
        <p:spPr>
          <a:xfrm>
            <a:off x="3246120" y="534924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Code review obligatoire avant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44"/>
          <p:cNvSpPr/>
          <p:nvPr/>
        </p:nvSpPr>
        <p:spPr>
          <a:xfrm>
            <a:off x="777240" y="587052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" name="Text 45"/>
          <p:cNvSpPr/>
          <p:nvPr/>
        </p:nvSpPr>
        <p:spPr>
          <a:xfrm>
            <a:off x="1005840" y="5760720"/>
            <a:ext cx="21931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46"/>
          <p:cNvSpPr/>
          <p:nvPr/>
        </p:nvSpPr>
        <p:spPr>
          <a:xfrm>
            <a:off x="3246120" y="576072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CI bloquante : lint + test +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47"/>
          <p:cNvSpPr/>
          <p:nvPr/>
        </p:nvSpPr>
        <p:spPr>
          <a:xfrm>
            <a:off x="6263640" y="4023360"/>
            <a:ext cx="553068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" name="Text 48"/>
          <p:cNvSpPr/>
          <p:nvPr/>
        </p:nvSpPr>
        <p:spPr>
          <a:xfrm>
            <a:off x="6446520" y="4114800"/>
            <a:ext cx="50277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Découpe du projet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49"/>
          <p:cNvSpPr/>
          <p:nvPr/>
        </p:nvSpPr>
        <p:spPr>
          <a:xfrm>
            <a:off x="6446520" y="4526280"/>
            <a:ext cx="638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50"/>
          <p:cNvSpPr/>
          <p:nvPr/>
        </p:nvSpPr>
        <p:spPr>
          <a:xfrm>
            <a:off x="7178040" y="4526280"/>
            <a:ext cx="44791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phases (MVP / Features / Polish)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51"/>
          <p:cNvSpPr/>
          <p:nvPr/>
        </p:nvSpPr>
        <p:spPr>
          <a:xfrm>
            <a:off x="6446520" y="4937760"/>
            <a:ext cx="638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52"/>
          <p:cNvSpPr/>
          <p:nvPr/>
        </p:nvSpPr>
        <p:spPr>
          <a:xfrm>
            <a:off x="7178040" y="4937760"/>
            <a:ext cx="44791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sprints d'environ 10 jours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53"/>
          <p:cNvSpPr/>
          <p:nvPr/>
        </p:nvSpPr>
        <p:spPr>
          <a:xfrm>
            <a:off x="6446520" y="5349240"/>
            <a:ext cx="638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43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54"/>
          <p:cNvSpPr/>
          <p:nvPr/>
        </p:nvSpPr>
        <p:spPr>
          <a:xfrm>
            <a:off x="7178040" y="5349240"/>
            <a:ext cx="44791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stories réparties par sprint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55"/>
          <p:cNvSpPr/>
          <p:nvPr/>
        </p:nvSpPr>
        <p:spPr>
          <a:xfrm>
            <a:off x="6446520" y="5760720"/>
            <a:ext cx="638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56"/>
          <p:cNvSpPr/>
          <p:nvPr/>
        </p:nvSpPr>
        <p:spPr>
          <a:xfrm>
            <a:off x="7178040" y="5760720"/>
            <a:ext cx="44791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review + rétro par sprint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8" name="Text 57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58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Rectangle 1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" name="TextBox 2"/>
          <p:cNvSpPr/>
          <p:nvPr/>
        </p:nvSpPr>
        <p:spPr>
          <a:xfrm>
            <a:off x="548640" y="411480"/>
            <a:ext cx="10056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01 · MÉTHODE · GIT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Box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Workflow Git en équipe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Box 38"/>
          <p:cNvSpPr/>
          <p:nvPr/>
        </p:nvSpPr>
        <p:spPr>
          <a:xfrm>
            <a:off x="731520" y="5669280"/>
            <a:ext cx="6856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● commit  ↑ Pull Request validée  →  merge  ←  vers branche parente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Box 53"/>
          <p:cNvSpPr/>
          <p:nvPr/>
        </p:nvSpPr>
        <p:spPr>
          <a:xfrm>
            <a:off x="548640" y="6080760"/>
            <a:ext cx="10971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6 contributeurs · 12+ issues majeures · PR #118 stabilisation Docker/Neon/Prisma/Redis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Box 54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Box 55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6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8" name="Rectangle 2"/>
          <p:cNvSpPr/>
          <p:nvPr/>
        </p:nvSpPr>
        <p:spPr>
          <a:xfrm>
            <a:off x="549000" y="1692000"/>
            <a:ext cx="7223040" cy="42969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" name="TextBox 1"/>
          <p:cNvSpPr/>
          <p:nvPr/>
        </p:nvSpPr>
        <p:spPr>
          <a:xfrm>
            <a:off x="731880" y="1984680"/>
            <a:ext cx="118800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main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Rectangle 3"/>
          <p:cNvSpPr/>
          <p:nvPr/>
        </p:nvSpPr>
        <p:spPr>
          <a:xfrm>
            <a:off x="1966320" y="2103480"/>
            <a:ext cx="5577120" cy="360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" name="Oval 1"/>
          <p:cNvSpPr/>
          <p:nvPr/>
        </p:nvSpPr>
        <p:spPr>
          <a:xfrm>
            <a:off x="2350440" y="2048760"/>
            <a:ext cx="145440" cy="1454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" name="Oval 8"/>
          <p:cNvSpPr/>
          <p:nvPr/>
        </p:nvSpPr>
        <p:spPr>
          <a:xfrm>
            <a:off x="4682160" y="2048760"/>
            <a:ext cx="145440" cy="1454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3" name="Oval 9"/>
          <p:cNvSpPr/>
          <p:nvPr/>
        </p:nvSpPr>
        <p:spPr>
          <a:xfrm>
            <a:off x="7013880" y="2048760"/>
            <a:ext cx="145440" cy="1454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" name="TextBox 4"/>
          <p:cNvSpPr/>
          <p:nvPr/>
        </p:nvSpPr>
        <p:spPr>
          <a:xfrm>
            <a:off x="731880" y="3127680"/>
            <a:ext cx="118800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develop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Rectangle 30"/>
          <p:cNvSpPr/>
          <p:nvPr/>
        </p:nvSpPr>
        <p:spPr>
          <a:xfrm>
            <a:off x="1966320" y="3246480"/>
            <a:ext cx="5577120" cy="36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6" name="Oval 12"/>
          <p:cNvSpPr/>
          <p:nvPr/>
        </p:nvSpPr>
        <p:spPr>
          <a:xfrm>
            <a:off x="2350440" y="3191760"/>
            <a:ext cx="145440" cy="1454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7" name="Oval 13"/>
          <p:cNvSpPr/>
          <p:nvPr/>
        </p:nvSpPr>
        <p:spPr>
          <a:xfrm>
            <a:off x="3516120" y="3191760"/>
            <a:ext cx="145440" cy="1454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8" name="Oval 2"/>
          <p:cNvSpPr/>
          <p:nvPr/>
        </p:nvSpPr>
        <p:spPr>
          <a:xfrm>
            <a:off x="4682160" y="3191760"/>
            <a:ext cx="145440" cy="1454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" name="Oval 15"/>
          <p:cNvSpPr/>
          <p:nvPr/>
        </p:nvSpPr>
        <p:spPr>
          <a:xfrm>
            <a:off x="5847840" y="3191760"/>
            <a:ext cx="145440" cy="1454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0" name="Oval 16"/>
          <p:cNvSpPr/>
          <p:nvPr/>
        </p:nvSpPr>
        <p:spPr>
          <a:xfrm>
            <a:off x="7013880" y="3191760"/>
            <a:ext cx="145440" cy="1454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" name="TextBox 57"/>
          <p:cNvSpPr/>
          <p:nvPr/>
        </p:nvSpPr>
        <p:spPr>
          <a:xfrm>
            <a:off x="731880" y="4270680"/>
            <a:ext cx="118800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feature/auth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Rectangle 31"/>
          <p:cNvSpPr/>
          <p:nvPr/>
        </p:nvSpPr>
        <p:spPr>
          <a:xfrm>
            <a:off x="1966320" y="4389480"/>
            <a:ext cx="5577120" cy="36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3" name="Oval 19"/>
          <p:cNvSpPr/>
          <p:nvPr/>
        </p:nvSpPr>
        <p:spPr>
          <a:xfrm>
            <a:off x="2350440" y="4334760"/>
            <a:ext cx="145440" cy="1454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4" name="Oval 3"/>
          <p:cNvSpPr/>
          <p:nvPr/>
        </p:nvSpPr>
        <p:spPr>
          <a:xfrm>
            <a:off x="3904920" y="4334760"/>
            <a:ext cx="145440" cy="1454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5" name="Oval 21"/>
          <p:cNvSpPr/>
          <p:nvPr/>
        </p:nvSpPr>
        <p:spPr>
          <a:xfrm>
            <a:off x="5459400" y="4334760"/>
            <a:ext cx="145440" cy="1454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6" name="Oval 22"/>
          <p:cNvSpPr/>
          <p:nvPr/>
        </p:nvSpPr>
        <p:spPr>
          <a:xfrm>
            <a:off x="7013880" y="4334760"/>
            <a:ext cx="145440" cy="1454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7" name="TextBox 65"/>
          <p:cNvSpPr/>
          <p:nvPr/>
        </p:nvSpPr>
        <p:spPr>
          <a:xfrm>
            <a:off x="731880" y="5322240"/>
            <a:ext cx="118800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feature/likes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Rectangle 55"/>
          <p:cNvSpPr/>
          <p:nvPr/>
        </p:nvSpPr>
        <p:spPr>
          <a:xfrm>
            <a:off x="1966320" y="5441040"/>
            <a:ext cx="5577120" cy="36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9" name="Oval 25"/>
          <p:cNvSpPr/>
          <p:nvPr/>
        </p:nvSpPr>
        <p:spPr>
          <a:xfrm>
            <a:off x="2350440" y="5386320"/>
            <a:ext cx="145440" cy="145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0" name="Oval 26"/>
          <p:cNvSpPr/>
          <p:nvPr/>
        </p:nvSpPr>
        <p:spPr>
          <a:xfrm>
            <a:off x="3904920" y="5386320"/>
            <a:ext cx="145440" cy="145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1" name="Oval 27"/>
          <p:cNvSpPr/>
          <p:nvPr/>
        </p:nvSpPr>
        <p:spPr>
          <a:xfrm>
            <a:off x="5459400" y="5386320"/>
            <a:ext cx="145440" cy="145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2" name="Oval 4"/>
          <p:cNvSpPr/>
          <p:nvPr/>
        </p:nvSpPr>
        <p:spPr>
          <a:xfrm>
            <a:off x="7013880" y="5386320"/>
            <a:ext cx="145440" cy="145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3" name="TextBox 66"/>
          <p:cNvSpPr/>
          <p:nvPr/>
        </p:nvSpPr>
        <p:spPr>
          <a:xfrm>
            <a:off x="5029560" y="3840840"/>
            <a:ext cx="73080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PR ←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Rectangle 56"/>
          <p:cNvSpPr/>
          <p:nvPr/>
        </p:nvSpPr>
        <p:spPr>
          <a:xfrm>
            <a:off x="5303880" y="3337920"/>
            <a:ext cx="36000" cy="10508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5" name="Oval 31"/>
          <p:cNvSpPr/>
          <p:nvPr/>
        </p:nvSpPr>
        <p:spPr>
          <a:xfrm>
            <a:off x="5249160" y="3246480"/>
            <a:ext cx="145440" cy="1454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6" name="TextBox 67"/>
          <p:cNvSpPr/>
          <p:nvPr/>
        </p:nvSpPr>
        <p:spPr>
          <a:xfrm>
            <a:off x="6309720" y="3840840"/>
            <a:ext cx="73080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PR ←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" name="Rectangle 80"/>
          <p:cNvSpPr/>
          <p:nvPr/>
        </p:nvSpPr>
        <p:spPr>
          <a:xfrm>
            <a:off x="6584040" y="3337920"/>
            <a:ext cx="36000" cy="2102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8" name="Oval 34"/>
          <p:cNvSpPr/>
          <p:nvPr/>
        </p:nvSpPr>
        <p:spPr>
          <a:xfrm>
            <a:off x="6529320" y="3246480"/>
            <a:ext cx="145440" cy="145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9" name="TextBox 68"/>
          <p:cNvSpPr/>
          <p:nvPr/>
        </p:nvSpPr>
        <p:spPr>
          <a:xfrm>
            <a:off x="3968640" y="2590200"/>
            <a:ext cx="91368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release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Rectangle 81"/>
          <p:cNvSpPr/>
          <p:nvPr/>
        </p:nvSpPr>
        <p:spPr>
          <a:xfrm>
            <a:off x="3932280" y="2194920"/>
            <a:ext cx="36000" cy="10508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1" name="Oval 37"/>
          <p:cNvSpPr/>
          <p:nvPr/>
        </p:nvSpPr>
        <p:spPr>
          <a:xfrm>
            <a:off x="3877560" y="2103480"/>
            <a:ext cx="145440" cy="1454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2" name="TextBox 69"/>
          <p:cNvSpPr/>
          <p:nvPr/>
        </p:nvSpPr>
        <p:spPr>
          <a:xfrm>
            <a:off x="731880" y="5669640"/>
            <a:ext cx="685728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● commit  ↑ Pull Request validée  →  merge  ←  vers branche parente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Rectangle 105"/>
          <p:cNvSpPr/>
          <p:nvPr/>
        </p:nvSpPr>
        <p:spPr>
          <a:xfrm>
            <a:off x="8092440" y="1692000"/>
            <a:ext cx="3519720" cy="42969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4" name="TextBox 70"/>
          <p:cNvSpPr/>
          <p:nvPr/>
        </p:nvSpPr>
        <p:spPr>
          <a:xfrm>
            <a:off x="8275320" y="1783440"/>
            <a:ext cx="315396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Règles d'équipe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Oval 10"/>
          <p:cNvSpPr/>
          <p:nvPr/>
        </p:nvSpPr>
        <p:spPr>
          <a:xfrm>
            <a:off x="8275320" y="2194920"/>
            <a:ext cx="410760" cy="410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6" name="TextBox 71"/>
          <p:cNvSpPr/>
          <p:nvPr/>
        </p:nvSpPr>
        <p:spPr>
          <a:xfrm>
            <a:off x="8275320" y="2194920"/>
            <a:ext cx="41076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Box 72"/>
          <p:cNvSpPr/>
          <p:nvPr/>
        </p:nvSpPr>
        <p:spPr>
          <a:xfrm>
            <a:off x="8778240" y="2293200"/>
            <a:ext cx="265104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 feature = 1 branche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Oval 44"/>
          <p:cNvSpPr/>
          <p:nvPr/>
        </p:nvSpPr>
        <p:spPr>
          <a:xfrm>
            <a:off x="8275320" y="2972160"/>
            <a:ext cx="410760" cy="4107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9" name="TextBox 73"/>
          <p:cNvSpPr/>
          <p:nvPr/>
        </p:nvSpPr>
        <p:spPr>
          <a:xfrm>
            <a:off x="8275320" y="2972160"/>
            <a:ext cx="41076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◐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Box 74"/>
          <p:cNvSpPr/>
          <p:nvPr/>
        </p:nvSpPr>
        <p:spPr>
          <a:xfrm>
            <a:off x="8778240" y="3070440"/>
            <a:ext cx="265104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 obligatoire vers develop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" name="Oval 47"/>
          <p:cNvSpPr/>
          <p:nvPr/>
        </p:nvSpPr>
        <p:spPr>
          <a:xfrm>
            <a:off x="8275320" y="3749400"/>
            <a:ext cx="410760" cy="410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2" name="TextBox 75"/>
          <p:cNvSpPr/>
          <p:nvPr/>
        </p:nvSpPr>
        <p:spPr>
          <a:xfrm>
            <a:off x="8275320" y="3749400"/>
            <a:ext cx="41076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Box 76"/>
          <p:cNvSpPr/>
          <p:nvPr/>
        </p:nvSpPr>
        <p:spPr>
          <a:xfrm>
            <a:off x="8778240" y="3847680"/>
            <a:ext cx="265104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verte avant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Oval 50"/>
          <p:cNvSpPr/>
          <p:nvPr/>
        </p:nvSpPr>
        <p:spPr>
          <a:xfrm>
            <a:off x="8275320" y="4526640"/>
            <a:ext cx="410760" cy="41076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5" name="TextBox 77"/>
          <p:cNvSpPr/>
          <p:nvPr/>
        </p:nvSpPr>
        <p:spPr>
          <a:xfrm>
            <a:off x="8275320" y="4526640"/>
            <a:ext cx="41076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Box 78"/>
          <p:cNvSpPr/>
          <p:nvPr/>
        </p:nvSpPr>
        <p:spPr>
          <a:xfrm>
            <a:off x="8778240" y="4624920"/>
            <a:ext cx="265104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develop → main = release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Rectangle 1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8" name="TextBox 2"/>
          <p:cNvSpPr/>
          <p:nvPr/>
        </p:nvSpPr>
        <p:spPr>
          <a:xfrm>
            <a:off x="548640" y="411480"/>
            <a:ext cx="10056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01 · MÉTHODE · GIT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Box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Anatomie d'une Pull Request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Rectangle 4"/>
          <p:cNvSpPr/>
          <p:nvPr/>
        </p:nvSpPr>
        <p:spPr>
          <a:xfrm>
            <a:off x="548640" y="1691640"/>
            <a:ext cx="7313760" cy="45705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1" name="Rectangle 5"/>
          <p:cNvSpPr/>
          <p:nvPr/>
        </p:nvSpPr>
        <p:spPr>
          <a:xfrm>
            <a:off x="548640" y="1691640"/>
            <a:ext cx="7313760" cy="41004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2" name="Rectangle 6"/>
          <p:cNvSpPr/>
          <p:nvPr/>
        </p:nvSpPr>
        <p:spPr>
          <a:xfrm>
            <a:off x="731520" y="1783080"/>
            <a:ext cx="684360" cy="2271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3" name="TextBox 7"/>
          <p:cNvSpPr/>
          <p:nvPr/>
        </p:nvSpPr>
        <p:spPr>
          <a:xfrm>
            <a:off x="731520" y="1783080"/>
            <a:ext cx="6843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OPEN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Box 8"/>
          <p:cNvSpPr/>
          <p:nvPr/>
        </p:nvSpPr>
        <p:spPr>
          <a:xfrm>
            <a:off x="1554480" y="1783080"/>
            <a:ext cx="62164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#118  Stabilisation Docker/Neon/Prisma/Redis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Box 9"/>
          <p:cNvSpPr/>
          <p:nvPr/>
        </p:nvSpPr>
        <p:spPr>
          <a:xfrm>
            <a:off x="731520" y="2194560"/>
            <a:ext cx="69480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arocchet  wants to merge  18 commits  into  main  ← from  fix/docker-stabilisation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Box 10"/>
          <p:cNvSpPr/>
          <p:nvPr/>
        </p:nvSpPr>
        <p:spPr>
          <a:xfrm>
            <a:off x="731520" y="2560320"/>
            <a:ext cx="69480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Commits (Conventional Commits)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Oval 11"/>
          <p:cNvSpPr/>
          <p:nvPr/>
        </p:nvSpPr>
        <p:spPr>
          <a:xfrm>
            <a:off x="777240" y="2926080"/>
            <a:ext cx="108360" cy="1083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360" tIns="32760" rIns="5436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8" name="TextBox 12"/>
          <p:cNvSpPr/>
          <p:nvPr/>
        </p:nvSpPr>
        <p:spPr>
          <a:xfrm>
            <a:off x="960120" y="2880360"/>
            <a:ext cx="1644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feat(docker):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Box 13"/>
          <p:cNvSpPr/>
          <p:nvPr/>
        </p:nvSpPr>
        <p:spPr>
          <a:xfrm>
            <a:off x="2651760" y="2880360"/>
            <a:ext cx="51192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multi-stage build avec image Bun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Oval 14"/>
          <p:cNvSpPr/>
          <p:nvPr/>
        </p:nvSpPr>
        <p:spPr>
          <a:xfrm>
            <a:off x="777240" y="3200400"/>
            <a:ext cx="108360" cy="1083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360" tIns="32760" rIns="5436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1" name="TextBox 15"/>
          <p:cNvSpPr/>
          <p:nvPr/>
        </p:nvSpPr>
        <p:spPr>
          <a:xfrm>
            <a:off x="960120" y="3154680"/>
            <a:ext cx="1644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fix(prisma):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Box 16"/>
          <p:cNvSpPr/>
          <p:nvPr/>
        </p:nvSpPr>
        <p:spPr>
          <a:xfrm>
            <a:off x="2651760" y="3154680"/>
            <a:ext cx="51192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openssl + migrate deploy au boot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Oval 17"/>
          <p:cNvSpPr/>
          <p:nvPr/>
        </p:nvSpPr>
        <p:spPr>
          <a:xfrm>
            <a:off x="777240" y="3474720"/>
            <a:ext cx="108360" cy="108360"/>
          </a:xfrm>
          <a:prstGeom prst="ellipse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360" tIns="32760" rIns="5436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4" name="TextBox 18"/>
          <p:cNvSpPr/>
          <p:nvPr/>
        </p:nvSpPr>
        <p:spPr>
          <a:xfrm>
            <a:off x="960120" y="3429000"/>
            <a:ext cx="1644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chore(deps):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Box 19"/>
          <p:cNvSpPr/>
          <p:nvPr/>
        </p:nvSpPr>
        <p:spPr>
          <a:xfrm>
            <a:off x="2651760" y="3429000"/>
            <a:ext cx="51192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bump @upstash/redis to 1.35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Oval 20"/>
          <p:cNvSpPr/>
          <p:nvPr/>
        </p:nvSpPr>
        <p:spPr>
          <a:xfrm>
            <a:off x="777240" y="3749040"/>
            <a:ext cx="108360" cy="1083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360" tIns="32760" rIns="5436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7" name="TextBox 21"/>
          <p:cNvSpPr/>
          <p:nvPr/>
        </p:nvSpPr>
        <p:spPr>
          <a:xfrm>
            <a:off x="960120" y="3703320"/>
            <a:ext cx="1644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</a:rPr>
              <a:t>test(auth):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Box 22"/>
          <p:cNvSpPr/>
          <p:nvPr/>
        </p:nvSpPr>
        <p:spPr>
          <a:xfrm>
            <a:off x="2651760" y="3703320"/>
            <a:ext cx="51192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add register integration 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Box 23"/>
          <p:cNvSpPr/>
          <p:nvPr/>
        </p:nvSpPr>
        <p:spPr>
          <a:xfrm>
            <a:off x="731520" y="4251960"/>
            <a:ext cx="69480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Checks CI · 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Oval 24"/>
          <p:cNvSpPr/>
          <p:nvPr/>
        </p:nvSpPr>
        <p:spPr>
          <a:xfrm>
            <a:off x="777240" y="4572000"/>
            <a:ext cx="181440" cy="18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1" name="TextBox 25"/>
          <p:cNvSpPr/>
          <p:nvPr/>
        </p:nvSpPr>
        <p:spPr>
          <a:xfrm>
            <a:off x="777240" y="4572000"/>
            <a:ext cx="18144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Box 26"/>
          <p:cNvSpPr/>
          <p:nvPr/>
        </p:nvSpPr>
        <p:spPr>
          <a:xfrm>
            <a:off x="1051560" y="4553640"/>
            <a:ext cx="1644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lint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Box 27"/>
          <p:cNvSpPr/>
          <p:nvPr/>
        </p:nvSpPr>
        <p:spPr>
          <a:xfrm>
            <a:off x="2743200" y="4553640"/>
            <a:ext cx="5027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passed in 22s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Oval 28"/>
          <p:cNvSpPr/>
          <p:nvPr/>
        </p:nvSpPr>
        <p:spPr>
          <a:xfrm>
            <a:off x="777240" y="4846320"/>
            <a:ext cx="181440" cy="18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5" name="TextBox 29"/>
          <p:cNvSpPr/>
          <p:nvPr/>
        </p:nvSpPr>
        <p:spPr>
          <a:xfrm>
            <a:off x="777240" y="4846320"/>
            <a:ext cx="18144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Box 30"/>
          <p:cNvSpPr/>
          <p:nvPr/>
        </p:nvSpPr>
        <p:spPr>
          <a:xfrm>
            <a:off x="1051560" y="4827960"/>
            <a:ext cx="1644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Box 31"/>
          <p:cNvSpPr/>
          <p:nvPr/>
        </p:nvSpPr>
        <p:spPr>
          <a:xfrm>
            <a:off x="2743200" y="4827960"/>
            <a:ext cx="5027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passed in 1m 14s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Oval 32"/>
          <p:cNvSpPr/>
          <p:nvPr/>
        </p:nvSpPr>
        <p:spPr>
          <a:xfrm>
            <a:off x="777240" y="5120640"/>
            <a:ext cx="181440" cy="18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9" name="TextBox 33"/>
          <p:cNvSpPr/>
          <p:nvPr/>
        </p:nvSpPr>
        <p:spPr>
          <a:xfrm>
            <a:off x="777240" y="5120640"/>
            <a:ext cx="18144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Box 34"/>
          <p:cNvSpPr/>
          <p:nvPr/>
        </p:nvSpPr>
        <p:spPr>
          <a:xfrm>
            <a:off x="1051560" y="5102280"/>
            <a:ext cx="1644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build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Box 35"/>
          <p:cNvSpPr/>
          <p:nvPr/>
        </p:nvSpPr>
        <p:spPr>
          <a:xfrm>
            <a:off x="2743200" y="5102280"/>
            <a:ext cx="5027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passed in 2m 03s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2" name="Oval 36"/>
          <p:cNvSpPr/>
          <p:nvPr/>
        </p:nvSpPr>
        <p:spPr>
          <a:xfrm>
            <a:off x="777240" y="5394960"/>
            <a:ext cx="181440" cy="1814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3" name="TextBox 37"/>
          <p:cNvSpPr/>
          <p:nvPr/>
        </p:nvSpPr>
        <p:spPr>
          <a:xfrm>
            <a:off x="777240" y="5394960"/>
            <a:ext cx="18144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Box 38"/>
          <p:cNvSpPr/>
          <p:nvPr/>
        </p:nvSpPr>
        <p:spPr>
          <a:xfrm>
            <a:off x="1051560" y="5376600"/>
            <a:ext cx="1644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vercel preview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Box 39"/>
          <p:cNvSpPr/>
          <p:nvPr/>
        </p:nvSpPr>
        <p:spPr>
          <a:xfrm>
            <a:off x="2743200" y="5376600"/>
            <a:ext cx="5027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deployed · pr-118.konekt.vercel.app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Rectangle 40"/>
          <p:cNvSpPr/>
          <p:nvPr/>
        </p:nvSpPr>
        <p:spPr>
          <a:xfrm>
            <a:off x="731520" y="5760720"/>
            <a:ext cx="1644480" cy="364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7" name="TextBox 41"/>
          <p:cNvSpPr/>
          <p:nvPr/>
        </p:nvSpPr>
        <p:spPr>
          <a:xfrm>
            <a:off x="731520" y="5760720"/>
            <a:ext cx="16444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 Merge pull request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Box 42"/>
          <p:cNvSpPr/>
          <p:nvPr/>
        </p:nvSpPr>
        <p:spPr>
          <a:xfrm>
            <a:off x="2560320" y="5806440"/>
            <a:ext cx="5027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2 reviewers ✓ approved · all checks passed · no conflicts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9" name="Rectangle 43"/>
          <p:cNvSpPr/>
          <p:nvPr/>
        </p:nvSpPr>
        <p:spPr>
          <a:xfrm>
            <a:off x="8092440" y="1691640"/>
            <a:ext cx="3519000" cy="45705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0" name="TextBox 44"/>
          <p:cNvSpPr/>
          <p:nvPr/>
        </p:nvSpPr>
        <p:spPr>
          <a:xfrm>
            <a:off x="8275320" y="1783080"/>
            <a:ext cx="3153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Pratiques équipe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1" name="Oval 45"/>
          <p:cNvSpPr/>
          <p:nvPr/>
        </p:nvSpPr>
        <p:spPr>
          <a:xfrm>
            <a:off x="8275320" y="2194560"/>
            <a:ext cx="410040" cy="4100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2" name="TextBox 46"/>
          <p:cNvSpPr/>
          <p:nvPr/>
        </p:nvSpPr>
        <p:spPr>
          <a:xfrm>
            <a:off x="8275320" y="21945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Box 47"/>
          <p:cNvSpPr/>
          <p:nvPr/>
        </p:nvSpPr>
        <p:spPr>
          <a:xfrm>
            <a:off x="8778240" y="2256840"/>
            <a:ext cx="26503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Conventional Commits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Oval 48"/>
          <p:cNvSpPr/>
          <p:nvPr/>
        </p:nvSpPr>
        <p:spPr>
          <a:xfrm>
            <a:off x="8275320" y="2971800"/>
            <a:ext cx="410040" cy="4100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5" name="TextBox 49"/>
          <p:cNvSpPr/>
          <p:nvPr/>
        </p:nvSpPr>
        <p:spPr>
          <a:xfrm>
            <a:off x="8275320" y="297180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◐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Box 50"/>
          <p:cNvSpPr/>
          <p:nvPr/>
        </p:nvSpPr>
        <p:spPr>
          <a:xfrm>
            <a:off x="8778240" y="3034080"/>
            <a:ext cx="26503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 PR = 1 feature ou fix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7" name="Oval 51"/>
          <p:cNvSpPr/>
          <p:nvPr/>
        </p:nvSpPr>
        <p:spPr>
          <a:xfrm>
            <a:off x="8275320" y="3749040"/>
            <a:ext cx="410040" cy="41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8" name="TextBox 52"/>
          <p:cNvSpPr/>
          <p:nvPr/>
        </p:nvSpPr>
        <p:spPr>
          <a:xfrm>
            <a:off x="8275320" y="37490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Box 53"/>
          <p:cNvSpPr/>
          <p:nvPr/>
        </p:nvSpPr>
        <p:spPr>
          <a:xfrm>
            <a:off x="8778240" y="3847320"/>
            <a:ext cx="26503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verte = pré-requis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0" name="Oval 54"/>
          <p:cNvSpPr/>
          <p:nvPr/>
        </p:nvSpPr>
        <p:spPr>
          <a:xfrm>
            <a:off x="8275320" y="4526280"/>
            <a:ext cx="410040" cy="4100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1" name="TextBox 55"/>
          <p:cNvSpPr/>
          <p:nvPr/>
        </p:nvSpPr>
        <p:spPr>
          <a:xfrm>
            <a:off x="8275320" y="45262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Box 56"/>
          <p:cNvSpPr/>
          <p:nvPr/>
        </p:nvSpPr>
        <p:spPr>
          <a:xfrm>
            <a:off x="8778240" y="4624560"/>
            <a:ext cx="26503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Review par ≥ 1 pair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3" name="Oval 57"/>
          <p:cNvSpPr/>
          <p:nvPr/>
        </p:nvSpPr>
        <p:spPr>
          <a:xfrm>
            <a:off x="8275320" y="5303520"/>
            <a:ext cx="410040" cy="41004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4" name="TextBox 58"/>
          <p:cNvSpPr/>
          <p:nvPr/>
        </p:nvSpPr>
        <p:spPr>
          <a:xfrm>
            <a:off x="8275320" y="530352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Box 59"/>
          <p:cNvSpPr/>
          <p:nvPr/>
        </p:nvSpPr>
        <p:spPr>
          <a:xfrm>
            <a:off x="8778240" y="5401800"/>
            <a:ext cx="26503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Squash &amp;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Box 60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Box 61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7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0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02 · LE PROJET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Konekt — contexte &amp; vision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2" name="Shape 3"/>
          <p:cNvSpPr/>
          <p:nvPr/>
        </p:nvSpPr>
        <p:spPr>
          <a:xfrm>
            <a:off x="548640" y="1691640"/>
            <a:ext cx="5530680" cy="219312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3" name="Text 4"/>
          <p:cNvSpPr/>
          <p:nvPr/>
        </p:nvSpPr>
        <p:spPr>
          <a:xfrm>
            <a:off x="777240" y="1828800"/>
            <a:ext cx="5027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Problématique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5"/>
          <p:cNvSpPr/>
          <p:nvPr/>
        </p:nvSpPr>
        <p:spPr>
          <a:xfrm>
            <a:off x="777240" y="2194560"/>
            <a:ext cx="5073480" cy="159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 une application sociale moderne, sécurisée et temps réel, comme support de démonstration pour la certification CDA. Le projet doit illustrer l'ensemble du cycle : conception, développement, tests, déploiement.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5" name="Shape 6"/>
          <p:cNvSpPr/>
          <p:nvPr/>
        </p:nvSpPr>
        <p:spPr>
          <a:xfrm>
            <a:off x="6263640" y="1691640"/>
            <a:ext cx="5530680" cy="219312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6" name="Text 7"/>
          <p:cNvSpPr/>
          <p:nvPr/>
        </p:nvSpPr>
        <p:spPr>
          <a:xfrm>
            <a:off x="6492240" y="1828800"/>
            <a:ext cx="5027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Solution proposée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8"/>
          <p:cNvSpPr/>
          <p:nvPr/>
        </p:nvSpPr>
        <p:spPr>
          <a:xfrm>
            <a:off x="6492240" y="2194560"/>
            <a:ext cx="5073480" cy="159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Konekt : posts, stories, reactions, messagerie privée et de groupe, événements, follow &amp; friends, notifications temps réel — déployé en serverless avec une base relationnelle riche et un push SSE.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Shape 9"/>
          <p:cNvSpPr/>
          <p:nvPr/>
        </p:nvSpPr>
        <p:spPr>
          <a:xfrm>
            <a:off x="548640" y="4206240"/>
            <a:ext cx="2156400" cy="182736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9" name="Shape 10"/>
          <p:cNvSpPr/>
          <p:nvPr/>
        </p:nvSpPr>
        <p:spPr>
          <a:xfrm>
            <a:off x="1325880" y="4389120"/>
            <a:ext cx="638640" cy="63864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0" name="Text 11"/>
          <p:cNvSpPr/>
          <p:nvPr/>
        </p:nvSpPr>
        <p:spPr>
          <a:xfrm>
            <a:off x="1325880" y="4281120"/>
            <a:ext cx="638640" cy="88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✦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12"/>
          <p:cNvSpPr/>
          <p:nvPr/>
        </p:nvSpPr>
        <p:spPr>
          <a:xfrm>
            <a:off x="640080" y="5166360"/>
            <a:ext cx="1973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Réseautage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13"/>
          <p:cNvSpPr/>
          <p:nvPr/>
        </p:nvSpPr>
        <p:spPr>
          <a:xfrm>
            <a:off x="640080" y="5486400"/>
            <a:ext cx="19735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Posts, Stories, Reels, Reactions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3" name="Shape 14"/>
          <p:cNvSpPr/>
          <p:nvPr/>
        </p:nvSpPr>
        <p:spPr>
          <a:xfrm>
            <a:off x="2797920" y="4206240"/>
            <a:ext cx="2156400" cy="182736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4" name="Shape 15"/>
          <p:cNvSpPr/>
          <p:nvPr/>
        </p:nvSpPr>
        <p:spPr>
          <a:xfrm>
            <a:off x="3575160" y="4389120"/>
            <a:ext cx="638640" cy="63864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5" name="Text 16"/>
          <p:cNvSpPr/>
          <p:nvPr/>
        </p:nvSpPr>
        <p:spPr>
          <a:xfrm>
            <a:off x="3575160" y="435312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◐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17"/>
          <p:cNvSpPr/>
          <p:nvPr/>
        </p:nvSpPr>
        <p:spPr>
          <a:xfrm>
            <a:off x="2889360" y="5166360"/>
            <a:ext cx="1973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Messagerie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18"/>
          <p:cNvSpPr/>
          <p:nvPr/>
        </p:nvSpPr>
        <p:spPr>
          <a:xfrm>
            <a:off x="2889360" y="5486400"/>
            <a:ext cx="19735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DM, Group Chat, SSE temps réel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8" name="Shape 19"/>
          <p:cNvSpPr/>
          <p:nvPr/>
        </p:nvSpPr>
        <p:spPr>
          <a:xfrm>
            <a:off x="5047560" y="4206240"/>
            <a:ext cx="2156400" cy="182736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9" name="Shape 20"/>
          <p:cNvSpPr/>
          <p:nvPr/>
        </p:nvSpPr>
        <p:spPr>
          <a:xfrm>
            <a:off x="5824800" y="4389120"/>
            <a:ext cx="638640" cy="63864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0" name="Text 21"/>
          <p:cNvSpPr/>
          <p:nvPr/>
        </p:nvSpPr>
        <p:spPr>
          <a:xfrm>
            <a:off x="5824800" y="4245120"/>
            <a:ext cx="638640" cy="90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❖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22"/>
          <p:cNvSpPr/>
          <p:nvPr/>
        </p:nvSpPr>
        <p:spPr>
          <a:xfrm>
            <a:off x="5139000" y="5166360"/>
            <a:ext cx="1973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Communautés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23"/>
          <p:cNvSpPr/>
          <p:nvPr/>
        </p:nvSpPr>
        <p:spPr>
          <a:xfrm>
            <a:off x="5139000" y="5486400"/>
            <a:ext cx="19735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Groupes, Événements, RSVP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3" name="Shape 24"/>
          <p:cNvSpPr/>
          <p:nvPr/>
        </p:nvSpPr>
        <p:spPr>
          <a:xfrm>
            <a:off x="7296840" y="4206240"/>
            <a:ext cx="2156400" cy="182736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4" name="Shape 25"/>
          <p:cNvSpPr/>
          <p:nvPr/>
        </p:nvSpPr>
        <p:spPr>
          <a:xfrm>
            <a:off x="8074080" y="4389120"/>
            <a:ext cx="638640" cy="63864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5" name="Text 26"/>
          <p:cNvSpPr/>
          <p:nvPr/>
        </p:nvSpPr>
        <p:spPr>
          <a:xfrm>
            <a:off x="8002080" y="4281120"/>
            <a:ext cx="8409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⌕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27"/>
          <p:cNvSpPr/>
          <p:nvPr/>
        </p:nvSpPr>
        <p:spPr>
          <a:xfrm>
            <a:off x="7388280" y="5166360"/>
            <a:ext cx="1973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Découverte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28"/>
          <p:cNvSpPr/>
          <p:nvPr/>
        </p:nvSpPr>
        <p:spPr>
          <a:xfrm>
            <a:off x="7388280" y="5486400"/>
            <a:ext cx="19735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Search, Trending, Recommandations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8" name="Shape 29"/>
          <p:cNvSpPr/>
          <p:nvPr/>
        </p:nvSpPr>
        <p:spPr>
          <a:xfrm>
            <a:off x="9546480" y="4206240"/>
            <a:ext cx="2156400" cy="182736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9" name="Shape 30"/>
          <p:cNvSpPr/>
          <p:nvPr/>
        </p:nvSpPr>
        <p:spPr>
          <a:xfrm>
            <a:off x="10323720" y="4389120"/>
            <a:ext cx="638640" cy="63864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0" name="Text 31"/>
          <p:cNvSpPr/>
          <p:nvPr/>
        </p:nvSpPr>
        <p:spPr>
          <a:xfrm>
            <a:off x="10323720" y="438912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⚙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32"/>
          <p:cNvSpPr/>
          <p:nvPr/>
        </p:nvSpPr>
        <p:spPr>
          <a:xfrm>
            <a:off x="9637920" y="5166360"/>
            <a:ext cx="1973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Personnalisation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33"/>
          <p:cNvSpPr/>
          <p:nvPr/>
        </p:nvSpPr>
        <p:spPr>
          <a:xfrm>
            <a:off x="9637920" y="5486400"/>
            <a:ext cx="19735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Thème, langue, confidentialité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4" name="Text 34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35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8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02 · CAHIER DES CHARGES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stories &amp; périmètre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8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9" name="Shape 3"/>
          <p:cNvSpPr/>
          <p:nvPr/>
        </p:nvSpPr>
        <p:spPr>
          <a:xfrm>
            <a:off x="548640" y="1691640"/>
            <a:ext cx="2156400" cy="13701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0" name="Text 4"/>
          <p:cNvSpPr/>
          <p:nvPr/>
        </p:nvSpPr>
        <p:spPr>
          <a:xfrm>
            <a:off x="548640" y="1783080"/>
            <a:ext cx="215640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38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5"/>
          <p:cNvSpPr/>
          <p:nvPr/>
        </p:nvSpPr>
        <p:spPr>
          <a:xfrm>
            <a:off x="548640" y="2560320"/>
            <a:ext cx="2156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 stories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2" name="Shape 6"/>
          <p:cNvSpPr/>
          <p:nvPr/>
        </p:nvSpPr>
        <p:spPr>
          <a:xfrm>
            <a:off x="2797920" y="1691640"/>
            <a:ext cx="2156400" cy="13701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3" name="Text 7"/>
          <p:cNvSpPr/>
          <p:nvPr/>
        </p:nvSpPr>
        <p:spPr>
          <a:xfrm>
            <a:off x="2797920" y="1783080"/>
            <a:ext cx="215640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16+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8"/>
          <p:cNvSpPr/>
          <p:nvPr/>
        </p:nvSpPr>
        <p:spPr>
          <a:xfrm>
            <a:off x="2797920" y="2560320"/>
            <a:ext cx="2156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Pages principales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5" name="Shape 9"/>
          <p:cNvSpPr/>
          <p:nvPr/>
        </p:nvSpPr>
        <p:spPr>
          <a:xfrm>
            <a:off x="5047560" y="1691640"/>
            <a:ext cx="2156400" cy="13701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6" name="Text 10"/>
          <p:cNvSpPr/>
          <p:nvPr/>
        </p:nvSpPr>
        <p:spPr>
          <a:xfrm>
            <a:off x="5047560" y="1783080"/>
            <a:ext cx="215640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11"/>
          <p:cNvSpPr/>
          <p:nvPr/>
        </p:nvSpPr>
        <p:spPr>
          <a:xfrm>
            <a:off x="5047560" y="2560320"/>
            <a:ext cx="2156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Modèles 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8" name="Shape 12"/>
          <p:cNvSpPr/>
          <p:nvPr/>
        </p:nvSpPr>
        <p:spPr>
          <a:xfrm>
            <a:off x="7296840" y="1691640"/>
            <a:ext cx="2156400" cy="13701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9" name="Text 13"/>
          <p:cNvSpPr/>
          <p:nvPr/>
        </p:nvSpPr>
        <p:spPr>
          <a:xfrm>
            <a:off x="7296840" y="1783080"/>
            <a:ext cx="215640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60+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14"/>
          <p:cNvSpPr/>
          <p:nvPr/>
        </p:nvSpPr>
        <p:spPr>
          <a:xfrm>
            <a:off x="7296840" y="2560320"/>
            <a:ext cx="2156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Endpoints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1" name="Shape 15"/>
          <p:cNvSpPr/>
          <p:nvPr/>
        </p:nvSpPr>
        <p:spPr>
          <a:xfrm>
            <a:off x="9546480" y="1691640"/>
            <a:ext cx="2156400" cy="13701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2" name="Text 16"/>
          <p:cNvSpPr/>
          <p:nvPr/>
        </p:nvSpPr>
        <p:spPr>
          <a:xfrm>
            <a:off x="9546480" y="1783080"/>
            <a:ext cx="215640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280+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17"/>
          <p:cNvSpPr/>
          <p:nvPr/>
        </p:nvSpPr>
        <p:spPr>
          <a:xfrm>
            <a:off x="9546480" y="2560320"/>
            <a:ext cx="2156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Variables CSS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 18"/>
          <p:cNvSpPr/>
          <p:nvPr/>
        </p:nvSpPr>
        <p:spPr>
          <a:xfrm>
            <a:off x="548640" y="333756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Top stories prioritaires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65" name="Table 0"/>
          <p:cNvGraphicFramePr/>
          <p:nvPr/>
        </p:nvGraphicFramePr>
        <p:xfrm>
          <a:off x="548640" y="3657600"/>
          <a:ext cx="11063880" cy="2468880"/>
        </p:xfrm>
        <a:graphic>
          <a:graphicData uri="http://schemas.openxmlformats.org/drawingml/2006/table">
            <a:tbl>
              <a:tblPr/>
              <a:tblGrid>
                <a:gridCol w="1463040"/>
                <a:gridCol w="2926080"/>
                <a:gridCol w="1463040"/>
                <a:gridCol w="5212080"/>
              </a:tblGrid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Acteur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Action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Priorité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Critère d'acceptation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Visiteur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S'inscrire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Email validé, compte créé, JWT émis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Utilisateur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Créer un post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Post visible immédiatement dans le feed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Utilisateur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Envoyer un message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Message persisté + push SSE au destinataire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Utilisateur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Réagir / commenter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59E0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Compteur incrémenté, doublon impossible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Modérateur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Supprimer un contenu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59E0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Contenu retiré, log d'action conservé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</a:tbl>
          </a:graphicData>
        </a:graphic>
      </p:graphicFrame>
      <p:pic>
        <p:nvPicPr>
          <p:cNvPr id="366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7" name="Text 19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20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9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multicouche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1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2" name="Shape 3"/>
          <p:cNvSpPr/>
          <p:nvPr/>
        </p:nvSpPr>
        <p:spPr>
          <a:xfrm>
            <a:off x="548640" y="1691640"/>
            <a:ext cx="11062800" cy="109584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3" name="Shape 4"/>
          <p:cNvSpPr/>
          <p:nvPr/>
        </p:nvSpPr>
        <p:spPr>
          <a:xfrm>
            <a:off x="548640" y="1691640"/>
            <a:ext cx="108360" cy="1095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360" tIns="45000" rIns="54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4" name="Text 5"/>
          <p:cNvSpPr/>
          <p:nvPr/>
        </p:nvSpPr>
        <p:spPr>
          <a:xfrm>
            <a:off x="777240" y="178308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PRÉSENTATION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6"/>
          <p:cNvSpPr/>
          <p:nvPr/>
        </p:nvSpPr>
        <p:spPr>
          <a:xfrm>
            <a:off x="777240" y="2148840"/>
            <a:ext cx="27417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UI / UX — ce que l'utilisateur voit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 7"/>
          <p:cNvSpPr/>
          <p:nvPr/>
        </p:nvSpPr>
        <p:spPr>
          <a:xfrm>
            <a:off x="3657600" y="182880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Pages Next.js (React Server Components)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 8"/>
          <p:cNvSpPr/>
          <p:nvPr/>
        </p:nvSpPr>
        <p:spPr>
          <a:xfrm>
            <a:off x="3657600" y="212148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Composants UI (shadcn/ui, Tailwind)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9"/>
          <p:cNvSpPr/>
          <p:nvPr/>
        </p:nvSpPr>
        <p:spPr>
          <a:xfrm>
            <a:off x="3657600" y="241416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Hooks de données (use-api, use-real-time-chat)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9" name="Shape 10"/>
          <p:cNvSpPr/>
          <p:nvPr/>
        </p:nvSpPr>
        <p:spPr>
          <a:xfrm>
            <a:off x="6080760" y="2788920"/>
            <a:ext cx="360" cy="7308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28080" rIns="0" bIns="280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0" name="Shape 11"/>
          <p:cNvSpPr/>
          <p:nvPr/>
        </p:nvSpPr>
        <p:spPr>
          <a:xfrm>
            <a:off x="548640" y="2862000"/>
            <a:ext cx="11062800" cy="109584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1" name="Shape 12"/>
          <p:cNvSpPr/>
          <p:nvPr/>
        </p:nvSpPr>
        <p:spPr>
          <a:xfrm>
            <a:off x="548640" y="2862000"/>
            <a:ext cx="108360" cy="109584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360" tIns="45000" rIns="54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2" name="Text 13"/>
          <p:cNvSpPr/>
          <p:nvPr/>
        </p:nvSpPr>
        <p:spPr>
          <a:xfrm>
            <a:off x="777240" y="295344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0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APPLICATION / MÉTIER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14"/>
          <p:cNvSpPr/>
          <p:nvPr/>
        </p:nvSpPr>
        <p:spPr>
          <a:xfrm>
            <a:off x="777240" y="3319200"/>
            <a:ext cx="27417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Logique applicative et règles métier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15"/>
          <p:cNvSpPr/>
          <p:nvPr/>
        </p:nvSpPr>
        <p:spPr>
          <a:xfrm>
            <a:off x="3657600" y="299916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Route Handlers /api/private/* /api/public/*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16"/>
          <p:cNvSpPr/>
          <p:nvPr/>
        </p:nvSpPr>
        <p:spPr>
          <a:xfrm>
            <a:off x="3657600" y="329184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Server Actions (mutations) · Middleware JWT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 17"/>
          <p:cNvSpPr/>
          <p:nvPr/>
        </p:nvSpPr>
        <p:spPr>
          <a:xfrm>
            <a:off x="3657600" y="358452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Zod, schémas partagés client/serveur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7" name="Shape 18"/>
          <p:cNvSpPr/>
          <p:nvPr/>
        </p:nvSpPr>
        <p:spPr>
          <a:xfrm>
            <a:off x="6080760" y="3959280"/>
            <a:ext cx="360" cy="7308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28080" rIns="0" bIns="280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8" name="Shape 19"/>
          <p:cNvSpPr/>
          <p:nvPr/>
        </p:nvSpPr>
        <p:spPr>
          <a:xfrm>
            <a:off x="548640" y="4032360"/>
            <a:ext cx="11062800" cy="109584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9" name="Shape 20"/>
          <p:cNvSpPr/>
          <p:nvPr/>
        </p:nvSpPr>
        <p:spPr>
          <a:xfrm>
            <a:off x="548640" y="4032360"/>
            <a:ext cx="108360" cy="109584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360" tIns="45000" rIns="54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0" name="Text 21"/>
          <p:cNvSpPr/>
          <p:nvPr/>
        </p:nvSpPr>
        <p:spPr>
          <a:xfrm>
            <a:off x="777240" y="412380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0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PERSISTANCE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22"/>
          <p:cNvSpPr/>
          <p:nvPr/>
        </p:nvSpPr>
        <p:spPr>
          <a:xfrm>
            <a:off x="777240" y="4489560"/>
            <a:ext cx="27417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Accès aux données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23"/>
          <p:cNvSpPr/>
          <p:nvPr/>
        </p:nvSpPr>
        <p:spPr>
          <a:xfrm>
            <a:off x="3657600" y="416952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ORM (18 modèles, requêtes type-safe)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24"/>
          <p:cNvSpPr/>
          <p:nvPr/>
        </p:nvSpPr>
        <p:spPr>
          <a:xfrm>
            <a:off x="3657600" y="446220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Migrations versionnées prisma/migrations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4" name="Text 25"/>
          <p:cNvSpPr/>
          <p:nvPr/>
        </p:nvSpPr>
        <p:spPr>
          <a:xfrm>
            <a:off x="3657600" y="475488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Helpers src/lib/server/&lt;domaine&gt;/&lt;entité&gt;.ts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5" name="Shape 26"/>
          <p:cNvSpPr/>
          <p:nvPr/>
        </p:nvSpPr>
        <p:spPr>
          <a:xfrm>
            <a:off x="6080760" y="5129640"/>
            <a:ext cx="360" cy="7308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28080" rIns="0" bIns="280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6" name="Shape 27"/>
          <p:cNvSpPr/>
          <p:nvPr/>
        </p:nvSpPr>
        <p:spPr>
          <a:xfrm>
            <a:off x="548640" y="5203080"/>
            <a:ext cx="11062800" cy="109584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7" name="Shape 28"/>
          <p:cNvSpPr/>
          <p:nvPr/>
        </p:nvSpPr>
        <p:spPr>
          <a:xfrm>
            <a:off x="548640" y="5203080"/>
            <a:ext cx="108360" cy="109584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360" tIns="45000" rIns="54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8" name="Text 29"/>
          <p:cNvSpPr/>
          <p:nvPr/>
        </p:nvSpPr>
        <p:spPr>
          <a:xfrm>
            <a:off x="777240" y="529452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0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INFRASTRUCTURE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 30"/>
          <p:cNvSpPr/>
          <p:nvPr/>
        </p:nvSpPr>
        <p:spPr>
          <a:xfrm>
            <a:off x="777240" y="5660280"/>
            <a:ext cx="27417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Stockage et services externes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31"/>
          <p:cNvSpPr/>
          <p:nvPr/>
        </p:nvSpPr>
        <p:spPr>
          <a:xfrm>
            <a:off x="3657600" y="534024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Neon (DB relationnelle)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 32"/>
          <p:cNvSpPr/>
          <p:nvPr/>
        </p:nvSpPr>
        <p:spPr>
          <a:xfrm>
            <a:off x="3657600" y="563256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 (cache + buffer SSE)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33"/>
          <p:cNvSpPr/>
          <p:nvPr/>
        </p:nvSpPr>
        <p:spPr>
          <a:xfrm>
            <a:off x="3657600" y="592524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Cloudinary (médias) · Vercel (runtime)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4" name="Text 34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 35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10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7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Stack technique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8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9" name="Shape 3"/>
          <p:cNvSpPr/>
          <p:nvPr/>
        </p:nvSpPr>
        <p:spPr>
          <a:xfrm>
            <a:off x="457200" y="169164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0" name="Shape 4"/>
          <p:cNvSpPr/>
          <p:nvPr/>
        </p:nvSpPr>
        <p:spPr>
          <a:xfrm>
            <a:off x="457200" y="1691640"/>
            <a:ext cx="71640" cy="2238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1" name="Text 5"/>
          <p:cNvSpPr/>
          <p:nvPr/>
        </p:nvSpPr>
        <p:spPr>
          <a:xfrm>
            <a:off x="685800" y="180144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Frontend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 6"/>
          <p:cNvSpPr/>
          <p:nvPr/>
        </p:nvSpPr>
        <p:spPr>
          <a:xfrm>
            <a:off x="685800" y="219456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15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 7"/>
          <p:cNvSpPr/>
          <p:nvPr/>
        </p:nvSpPr>
        <p:spPr>
          <a:xfrm>
            <a:off x="685800" y="242316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 Router · SSR/CSR hybride · Server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8"/>
          <p:cNvSpPr/>
          <p:nvPr/>
        </p:nvSpPr>
        <p:spPr>
          <a:xfrm>
            <a:off x="685800" y="274320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 19 + TypeScript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 9"/>
          <p:cNvSpPr/>
          <p:nvPr/>
        </p:nvSpPr>
        <p:spPr>
          <a:xfrm>
            <a:off x="685800" y="297180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Composants typés, hooks personnalisés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 10"/>
          <p:cNvSpPr/>
          <p:nvPr/>
        </p:nvSpPr>
        <p:spPr>
          <a:xfrm>
            <a:off x="685800" y="329184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Tailwind CSS + shadcn/ui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 11"/>
          <p:cNvSpPr/>
          <p:nvPr/>
        </p:nvSpPr>
        <p:spPr>
          <a:xfrm>
            <a:off x="685800" y="352044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Design system, dark theme natif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8" name="Shape 12"/>
          <p:cNvSpPr/>
          <p:nvPr/>
        </p:nvSpPr>
        <p:spPr>
          <a:xfrm>
            <a:off x="4251960" y="169164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9" name="Shape 13"/>
          <p:cNvSpPr/>
          <p:nvPr/>
        </p:nvSpPr>
        <p:spPr>
          <a:xfrm>
            <a:off x="4251960" y="1691640"/>
            <a:ext cx="71640" cy="223884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0" name="Text 14"/>
          <p:cNvSpPr/>
          <p:nvPr/>
        </p:nvSpPr>
        <p:spPr>
          <a:xfrm>
            <a:off x="4480560" y="180144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Backend &amp;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 15"/>
          <p:cNvSpPr/>
          <p:nvPr/>
        </p:nvSpPr>
        <p:spPr>
          <a:xfrm>
            <a:off x="4480560" y="219456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Route Handlers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2" name="Text 16"/>
          <p:cNvSpPr/>
          <p:nvPr/>
        </p:nvSpPr>
        <p:spPr>
          <a:xfrm>
            <a:off x="4480560" y="242316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REST + Server-Sent Events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 17"/>
          <p:cNvSpPr/>
          <p:nvPr/>
        </p:nvSpPr>
        <p:spPr>
          <a:xfrm>
            <a:off x="4480560" y="274320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 18"/>
          <p:cNvSpPr/>
          <p:nvPr/>
        </p:nvSpPr>
        <p:spPr>
          <a:xfrm>
            <a:off x="4480560" y="297180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ORM type-safe, migrations, 18 modèles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 19"/>
          <p:cNvSpPr/>
          <p:nvPr/>
        </p:nvSpPr>
        <p:spPr>
          <a:xfrm>
            <a:off x="4480560" y="329184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6" name="Text 20"/>
          <p:cNvSpPr/>
          <p:nvPr/>
        </p:nvSpPr>
        <p:spPr>
          <a:xfrm>
            <a:off x="4480560" y="352044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Validation des payloads, schémas partagés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7" name="Shape 21"/>
          <p:cNvSpPr/>
          <p:nvPr/>
        </p:nvSpPr>
        <p:spPr>
          <a:xfrm>
            <a:off x="8046720" y="169164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8" name="Shape 22"/>
          <p:cNvSpPr/>
          <p:nvPr/>
        </p:nvSpPr>
        <p:spPr>
          <a:xfrm>
            <a:off x="8046720" y="1691640"/>
            <a:ext cx="71640" cy="223884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9" name="Text 23"/>
          <p:cNvSpPr/>
          <p:nvPr/>
        </p:nvSpPr>
        <p:spPr>
          <a:xfrm>
            <a:off x="8275320" y="180144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Données &amp; Temps réel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0" name="Text 24"/>
          <p:cNvSpPr/>
          <p:nvPr/>
        </p:nvSpPr>
        <p:spPr>
          <a:xfrm>
            <a:off x="8275320" y="219456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(Neon)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 25"/>
          <p:cNvSpPr/>
          <p:nvPr/>
        </p:nvSpPr>
        <p:spPr>
          <a:xfrm>
            <a:off x="8275320" y="242316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Base relationnelle managée, branches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26"/>
          <p:cNvSpPr/>
          <p:nvPr/>
        </p:nvSpPr>
        <p:spPr>
          <a:xfrm>
            <a:off x="8275320" y="274320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 (REST)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3" name="Text 27"/>
          <p:cNvSpPr/>
          <p:nvPr/>
        </p:nvSpPr>
        <p:spPr>
          <a:xfrm>
            <a:off x="8275320" y="297180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Cache + buffer SSE compatible serverless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4" name="Text 28"/>
          <p:cNvSpPr/>
          <p:nvPr/>
        </p:nvSpPr>
        <p:spPr>
          <a:xfrm>
            <a:off x="8275320" y="329184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5" name="Text 29"/>
          <p:cNvSpPr/>
          <p:nvPr/>
        </p:nvSpPr>
        <p:spPr>
          <a:xfrm>
            <a:off x="8275320" y="352044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Stockage images / vidéos, transformations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6" name="Shape 30"/>
          <p:cNvSpPr/>
          <p:nvPr/>
        </p:nvSpPr>
        <p:spPr>
          <a:xfrm>
            <a:off x="457200" y="406908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7" name="Shape 31"/>
          <p:cNvSpPr/>
          <p:nvPr/>
        </p:nvSpPr>
        <p:spPr>
          <a:xfrm>
            <a:off x="457200" y="4069080"/>
            <a:ext cx="71640" cy="223884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8" name="Text 32"/>
          <p:cNvSpPr/>
          <p:nvPr/>
        </p:nvSpPr>
        <p:spPr>
          <a:xfrm>
            <a:off x="685800" y="417888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Auth &amp; Sécurité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 33"/>
          <p:cNvSpPr/>
          <p:nvPr/>
        </p:nvSpPr>
        <p:spPr>
          <a:xfrm>
            <a:off x="685800" y="457200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custom (jose)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0" name="Text 34"/>
          <p:cNvSpPr/>
          <p:nvPr/>
        </p:nvSpPr>
        <p:spPr>
          <a:xfrm>
            <a:off x="685800" y="480060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Cookie HttpOnly · SameSite · Secret applicatif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 35"/>
          <p:cNvSpPr/>
          <p:nvPr/>
        </p:nvSpPr>
        <p:spPr>
          <a:xfrm>
            <a:off x="685800" y="512064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bcrypt cost 12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 36"/>
          <p:cNvSpPr/>
          <p:nvPr/>
        </p:nvSpPr>
        <p:spPr>
          <a:xfrm>
            <a:off x="685800" y="534924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Hash mots de passe, comparison constante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 37"/>
          <p:cNvSpPr/>
          <p:nvPr/>
        </p:nvSpPr>
        <p:spPr>
          <a:xfrm>
            <a:off x="685800" y="566928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 38"/>
          <p:cNvSpPr/>
          <p:nvPr/>
        </p:nvSpPr>
        <p:spPr>
          <a:xfrm>
            <a:off x="685800" y="589788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googleapis + 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5" name="Shape 39"/>
          <p:cNvSpPr/>
          <p:nvPr/>
        </p:nvSpPr>
        <p:spPr>
          <a:xfrm>
            <a:off x="4251960" y="406908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6" name="Shape 40"/>
          <p:cNvSpPr/>
          <p:nvPr/>
        </p:nvSpPr>
        <p:spPr>
          <a:xfrm>
            <a:off x="4251960" y="4069080"/>
            <a:ext cx="71640" cy="223884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7" name="Text 41"/>
          <p:cNvSpPr/>
          <p:nvPr/>
        </p:nvSpPr>
        <p:spPr>
          <a:xfrm>
            <a:off x="4480560" y="417888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DevOps &amp; CI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 42"/>
          <p:cNvSpPr/>
          <p:nvPr/>
        </p:nvSpPr>
        <p:spPr>
          <a:xfrm>
            <a:off x="4480560" y="457200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 multi-stage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9" name="Text 43"/>
          <p:cNvSpPr/>
          <p:nvPr/>
        </p:nvSpPr>
        <p:spPr>
          <a:xfrm>
            <a:off x="4480560" y="480060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Image légère oven/bun:1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0" name="Text 44"/>
          <p:cNvSpPr/>
          <p:nvPr/>
        </p:nvSpPr>
        <p:spPr>
          <a:xfrm>
            <a:off x="4480560" y="512064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1" name="Text 45"/>
          <p:cNvSpPr/>
          <p:nvPr/>
        </p:nvSpPr>
        <p:spPr>
          <a:xfrm>
            <a:off x="4480560" y="534924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Lint · Test · Build · Deploy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 46"/>
          <p:cNvSpPr/>
          <p:nvPr/>
        </p:nvSpPr>
        <p:spPr>
          <a:xfrm>
            <a:off x="4480560" y="566928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 + Neon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3" name="Text 47"/>
          <p:cNvSpPr/>
          <p:nvPr/>
        </p:nvSpPr>
        <p:spPr>
          <a:xfrm>
            <a:off x="4480560" y="589788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Déploiement préview par PR +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4" name="Shape 48"/>
          <p:cNvSpPr/>
          <p:nvPr/>
        </p:nvSpPr>
        <p:spPr>
          <a:xfrm>
            <a:off x="8046720" y="406908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5" name="Shape 49"/>
          <p:cNvSpPr/>
          <p:nvPr/>
        </p:nvSpPr>
        <p:spPr>
          <a:xfrm>
            <a:off x="8046720" y="4069080"/>
            <a:ext cx="71640" cy="223884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6" name="Text 50"/>
          <p:cNvSpPr/>
          <p:nvPr/>
        </p:nvSpPr>
        <p:spPr>
          <a:xfrm>
            <a:off x="8275320" y="417888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Qualité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7" name="Text 51"/>
          <p:cNvSpPr/>
          <p:nvPr/>
        </p:nvSpPr>
        <p:spPr>
          <a:xfrm>
            <a:off x="8275320" y="457200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Jest + ts-jest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 52"/>
          <p:cNvSpPr/>
          <p:nvPr/>
        </p:nvSpPr>
        <p:spPr>
          <a:xfrm>
            <a:off x="8275320" y="480060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Tests d'intégration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9" name="Text 53"/>
          <p:cNvSpPr/>
          <p:nvPr/>
        </p:nvSpPr>
        <p:spPr>
          <a:xfrm>
            <a:off x="8275320" y="512064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ESLint + TypeScript strict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0" name="Text 54"/>
          <p:cNvSpPr/>
          <p:nvPr/>
        </p:nvSpPr>
        <p:spPr>
          <a:xfrm>
            <a:off x="8275320" y="534924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Code style + typage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1" name="Text 55"/>
          <p:cNvSpPr/>
          <p:nvPr/>
        </p:nvSpPr>
        <p:spPr>
          <a:xfrm>
            <a:off x="8275320" y="566928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Roadmap Playwright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 56"/>
          <p:cNvSpPr/>
          <p:nvPr/>
        </p:nvSpPr>
        <p:spPr>
          <a:xfrm>
            <a:off x="8275320" y="589788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E2E parcours critiques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6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4" name="Text 57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5" name="Text 58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11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7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système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8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9" name="Shape 3"/>
          <p:cNvSpPr/>
          <p:nvPr/>
        </p:nvSpPr>
        <p:spPr>
          <a:xfrm>
            <a:off x="548640" y="2194560"/>
            <a:ext cx="2193120" cy="274176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0" name="Shape 4"/>
          <p:cNvSpPr/>
          <p:nvPr/>
        </p:nvSpPr>
        <p:spPr>
          <a:xfrm>
            <a:off x="548640" y="2194560"/>
            <a:ext cx="2193120" cy="3643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1" name="Text 5"/>
          <p:cNvSpPr/>
          <p:nvPr/>
        </p:nvSpPr>
        <p:spPr>
          <a:xfrm>
            <a:off x="548640" y="2194560"/>
            <a:ext cx="21931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CLIENT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 6"/>
          <p:cNvSpPr/>
          <p:nvPr/>
        </p:nvSpPr>
        <p:spPr>
          <a:xfrm>
            <a:off x="685800" y="2743200"/>
            <a:ext cx="1964520" cy="210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Navigateur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Next.js App Router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EventSource (SSE)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fetch / forms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Cookies authToken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3" name="Shape 7"/>
          <p:cNvSpPr/>
          <p:nvPr/>
        </p:nvSpPr>
        <p:spPr>
          <a:xfrm>
            <a:off x="3017520" y="2194560"/>
            <a:ext cx="1644480" cy="2741760"/>
          </a:xfrm>
          <a:prstGeom prst="roundRect">
            <a:avLst>
              <a:gd name="adj" fmla="val 4444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4" name="Shape 8"/>
          <p:cNvSpPr/>
          <p:nvPr/>
        </p:nvSpPr>
        <p:spPr>
          <a:xfrm>
            <a:off x="3017520" y="2194560"/>
            <a:ext cx="1644480" cy="3643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5" name="Text 9"/>
          <p:cNvSpPr/>
          <p:nvPr/>
        </p:nvSpPr>
        <p:spPr>
          <a:xfrm>
            <a:off x="3017520" y="2194560"/>
            <a:ext cx="16444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EDGE / CDN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6" name="Text 10"/>
          <p:cNvSpPr/>
          <p:nvPr/>
        </p:nvSpPr>
        <p:spPr>
          <a:xfrm>
            <a:off x="3108960" y="2743200"/>
            <a:ext cx="1461600" cy="210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Routing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Cache HTML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SSL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7" name="Shape 11"/>
          <p:cNvSpPr/>
          <p:nvPr/>
        </p:nvSpPr>
        <p:spPr>
          <a:xfrm>
            <a:off x="4937760" y="2194560"/>
            <a:ext cx="2376000" cy="2741760"/>
          </a:xfrm>
          <a:prstGeom prst="roundRect">
            <a:avLst>
              <a:gd name="adj" fmla="val 307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8" name="Shape 12"/>
          <p:cNvSpPr/>
          <p:nvPr/>
        </p:nvSpPr>
        <p:spPr>
          <a:xfrm>
            <a:off x="4937760" y="2194560"/>
            <a:ext cx="2376000" cy="3643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9" name="Text 13"/>
          <p:cNvSpPr/>
          <p:nvPr/>
        </p:nvSpPr>
        <p:spPr>
          <a:xfrm>
            <a:off x="4937760" y="2194560"/>
            <a:ext cx="23760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APPLICATION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0" name="Text 14"/>
          <p:cNvSpPr/>
          <p:nvPr/>
        </p:nvSpPr>
        <p:spPr>
          <a:xfrm>
            <a:off x="5074920" y="2743200"/>
            <a:ext cx="2101680" cy="210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Route Handlers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Middleware JWT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Server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/api/private/...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/api/public/...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Prisma Client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1" name="Shape 15"/>
          <p:cNvSpPr/>
          <p:nvPr/>
        </p:nvSpPr>
        <p:spPr>
          <a:xfrm>
            <a:off x="7680960" y="1783080"/>
            <a:ext cx="3930480" cy="100440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2" name="Shape 16"/>
          <p:cNvSpPr/>
          <p:nvPr/>
        </p:nvSpPr>
        <p:spPr>
          <a:xfrm>
            <a:off x="7680960" y="1783080"/>
            <a:ext cx="90000" cy="100440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3" name="Text 17"/>
          <p:cNvSpPr/>
          <p:nvPr/>
        </p:nvSpPr>
        <p:spPr>
          <a:xfrm>
            <a:off x="7863840" y="1874520"/>
            <a:ext cx="36561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· Neon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4" name="Text 18"/>
          <p:cNvSpPr/>
          <p:nvPr/>
        </p:nvSpPr>
        <p:spPr>
          <a:xfrm>
            <a:off x="7863840" y="2194560"/>
            <a:ext cx="36561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Base relationnelle, 18 modèles Prisma, migrations versionnées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5" name="Shape 19"/>
          <p:cNvSpPr/>
          <p:nvPr/>
        </p:nvSpPr>
        <p:spPr>
          <a:xfrm>
            <a:off x="7680960" y="2926080"/>
            <a:ext cx="3930480" cy="100440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6" name="Shape 20"/>
          <p:cNvSpPr/>
          <p:nvPr/>
        </p:nvSpPr>
        <p:spPr>
          <a:xfrm>
            <a:off x="7680960" y="2926080"/>
            <a:ext cx="90000" cy="100440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7" name="Text 21"/>
          <p:cNvSpPr/>
          <p:nvPr/>
        </p:nvSpPr>
        <p:spPr>
          <a:xfrm>
            <a:off x="7863840" y="3017520"/>
            <a:ext cx="36561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 (REST)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8" name="Text 22"/>
          <p:cNvSpPr/>
          <p:nvPr/>
        </p:nvSpPr>
        <p:spPr>
          <a:xfrm>
            <a:off x="7863840" y="3337560"/>
            <a:ext cx="36561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Cache + buffer SSE — clés latest:chat:* polling REST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9" name="Shape 23"/>
          <p:cNvSpPr/>
          <p:nvPr/>
        </p:nvSpPr>
        <p:spPr>
          <a:xfrm>
            <a:off x="7680960" y="4069080"/>
            <a:ext cx="3930480" cy="100440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0" name="Shape 24"/>
          <p:cNvSpPr/>
          <p:nvPr/>
        </p:nvSpPr>
        <p:spPr>
          <a:xfrm>
            <a:off x="7680960" y="4069080"/>
            <a:ext cx="90000" cy="100440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1" name="Text 25"/>
          <p:cNvSpPr/>
          <p:nvPr/>
        </p:nvSpPr>
        <p:spPr>
          <a:xfrm>
            <a:off x="7863840" y="4160520"/>
            <a:ext cx="36561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2" name="Text 26"/>
          <p:cNvSpPr/>
          <p:nvPr/>
        </p:nvSpPr>
        <p:spPr>
          <a:xfrm>
            <a:off x="7863840" y="4480560"/>
            <a:ext cx="36561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Stockage médias, transformations à la volée, CDN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3" name="Shape 27"/>
          <p:cNvSpPr/>
          <p:nvPr/>
        </p:nvSpPr>
        <p:spPr>
          <a:xfrm>
            <a:off x="2743200" y="3657600"/>
            <a:ext cx="27432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4" name="Shape 28"/>
          <p:cNvSpPr/>
          <p:nvPr/>
        </p:nvSpPr>
        <p:spPr>
          <a:xfrm>
            <a:off x="4663440" y="3657600"/>
            <a:ext cx="27432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5" name="Shape 29"/>
          <p:cNvSpPr/>
          <p:nvPr/>
        </p:nvSpPr>
        <p:spPr>
          <a:xfrm>
            <a:off x="7315200" y="2286000"/>
            <a:ext cx="36576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6" name="Shape 30"/>
          <p:cNvSpPr/>
          <p:nvPr/>
        </p:nvSpPr>
        <p:spPr>
          <a:xfrm>
            <a:off x="7315200" y="3429000"/>
            <a:ext cx="365760" cy="360"/>
          </a:xfrm>
          <a:prstGeom prst="line">
            <a:avLst/>
          </a:prstGeom>
          <a:ln w="25400">
            <a:solidFill>
              <a:srgbClr val="F59E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7" name="Shape 31"/>
          <p:cNvSpPr/>
          <p:nvPr/>
        </p:nvSpPr>
        <p:spPr>
          <a:xfrm>
            <a:off x="7315200" y="4572000"/>
            <a:ext cx="365760" cy="360"/>
          </a:xfrm>
          <a:prstGeom prst="line">
            <a:avLst/>
          </a:prstGeom>
          <a:ln w="25400">
            <a:solidFill>
              <a:srgbClr val="10B981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8" name="Text 32"/>
          <p:cNvSpPr/>
          <p:nvPr/>
        </p:nvSpPr>
        <p:spPr>
          <a:xfrm>
            <a:off x="548640" y="5486400"/>
            <a:ext cx="110628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Tout est serverless-ready : la stack tourne nativement sur Vercel et reste reproductible en local via docker-compose.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9" name="Shape 33"/>
          <p:cNvSpPr/>
          <p:nvPr/>
        </p:nvSpPr>
        <p:spPr>
          <a:xfrm>
            <a:off x="685800" y="5120640"/>
            <a:ext cx="191880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0" name="Text 34"/>
          <p:cNvSpPr/>
          <p:nvPr/>
        </p:nvSpPr>
        <p:spPr>
          <a:xfrm>
            <a:off x="685800" y="5120640"/>
            <a:ext cx="191880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SSE bidirectionnel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0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2" name="Text 3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3" name="Text 3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12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5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Concepts de modélisation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6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7" name="Text 3"/>
          <p:cNvSpPr/>
          <p:nvPr/>
        </p:nvSpPr>
        <p:spPr>
          <a:xfrm>
            <a:off x="548640" y="1691640"/>
            <a:ext cx="10971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Rappel des termes que l'on rencontrera dans MCD / MLD / MPD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8" name="Shape 4"/>
          <p:cNvSpPr/>
          <p:nvPr/>
        </p:nvSpPr>
        <p:spPr>
          <a:xfrm>
            <a:off x="548640" y="2103120"/>
            <a:ext cx="3656160" cy="196452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9" name="Shape 5"/>
          <p:cNvSpPr/>
          <p:nvPr/>
        </p:nvSpPr>
        <p:spPr>
          <a:xfrm>
            <a:off x="731520" y="2286000"/>
            <a:ext cx="501480" cy="50148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0" name="Text 6"/>
          <p:cNvSpPr/>
          <p:nvPr/>
        </p:nvSpPr>
        <p:spPr>
          <a:xfrm>
            <a:off x="731520" y="2178000"/>
            <a:ext cx="501480" cy="66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1" name="Text 7"/>
          <p:cNvSpPr/>
          <p:nvPr/>
        </p:nvSpPr>
        <p:spPr>
          <a:xfrm>
            <a:off x="1325880" y="228600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Entité / Table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2" name="Text 8"/>
          <p:cNvSpPr/>
          <p:nvPr/>
        </p:nvSpPr>
        <p:spPr>
          <a:xfrm>
            <a:off x="731520" y="2880360"/>
            <a:ext cx="329040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Objet métier matérialisé en table SQL. Une ligne = une instance.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3" name="Text 9"/>
          <p:cNvSpPr/>
          <p:nvPr/>
        </p:nvSpPr>
        <p:spPr>
          <a:xfrm>
            <a:off x="731520" y="3474720"/>
            <a:ext cx="3290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4" name="Text 10"/>
          <p:cNvSpPr/>
          <p:nvPr/>
        </p:nvSpPr>
        <p:spPr>
          <a:xfrm>
            <a:off x="731520" y="365760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User, Post, Comment, Reaction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5" name="Shape 11"/>
          <p:cNvSpPr/>
          <p:nvPr/>
        </p:nvSpPr>
        <p:spPr>
          <a:xfrm>
            <a:off x="4389120" y="2103120"/>
            <a:ext cx="3656160" cy="196452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6" name="Shape 12"/>
          <p:cNvSpPr/>
          <p:nvPr/>
        </p:nvSpPr>
        <p:spPr>
          <a:xfrm>
            <a:off x="4572000" y="2286000"/>
            <a:ext cx="501480" cy="50148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7" name="Text 13"/>
          <p:cNvSpPr/>
          <p:nvPr/>
        </p:nvSpPr>
        <p:spPr>
          <a:xfrm>
            <a:off x="4572000" y="2178000"/>
            <a:ext cx="501480" cy="70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 14"/>
          <p:cNvSpPr/>
          <p:nvPr/>
        </p:nvSpPr>
        <p:spPr>
          <a:xfrm>
            <a:off x="5166360" y="228600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Attribut / Colonne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9" name="Text 15"/>
          <p:cNvSpPr/>
          <p:nvPr/>
        </p:nvSpPr>
        <p:spPr>
          <a:xfrm>
            <a:off x="4572000" y="2880360"/>
            <a:ext cx="329040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Caractéristique d'une entité, typée. Devient une colonne en base.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0" name="Text 16"/>
          <p:cNvSpPr/>
          <p:nvPr/>
        </p:nvSpPr>
        <p:spPr>
          <a:xfrm>
            <a:off x="4572000" y="3474720"/>
            <a:ext cx="3290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pc="200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1" name="Text 17"/>
          <p:cNvSpPr/>
          <p:nvPr/>
        </p:nvSpPr>
        <p:spPr>
          <a:xfrm>
            <a:off x="4572000" y="365760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User.email (varchar) · Post.message (text)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2" name="Shape 18"/>
          <p:cNvSpPr/>
          <p:nvPr/>
        </p:nvSpPr>
        <p:spPr>
          <a:xfrm>
            <a:off x="8229600" y="2103120"/>
            <a:ext cx="3656160" cy="196452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3" name="Shape 19"/>
          <p:cNvSpPr/>
          <p:nvPr/>
        </p:nvSpPr>
        <p:spPr>
          <a:xfrm>
            <a:off x="8412480" y="2286000"/>
            <a:ext cx="501480" cy="50148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4" name="Text 20"/>
          <p:cNvSpPr/>
          <p:nvPr/>
        </p:nvSpPr>
        <p:spPr>
          <a:xfrm>
            <a:off x="8412480" y="2106000"/>
            <a:ext cx="573480" cy="82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◉ 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5" name="Text 21"/>
          <p:cNvSpPr/>
          <p:nvPr/>
        </p:nvSpPr>
        <p:spPr>
          <a:xfrm>
            <a:off x="9006840" y="228600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Clé primaire (PK)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6" name="Text 22"/>
          <p:cNvSpPr/>
          <p:nvPr/>
        </p:nvSpPr>
        <p:spPr>
          <a:xfrm>
            <a:off x="8412480" y="2880360"/>
            <a:ext cx="329040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Identifiant unique non-null d'une ligne. Une seule par table.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 23"/>
          <p:cNvSpPr/>
          <p:nvPr/>
        </p:nvSpPr>
        <p:spPr>
          <a:xfrm>
            <a:off x="8412480" y="3474720"/>
            <a:ext cx="3290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pc="200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 24"/>
          <p:cNvSpPr/>
          <p:nvPr/>
        </p:nvSpPr>
        <p:spPr>
          <a:xfrm>
            <a:off x="8412480" y="365760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User.id (uuid) · Post.id (cuid)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9" name="Shape 25"/>
          <p:cNvSpPr/>
          <p:nvPr/>
        </p:nvSpPr>
        <p:spPr>
          <a:xfrm>
            <a:off x="548640" y="4251960"/>
            <a:ext cx="3656160" cy="196452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0" name="Shape 26"/>
          <p:cNvSpPr/>
          <p:nvPr/>
        </p:nvSpPr>
        <p:spPr>
          <a:xfrm>
            <a:off x="731520" y="4434840"/>
            <a:ext cx="501480" cy="50148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1" name="Text 27"/>
          <p:cNvSpPr/>
          <p:nvPr/>
        </p:nvSpPr>
        <p:spPr>
          <a:xfrm>
            <a:off x="731520" y="4362840"/>
            <a:ext cx="501480" cy="63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⌬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2" name="Text 28"/>
          <p:cNvSpPr/>
          <p:nvPr/>
        </p:nvSpPr>
        <p:spPr>
          <a:xfrm>
            <a:off x="1325880" y="443484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Clé étrangère (FK)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 29"/>
          <p:cNvSpPr/>
          <p:nvPr/>
        </p:nvSpPr>
        <p:spPr>
          <a:xfrm>
            <a:off x="731520" y="5029200"/>
            <a:ext cx="329040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Référence la PK d'une autre table. Maintient l'intégrité référentielle.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4" name="Text 30"/>
          <p:cNvSpPr/>
          <p:nvPr/>
        </p:nvSpPr>
        <p:spPr>
          <a:xfrm>
            <a:off x="731520" y="5623560"/>
            <a:ext cx="3290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pc="200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5" name="Text 31"/>
          <p:cNvSpPr/>
          <p:nvPr/>
        </p:nvSpPr>
        <p:spPr>
          <a:xfrm>
            <a:off x="731520" y="580644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Post.userId → User.id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6" name="Shape 32"/>
          <p:cNvSpPr/>
          <p:nvPr/>
        </p:nvSpPr>
        <p:spPr>
          <a:xfrm>
            <a:off x="4389120" y="4251960"/>
            <a:ext cx="3656160" cy="196452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7" name="Shape 33"/>
          <p:cNvSpPr/>
          <p:nvPr/>
        </p:nvSpPr>
        <p:spPr>
          <a:xfrm>
            <a:off x="4572000" y="4434840"/>
            <a:ext cx="501480" cy="50148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8" name="Text 34"/>
          <p:cNvSpPr/>
          <p:nvPr/>
        </p:nvSpPr>
        <p:spPr>
          <a:xfrm>
            <a:off x="4572000" y="4362840"/>
            <a:ext cx="501480" cy="63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↔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9" name="Text 35"/>
          <p:cNvSpPr/>
          <p:nvPr/>
        </p:nvSpPr>
        <p:spPr>
          <a:xfrm>
            <a:off x="5166360" y="443484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Cardinalité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0" name="Text 36"/>
          <p:cNvSpPr/>
          <p:nvPr/>
        </p:nvSpPr>
        <p:spPr>
          <a:xfrm>
            <a:off x="4572000" y="5029200"/>
            <a:ext cx="329040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Nombre d'instances liées : 1-1, 1-N, N-N. Détermine la structure relationnelle.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1" name="Text 37"/>
          <p:cNvSpPr/>
          <p:nvPr/>
        </p:nvSpPr>
        <p:spPr>
          <a:xfrm>
            <a:off x="4572000" y="5623560"/>
            <a:ext cx="3290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pc="200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2" name="Text 38"/>
          <p:cNvSpPr/>
          <p:nvPr/>
        </p:nvSpPr>
        <p:spPr>
          <a:xfrm>
            <a:off x="4572000" y="580644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 1—N Post  ·  User N—N User via Friendship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3" name="Shape 39"/>
          <p:cNvSpPr/>
          <p:nvPr/>
        </p:nvSpPr>
        <p:spPr>
          <a:xfrm>
            <a:off x="8229600" y="4251960"/>
            <a:ext cx="3656160" cy="196452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4" name="Shape 40"/>
          <p:cNvSpPr/>
          <p:nvPr/>
        </p:nvSpPr>
        <p:spPr>
          <a:xfrm>
            <a:off x="8412480" y="4434840"/>
            <a:ext cx="501480" cy="501480"/>
          </a:xfrm>
          <a:prstGeom prst="ellipse">
            <a:avLst/>
          </a:prstGeom>
          <a:solidFill>
            <a:srgbClr val="EF4444">
              <a:alpha val="30000"/>
            </a:srgbClr>
          </a:solidFill>
          <a:ln w="1905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5" name="Text 41"/>
          <p:cNvSpPr/>
          <p:nvPr/>
        </p:nvSpPr>
        <p:spPr>
          <a:xfrm>
            <a:off x="8412480" y="4326840"/>
            <a:ext cx="501480" cy="66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▩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6" name="Text 42"/>
          <p:cNvSpPr/>
          <p:nvPr/>
        </p:nvSpPr>
        <p:spPr>
          <a:xfrm>
            <a:off x="9006840" y="443484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Index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7" name="Text 43"/>
          <p:cNvSpPr/>
          <p:nvPr/>
        </p:nvSpPr>
        <p:spPr>
          <a:xfrm>
            <a:off x="8412480" y="5029200"/>
            <a:ext cx="329040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Structure d'accès accélérant les lectures sur certaines colonnes.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8" name="Text 44"/>
          <p:cNvSpPr/>
          <p:nvPr/>
        </p:nvSpPr>
        <p:spPr>
          <a:xfrm>
            <a:off x="8412480" y="5623560"/>
            <a:ext cx="3290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pc="200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9" name="Text 45"/>
          <p:cNvSpPr/>
          <p:nvPr/>
        </p:nvSpPr>
        <p:spPr>
          <a:xfrm>
            <a:off x="8412480" y="580644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@@index([userId, createdAt]) sur Post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5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1" name="Text 4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2" name="Text 4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13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MERISE · MCD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4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Conceptuel de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5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6" name="Shape 3"/>
          <p:cNvSpPr/>
          <p:nvPr/>
        </p:nvSpPr>
        <p:spPr>
          <a:xfrm>
            <a:off x="548640" y="1691640"/>
            <a:ext cx="11062800" cy="82152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7" name="Text 4"/>
          <p:cNvSpPr/>
          <p:nvPr/>
        </p:nvSpPr>
        <p:spPr>
          <a:xfrm>
            <a:off x="777240" y="1737360"/>
            <a:ext cx="2741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Définition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8" name="Text 5"/>
          <p:cNvSpPr/>
          <p:nvPr/>
        </p:nvSpPr>
        <p:spPr>
          <a:xfrm>
            <a:off x="777240" y="2011680"/>
            <a:ext cx="106056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Représentation abstraite des entités métier et de leurs relations, indépendante de toute technologie. On y identifie les entités, leurs attributs et les cardinalités entre elles. C'est la vue "business" du domaine.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9" name="Shape 6"/>
          <p:cNvSpPr/>
          <p:nvPr/>
        </p:nvSpPr>
        <p:spPr>
          <a:xfrm>
            <a:off x="914400" y="3017520"/>
            <a:ext cx="2376000" cy="1461600"/>
          </a:xfrm>
          <a:prstGeom prst="roundRect">
            <a:avLst>
              <a:gd name="adj" fmla="val 5000"/>
            </a:avLst>
          </a:prstGeom>
          <a:solidFill>
            <a:srgbClr val="EC4899">
              <a:alpha val="25000"/>
            </a:srgbClr>
          </a:solidFill>
          <a:ln w="254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0" name="Text 7"/>
          <p:cNvSpPr/>
          <p:nvPr/>
        </p:nvSpPr>
        <p:spPr>
          <a:xfrm>
            <a:off x="914400" y="3108960"/>
            <a:ext cx="237600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USER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1" name="Shape 8"/>
          <p:cNvSpPr/>
          <p:nvPr/>
        </p:nvSpPr>
        <p:spPr>
          <a:xfrm>
            <a:off x="914400" y="3456360"/>
            <a:ext cx="2376000" cy="169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2" name="Text 9"/>
          <p:cNvSpPr/>
          <p:nvPr/>
        </p:nvSpPr>
        <p:spPr>
          <a:xfrm>
            <a:off x="1005840" y="3520440"/>
            <a:ext cx="219312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email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username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birthDate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3" name="Shape 10"/>
          <p:cNvSpPr/>
          <p:nvPr/>
        </p:nvSpPr>
        <p:spPr>
          <a:xfrm>
            <a:off x="5029200" y="3017520"/>
            <a:ext cx="2376000" cy="1461600"/>
          </a:xfrm>
          <a:prstGeom prst="roundRect">
            <a:avLst>
              <a:gd name="adj" fmla="val 5000"/>
            </a:avLst>
          </a:prstGeom>
          <a:solidFill>
            <a:srgbClr val="06B6D4">
              <a:alpha val="25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4" name="Text 11"/>
          <p:cNvSpPr/>
          <p:nvPr/>
        </p:nvSpPr>
        <p:spPr>
          <a:xfrm>
            <a:off x="5029200" y="3108960"/>
            <a:ext cx="237600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5" name="Shape 12"/>
          <p:cNvSpPr/>
          <p:nvPr/>
        </p:nvSpPr>
        <p:spPr>
          <a:xfrm>
            <a:off x="5029200" y="3456360"/>
            <a:ext cx="2376000" cy="169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6" name="Text 13"/>
          <p:cNvSpPr/>
          <p:nvPr/>
        </p:nvSpPr>
        <p:spPr>
          <a:xfrm>
            <a:off x="5120640" y="3520440"/>
            <a:ext cx="219312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7" name="Shape 14"/>
          <p:cNvSpPr/>
          <p:nvPr/>
        </p:nvSpPr>
        <p:spPr>
          <a:xfrm>
            <a:off x="9144000" y="3017520"/>
            <a:ext cx="2376000" cy="1461600"/>
          </a:xfrm>
          <a:prstGeom prst="roundRect">
            <a:avLst>
              <a:gd name="adj" fmla="val 5000"/>
            </a:avLst>
          </a:prstGeom>
          <a:solidFill>
            <a:srgbClr val="8B5CF6">
              <a:alpha val="25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8" name="Text 15"/>
          <p:cNvSpPr/>
          <p:nvPr/>
        </p:nvSpPr>
        <p:spPr>
          <a:xfrm>
            <a:off x="9144000" y="3108960"/>
            <a:ext cx="237600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COMMENT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9" name="Shape 16"/>
          <p:cNvSpPr/>
          <p:nvPr/>
        </p:nvSpPr>
        <p:spPr>
          <a:xfrm>
            <a:off x="9144000" y="3456360"/>
            <a:ext cx="2376000" cy="169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0" name="Text 17"/>
          <p:cNvSpPr/>
          <p:nvPr/>
        </p:nvSpPr>
        <p:spPr>
          <a:xfrm>
            <a:off x="9235440" y="3520440"/>
            <a:ext cx="219312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createdAt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1" name="Shape 18"/>
          <p:cNvSpPr/>
          <p:nvPr/>
        </p:nvSpPr>
        <p:spPr>
          <a:xfrm>
            <a:off x="3291840" y="3749040"/>
            <a:ext cx="173736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2" name="Text 19"/>
          <p:cNvSpPr/>
          <p:nvPr/>
        </p:nvSpPr>
        <p:spPr>
          <a:xfrm>
            <a:off x="3291840" y="3429000"/>
            <a:ext cx="17359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publie 1,N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3" name="Shape 20"/>
          <p:cNvSpPr/>
          <p:nvPr/>
        </p:nvSpPr>
        <p:spPr>
          <a:xfrm>
            <a:off x="7406640" y="3749040"/>
            <a:ext cx="173736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4" name="Text 21"/>
          <p:cNvSpPr/>
          <p:nvPr/>
        </p:nvSpPr>
        <p:spPr>
          <a:xfrm>
            <a:off x="7406640" y="3429000"/>
            <a:ext cx="17359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contient 1,N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5" name="Shape 22"/>
          <p:cNvSpPr/>
          <p:nvPr/>
        </p:nvSpPr>
        <p:spPr>
          <a:xfrm>
            <a:off x="548640" y="4846320"/>
            <a:ext cx="11062800" cy="1415880"/>
          </a:xfrm>
          <a:prstGeom prst="roundRect">
            <a:avLst>
              <a:gd name="adj" fmla="val 5161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6" name="Text 23"/>
          <p:cNvSpPr/>
          <p:nvPr/>
        </p:nvSpPr>
        <p:spPr>
          <a:xfrm>
            <a:off x="777240" y="4937760"/>
            <a:ext cx="10971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Lecture du MCD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7" name="Text 24"/>
          <p:cNvSpPr/>
          <p:nvPr/>
        </p:nvSpPr>
        <p:spPr>
          <a:xfrm>
            <a:off x="777240" y="5257800"/>
            <a:ext cx="1069704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Un 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User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publie 0..N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— un Post a exactement 1 auteur (cardinalité 1,1 côté Post)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Un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contient 0..N </a:t>
            </a: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Comment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, chaque Comment référence exactement 1 Post (parent)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Le MCD n'expose </a:t>
            </a:r>
            <a:r>
              <a:rPr lang="en-US" sz="1200" b="0" i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ni clés étrangères, ni types techniques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— uniquement le sens métier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7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9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0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14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MERISE · MLD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Logique de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4" name="Shape 3"/>
          <p:cNvSpPr/>
          <p:nvPr/>
        </p:nvSpPr>
        <p:spPr>
          <a:xfrm>
            <a:off x="548640" y="1691640"/>
            <a:ext cx="11062800" cy="82152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5" name="Text 4"/>
          <p:cNvSpPr/>
          <p:nvPr/>
        </p:nvSpPr>
        <p:spPr>
          <a:xfrm>
            <a:off x="777240" y="1737360"/>
            <a:ext cx="2741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Définition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6" name="Text 5"/>
          <p:cNvSpPr/>
          <p:nvPr/>
        </p:nvSpPr>
        <p:spPr>
          <a:xfrm>
            <a:off x="777240" y="2011680"/>
            <a:ext cx="106056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Traduction du MCD en schéma relationnel : on matérialise les relations par des clés étrangères, on choisit les types logiques (string, int, datetime) et on précise les contraintes (NOT NULL, UNIQUE).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7" name="Shape 6"/>
          <p:cNvSpPr/>
          <p:nvPr/>
        </p:nvSpPr>
        <p:spPr>
          <a:xfrm>
            <a:off x="548640" y="2697480"/>
            <a:ext cx="11062800" cy="2741760"/>
          </a:xfrm>
          <a:prstGeom prst="roundRect">
            <a:avLst>
              <a:gd name="adj" fmla="val 3333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8" name="Shape 7"/>
          <p:cNvSpPr/>
          <p:nvPr/>
        </p:nvSpPr>
        <p:spPr>
          <a:xfrm>
            <a:off x="777240" y="2880360"/>
            <a:ext cx="135720" cy="13572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9" name="Shape 8"/>
          <p:cNvSpPr/>
          <p:nvPr/>
        </p:nvSpPr>
        <p:spPr>
          <a:xfrm>
            <a:off x="960120" y="2880360"/>
            <a:ext cx="135720" cy="13572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0" name="Shape 9"/>
          <p:cNvSpPr/>
          <p:nvPr/>
        </p:nvSpPr>
        <p:spPr>
          <a:xfrm>
            <a:off x="1143000" y="2880360"/>
            <a:ext cx="135720" cy="13572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1" name="Text 10"/>
          <p:cNvSpPr/>
          <p:nvPr/>
        </p:nvSpPr>
        <p:spPr>
          <a:xfrm>
            <a:off x="1371600" y="27889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MLD — extrait (notation Prisma)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2" name="Text 11"/>
          <p:cNvSpPr/>
          <p:nvPr/>
        </p:nvSpPr>
        <p:spPr>
          <a:xfrm>
            <a:off x="777240" y="3154680"/>
            <a:ext cx="10605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USER  (id PK, email UNIQUE, username UNIQUE, password, birthDate,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3" name="Text 12"/>
          <p:cNvSpPr/>
          <p:nvPr/>
        </p:nvSpPr>
        <p:spPr>
          <a:xfrm>
            <a:off x="777240" y="3429000"/>
            <a:ext cx="10605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POST  (id PK, userId FK → USER.id, message, image?, visibility,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4" name="Text 13"/>
          <p:cNvSpPr/>
          <p:nvPr/>
        </p:nvSpPr>
        <p:spPr>
          <a:xfrm>
            <a:off x="777240" y="3703320"/>
            <a:ext cx="10605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COMMENT (id PK, postId FK → POST.id, userId FK → USER.id, message,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5" name="Text 14"/>
          <p:cNvSpPr/>
          <p:nvPr/>
        </p:nvSpPr>
        <p:spPr>
          <a:xfrm>
            <a:off x="777240" y="3977640"/>
            <a:ext cx="10605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REACTION (id PK, userId FK → USER.id, postId FK? → POST.id, type,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6" name="Text 15"/>
          <p:cNvSpPr/>
          <p:nvPr/>
        </p:nvSpPr>
        <p:spPr>
          <a:xfrm>
            <a:off x="777240" y="4251960"/>
            <a:ext cx="10605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   UNIQUE (userId, postId, type)   ← un user ne peut pas dupliquer une réaction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7" name="Text 16"/>
          <p:cNvSpPr/>
          <p:nvPr/>
        </p:nvSpPr>
        <p:spPr>
          <a:xfrm>
            <a:off x="777240" y="4526280"/>
            <a:ext cx="10605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STORY (id PK, userId FK → USER.id, image, expiresAt,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8" name="Text 17"/>
          <p:cNvSpPr/>
          <p:nvPr/>
        </p:nvSpPr>
        <p:spPr>
          <a:xfrm>
            <a:off x="777240" y="4800600"/>
            <a:ext cx="10605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FRIENDSHIP (id PK, requesterId FK → USER.id, addresseeId FK → USER.id, status)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9" name="Text 18"/>
          <p:cNvSpPr/>
          <p:nvPr/>
        </p:nvSpPr>
        <p:spPr>
          <a:xfrm>
            <a:off x="777240" y="5074920"/>
            <a:ext cx="10605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         UNIQUE (requesterId, addresseeId)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0" name="Shape 19"/>
          <p:cNvSpPr/>
          <p:nvPr/>
        </p:nvSpPr>
        <p:spPr>
          <a:xfrm>
            <a:off x="548640" y="5577840"/>
            <a:ext cx="11062800" cy="711720"/>
          </a:xfrm>
          <a:prstGeom prst="roundRect">
            <a:avLst>
              <a:gd name="adj" fmla="val 10256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1" name="Text 20"/>
          <p:cNvSpPr/>
          <p:nvPr/>
        </p:nvSpPr>
        <p:spPr>
          <a:xfrm>
            <a:off x="777240" y="5623560"/>
            <a:ext cx="106970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À retenir :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chaque relation N-1 du MCD devient une </a:t>
            </a: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FK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côté "plusieurs". Les relations N-N (ex. Friendship) deviennent une table d'association avec ses propres attributs.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0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3" name="Text 21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4" name="Text 22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15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MERISE · MPD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6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Physique de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7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8" name="Shape 3"/>
          <p:cNvSpPr/>
          <p:nvPr/>
        </p:nvSpPr>
        <p:spPr>
          <a:xfrm>
            <a:off x="548640" y="1691640"/>
            <a:ext cx="11062800" cy="82152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9" name="Text 4"/>
          <p:cNvSpPr/>
          <p:nvPr/>
        </p:nvSpPr>
        <p:spPr>
          <a:xfrm>
            <a:off x="777240" y="1737360"/>
            <a:ext cx="2741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Définition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0" name="Text 5"/>
          <p:cNvSpPr/>
          <p:nvPr/>
        </p:nvSpPr>
        <p:spPr>
          <a:xfrm>
            <a:off x="777240" y="2011680"/>
            <a:ext cx="106056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Implémentation SQL concrète du MLD pour un SGBD donné — ici PostgreSQL. On y choisit les types techniques (varchar(n), uuid, timestamptz), les contraintes (CHECK, ON DELETE), les index physiques.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1" name="Shape 6"/>
          <p:cNvSpPr/>
          <p:nvPr/>
        </p:nvSpPr>
        <p:spPr>
          <a:xfrm>
            <a:off x="548640" y="2697480"/>
            <a:ext cx="11062800" cy="3244680"/>
          </a:xfrm>
          <a:prstGeom prst="roundRect">
            <a:avLst>
              <a:gd name="adj" fmla="val 2817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2" name="Shape 7"/>
          <p:cNvSpPr/>
          <p:nvPr/>
        </p:nvSpPr>
        <p:spPr>
          <a:xfrm>
            <a:off x="777240" y="2880360"/>
            <a:ext cx="135720" cy="13572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3" name="Shape 8"/>
          <p:cNvSpPr/>
          <p:nvPr/>
        </p:nvSpPr>
        <p:spPr>
          <a:xfrm>
            <a:off x="960120" y="2880360"/>
            <a:ext cx="135720" cy="13572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4" name="Shape 9"/>
          <p:cNvSpPr/>
          <p:nvPr/>
        </p:nvSpPr>
        <p:spPr>
          <a:xfrm>
            <a:off x="1143000" y="2880360"/>
            <a:ext cx="135720" cy="13572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5" name="Text 10"/>
          <p:cNvSpPr/>
          <p:nvPr/>
        </p:nvSpPr>
        <p:spPr>
          <a:xfrm>
            <a:off x="1371600" y="27889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MPD — extrait DDL PostgreSQL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6" name="Text 11"/>
          <p:cNvSpPr/>
          <p:nvPr/>
        </p:nvSpPr>
        <p:spPr>
          <a:xfrm>
            <a:off x="777240" y="315468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CREATE TABLE "User" (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7" name="Text 12"/>
          <p:cNvSpPr/>
          <p:nvPr/>
        </p:nvSpPr>
        <p:spPr>
          <a:xfrm>
            <a:off x="777240" y="331920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id            TEXT        PRIMARY KEY DEFAULT cuid(),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8" name="Text 13"/>
          <p:cNvSpPr/>
          <p:nvPr/>
        </p:nvSpPr>
        <p:spPr>
          <a:xfrm>
            <a:off x="777240" y="348372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email         VARCHAR(255) NOT NULL UNIQUE,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9" name="Text 14"/>
          <p:cNvSpPr/>
          <p:nvPr/>
        </p:nvSpPr>
        <p:spPr>
          <a:xfrm>
            <a:off x="777240" y="364860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username      VARCHAR(50)  NOT NULL UNIQUE,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0" name="Text 15"/>
          <p:cNvSpPr/>
          <p:nvPr/>
        </p:nvSpPr>
        <p:spPr>
          <a:xfrm>
            <a:off x="777240" y="381312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password      VARCHAR(255) NOT NULL,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1" name="Text 16"/>
          <p:cNvSpPr/>
          <p:nvPr/>
        </p:nvSpPr>
        <p:spPr>
          <a:xfrm>
            <a:off x="777240" y="397764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visibility    "ProfileVisibility" NOT NULL DEFAULT 'PUBLIC',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2" name="Text 17"/>
          <p:cNvSpPr/>
          <p:nvPr/>
        </p:nvSpPr>
        <p:spPr>
          <a:xfrm>
            <a:off x="777240" y="414216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createdAt     TIMESTAMPTZ  NOT NULL DEFAULT NOW()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3" name="Text 18"/>
          <p:cNvSpPr/>
          <p:nvPr/>
        </p:nvSpPr>
        <p:spPr>
          <a:xfrm>
            <a:off x="777240" y="430668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4" name="Text 19"/>
          <p:cNvSpPr/>
          <p:nvPr/>
        </p:nvSpPr>
        <p:spPr>
          <a:xfrm>
            <a:off x="777240" y="447156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5" name="Text 20"/>
          <p:cNvSpPr/>
          <p:nvPr/>
        </p:nvSpPr>
        <p:spPr>
          <a:xfrm>
            <a:off x="777240" y="463608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CREATE TABLE "Post" (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6" name="Text 21"/>
          <p:cNvSpPr/>
          <p:nvPr/>
        </p:nvSpPr>
        <p:spPr>
          <a:xfrm>
            <a:off x="777240" y="480060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id          TEXT PRIMARY KEY DEFAULT cuid(),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7" name="Text 22"/>
          <p:cNvSpPr/>
          <p:nvPr/>
        </p:nvSpPr>
        <p:spPr>
          <a:xfrm>
            <a:off x="777240" y="496512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userId      TEXT NOT NULL REFERENCES "User"(id) ON DELETE CASCADE,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8" name="Text 23"/>
          <p:cNvSpPr/>
          <p:nvPr/>
        </p:nvSpPr>
        <p:spPr>
          <a:xfrm>
            <a:off x="777240" y="512964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message     TEXT NOT NULL CHECK (length(message) &lt;= 5000),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9" name="Text 24"/>
          <p:cNvSpPr/>
          <p:nvPr/>
        </p:nvSpPr>
        <p:spPr>
          <a:xfrm>
            <a:off x="777240" y="529452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visibility  "Visibility" NOT NULL DEFAULT 'PUBLIC',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0" name="Text 25"/>
          <p:cNvSpPr/>
          <p:nvPr/>
        </p:nvSpPr>
        <p:spPr>
          <a:xfrm>
            <a:off x="777240" y="545904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createdAt   TIMESTAMPTZ NOT NULL DEFAULT NOW()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1" name="Text 26"/>
          <p:cNvSpPr/>
          <p:nvPr/>
        </p:nvSpPr>
        <p:spPr>
          <a:xfrm>
            <a:off x="777240" y="562356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2" name="Text 27"/>
          <p:cNvSpPr/>
          <p:nvPr/>
        </p:nvSpPr>
        <p:spPr>
          <a:xfrm>
            <a:off x="777240" y="578808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CREATE INDEX idx_post_user_created ON "Post"(userId, createdAt DESC);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3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4" name="Text 28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5" name="Text 29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16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7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de données — 18 entités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8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39" name="Image 0" descr="/sessions/sweet-funny-newton/mnt/outputs/build/assets/erd.png"/>
          <p:cNvPicPr/>
          <p:nvPr/>
        </p:nvPicPr>
        <p:blipFill>
          <a:blip r:embed="rId1"/>
          <a:stretch/>
        </p:blipFill>
        <p:spPr>
          <a:xfrm>
            <a:off x="548640" y="1691640"/>
            <a:ext cx="7862400" cy="4570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0" name="Shape 3"/>
          <p:cNvSpPr/>
          <p:nvPr/>
        </p:nvSpPr>
        <p:spPr>
          <a:xfrm>
            <a:off x="8595360" y="1691640"/>
            <a:ext cx="3016080" cy="4570560"/>
          </a:xfrm>
          <a:prstGeom prst="roundRect">
            <a:avLst>
              <a:gd name="adj" fmla="val 24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1" name="Text 4"/>
          <p:cNvSpPr/>
          <p:nvPr/>
        </p:nvSpPr>
        <p:spPr>
          <a:xfrm>
            <a:off x="8732520" y="178308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Faits saillants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2" name="Text 5"/>
          <p:cNvSpPr/>
          <p:nvPr/>
        </p:nvSpPr>
        <p:spPr>
          <a:xfrm>
            <a:off x="8732520" y="2148840"/>
            <a:ext cx="9129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3" name="Text 6"/>
          <p:cNvSpPr/>
          <p:nvPr/>
        </p:nvSpPr>
        <p:spPr>
          <a:xfrm>
            <a:off x="9646920" y="2148840"/>
            <a:ext cx="19188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Modèles 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4" name="Text 7"/>
          <p:cNvSpPr/>
          <p:nvPr/>
        </p:nvSpPr>
        <p:spPr>
          <a:xfrm>
            <a:off x="8732520" y="2651760"/>
            <a:ext cx="9129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40+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5" name="Text 8"/>
          <p:cNvSpPr/>
          <p:nvPr/>
        </p:nvSpPr>
        <p:spPr>
          <a:xfrm>
            <a:off x="9646920" y="2651760"/>
            <a:ext cx="19188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Relations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6" name="Text 9"/>
          <p:cNvSpPr/>
          <p:nvPr/>
        </p:nvSpPr>
        <p:spPr>
          <a:xfrm>
            <a:off x="8732520" y="3154680"/>
            <a:ext cx="9129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7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7" name="Text 10"/>
          <p:cNvSpPr/>
          <p:nvPr/>
        </p:nvSpPr>
        <p:spPr>
          <a:xfrm>
            <a:off x="9646920" y="3154680"/>
            <a:ext cx="19188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Enums métier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8" name="Text 11"/>
          <p:cNvSpPr/>
          <p:nvPr/>
        </p:nvSpPr>
        <p:spPr>
          <a:xfrm>
            <a:off x="8732520" y="3657600"/>
            <a:ext cx="9129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35+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9" name="Text 12"/>
          <p:cNvSpPr/>
          <p:nvPr/>
        </p:nvSpPr>
        <p:spPr>
          <a:xfrm>
            <a:off x="9646920" y="3657600"/>
            <a:ext cx="19188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Attributs User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0" name="Shape 13"/>
          <p:cNvSpPr/>
          <p:nvPr/>
        </p:nvSpPr>
        <p:spPr>
          <a:xfrm>
            <a:off x="8732520" y="4297680"/>
            <a:ext cx="2741760" cy="1692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1" name="Text 14"/>
          <p:cNvSpPr/>
          <p:nvPr/>
        </p:nvSpPr>
        <p:spPr>
          <a:xfrm>
            <a:off x="8732520" y="4389120"/>
            <a:ext cx="2741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Entités centrales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2" name="Text 15"/>
          <p:cNvSpPr/>
          <p:nvPr/>
        </p:nvSpPr>
        <p:spPr>
          <a:xfrm>
            <a:off x="8732520" y="4663440"/>
            <a:ext cx="2741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User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3" name="Text 16"/>
          <p:cNvSpPr/>
          <p:nvPr/>
        </p:nvSpPr>
        <p:spPr>
          <a:xfrm>
            <a:off x="8732520" y="4919400"/>
            <a:ext cx="2741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Post / Comment / Reaction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4" name="Text 17"/>
          <p:cNvSpPr/>
          <p:nvPr/>
        </p:nvSpPr>
        <p:spPr>
          <a:xfrm>
            <a:off x="8732520" y="5175360"/>
            <a:ext cx="2741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Story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5" name="Text 18"/>
          <p:cNvSpPr/>
          <p:nvPr/>
        </p:nvSpPr>
        <p:spPr>
          <a:xfrm>
            <a:off x="8732520" y="5431680"/>
            <a:ext cx="2741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Conversation / 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6" name="Text 19"/>
          <p:cNvSpPr/>
          <p:nvPr/>
        </p:nvSpPr>
        <p:spPr>
          <a:xfrm>
            <a:off x="8732520" y="5687640"/>
            <a:ext cx="2741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Group / Event / Rsvp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7" name="Text 20"/>
          <p:cNvSpPr/>
          <p:nvPr/>
        </p:nvSpPr>
        <p:spPr>
          <a:xfrm>
            <a:off x="8732520" y="5943600"/>
            <a:ext cx="2741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Notification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58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9" name="Text 21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0" name="Text 22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17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au cœur du domaine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4" name="Shape 3"/>
          <p:cNvSpPr/>
          <p:nvPr/>
        </p:nvSpPr>
        <p:spPr>
          <a:xfrm>
            <a:off x="6538680" y="2926800"/>
            <a:ext cx="1735920" cy="1735920"/>
          </a:xfrm>
          <a:prstGeom prst="ellipse">
            <a:avLst/>
          </a:prstGeom>
          <a:solidFill>
            <a:srgbClr val="EC4899">
              <a:alpha val="50000"/>
            </a:srgbClr>
          </a:solidFill>
          <a:ln w="381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5" name="Text 4"/>
          <p:cNvSpPr/>
          <p:nvPr/>
        </p:nvSpPr>
        <p:spPr>
          <a:xfrm>
            <a:off x="6538680" y="2926800"/>
            <a:ext cx="1735920" cy="14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6" name="Text 5"/>
          <p:cNvSpPr/>
          <p:nvPr/>
        </p:nvSpPr>
        <p:spPr>
          <a:xfrm>
            <a:off x="6538680" y="3978360"/>
            <a:ext cx="17359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18 entités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40+ relations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7" name="Shape 6"/>
          <p:cNvSpPr/>
          <p:nvPr/>
        </p:nvSpPr>
        <p:spPr>
          <a:xfrm flipV="1">
            <a:off x="7407360" y="2167560"/>
            <a:ext cx="720" cy="740880"/>
          </a:xfrm>
          <a:prstGeom prst="line">
            <a:avLst/>
          </a:prstGeom>
          <a:ln w="19050">
            <a:solidFill>
              <a:srgbClr val="06B6D4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45000" rIns="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8" name="Shape 7"/>
          <p:cNvSpPr/>
          <p:nvPr/>
        </p:nvSpPr>
        <p:spPr>
          <a:xfrm>
            <a:off x="6904440" y="1143720"/>
            <a:ext cx="1004400" cy="1004400"/>
          </a:xfrm>
          <a:prstGeom prst="ellipse">
            <a:avLst/>
          </a:prstGeom>
          <a:solidFill>
            <a:srgbClr val="06B6D4">
              <a:alpha val="30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9" name="Text 8"/>
          <p:cNvSpPr/>
          <p:nvPr/>
        </p:nvSpPr>
        <p:spPr>
          <a:xfrm>
            <a:off x="6904440" y="1143720"/>
            <a:ext cx="10044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0" name="Text 9"/>
          <p:cNvSpPr/>
          <p:nvPr/>
        </p:nvSpPr>
        <p:spPr>
          <a:xfrm>
            <a:off x="6904440" y="1646640"/>
            <a:ext cx="1004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1" name="Text 10"/>
          <p:cNvSpPr/>
          <p:nvPr/>
        </p:nvSpPr>
        <p:spPr>
          <a:xfrm>
            <a:off x="6904440" y="1920960"/>
            <a:ext cx="1004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publie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2" name="Shape 11"/>
          <p:cNvSpPr/>
          <p:nvPr/>
        </p:nvSpPr>
        <p:spPr>
          <a:xfrm flipV="1">
            <a:off x="8034480" y="2644560"/>
            <a:ext cx="523440" cy="523440"/>
          </a:xfrm>
          <a:prstGeom prst="line">
            <a:avLst/>
          </a:prstGeom>
          <a:ln w="19050">
            <a:solidFill>
              <a:srgbClr val="8B5CF6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3" name="Shape 12"/>
          <p:cNvSpPr/>
          <p:nvPr/>
        </p:nvSpPr>
        <p:spPr>
          <a:xfrm>
            <a:off x="8424000" y="1773000"/>
            <a:ext cx="1004400" cy="1004400"/>
          </a:xfrm>
          <a:prstGeom prst="ellipse">
            <a:avLst/>
          </a:prstGeom>
          <a:solidFill>
            <a:srgbClr val="8B5CF6">
              <a:alpha val="30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4" name="Text 13"/>
          <p:cNvSpPr/>
          <p:nvPr/>
        </p:nvSpPr>
        <p:spPr>
          <a:xfrm>
            <a:off x="8424000" y="1773000"/>
            <a:ext cx="10044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◐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5" name="Text 14"/>
          <p:cNvSpPr/>
          <p:nvPr/>
        </p:nvSpPr>
        <p:spPr>
          <a:xfrm>
            <a:off x="8424000" y="2275920"/>
            <a:ext cx="1004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6" name="Text 15"/>
          <p:cNvSpPr/>
          <p:nvPr/>
        </p:nvSpPr>
        <p:spPr>
          <a:xfrm>
            <a:off x="8424000" y="2550240"/>
            <a:ext cx="1004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écrit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7" name="Shape 16"/>
          <p:cNvSpPr/>
          <p:nvPr/>
        </p:nvSpPr>
        <p:spPr>
          <a:xfrm>
            <a:off x="8294040" y="3795480"/>
            <a:ext cx="740880" cy="720"/>
          </a:xfrm>
          <a:prstGeom prst="line">
            <a:avLst/>
          </a:prstGeom>
          <a:ln w="19050">
            <a:solidFill>
              <a:srgbClr val="F59E0B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8" name="Shape 17"/>
          <p:cNvSpPr/>
          <p:nvPr/>
        </p:nvSpPr>
        <p:spPr>
          <a:xfrm>
            <a:off x="9053280" y="3292560"/>
            <a:ext cx="1004400" cy="1004400"/>
          </a:xfrm>
          <a:prstGeom prst="ellipse">
            <a:avLst/>
          </a:prstGeom>
          <a:solidFill>
            <a:srgbClr val="F59E0B">
              <a:alpha val="30000"/>
            </a:srgbClr>
          </a:solidFill>
          <a:ln w="254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9" name="Text 18"/>
          <p:cNvSpPr/>
          <p:nvPr/>
        </p:nvSpPr>
        <p:spPr>
          <a:xfrm>
            <a:off x="9053280" y="3292560"/>
            <a:ext cx="10044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♥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0" name="Text 19"/>
          <p:cNvSpPr/>
          <p:nvPr/>
        </p:nvSpPr>
        <p:spPr>
          <a:xfrm>
            <a:off x="9053280" y="3795480"/>
            <a:ext cx="1004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1" name="Text 20"/>
          <p:cNvSpPr/>
          <p:nvPr/>
        </p:nvSpPr>
        <p:spPr>
          <a:xfrm>
            <a:off x="9053280" y="4069800"/>
            <a:ext cx="1004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réagit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2" name="Shape 21"/>
          <p:cNvSpPr/>
          <p:nvPr/>
        </p:nvSpPr>
        <p:spPr>
          <a:xfrm>
            <a:off x="8034480" y="4422600"/>
            <a:ext cx="523440" cy="523440"/>
          </a:xfrm>
          <a:prstGeom prst="line">
            <a:avLst/>
          </a:prstGeom>
          <a:ln w="19050">
            <a:solidFill>
              <a:srgbClr val="10B981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3" name="Shape 22"/>
          <p:cNvSpPr/>
          <p:nvPr/>
        </p:nvSpPr>
        <p:spPr>
          <a:xfrm>
            <a:off x="8424000" y="4812120"/>
            <a:ext cx="1004400" cy="1004400"/>
          </a:xfrm>
          <a:prstGeom prst="ellipse">
            <a:avLst/>
          </a:prstGeom>
          <a:solidFill>
            <a:srgbClr val="10B981">
              <a:alpha val="30000"/>
            </a:srgbClr>
          </a:solidFill>
          <a:ln w="254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4" name="Text 23"/>
          <p:cNvSpPr/>
          <p:nvPr/>
        </p:nvSpPr>
        <p:spPr>
          <a:xfrm>
            <a:off x="8424000" y="4812120"/>
            <a:ext cx="10044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✉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5" name="Text 24"/>
          <p:cNvSpPr/>
          <p:nvPr/>
        </p:nvSpPr>
        <p:spPr>
          <a:xfrm>
            <a:off x="8424000" y="5315040"/>
            <a:ext cx="1004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6" name="Text 25"/>
          <p:cNvSpPr/>
          <p:nvPr/>
        </p:nvSpPr>
        <p:spPr>
          <a:xfrm>
            <a:off x="8424000" y="5589360"/>
            <a:ext cx="1004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envoie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7" name="Shape 26"/>
          <p:cNvSpPr/>
          <p:nvPr/>
        </p:nvSpPr>
        <p:spPr>
          <a:xfrm>
            <a:off x="7407360" y="4682160"/>
            <a:ext cx="720" cy="740880"/>
          </a:xfrm>
          <a:prstGeom prst="line">
            <a:avLst/>
          </a:prstGeom>
          <a:ln w="19050">
            <a:solidFill>
              <a:srgbClr val="F472B6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45000" rIns="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8" name="Shape 27"/>
          <p:cNvSpPr/>
          <p:nvPr/>
        </p:nvSpPr>
        <p:spPr>
          <a:xfrm>
            <a:off x="6904440" y="5441400"/>
            <a:ext cx="1004400" cy="1004400"/>
          </a:xfrm>
          <a:prstGeom prst="ellipse">
            <a:avLst/>
          </a:prstGeom>
          <a:solidFill>
            <a:srgbClr val="F472B6">
              <a:alpha val="30000"/>
            </a:srgbClr>
          </a:solidFill>
          <a:ln w="25400">
            <a:solidFill>
              <a:srgbClr val="F472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9" name="Text 28"/>
          <p:cNvSpPr/>
          <p:nvPr/>
        </p:nvSpPr>
        <p:spPr>
          <a:xfrm>
            <a:off x="6904440" y="5441400"/>
            <a:ext cx="10044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❖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0" name="Text 29"/>
          <p:cNvSpPr/>
          <p:nvPr/>
        </p:nvSpPr>
        <p:spPr>
          <a:xfrm>
            <a:off x="6904440" y="5944320"/>
            <a:ext cx="1004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Group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1" name="Text 30"/>
          <p:cNvSpPr/>
          <p:nvPr/>
        </p:nvSpPr>
        <p:spPr>
          <a:xfrm>
            <a:off x="6904440" y="6218640"/>
            <a:ext cx="1004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rejoint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2" name="Shape 31"/>
          <p:cNvSpPr/>
          <p:nvPr/>
        </p:nvSpPr>
        <p:spPr>
          <a:xfrm flipH="1">
            <a:off x="6256440" y="4422600"/>
            <a:ext cx="523440" cy="523440"/>
          </a:xfrm>
          <a:prstGeom prst="line">
            <a:avLst/>
          </a:prstGeom>
          <a:ln w="19050">
            <a:solidFill>
              <a:srgbClr val="EF4444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3" name="Shape 32"/>
          <p:cNvSpPr/>
          <p:nvPr/>
        </p:nvSpPr>
        <p:spPr>
          <a:xfrm>
            <a:off x="5384880" y="4812120"/>
            <a:ext cx="1004400" cy="1004400"/>
          </a:xfrm>
          <a:prstGeom prst="ellipse">
            <a:avLst/>
          </a:prstGeom>
          <a:solidFill>
            <a:srgbClr val="EF4444">
              <a:alpha val="30000"/>
            </a:srgbClr>
          </a:solidFill>
          <a:ln w="254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4" name="Text 33"/>
          <p:cNvSpPr/>
          <p:nvPr/>
        </p:nvSpPr>
        <p:spPr>
          <a:xfrm>
            <a:off x="5384880" y="4812120"/>
            <a:ext cx="10044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◷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5" name="Text 34"/>
          <p:cNvSpPr/>
          <p:nvPr/>
        </p:nvSpPr>
        <p:spPr>
          <a:xfrm>
            <a:off x="5384880" y="5315040"/>
            <a:ext cx="1004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Event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6" name="Text 35"/>
          <p:cNvSpPr/>
          <p:nvPr/>
        </p:nvSpPr>
        <p:spPr>
          <a:xfrm>
            <a:off x="5384880" y="5589360"/>
            <a:ext cx="1004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organise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7" name="Shape 36"/>
          <p:cNvSpPr/>
          <p:nvPr/>
        </p:nvSpPr>
        <p:spPr>
          <a:xfrm flipH="1">
            <a:off x="5779440" y="3795480"/>
            <a:ext cx="740880" cy="720"/>
          </a:xfrm>
          <a:prstGeom prst="line">
            <a:avLst/>
          </a:prstGeom>
          <a:ln w="19050">
            <a:solidFill>
              <a:srgbClr val="06B6D4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8" name="Shape 37"/>
          <p:cNvSpPr/>
          <p:nvPr/>
        </p:nvSpPr>
        <p:spPr>
          <a:xfrm>
            <a:off x="4755600" y="3292560"/>
            <a:ext cx="1004400" cy="1004400"/>
          </a:xfrm>
          <a:prstGeom prst="ellipse">
            <a:avLst/>
          </a:prstGeom>
          <a:solidFill>
            <a:srgbClr val="06B6D4">
              <a:alpha val="30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9" name="Text 38"/>
          <p:cNvSpPr/>
          <p:nvPr/>
        </p:nvSpPr>
        <p:spPr>
          <a:xfrm>
            <a:off x="4755600" y="3292560"/>
            <a:ext cx="10044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0" name="Text 39"/>
          <p:cNvSpPr/>
          <p:nvPr/>
        </p:nvSpPr>
        <p:spPr>
          <a:xfrm>
            <a:off x="4755600" y="3795480"/>
            <a:ext cx="1004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1" name="Text 40"/>
          <p:cNvSpPr/>
          <p:nvPr/>
        </p:nvSpPr>
        <p:spPr>
          <a:xfrm>
            <a:off x="4755600" y="4069800"/>
            <a:ext cx="1004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publie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2" name="Shape 41"/>
          <p:cNvSpPr/>
          <p:nvPr/>
        </p:nvSpPr>
        <p:spPr>
          <a:xfrm flipH="1" flipV="1">
            <a:off x="6256440" y="2644560"/>
            <a:ext cx="523440" cy="523440"/>
          </a:xfrm>
          <a:prstGeom prst="line">
            <a:avLst/>
          </a:prstGeom>
          <a:ln w="19050">
            <a:solidFill>
              <a:srgbClr val="8B5CF6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3" name="Shape 42"/>
          <p:cNvSpPr/>
          <p:nvPr/>
        </p:nvSpPr>
        <p:spPr>
          <a:xfrm>
            <a:off x="5384880" y="1773000"/>
            <a:ext cx="1004400" cy="1004400"/>
          </a:xfrm>
          <a:prstGeom prst="ellipse">
            <a:avLst/>
          </a:prstGeom>
          <a:solidFill>
            <a:srgbClr val="8B5CF6">
              <a:alpha val="30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4" name="Text 43"/>
          <p:cNvSpPr/>
          <p:nvPr/>
        </p:nvSpPr>
        <p:spPr>
          <a:xfrm>
            <a:off x="5384880" y="1773000"/>
            <a:ext cx="10044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◆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5" name="Text 44"/>
          <p:cNvSpPr/>
          <p:nvPr/>
        </p:nvSpPr>
        <p:spPr>
          <a:xfrm>
            <a:off x="5384880" y="2275920"/>
            <a:ext cx="1004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Notification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6" name="Text 45"/>
          <p:cNvSpPr/>
          <p:nvPr/>
        </p:nvSpPr>
        <p:spPr>
          <a:xfrm>
            <a:off x="5384880" y="2550240"/>
            <a:ext cx="1004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reçoit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7" name="Text 46"/>
          <p:cNvSpPr/>
          <p:nvPr/>
        </p:nvSpPr>
        <p:spPr>
          <a:xfrm>
            <a:off x="-914400" y="2549520"/>
            <a:ext cx="662868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Diagramme conceptuel simplifié</a:t>
            </a:r>
            <a:br>
              <a:rPr sz="1300"/>
            </a:br>
            <a:r>
              <a:rPr lang="en-US" sz="1300" b="1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toutes les entités du domaine gravitent autour de l'utilisateur,</a:t>
            </a:r>
            <a:br>
              <a:rPr sz="1300"/>
            </a:br>
            <a:r>
              <a:rPr lang="en-US" sz="1300" b="1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avec des cardinalités explicites côté Prisma.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0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9" name="Text 47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0" name="Text 48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18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Design system Konekt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4" name="Text 3"/>
          <p:cNvSpPr/>
          <p:nvPr/>
        </p:nvSpPr>
        <p:spPr>
          <a:xfrm>
            <a:off x="548640" y="1691640"/>
            <a:ext cx="36561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Palette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5" name="Shape 4"/>
          <p:cNvSpPr/>
          <p:nvPr/>
        </p:nvSpPr>
        <p:spPr>
          <a:xfrm>
            <a:off x="548640" y="2011680"/>
            <a:ext cx="1644480" cy="1004400"/>
          </a:xfrm>
          <a:prstGeom prst="roundRect">
            <a:avLst>
              <a:gd name="adj" fmla="val 7273"/>
            </a:avLst>
          </a:prstGeom>
          <a:solidFill>
            <a:srgbClr val="EC4899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6" name="Text 5"/>
          <p:cNvSpPr/>
          <p:nvPr/>
        </p:nvSpPr>
        <p:spPr>
          <a:xfrm>
            <a:off x="640080" y="246888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Primary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7" name="Text 6"/>
          <p:cNvSpPr/>
          <p:nvPr/>
        </p:nvSpPr>
        <p:spPr>
          <a:xfrm>
            <a:off x="640080" y="269748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ln>
                  <a:solidFill>
                    <a:srgbClr val="A1A1AA"/>
                  </a:solidFill>
                </a:ln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#EC4899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8" name="Shape 7"/>
          <p:cNvSpPr/>
          <p:nvPr/>
        </p:nvSpPr>
        <p:spPr>
          <a:xfrm>
            <a:off x="2377440" y="2011680"/>
            <a:ext cx="1644480" cy="1004400"/>
          </a:xfrm>
          <a:prstGeom prst="roundRect">
            <a:avLst>
              <a:gd name="adj" fmla="val 7273"/>
            </a:avLst>
          </a:prstGeom>
          <a:solidFill>
            <a:srgbClr val="1A1B23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9" name="Text 8"/>
          <p:cNvSpPr/>
          <p:nvPr/>
        </p:nvSpPr>
        <p:spPr>
          <a:xfrm>
            <a:off x="2468880" y="246888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Background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0" name="Text 9"/>
          <p:cNvSpPr/>
          <p:nvPr/>
        </p:nvSpPr>
        <p:spPr>
          <a:xfrm>
            <a:off x="2468880" y="269748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#1A1B23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1" name="Shape 10"/>
          <p:cNvSpPr/>
          <p:nvPr/>
        </p:nvSpPr>
        <p:spPr>
          <a:xfrm>
            <a:off x="4206240" y="2011680"/>
            <a:ext cx="1644480" cy="1004400"/>
          </a:xfrm>
          <a:prstGeom prst="roundRect">
            <a:avLst>
              <a:gd name="adj" fmla="val 7273"/>
            </a:avLst>
          </a:prstGeom>
          <a:solidFill>
            <a:srgbClr val="272730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2" name="Text 11"/>
          <p:cNvSpPr/>
          <p:nvPr/>
        </p:nvSpPr>
        <p:spPr>
          <a:xfrm>
            <a:off x="4297680" y="246888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Surface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3" name="Text 12"/>
          <p:cNvSpPr/>
          <p:nvPr/>
        </p:nvSpPr>
        <p:spPr>
          <a:xfrm>
            <a:off x="4297680" y="269748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#272730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4" name="Shape 13"/>
          <p:cNvSpPr/>
          <p:nvPr/>
        </p:nvSpPr>
        <p:spPr>
          <a:xfrm>
            <a:off x="548640" y="3291840"/>
            <a:ext cx="1644480" cy="100440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5" name="Text 14"/>
          <p:cNvSpPr/>
          <p:nvPr/>
        </p:nvSpPr>
        <p:spPr>
          <a:xfrm>
            <a:off x="640080" y="374904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A1B23"/>
                </a:solidFill>
                <a:effectLst/>
                <a:uFillTx/>
                <a:latin typeface="Calibri"/>
                <a:ea typeface="Calibri"/>
              </a:rPr>
              <a:t>Text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6" name="Text 15"/>
          <p:cNvSpPr/>
          <p:nvPr/>
        </p:nvSpPr>
        <p:spPr>
          <a:xfrm>
            <a:off x="640080" y="397764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A1B23"/>
                </a:solidFill>
                <a:effectLst/>
                <a:uFillTx/>
                <a:latin typeface="Consolas"/>
                <a:ea typeface="Consolas"/>
              </a:rPr>
              <a:t>#FFFFFF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7" name="Shape 16"/>
          <p:cNvSpPr/>
          <p:nvPr/>
        </p:nvSpPr>
        <p:spPr>
          <a:xfrm>
            <a:off x="2377440" y="3291840"/>
            <a:ext cx="1644480" cy="1004400"/>
          </a:xfrm>
          <a:prstGeom prst="roundRect">
            <a:avLst>
              <a:gd name="adj" fmla="val 7273"/>
            </a:avLst>
          </a:prstGeom>
          <a:solidFill>
            <a:srgbClr val="10B981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8" name="Text 17"/>
          <p:cNvSpPr/>
          <p:nvPr/>
        </p:nvSpPr>
        <p:spPr>
          <a:xfrm>
            <a:off x="2468880" y="374904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Success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9" name="Text 18"/>
          <p:cNvSpPr/>
          <p:nvPr/>
        </p:nvSpPr>
        <p:spPr>
          <a:xfrm>
            <a:off x="2468880" y="397764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ln>
                  <a:solidFill>
                    <a:srgbClr val="A1A1AA"/>
                  </a:solidFill>
                </a:ln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#10B981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0" name="Shape 19"/>
          <p:cNvSpPr/>
          <p:nvPr/>
        </p:nvSpPr>
        <p:spPr>
          <a:xfrm>
            <a:off x="4206240" y="3291840"/>
            <a:ext cx="1644480" cy="1004400"/>
          </a:xfrm>
          <a:prstGeom prst="roundRect">
            <a:avLst>
              <a:gd name="adj" fmla="val 7273"/>
            </a:avLst>
          </a:prstGeom>
          <a:solidFill>
            <a:srgbClr val="8B5CF6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1" name="Text 20"/>
          <p:cNvSpPr/>
          <p:nvPr/>
        </p:nvSpPr>
        <p:spPr>
          <a:xfrm>
            <a:off x="4297680" y="374904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Accent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2" name="Text 21"/>
          <p:cNvSpPr/>
          <p:nvPr/>
        </p:nvSpPr>
        <p:spPr>
          <a:xfrm>
            <a:off x="4297680" y="397764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ln>
                  <a:solidFill>
                    <a:srgbClr val="A1A1AA"/>
                  </a:solidFill>
                </a:ln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#8B5CF6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3" name="Text 22"/>
          <p:cNvSpPr/>
          <p:nvPr/>
        </p:nvSpPr>
        <p:spPr>
          <a:xfrm>
            <a:off x="6217920" y="1691640"/>
            <a:ext cx="5484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Typographie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4" name="Shape 23"/>
          <p:cNvSpPr/>
          <p:nvPr/>
        </p:nvSpPr>
        <p:spPr>
          <a:xfrm>
            <a:off x="6217920" y="2011680"/>
            <a:ext cx="5576400" cy="2650320"/>
          </a:xfrm>
          <a:prstGeom prst="roundRect">
            <a:avLst>
              <a:gd name="adj" fmla="val 275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5" name="Text 24"/>
          <p:cNvSpPr/>
          <p:nvPr/>
        </p:nvSpPr>
        <p:spPr>
          <a:xfrm>
            <a:off x="6355080" y="2103120"/>
            <a:ext cx="146160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Aa</a:t>
            </a:r>
            <a:endParaRPr lang="en-US" sz="6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6" name="Text 25"/>
          <p:cNvSpPr/>
          <p:nvPr/>
        </p:nvSpPr>
        <p:spPr>
          <a:xfrm>
            <a:off x="7772400" y="2194560"/>
            <a:ext cx="36561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Geist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7" name="Text 26"/>
          <p:cNvSpPr/>
          <p:nvPr/>
        </p:nvSpPr>
        <p:spPr>
          <a:xfrm>
            <a:off x="7772400" y="2606040"/>
            <a:ext cx="3656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Font family — Next.js next/font · variable, optimisée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8" name="Text 27"/>
          <p:cNvSpPr/>
          <p:nvPr/>
        </p:nvSpPr>
        <p:spPr>
          <a:xfrm>
            <a:off x="6355080" y="3246120"/>
            <a:ext cx="1827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H1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9" name="Text 28"/>
          <p:cNvSpPr/>
          <p:nvPr/>
        </p:nvSpPr>
        <p:spPr>
          <a:xfrm>
            <a:off x="8229600" y="324612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32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0" name="Text 29"/>
          <p:cNvSpPr/>
          <p:nvPr/>
        </p:nvSpPr>
        <p:spPr>
          <a:xfrm>
            <a:off x="6355080" y="3566160"/>
            <a:ext cx="1827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H2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1" name="Text 30"/>
          <p:cNvSpPr/>
          <p:nvPr/>
        </p:nvSpPr>
        <p:spPr>
          <a:xfrm>
            <a:off x="8229600" y="356616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24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2" name="Text 31"/>
          <p:cNvSpPr/>
          <p:nvPr/>
        </p:nvSpPr>
        <p:spPr>
          <a:xfrm>
            <a:off x="6355080" y="3886200"/>
            <a:ext cx="1827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Body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3" name="Text 32"/>
          <p:cNvSpPr/>
          <p:nvPr/>
        </p:nvSpPr>
        <p:spPr>
          <a:xfrm>
            <a:off x="8229600" y="388620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16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4" name="Text 33"/>
          <p:cNvSpPr/>
          <p:nvPr/>
        </p:nvSpPr>
        <p:spPr>
          <a:xfrm>
            <a:off x="6355080" y="4206240"/>
            <a:ext cx="1827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Small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5" name="Text 34"/>
          <p:cNvSpPr/>
          <p:nvPr/>
        </p:nvSpPr>
        <p:spPr>
          <a:xfrm>
            <a:off x="8229600" y="420624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12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6" name="Text 35"/>
          <p:cNvSpPr/>
          <p:nvPr/>
        </p:nvSpPr>
        <p:spPr>
          <a:xfrm>
            <a:off x="548640" y="4800600"/>
            <a:ext cx="5484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Composants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7" name="Shape 36"/>
          <p:cNvSpPr/>
          <p:nvPr/>
        </p:nvSpPr>
        <p:spPr>
          <a:xfrm>
            <a:off x="548640" y="5166360"/>
            <a:ext cx="867240" cy="2912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48" name="Text 37"/>
          <p:cNvSpPr/>
          <p:nvPr/>
        </p:nvSpPr>
        <p:spPr>
          <a:xfrm>
            <a:off x="548640" y="5166360"/>
            <a:ext cx="8672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Button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9" name="Shape 38"/>
          <p:cNvSpPr/>
          <p:nvPr/>
        </p:nvSpPr>
        <p:spPr>
          <a:xfrm>
            <a:off x="1508760" y="5166360"/>
            <a:ext cx="867240" cy="2912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0" name="Text 39"/>
          <p:cNvSpPr/>
          <p:nvPr/>
        </p:nvSpPr>
        <p:spPr>
          <a:xfrm>
            <a:off x="1508760" y="5166360"/>
            <a:ext cx="8672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Avatar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1" name="Shape 40"/>
          <p:cNvSpPr/>
          <p:nvPr/>
        </p:nvSpPr>
        <p:spPr>
          <a:xfrm>
            <a:off x="2468880" y="5166360"/>
            <a:ext cx="867240" cy="2912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2" name="Text 41"/>
          <p:cNvSpPr/>
          <p:nvPr/>
        </p:nvSpPr>
        <p:spPr>
          <a:xfrm>
            <a:off x="2468880" y="5166360"/>
            <a:ext cx="8672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Card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3" name="Shape 42"/>
          <p:cNvSpPr/>
          <p:nvPr/>
        </p:nvSpPr>
        <p:spPr>
          <a:xfrm>
            <a:off x="3429000" y="5166360"/>
            <a:ext cx="867240" cy="2912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4" name="Text 43"/>
          <p:cNvSpPr/>
          <p:nvPr/>
        </p:nvSpPr>
        <p:spPr>
          <a:xfrm>
            <a:off x="3429000" y="5166360"/>
            <a:ext cx="8672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Badge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5" name="Shape 44"/>
          <p:cNvSpPr/>
          <p:nvPr/>
        </p:nvSpPr>
        <p:spPr>
          <a:xfrm>
            <a:off x="4389120" y="5166360"/>
            <a:ext cx="867240" cy="2912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6" name="Text 45"/>
          <p:cNvSpPr/>
          <p:nvPr/>
        </p:nvSpPr>
        <p:spPr>
          <a:xfrm>
            <a:off x="4389120" y="5166360"/>
            <a:ext cx="8672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Dialog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7" name="Shape 46"/>
          <p:cNvSpPr/>
          <p:nvPr/>
        </p:nvSpPr>
        <p:spPr>
          <a:xfrm>
            <a:off x="548640" y="5550480"/>
            <a:ext cx="867240" cy="2912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8" name="Text 47"/>
          <p:cNvSpPr/>
          <p:nvPr/>
        </p:nvSpPr>
        <p:spPr>
          <a:xfrm>
            <a:off x="548640" y="5550480"/>
            <a:ext cx="8672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Input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9" name="Shape 48"/>
          <p:cNvSpPr/>
          <p:nvPr/>
        </p:nvSpPr>
        <p:spPr>
          <a:xfrm>
            <a:off x="1508760" y="5550480"/>
            <a:ext cx="867240" cy="2912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0" name="Text 49"/>
          <p:cNvSpPr/>
          <p:nvPr/>
        </p:nvSpPr>
        <p:spPr>
          <a:xfrm>
            <a:off x="1508760" y="5550480"/>
            <a:ext cx="8672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Tabs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1" name="Shape 50"/>
          <p:cNvSpPr/>
          <p:nvPr/>
        </p:nvSpPr>
        <p:spPr>
          <a:xfrm>
            <a:off x="2468880" y="5550480"/>
            <a:ext cx="867240" cy="2912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2" name="Text 51"/>
          <p:cNvSpPr/>
          <p:nvPr/>
        </p:nvSpPr>
        <p:spPr>
          <a:xfrm>
            <a:off x="2468880" y="5550480"/>
            <a:ext cx="8672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Switch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3" name="Shape 52"/>
          <p:cNvSpPr/>
          <p:nvPr/>
        </p:nvSpPr>
        <p:spPr>
          <a:xfrm>
            <a:off x="3429000" y="5550480"/>
            <a:ext cx="867240" cy="2912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4" name="Text 53"/>
          <p:cNvSpPr/>
          <p:nvPr/>
        </p:nvSpPr>
        <p:spPr>
          <a:xfrm>
            <a:off x="3429000" y="5550480"/>
            <a:ext cx="8672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Notification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5" name="Text 54"/>
          <p:cNvSpPr/>
          <p:nvPr/>
        </p:nvSpPr>
        <p:spPr>
          <a:xfrm>
            <a:off x="6217920" y="4800600"/>
            <a:ext cx="5484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Breakpoints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6" name="Shape 55"/>
          <p:cNvSpPr/>
          <p:nvPr/>
        </p:nvSpPr>
        <p:spPr>
          <a:xfrm>
            <a:off x="6217920" y="5120640"/>
            <a:ext cx="5576400" cy="1004400"/>
          </a:xfrm>
          <a:prstGeom prst="roundRect">
            <a:avLst>
              <a:gd name="adj" fmla="val 727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7" name="Text 56"/>
          <p:cNvSpPr/>
          <p:nvPr/>
        </p:nvSpPr>
        <p:spPr>
          <a:xfrm>
            <a:off x="6355080" y="5257800"/>
            <a:ext cx="1735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▢ Mobile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8" name="Text 57"/>
          <p:cNvSpPr/>
          <p:nvPr/>
        </p:nvSpPr>
        <p:spPr>
          <a:xfrm>
            <a:off x="6355080" y="5577840"/>
            <a:ext cx="17359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&lt; 640px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9" name="Text 58"/>
          <p:cNvSpPr/>
          <p:nvPr/>
        </p:nvSpPr>
        <p:spPr>
          <a:xfrm>
            <a:off x="8183880" y="5257800"/>
            <a:ext cx="1735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▣ Tablet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0" name="Text 59"/>
          <p:cNvSpPr/>
          <p:nvPr/>
        </p:nvSpPr>
        <p:spPr>
          <a:xfrm>
            <a:off x="8183880" y="5577840"/>
            <a:ext cx="17359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640 – 1024px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1" name="Text 60"/>
          <p:cNvSpPr/>
          <p:nvPr/>
        </p:nvSpPr>
        <p:spPr>
          <a:xfrm>
            <a:off x="10012680" y="5257800"/>
            <a:ext cx="1735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▤ Desktop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2" name="Text 61"/>
          <p:cNvSpPr/>
          <p:nvPr/>
        </p:nvSpPr>
        <p:spPr>
          <a:xfrm>
            <a:off x="10012680" y="5577840"/>
            <a:ext cx="17359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&gt; 1024px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7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4" name="Text 62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5" name="Text 63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19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AUTHENTIFICATION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7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Login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8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79" name="Shape 3"/>
          <p:cNvSpPr/>
          <p:nvPr/>
        </p:nvSpPr>
        <p:spPr>
          <a:xfrm>
            <a:off x="548640" y="1691640"/>
            <a:ext cx="5027760" cy="45705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80" name="Image 0" descr="/sessions/sweet-funny-newton/mnt/outputs/build/assets/Mockups_Login.png"/>
          <p:cNvPicPr/>
          <p:nvPr/>
        </p:nvPicPr>
        <p:blipFill>
          <a:blip r:embed="rId1"/>
          <a:stretch/>
        </p:blipFill>
        <p:spPr>
          <a:xfrm>
            <a:off x="1603440" y="1874520"/>
            <a:ext cx="3101400" cy="4250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1" name="Text 4"/>
          <p:cNvSpPr/>
          <p:nvPr/>
        </p:nvSpPr>
        <p:spPr>
          <a:xfrm>
            <a:off x="5852160" y="1691640"/>
            <a:ext cx="575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Login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2" name="Shape 5"/>
          <p:cNvSpPr/>
          <p:nvPr/>
        </p:nvSpPr>
        <p:spPr>
          <a:xfrm>
            <a:off x="5852160" y="2194560"/>
            <a:ext cx="228456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3" name="Text 6"/>
          <p:cNvSpPr/>
          <p:nvPr/>
        </p:nvSpPr>
        <p:spPr>
          <a:xfrm>
            <a:off x="5852160" y="2194560"/>
            <a:ext cx="2284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AUTHENTIFICATION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4" name="Text 7"/>
          <p:cNvSpPr/>
          <p:nvPr/>
        </p:nvSpPr>
        <p:spPr>
          <a:xfrm>
            <a:off x="5852160" y="2651760"/>
            <a:ext cx="57592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d'entrée Konekt — design soigné, validation côté client par Zod, lien vers OAuth Google. Pas de fuite d'information sur l'existence d'un compte côté serveur.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5" name="Text 8"/>
          <p:cNvSpPr/>
          <p:nvPr/>
        </p:nvSpPr>
        <p:spPr>
          <a:xfrm>
            <a:off x="5852160" y="4114800"/>
            <a:ext cx="5759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6" name="Shape 9"/>
          <p:cNvSpPr/>
          <p:nvPr/>
        </p:nvSpPr>
        <p:spPr>
          <a:xfrm>
            <a:off x="585216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7" name="Shape 10"/>
          <p:cNvSpPr/>
          <p:nvPr/>
        </p:nvSpPr>
        <p:spPr>
          <a:xfrm>
            <a:off x="585216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8" name="Text 11"/>
          <p:cNvSpPr/>
          <p:nvPr/>
        </p:nvSpPr>
        <p:spPr>
          <a:xfrm>
            <a:off x="601668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9" name="Text 12"/>
          <p:cNvSpPr/>
          <p:nvPr/>
        </p:nvSpPr>
        <p:spPr>
          <a:xfrm>
            <a:off x="601668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jose + secret applicatif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0" name="Shape 13"/>
          <p:cNvSpPr/>
          <p:nvPr/>
        </p:nvSpPr>
        <p:spPr>
          <a:xfrm>
            <a:off x="877824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1" name="Shape 14"/>
          <p:cNvSpPr/>
          <p:nvPr/>
        </p:nvSpPr>
        <p:spPr>
          <a:xfrm>
            <a:off x="877824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2" name="Text 15"/>
          <p:cNvSpPr/>
          <p:nvPr/>
        </p:nvSpPr>
        <p:spPr>
          <a:xfrm>
            <a:off x="894276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Cookie HttpOnly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3" name="Text 16"/>
          <p:cNvSpPr/>
          <p:nvPr/>
        </p:nvSpPr>
        <p:spPr>
          <a:xfrm>
            <a:off x="894276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SameSite=Lax · pas d'accès 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4" name="Shape 17"/>
          <p:cNvSpPr/>
          <p:nvPr/>
        </p:nvSpPr>
        <p:spPr>
          <a:xfrm>
            <a:off x="585216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5" name="Shape 18"/>
          <p:cNvSpPr/>
          <p:nvPr/>
        </p:nvSpPr>
        <p:spPr>
          <a:xfrm>
            <a:off x="585216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6" name="Text 19"/>
          <p:cNvSpPr/>
          <p:nvPr/>
        </p:nvSpPr>
        <p:spPr>
          <a:xfrm>
            <a:off x="601668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7" name="Text 20"/>
          <p:cNvSpPr/>
          <p:nvPr/>
        </p:nvSpPr>
        <p:spPr>
          <a:xfrm>
            <a:off x="601668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8" name="Shape 21"/>
          <p:cNvSpPr/>
          <p:nvPr/>
        </p:nvSpPr>
        <p:spPr>
          <a:xfrm>
            <a:off x="877824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9" name="Shape 22"/>
          <p:cNvSpPr/>
          <p:nvPr/>
        </p:nvSpPr>
        <p:spPr>
          <a:xfrm>
            <a:off x="877824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0" name="Text 23"/>
          <p:cNvSpPr/>
          <p:nvPr/>
        </p:nvSpPr>
        <p:spPr>
          <a:xfrm>
            <a:off x="894276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1" name="Text 24"/>
          <p:cNvSpPr/>
          <p:nvPr/>
        </p:nvSpPr>
        <p:spPr>
          <a:xfrm>
            <a:off x="894276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schéma partagé client /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02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3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4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20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VUE PRINCIPALE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6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Home Feed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7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8" name="Shape 3"/>
          <p:cNvSpPr/>
          <p:nvPr/>
        </p:nvSpPr>
        <p:spPr>
          <a:xfrm>
            <a:off x="548640" y="1691640"/>
            <a:ext cx="5027760" cy="45705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09" name="Image 0" descr="/sessions/sweet-funny-newton/mnt/outputs/build/assets/Mockups_Home_Feed.png"/>
          <p:cNvPicPr/>
          <p:nvPr/>
        </p:nvPicPr>
        <p:blipFill>
          <a:blip r:embed="rId1"/>
          <a:stretch/>
        </p:blipFill>
        <p:spPr>
          <a:xfrm>
            <a:off x="731520" y="2825280"/>
            <a:ext cx="4844880" cy="234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0" name="Text 4"/>
          <p:cNvSpPr/>
          <p:nvPr/>
        </p:nvSpPr>
        <p:spPr>
          <a:xfrm>
            <a:off x="5852160" y="1691640"/>
            <a:ext cx="575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Home Feed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1" name="Shape 5"/>
          <p:cNvSpPr/>
          <p:nvPr/>
        </p:nvSpPr>
        <p:spPr>
          <a:xfrm>
            <a:off x="5852160" y="2194560"/>
            <a:ext cx="228456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2" name="Text 6"/>
          <p:cNvSpPr/>
          <p:nvPr/>
        </p:nvSpPr>
        <p:spPr>
          <a:xfrm>
            <a:off x="5852160" y="2194560"/>
            <a:ext cx="2284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VUE PRINCIPALE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3" name="Text 7"/>
          <p:cNvSpPr/>
          <p:nvPr/>
        </p:nvSpPr>
        <p:spPr>
          <a:xfrm>
            <a:off x="5852160" y="2651760"/>
            <a:ext cx="57592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 feed est le cœur de Konekt : posts amis, stories en haut, suggestions de profils, infinite scroll, image full-width. Tout est servi par /api/private/post avec pagination cursor-based.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4" name="Text 8"/>
          <p:cNvSpPr/>
          <p:nvPr/>
        </p:nvSpPr>
        <p:spPr>
          <a:xfrm>
            <a:off x="5852160" y="4114800"/>
            <a:ext cx="5759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5" name="Shape 9"/>
          <p:cNvSpPr/>
          <p:nvPr/>
        </p:nvSpPr>
        <p:spPr>
          <a:xfrm>
            <a:off x="585216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6" name="Shape 10"/>
          <p:cNvSpPr/>
          <p:nvPr/>
        </p:nvSpPr>
        <p:spPr>
          <a:xfrm>
            <a:off x="585216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7" name="Text 11"/>
          <p:cNvSpPr/>
          <p:nvPr/>
        </p:nvSpPr>
        <p:spPr>
          <a:xfrm>
            <a:off x="601668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Infinite scroll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8" name="Text 12"/>
          <p:cNvSpPr/>
          <p:nvPr/>
        </p:nvSpPr>
        <p:spPr>
          <a:xfrm>
            <a:off x="601668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Pagination cursor-based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9" name="Shape 13"/>
          <p:cNvSpPr/>
          <p:nvPr/>
        </p:nvSpPr>
        <p:spPr>
          <a:xfrm>
            <a:off x="877824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0" name="Shape 14"/>
          <p:cNvSpPr/>
          <p:nvPr/>
        </p:nvSpPr>
        <p:spPr>
          <a:xfrm>
            <a:off x="877824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1" name="Text 15"/>
          <p:cNvSpPr/>
          <p:nvPr/>
        </p:nvSpPr>
        <p:spPr>
          <a:xfrm>
            <a:off x="894276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ephemeral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2" name="Text 16"/>
          <p:cNvSpPr/>
          <p:nvPr/>
        </p:nvSpPr>
        <p:spPr>
          <a:xfrm>
            <a:off x="894276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24h, polling SSE pour le statut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3" name="Shape 17"/>
          <p:cNvSpPr/>
          <p:nvPr/>
        </p:nvSpPr>
        <p:spPr>
          <a:xfrm>
            <a:off x="585216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4" name="Shape 18"/>
          <p:cNvSpPr/>
          <p:nvPr/>
        </p:nvSpPr>
        <p:spPr>
          <a:xfrm>
            <a:off x="585216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5" name="Text 19"/>
          <p:cNvSpPr/>
          <p:nvPr/>
        </p:nvSpPr>
        <p:spPr>
          <a:xfrm>
            <a:off x="601668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inline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6" name="Text 20"/>
          <p:cNvSpPr/>
          <p:nvPr/>
        </p:nvSpPr>
        <p:spPr>
          <a:xfrm>
            <a:off x="601668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Optimistic UI · doublon impossible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7" name="Shape 21"/>
          <p:cNvSpPr/>
          <p:nvPr/>
        </p:nvSpPr>
        <p:spPr>
          <a:xfrm>
            <a:off x="877824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8" name="Shape 22"/>
          <p:cNvSpPr/>
          <p:nvPr/>
        </p:nvSpPr>
        <p:spPr>
          <a:xfrm>
            <a:off x="877824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9" name="Text 23"/>
          <p:cNvSpPr/>
          <p:nvPr/>
        </p:nvSpPr>
        <p:spPr>
          <a:xfrm>
            <a:off x="894276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 optimisée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0" name="Text 24"/>
          <p:cNvSpPr/>
          <p:nvPr/>
        </p:nvSpPr>
        <p:spPr>
          <a:xfrm>
            <a:off x="894276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Next/Image + Cloudinary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31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2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3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21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IDENTITÉ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5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Profil utilisateur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6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37" name="Shape 3"/>
          <p:cNvSpPr/>
          <p:nvPr/>
        </p:nvSpPr>
        <p:spPr>
          <a:xfrm>
            <a:off x="548640" y="1691640"/>
            <a:ext cx="5027760" cy="45705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38" name="Image 0" descr="/sessions/sweet-funny-newton/mnt/outputs/build/assets/Mockups_User.png"/>
          <p:cNvPicPr/>
          <p:nvPr/>
        </p:nvPicPr>
        <p:blipFill>
          <a:blip r:embed="rId1"/>
          <a:stretch/>
        </p:blipFill>
        <p:spPr>
          <a:xfrm>
            <a:off x="731520" y="2825280"/>
            <a:ext cx="4844880" cy="234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9" name="Text 4"/>
          <p:cNvSpPr/>
          <p:nvPr/>
        </p:nvSpPr>
        <p:spPr>
          <a:xfrm>
            <a:off x="5852160" y="1691640"/>
            <a:ext cx="575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 utilisateur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0" name="Shape 5"/>
          <p:cNvSpPr/>
          <p:nvPr/>
        </p:nvSpPr>
        <p:spPr>
          <a:xfrm>
            <a:off x="5852160" y="2194560"/>
            <a:ext cx="228456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1" name="Text 6"/>
          <p:cNvSpPr/>
          <p:nvPr/>
        </p:nvSpPr>
        <p:spPr>
          <a:xfrm>
            <a:off x="5852160" y="2194560"/>
            <a:ext cx="2284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IDENTITÉ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2" name="Text 7"/>
          <p:cNvSpPr/>
          <p:nvPr/>
        </p:nvSpPr>
        <p:spPr>
          <a:xfrm>
            <a:off x="5852160" y="2651760"/>
            <a:ext cx="57592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 public ou privé selon ProfileVisibility. Compteurs followers / following / posts, gradient personnalisable, tabs Posts / Photos / Vidéos, action Suivre / Modifier.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3" name="Text 8"/>
          <p:cNvSpPr/>
          <p:nvPr/>
        </p:nvSpPr>
        <p:spPr>
          <a:xfrm>
            <a:off x="5852160" y="4114800"/>
            <a:ext cx="5759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4" name="Shape 9"/>
          <p:cNvSpPr/>
          <p:nvPr/>
        </p:nvSpPr>
        <p:spPr>
          <a:xfrm>
            <a:off x="585216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5" name="Shape 10"/>
          <p:cNvSpPr/>
          <p:nvPr/>
        </p:nvSpPr>
        <p:spPr>
          <a:xfrm>
            <a:off x="585216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6" name="Text 11"/>
          <p:cNvSpPr/>
          <p:nvPr/>
        </p:nvSpPr>
        <p:spPr>
          <a:xfrm>
            <a:off x="601668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PUBLIC/PRIVATE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7" name="Text 12"/>
          <p:cNvSpPr/>
          <p:nvPr/>
        </p:nvSpPr>
        <p:spPr>
          <a:xfrm>
            <a:off x="601668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Enum Prisma respecté côté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8" name="Shape 13"/>
          <p:cNvSpPr/>
          <p:nvPr/>
        </p:nvSpPr>
        <p:spPr>
          <a:xfrm>
            <a:off x="877824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9" name="Shape 14"/>
          <p:cNvSpPr/>
          <p:nvPr/>
        </p:nvSpPr>
        <p:spPr>
          <a:xfrm>
            <a:off x="877824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0" name="Text 15"/>
          <p:cNvSpPr/>
          <p:nvPr/>
        </p:nvSpPr>
        <p:spPr>
          <a:xfrm>
            <a:off x="894276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Followers / Following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1" name="Text 16"/>
          <p:cNvSpPr/>
          <p:nvPr/>
        </p:nvSpPr>
        <p:spPr>
          <a:xfrm>
            <a:off x="894276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Friendship 2-way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2" name="Shape 17"/>
          <p:cNvSpPr/>
          <p:nvPr/>
        </p:nvSpPr>
        <p:spPr>
          <a:xfrm>
            <a:off x="585216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3" name="Shape 18"/>
          <p:cNvSpPr/>
          <p:nvPr/>
        </p:nvSpPr>
        <p:spPr>
          <a:xfrm>
            <a:off x="585216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4" name="Text 19"/>
          <p:cNvSpPr/>
          <p:nvPr/>
        </p:nvSpPr>
        <p:spPr>
          <a:xfrm>
            <a:off x="601668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Tabs dynamiques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5" name="Text 20"/>
          <p:cNvSpPr/>
          <p:nvPr/>
        </p:nvSpPr>
        <p:spPr>
          <a:xfrm>
            <a:off x="601668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Posts / Photos / Vidéos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6" name="Shape 21"/>
          <p:cNvSpPr/>
          <p:nvPr/>
        </p:nvSpPr>
        <p:spPr>
          <a:xfrm>
            <a:off x="877824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7" name="Shape 22"/>
          <p:cNvSpPr/>
          <p:nvPr/>
        </p:nvSpPr>
        <p:spPr>
          <a:xfrm>
            <a:off x="877824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8" name="Text 23"/>
          <p:cNvSpPr/>
          <p:nvPr/>
        </p:nvSpPr>
        <p:spPr>
          <a:xfrm>
            <a:off x="894276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Edit profile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9" name="Text 24"/>
          <p:cNvSpPr/>
          <p:nvPr/>
        </p:nvSpPr>
        <p:spPr>
          <a:xfrm>
            <a:off x="894276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 Action + Cloudinary upload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60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1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2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22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PUBLICATION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4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Création de post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5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66" name="Shape 3"/>
          <p:cNvSpPr/>
          <p:nvPr/>
        </p:nvSpPr>
        <p:spPr>
          <a:xfrm>
            <a:off x="548640" y="1691640"/>
            <a:ext cx="5027760" cy="45705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67" name="Image 0" descr="/sessions/sweet-funny-newton/mnt/outputs/build/assets/Mockups_Create_Post.png"/>
          <p:cNvPicPr/>
          <p:nvPr/>
        </p:nvPicPr>
        <p:blipFill>
          <a:blip r:embed="rId1"/>
          <a:stretch/>
        </p:blipFill>
        <p:spPr>
          <a:xfrm>
            <a:off x="731520" y="2825280"/>
            <a:ext cx="4844880" cy="234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8" name="Text 4"/>
          <p:cNvSpPr/>
          <p:nvPr/>
        </p:nvSpPr>
        <p:spPr>
          <a:xfrm>
            <a:off x="5852160" y="1691640"/>
            <a:ext cx="575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Création de post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9" name="Shape 5"/>
          <p:cNvSpPr/>
          <p:nvPr/>
        </p:nvSpPr>
        <p:spPr>
          <a:xfrm>
            <a:off x="5852160" y="2194560"/>
            <a:ext cx="228456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0" name="Text 6"/>
          <p:cNvSpPr/>
          <p:nvPr/>
        </p:nvSpPr>
        <p:spPr>
          <a:xfrm>
            <a:off x="5852160" y="2194560"/>
            <a:ext cx="2284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PUBLICATION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1" name="Text 7"/>
          <p:cNvSpPr/>
          <p:nvPr/>
        </p:nvSpPr>
        <p:spPr>
          <a:xfrm>
            <a:off x="5852160" y="2651760"/>
            <a:ext cx="57592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Composer riche avec preview, upload Cloudinary, choix de visibilité (PUBLIC / FRIENDS / PRIVATE), validation Zod côté serveur, persistance Prisma puis broadcast SSE.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2" name="Text 8"/>
          <p:cNvSpPr/>
          <p:nvPr/>
        </p:nvSpPr>
        <p:spPr>
          <a:xfrm>
            <a:off x="5852160" y="4114800"/>
            <a:ext cx="5759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3" name="Shape 9"/>
          <p:cNvSpPr/>
          <p:nvPr/>
        </p:nvSpPr>
        <p:spPr>
          <a:xfrm>
            <a:off x="585216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4" name="Shape 10"/>
          <p:cNvSpPr/>
          <p:nvPr/>
        </p:nvSpPr>
        <p:spPr>
          <a:xfrm>
            <a:off x="585216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5" name="Text 11"/>
          <p:cNvSpPr/>
          <p:nvPr/>
        </p:nvSpPr>
        <p:spPr>
          <a:xfrm>
            <a:off x="601668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Upload 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6" name="Text 12"/>
          <p:cNvSpPr/>
          <p:nvPr/>
        </p:nvSpPr>
        <p:spPr>
          <a:xfrm>
            <a:off x="601668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Direct upload signé côté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7" name="Shape 13"/>
          <p:cNvSpPr/>
          <p:nvPr/>
        </p:nvSpPr>
        <p:spPr>
          <a:xfrm>
            <a:off x="877824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8" name="Shape 14"/>
          <p:cNvSpPr/>
          <p:nvPr/>
        </p:nvSpPr>
        <p:spPr>
          <a:xfrm>
            <a:off x="877824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9" name="Text 15"/>
          <p:cNvSpPr/>
          <p:nvPr/>
        </p:nvSpPr>
        <p:spPr>
          <a:xfrm>
            <a:off x="894276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granulaire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0" name="Text 16"/>
          <p:cNvSpPr/>
          <p:nvPr/>
        </p:nvSpPr>
        <p:spPr>
          <a:xfrm>
            <a:off x="894276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3 niveaux + check au fetch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1" name="Shape 17"/>
          <p:cNvSpPr/>
          <p:nvPr/>
        </p:nvSpPr>
        <p:spPr>
          <a:xfrm>
            <a:off x="585216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2" name="Shape 18"/>
          <p:cNvSpPr/>
          <p:nvPr/>
        </p:nvSpPr>
        <p:spPr>
          <a:xfrm>
            <a:off x="585216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3" name="Text 19"/>
          <p:cNvSpPr/>
          <p:nvPr/>
        </p:nvSpPr>
        <p:spPr>
          <a:xfrm>
            <a:off x="601668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4" name="Text 20"/>
          <p:cNvSpPr/>
          <p:nvPr/>
        </p:nvSpPr>
        <p:spPr>
          <a:xfrm>
            <a:off x="601668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Limite taille, type MIME, longueur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5" name="Shape 21"/>
          <p:cNvSpPr/>
          <p:nvPr/>
        </p:nvSpPr>
        <p:spPr>
          <a:xfrm>
            <a:off x="877824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6" name="Shape 22"/>
          <p:cNvSpPr/>
          <p:nvPr/>
        </p:nvSpPr>
        <p:spPr>
          <a:xfrm>
            <a:off x="877824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7" name="Text 23"/>
          <p:cNvSpPr/>
          <p:nvPr/>
        </p:nvSpPr>
        <p:spPr>
          <a:xfrm>
            <a:off x="894276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Server Action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8" name="Text 24"/>
          <p:cNvSpPr/>
          <p:nvPr/>
        </p:nvSpPr>
        <p:spPr>
          <a:xfrm>
            <a:off x="894276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Mutation type-safe Next.js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89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0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1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23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CONTENU ÉPHÉMÈRE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3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Story Viewer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4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5" name="Shape 3"/>
          <p:cNvSpPr/>
          <p:nvPr/>
        </p:nvSpPr>
        <p:spPr>
          <a:xfrm>
            <a:off x="548640" y="1691640"/>
            <a:ext cx="5027760" cy="45705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96" name="Image 0" descr="/sessions/sweet-funny-newton/mnt/outputs/build/assets/Mockups_Story_Viewer.png"/>
          <p:cNvPicPr/>
          <p:nvPr/>
        </p:nvPicPr>
        <p:blipFill>
          <a:blip r:embed="rId1"/>
          <a:stretch/>
        </p:blipFill>
        <p:spPr>
          <a:xfrm>
            <a:off x="731520" y="2825280"/>
            <a:ext cx="4844880" cy="234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7" name="Text 4"/>
          <p:cNvSpPr/>
          <p:nvPr/>
        </p:nvSpPr>
        <p:spPr>
          <a:xfrm>
            <a:off x="5852160" y="1691640"/>
            <a:ext cx="575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Story Viewer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8" name="Shape 5"/>
          <p:cNvSpPr/>
          <p:nvPr/>
        </p:nvSpPr>
        <p:spPr>
          <a:xfrm>
            <a:off x="5852160" y="2194560"/>
            <a:ext cx="228456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9" name="Text 6"/>
          <p:cNvSpPr/>
          <p:nvPr/>
        </p:nvSpPr>
        <p:spPr>
          <a:xfrm>
            <a:off x="5852160" y="2194560"/>
            <a:ext cx="2284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CONTENU ÉPHÉMÈRE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0" name="Text 7"/>
          <p:cNvSpPr/>
          <p:nvPr/>
        </p:nvSpPr>
        <p:spPr>
          <a:xfrm>
            <a:off x="5852160" y="2651760"/>
            <a:ext cx="57592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Lecteur plein écran des stories des amis, progression segmentée, swipe navigation, expiration automatique à 24h. Statistique de vues persistée pour l'auteur.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1" name="Text 8"/>
          <p:cNvSpPr/>
          <p:nvPr/>
        </p:nvSpPr>
        <p:spPr>
          <a:xfrm>
            <a:off x="5852160" y="4114800"/>
            <a:ext cx="5759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2" name="Shape 9"/>
          <p:cNvSpPr/>
          <p:nvPr/>
        </p:nvSpPr>
        <p:spPr>
          <a:xfrm>
            <a:off x="585216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3" name="Shape 10"/>
          <p:cNvSpPr/>
          <p:nvPr/>
        </p:nvSpPr>
        <p:spPr>
          <a:xfrm>
            <a:off x="585216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4" name="Text 11"/>
          <p:cNvSpPr/>
          <p:nvPr/>
        </p:nvSpPr>
        <p:spPr>
          <a:xfrm>
            <a:off x="601668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24h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5" name="Text 12"/>
          <p:cNvSpPr/>
          <p:nvPr/>
        </p:nvSpPr>
        <p:spPr>
          <a:xfrm>
            <a:off x="601668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Job cron · cleanup expirés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6" name="Shape 13"/>
          <p:cNvSpPr/>
          <p:nvPr/>
        </p:nvSpPr>
        <p:spPr>
          <a:xfrm>
            <a:off x="877824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7" name="Shape 14"/>
          <p:cNvSpPr/>
          <p:nvPr/>
        </p:nvSpPr>
        <p:spPr>
          <a:xfrm>
            <a:off x="877824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8" name="Text 15"/>
          <p:cNvSpPr/>
          <p:nvPr/>
        </p:nvSpPr>
        <p:spPr>
          <a:xfrm>
            <a:off x="894276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Progress segmentée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9" name="Text 16"/>
          <p:cNvSpPr/>
          <p:nvPr/>
        </p:nvSpPr>
        <p:spPr>
          <a:xfrm>
            <a:off x="894276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Multi-stories par utilisateur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0" name="Shape 17"/>
          <p:cNvSpPr/>
          <p:nvPr/>
        </p:nvSpPr>
        <p:spPr>
          <a:xfrm>
            <a:off x="585216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1" name="Shape 18"/>
          <p:cNvSpPr/>
          <p:nvPr/>
        </p:nvSpPr>
        <p:spPr>
          <a:xfrm>
            <a:off x="585216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2" name="Text 19"/>
          <p:cNvSpPr/>
          <p:nvPr/>
        </p:nvSpPr>
        <p:spPr>
          <a:xfrm>
            <a:off x="601668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Vues uniques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3" name="Text 20"/>
          <p:cNvSpPr/>
          <p:nvPr/>
        </p:nvSpPr>
        <p:spPr>
          <a:xfrm>
            <a:off x="601668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Compteur stocké en relation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4" name="Shape 21"/>
          <p:cNvSpPr/>
          <p:nvPr/>
        </p:nvSpPr>
        <p:spPr>
          <a:xfrm>
            <a:off x="877824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5" name="Shape 22"/>
          <p:cNvSpPr/>
          <p:nvPr/>
        </p:nvSpPr>
        <p:spPr>
          <a:xfrm>
            <a:off x="877824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6" name="Text 23"/>
          <p:cNvSpPr/>
          <p:nvPr/>
        </p:nvSpPr>
        <p:spPr>
          <a:xfrm>
            <a:off x="894276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emoji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7" name="Text 24"/>
          <p:cNvSpPr/>
          <p:nvPr/>
        </p:nvSpPr>
        <p:spPr>
          <a:xfrm>
            <a:off x="894276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Quick reply au créateur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18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9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0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24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PERSONNALISATION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Paramètres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4" name="Shape 3"/>
          <p:cNvSpPr/>
          <p:nvPr/>
        </p:nvSpPr>
        <p:spPr>
          <a:xfrm>
            <a:off x="548640" y="1691640"/>
            <a:ext cx="5027760" cy="45705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25" name="Image 0" descr="/sessions/sweet-funny-newton/mnt/outputs/build/assets/Mockups_Settings.png"/>
          <p:cNvPicPr/>
          <p:nvPr/>
        </p:nvPicPr>
        <p:blipFill>
          <a:blip r:embed="rId1"/>
          <a:stretch/>
        </p:blipFill>
        <p:spPr>
          <a:xfrm>
            <a:off x="731520" y="2825280"/>
            <a:ext cx="4844880" cy="234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26" name="Text 4"/>
          <p:cNvSpPr/>
          <p:nvPr/>
        </p:nvSpPr>
        <p:spPr>
          <a:xfrm>
            <a:off x="5852160" y="1691640"/>
            <a:ext cx="575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Paramètres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7" name="Shape 5"/>
          <p:cNvSpPr/>
          <p:nvPr/>
        </p:nvSpPr>
        <p:spPr>
          <a:xfrm>
            <a:off x="5852160" y="2194560"/>
            <a:ext cx="228456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8" name="Text 6"/>
          <p:cNvSpPr/>
          <p:nvPr/>
        </p:nvSpPr>
        <p:spPr>
          <a:xfrm>
            <a:off x="5852160" y="2194560"/>
            <a:ext cx="2284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PERSONNALISATION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9" name="Text 7"/>
          <p:cNvSpPr/>
          <p:nvPr/>
        </p:nvSpPr>
        <p:spPr>
          <a:xfrm>
            <a:off x="5852160" y="2651760"/>
            <a:ext cx="57592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settings centralisée — profil, sécurité (mot de passe, sessions), notifications, langue (FR/EN), thème, confidentialité. Préférences stockées dans UserSettings (1-to-1 User).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0" name="Text 8"/>
          <p:cNvSpPr/>
          <p:nvPr/>
        </p:nvSpPr>
        <p:spPr>
          <a:xfrm>
            <a:off x="5852160" y="4114800"/>
            <a:ext cx="5759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1" name="Shape 9"/>
          <p:cNvSpPr/>
          <p:nvPr/>
        </p:nvSpPr>
        <p:spPr>
          <a:xfrm>
            <a:off x="585216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2" name="Shape 10"/>
          <p:cNvSpPr/>
          <p:nvPr/>
        </p:nvSpPr>
        <p:spPr>
          <a:xfrm>
            <a:off x="585216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3" name="Text 11"/>
          <p:cNvSpPr/>
          <p:nvPr/>
        </p:nvSpPr>
        <p:spPr>
          <a:xfrm>
            <a:off x="601668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UserSettings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4" name="Text 12"/>
          <p:cNvSpPr/>
          <p:nvPr/>
        </p:nvSpPr>
        <p:spPr>
          <a:xfrm>
            <a:off x="601668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Prisma 1-to-1 dédié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5" name="Shape 13"/>
          <p:cNvSpPr/>
          <p:nvPr/>
        </p:nvSpPr>
        <p:spPr>
          <a:xfrm>
            <a:off x="877824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6" name="Shape 14"/>
          <p:cNvSpPr/>
          <p:nvPr/>
        </p:nvSpPr>
        <p:spPr>
          <a:xfrm>
            <a:off x="877824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7" name="Text 15"/>
          <p:cNvSpPr/>
          <p:nvPr/>
        </p:nvSpPr>
        <p:spPr>
          <a:xfrm>
            <a:off x="894276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Theme toggle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8" name="Text 16"/>
          <p:cNvSpPr/>
          <p:nvPr/>
        </p:nvSpPr>
        <p:spPr>
          <a:xfrm>
            <a:off x="894276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Stocké côté serveur · cohérent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9" name="Shape 17"/>
          <p:cNvSpPr/>
          <p:nvPr/>
        </p:nvSpPr>
        <p:spPr>
          <a:xfrm>
            <a:off x="585216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0" name="Shape 18"/>
          <p:cNvSpPr/>
          <p:nvPr/>
        </p:nvSpPr>
        <p:spPr>
          <a:xfrm>
            <a:off x="585216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1" name="Text 19"/>
          <p:cNvSpPr/>
          <p:nvPr/>
        </p:nvSpPr>
        <p:spPr>
          <a:xfrm>
            <a:off x="601668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i18n EN / FR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2" name="Text 20"/>
          <p:cNvSpPr/>
          <p:nvPr/>
        </p:nvSpPr>
        <p:spPr>
          <a:xfrm>
            <a:off x="601668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next-intl, dictionnaires lazy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3" name="Shape 21"/>
          <p:cNvSpPr/>
          <p:nvPr/>
        </p:nvSpPr>
        <p:spPr>
          <a:xfrm>
            <a:off x="877824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4" name="Shape 22"/>
          <p:cNvSpPr/>
          <p:nvPr/>
        </p:nvSpPr>
        <p:spPr>
          <a:xfrm>
            <a:off x="877824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5" name="Text 23"/>
          <p:cNvSpPr/>
          <p:nvPr/>
        </p:nvSpPr>
        <p:spPr>
          <a:xfrm>
            <a:off x="894276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Privacy controls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6" name="Text 24"/>
          <p:cNvSpPr/>
          <p:nvPr/>
        </p:nvSpPr>
        <p:spPr>
          <a:xfrm>
            <a:off x="894276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ProfileVisibility, notification opt-in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47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8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9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25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0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1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Pages implémentées · 14 routes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2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3" name="Shape 3"/>
          <p:cNvSpPr/>
          <p:nvPr/>
        </p:nvSpPr>
        <p:spPr>
          <a:xfrm>
            <a:off x="548640" y="1691640"/>
            <a:ext cx="5484960" cy="32760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4" name="Shape 4"/>
          <p:cNvSpPr/>
          <p:nvPr/>
        </p:nvSpPr>
        <p:spPr>
          <a:xfrm>
            <a:off x="685800" y="17830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5" name="Text 5"/>
          <p:cNvSpPr/>
          <p:nvPr/>
        </p:nvSpPr>
        <p:spPr>
          <a:xfrm>
            <a:off x="914400" y="169164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6" name="Text 6"/>
          <p:cNvSpPr/>
          <p:nvPr/>
        </p:nvSpPr>
        <p:spPr>
          <a:xfrm>
            <a:off x="2651760" y="169164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Feed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7" name="Text 7"/>
          <p:cNvSpPr/>
          <p:nvPr/>
        </p:nvSpPr>
        <p:spPr>
          <a:xfrm>
            <a:off x="3931920" y="169164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Affichage des posts du réseau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8" name="Shape 8"/>
          <p:cNvSpPr/>
          <p:nvPr/>
        </p:nvSpPr>
        <p:spPr>
          <a:xfrm>
            <a:off x="6217920" y="1691640"/>
            <a:ext cx="5484960" cy="32760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9" name="Shape 9"/>
          <p:cNvSpPr/>
          <p:nvPr/>
        </p:nvSpPr>
        <p:spPr>
          <a:xfrm>
            <a:off x="6355080" y="17830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0" name="Text 10"/>
          <p:cNvSpPr/>
          <p:nvPr/>
        </p:nvSpPr>
        <p:spPr>
          <a:xfrm>
            <a:off x="6583680" y="169164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/login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1" name="Text 11"/>
          <p:cNvSpPr/>
          <p:nvPr/>
        </p:nvSpPr>
        <p:spPr>
          <a:xfrm>
            <a:off x="8321040" y="169164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Login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2" name="Text 12"/>
          <p:cNvSpPr/>
          <p:nvPr/>
        </p:nvSpPr>
        <p:spPr>
          <a:xfrm>
            <a:off x="9601200" y="169164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Authentification email + OAuth Google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3" name="Shape 13"/>
          <p:cNvSpPr/>
          <p:nvPr/>
        </p:nvSpPr>
        <p:spPr>
          <a:xfrm>
            <a:off x="548640" y="2057400"/>
            <a:ext cx="5484960" cy="32760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4" name="Shape 14"/>
          <p:cNvSpPr/>
          <p:nvPr/>
        </p:nvSpPr>
        <p:spPr>
          <a:xfrm>
            <a:off x="685800" y="214884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5" name="Text 15"/>
          <p:cNvSpPr/>
          <p:nvPr/>
        </p:nvSpPr>
        <p:spPr>
          <a:xfrm>
            <a:off x="914400" y="205740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/register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6" name="Text 16"/>
          <p:cNvSpPr/>
          <p:nvPr/>
        </p:nvSpPr>
        <p:spPr>
          <a:xfrm>
            <a:off x="2651760" y="205740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Register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7" name="Text 17"/>
          <p:cNvSpPr/>
          <p:nvPr/>
        </p:nvSpPr>
        <p:spPr>
          <a:xfrm>
            <a:off x="3931920" y="205740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Inscription avec vérification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8" name="Shape 18"/>
          <p:cNvSpPr/>
          <p:nvPr/>
        </p:nvSpPr>
        <p:spPr>
          <a:xfrm>
            <a:off x="6217920" y="2057400"/>
            <a:ext cx="5484960" cy="32760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9" name="Shape 19"/>
          <p:cNvSpPr/>
          <p:nvPr/>
        </p:nvSpPr>
        <p:spPr>
          <a:xfrm>
            <a:off x="6355080" y="214884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0" name="Text 20"/>
          <p:cNvSpPr/>
          <p:nvPr/>
        </p:nvSpPr>
        <p:spPr>
          <a:xfrm>
            <a:off x="6583680" y="205740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/onboarding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1" name="Text 21"/>
          <p:cNvSpPr/>
          <p:nvPr/>
        </p:nvSpPr>
        <p:spPr>
          <a:xfrm>
            <a:off x="8321040" y="205740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Onboarding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2" name="Text 22"/>
          <p:cNvSpPr/>
          <p:nvPr/>
        </p:nvSpPr>
        <p:spPr>
          <a:xfrm>
            <a:off x="9601200" y="205740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Complétion du profil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3" name="Shape 23"/>
          <p:cNvSpPr/>
          <p:nvPr/>
        </p:nvSpPr>
        <p:spPr>
          <a:xfrm>
            <a:off x="548640" y="2423160"/>
            <a:ext cx="5484960" cy="32760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4" name="Shape 24"/>
          <p:cNvSpPr/>
          <p:nvPr/>
        </p:nvSpPr>
        <p:spPr>
          <a:xfrm>
            <a:off x="685800" y="251460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5" name="Text 25"/>
          <p:cNvSpPr/>
          <p:nvPr/>
        </p:nvSpPr>
        <p:spPr>
          <a:xfrm>
            <a:off x="914400" y="242316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/profile/[id]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6" name="Text 26"/>
          <p:cNvSpPr/>
          <p:nvPr/>
        </p:nvSpPr>
        <p:spPr>
          <a:xfrm>
            <a:off x="2651760" y="242316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7" name="Text 27"/>
          <p:cNvSpPr/>
          <p:nvPr/>
        </p:nvSpPr>
        <p:spPr>
          <a:xfrm>
            <a:off x="3931920" y="242316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 public/privé, posts, abonnés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8" name="Shape 28"/>
          <p:cNvSpPr/>
          <p:nvPr/>
        </p:nvSpPr>
        <p:spPr>
          <a:xfrm>
            <a:off x="6217920" y="2423160"/>
            <a:ext cx="5484960" cy="32760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9" name="Shape 29"/>
          <p:cNvSpPr/>
          <p:nvPr/>
        </p:nvSpPr>
        <p:spPr>
          <a:xfrm>
            <a:off x="6355080" y="251460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0" name="Text 30"/>
          <p:cNvSpPr/>
          <p:nvPr/>
        </p:nvSpPr>
        <p:spPr>
          <a:xfrm>
            <a:off x="6583680" y="242316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/chat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1" name="Text 31"/>
          <p:cNvSpPr/>
          <p:nvPr/>
        </p:nvSpPr>
        <p:spPr>
          <a:xfrm>
            <a:off x="8321040" y="242316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Conversations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2" name="Text 32"/>
          <p:cNvSpPr/>
          <p:nvPr/>
        </p:nvSpPr>
        <p:spPr>
          <a:xfrm>
            <a:off x="9601200" y="242316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Liste des messages 1-to-1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3" name="Shape 33"/>
          <p:cNvSpPr/>
          <p:nvPr/>
        </p:nvSpPr>
        <p:spPr>
          <a:xfrm>
            <a:off x="548640" y="2788920"/>
            <a:ext cx="5484960" cy="32760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4" name="Shape 34"/>
          <p:cNvSpPr/>
          <p:nvPr/>
        </p:nvSpPr>
        <p:spPr>
          <a:xfrm>
            <a:off x="685800" y="288036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5" name="Text 35"/>
          <p:cNvSpPr/>
          <p:nvPr/>
        </p:nvSpPr>
        <p:spPr>
          <a:xfrm>
            <a:off x="914400" y="278892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/chat/[id]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6" name="Text 36"/>
          <p:cNvSpPr/>
          <p:nvPr/>
        </p:nvSpPr>
        <p:spPr>
          <a:xfrm>
            <a:off x="2651760" y="278892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Chat DM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7" name="Text 37"/>
          <p:cNvSpPr/>
          <p:nvPr/>
        </p:nvSpPr>
        <p:spPr>
          <a:xfrm>
            <a:off x="3931920" y="278892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Messagerie privée temps réel (SSE)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8" name="Shape 38"/>
          <p:cNvSpPr/>
          <p:nvPr/>
        </p:nvSpPr>
        <p:spPr>
          <a:xfrm>
            <a:off x="6217920" y="2788920"/>
            <a:ext cx="5484960" cy="32760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9" name="Shape 39"/>
          <p:cNvSpPr/>
          <p:nvPr/>
        </p:nvSpPr>
        <p:spPr>
          <a:xfrm>
            <a:off x="6355080" y="288036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0" name="Text 40"/>
          <p:cNvSpPr/>
          <p:nvPr/>
        </p:nvSpPr>
        <p:spPr>
          <a:xfrm>
            <a:off x="6583680" y="278892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/reels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1" name="Text 41"/>
          <p:cNvSpPr/>
          <p:nvPr/>
        </p:nvSpPr>
        <p:spPr>
          <a:xfrm>
            <a:off x="8321040" y="278892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Reels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2" name="Text 42"/>
          <p:cNvSpPr/>
          <p:nvPr/>
        </p:nvSpPr>
        <p:spPr>
          <a:xfrm>
            <a:off x="9601200" y="278892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Vidéos courtes verticales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3" name="Shape 43"/>
          <p:cNvSpPr/>
          <p:nvPr/>
        </p:nvSpPr>
        <p:spPr>
          <a:xfrm>
            <a:off x="548640" y="3154680"/>
            <a:ext cx="5484960" cy="32760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4" name="Shape 44"/>
          <p:cNvSpPr/>
          <p:nvPr/>
        </p:nvSpPr>
        <p:spPr>
          <a:xfrm>
            <a:off x="685800" y="324612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5" name="Text 45"/>
          <p:cNvSpPr/>
          <p:nvPr/>
        </p:nvSpPr>
        <p:spPr>
          <a:xfrm>
            <a:off x="914400" y="315468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/search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6" name="Text 46"/>
          <p:cNvSpPr/>
          <p:nvPr/>
        </p:nvSpPr>
        <p:spPr>
          <a:xfrm>
            <a:off x="2651760" y="315468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Recherche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7" name="Text 47"/>
          <p:cNvSpPr/>
          <p:nvPr/>
        </p:nvSpPr>
        <p:spPr>
          <a:xfrm>
            <a:off x="3931920" y="315468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Users + posts avec historique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8" name="Shape 48"/>
          <p:cNvSpPr/>
          <p:nvPr/>
        </p:nvSpPr>
        <p:spPr>
          <a:xfrm>
            <a:off x="6217920" y="3154680"/>
            <a:ext cx="5484960" cy="32760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9" name="Shape 49"/>
          <p:cNvSpPr/>
          <p:nvPr/>
        </p:nvSpPr>
        <p:spPr>
          <a:xfrm>
            <a:off x="6355080" y="324612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0" name="Text 50"/>
          <p:cNvSpPr/>
          <p:nvPr/>
        </p:nvSpPr>
        <p:spPr>
          <a:xfrm>
            <a:off x="6583680" y="315468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/groups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1" name="Text 51"/>
          <p:cNvSpPr/>
          <p:nvPr/>
        </p:nvSpPr>
        <p:spPr>
          <a:xfrm>
            <a:off x="8321040" y="315468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Groupes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2" name="Text 52"/>
          <p:cNvSpPr/>
          <p:nvPr/>
        </p:nvSpPr>
        <p:spPr>
          <a:xfrm>
            <a:off x="9601200" y="315468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Liste, recherche, création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3" name="Shape 53"/>
          <p:cNvSpPr/>
          <p:nvPr/>
        </p:nvSpPr>
        <p:spPr>
          <a:xfrm>
            <a:off x="548640" y="3520440"/>
            <a:ext cx="5484960" cy="32760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4" name="Shape 54"/>
          <p:cNvSpPr/>
          <p:nvPr/>
        </p:nvSpPr>
        <p:spPr>
          <a:xfrm>
            <a:off x="685800" y="36118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5" name="Text 55"/>
          <p:cNvSpPr/>
          <p:nvPr/>
        </p:nvSpPr>
        <p:spPr>
          <a:xfrm>
            <a:off x="914400" y="352044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/groups/[id]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6" name="Text 56"/>
          <p:cNvSpPr/>
          <p:nvPr/>
        </p:nvSpPr>
        <p:spPr>
          <a:xfrm>
            <a:off x="2651760" y="352044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Groupe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7" name="Text 57"/>
          <p:cNvSpPr/>
          <p:nvPr/>
        </p:nvSpPr>
        <p:spPr>
          <a:xfrm>
            <a:off x="3931920" y="352044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Feed + chat + membres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8" name="Shape 58"/>
          <p:cNvSpPr/>
          <p:nvPr/>
        </p:nvSpPr>
        <p:spPr>
          <a:xfrm>
            <a:off x="6217920" y="3520440"/>
            <a:ext cx="5484960" cy="32760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9" name="Shape 59"/>
          <p:cNvSpPr/>
          <p:nvPr/>
        </p:nvSpPr>
        <p:spPr>
          <a:xfrm>
            <a:off x="6355080" y="36118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0" name="Text 60"/>
          <p:cNvSpPr/>
          <p:nvPr/>
        </p:nvSpPr>
        <p:spPr>
          <a:xfrm>
            <a:off x="6583680" y="352044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/events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1" name="Text 61"/>
          <p:cNvSpPr/>
          <p:nvPr/>
        </p:nvSpPr>
        <p:spPr>
          <a:xfrm>
            <a:off x="8321040" y="352044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Événements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2" name="Text 62"/>
          <p:cNvSpPr/>
          <p:nvPr/>
        </p:nvSpPr>
        <p:spPr>
          <a:xfrm>
            <a:off x="9601200" y="352044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Calendrier + RSVP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3" name="Shape 63"/>
          <p:cNvSpPr/>
          <p:nvPr/>
        </p:nvSpPr>
        <p:spPr>
          <a:xfrm>
            <a:off x="548640" y="3886200"/>
            <a:ext cx="5484960" cy="32760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4" name="Shape 64"/>
          <p:cNvSpPr/>
          <p:nvPr/>
        </p:nvSpPr>
        <p:spPr>
          <a:xfrm>
            <a:off x="685800" y="397764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5" name="Text 65"/>
          <p:cNvSpPr/>
          <p:nvPr/>
        </p:nvSpPr>
        <p:spPr>
          <a:xfrm>
            <a:off x="914400" y="388620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/settings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6" name="Text 66"/>
          <p:cNvSpPr/>
          <p:nvPr/>
        </p:nvSpPr>
        <p:spPr>
          <a:xfrm>
            <a:off x="2651760" y="388620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Paramètres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7" name="Text 67"/>
          <p:cNvSpPr/>
          <p:nvPr/>
        </p:nvSpPr>
        <p:spPr>
          <a:xfrm>
            <a:off x="3931920" y="388620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Profil, sécurité, langue, thème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8" name="Shape 68"/>
          <p:cNvSpPr/>
          <p:nvPr/>
        </p:nvSpPr>
        <p:spPr>
          <a:xfrm>
            <a:off x="6217920" y="3886200"/>
            <a:ext cx="5484960" cy="32760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9" name="Shape 69"/>
          <p:cNvSpPr/>
          <p:nvPr/>
        </p:nvSpPr>
        <p:spPr>
          <a:xfrm>
            <a:off x="6355080" y="397764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0" name="Text 70"/>
          <p:cNvSpPr/>
          <p:nvPr/>
        </p:nvSpPr>
        <p:spPr>
          <a:xfrm>
            <a:off x="6583680" y="388620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/invitations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1" name="Text 71"/>
          <p:cNvSpPr/>
          <p:nvPr/>
        </p:nvSpPr>
        <p:spPr>
          <a:xfrm>
            <a:off x="8321040" y="388620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Invitations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2" name="Text 72"/>
          <p:cNvSpPr/>
          <p:nvPr/>
        </p:nvSpPr>
        <p:spPr>
          <a:xfrm>
            <a:off x="9601200" y="388620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Demandes d'amitié et de groupe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2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24" name="Text 73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5" name="Text 74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26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 · DIAGRAMME DE SÉQUENCE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7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Flux d'authentification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8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9" name="Shape 3"/>
          <p:cNvSpPr/>
          <p:nvPr/>
        </p:nvSpPr>
        <p:spPr>
          <a:xfrm>
            <a:off x="457200" y="1783080"/>
            <a:ext cx="1644480" cy="501480"/>
          </a:xfrm>
          <a:prstGeom prst="roundRect">
            <a:avLst>
              <a:gd name="adj" fmla="val 14545"/>
            </a:avLst>
          </a:prstGeom>
          <a:solidFill>
            <a:srgbClr val="EC4899">
              <a:alpha val="4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0" name="Text 4"/>
          <p:cNvSpPr/>
          <p:nvPr/>
        </p:nvSpPr>
        <p:spPr>
          <a:xfrm>
            <a:off x="457200" y="1783080"/>
            <a:ext cx="1644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Navigateur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1" name="Shape 5"/>
          <p:cNvSpPr/>
          <p:nvPr/>
        </p:nvSpPr>
        <p:spPr>
          <a:xfrm>
            <a:off x="1280160" y="2286000"/>
            <a:ext cx="360" cy="37490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2" name="Shape 6"/>
          <p:cNvSpPr/>
          <p:nvPr/>
        </p:nvSpPr>
        <p:spPr>
          <a:xfrm>
            <a:off x="4480560" y="1783080"/>
            <a:ext cx="1644480" cy="501480"/>
          </a:xfrm>
          <a:prstGeom prst="roundRect">
            <a:avLst>
              <a:gd name="adj" fmla="val 14545"/>
            </a:avLst>
          </a:prstGeom>
          <a:solidFill>
            <a:srgbClr val="06B6D4">
              <a:alpha val="4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3" name="Text 7"/>
          <p:cNvSpPr/>
          <p:nvPr/>
        </p:nvSpPr>
        <p:spPr>
          <a:xfrm>
            <a:off x="4480560" y="1783080"/>
            <a:ext cx="1644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4" name="Shape 8"/>
          <p:cNvSpPr/>
          <p:nvPr/>
        </p:nvSpPr>
        <p:spPr>
          <a:xfrm>
            <a:off x="5303520" y="2286000"/>
            <a:ext cx="360" cy="37490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5" name="Shape 9"/>
          <p:cNvSpPr/>
          <p:nvPr/>
        </p:nvSpPr>
        <p:spPr>
          <a:xfrm>
            <a:off x="8503920" y="1783080"/>
            <a:ext cx="1644480" cy="501480"/>
          </a:xfrm>
          <a:prstGeom prst="roundRect">
            <a:avLst>
              <a:gd name="adj" fmla="val 14545"/>
            </a:avLst>
          </a:prstGeom>
          <a:solidFill>
            <a:srgbClr val="8B5CF6">
              <a:alpha val="4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6" name="Text 10"/>
          <p:cNvSpPr/>
          <p:nvPr/>
        </p:nvSpPr>
        <p:spPr>
          <a:xfrm>
            <a:off x="8503920" y="1783080"/>
            <a:ext cx="1644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(Prisma)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7" name="Shape 11"/>
          <p:cNvSpPr/>
          <p:nvPr/>
        </p:nvSpPr>
        <p:spPr>
          <a:xfrm>
            <a:off x="9326880" y="2286000"/>
            <a:ext cx="360" cy="37490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8" name="Shape 12"/>
          <p:cNvSpPr/>
          <p:nvPr/>
        </p:nvSpPr>
        <p:spPr>
          <a:xfrm>
            <a:off x="1280160" y="2743200"/>
            <a:ext cx="402336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9" name="Text 13"/>
          <p:cNvSpPr/>
          <p:nvPr/>
        </p:nvSpPr>
        <p:spPr>
          <a:xfrm>
            <a:off x="1280160" y="2450520"/>
            <a:ext cx="40219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POST /api/public/auth/login  { email, password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0" name="Shape 14"/>
          <p:cNvSpPr/>
          <p:nvPr/>
        </p:nvSpPr>
        <p:spPr>
          <a:xfrm>
            <a:off x="5303520" y="3246120"/>
            <a:ext cx="402336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1" name="Text 15"/>
          <p:cNvSpPr/>
          <p:nvPr/>
        </p:nvSpPr>
        <p:spPr>
          <a:xfrm>
            <a:off x="5303520" y="2953440"/>
            <a:ext cx="40219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SELECT user WHERE email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2" name="Shape 16"/>
          <p:cNvSpPr/>
          <p:nvPr/>
        </p:nvSpPr>
        <p:spPr>
          <a:xfrm flipH="1">
            <a:off x="5303520" y="3749040"/>
            <a:ext cx="4023360" cy="360"/>
          </a:xfrm>
          <a:prstGeom prst="line">
            <a:avLst/>
          </a:prstGeom>
          <a:ln w="25400">
            <a:solidFill>
              <a:srgbClr val="8B5CF6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3" name="Text 17"/>
          <p:cNvSpPr/>
          <p:nvPr/>
        </p:nvSpPr>
        <p:spPr>
          <a:xfrm>
            <a:off x="5303520" y="3456360"/>
            <a:ext cx="40219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user row (hashed pwd)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4" name="Shape 18"/>
          <p:cNvSpPr/>
          <p:nvPr/>
        </p:nvSpPr>
        <p:spPr>
          <a:xfrm>
            <a:off x="5349240" y="4023360"/>
            <a:ext cx="3656160" cy="775800"/>
          </a:xfrm>
          <a:prstGeom prst="roundRect">
            <a:avLst>
              <a:gd name="adj" fmla="val 9412"/>
            </a:avLst>
          </a:prstGeom>
          <a:solidFill>
            <a:srgbClr val="272730"/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5" name="Text 19"/>
          <p:cNvSpPr/>
          <p:nvPr/>
        </p:nvSpPr>
        <p:spPr>
          <a:xfrm>
            <a:off x="5394960" y="4069080"/>
            <a:ext cx="356472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bcrypt.compare(password, user.password)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jose.SignJWT({ userId }) ➜ JWT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6" name="Shape 20"/>
          <p:cNvSpPr/>
          <p:nvPr/>
        </p:nvSpPr>
        <p:spPr>
          <a:xfrm flipH="1">
            <a:off x="1280160" y="5074920"/>
            <a:ext cx="4023360" cy="360"/>
          </a:xfrm>
          <a:prstGeom prst="line">
            <a:avLst/>
          </a:prstGeom>
          <a:ln w="25400">
            <a:solidFill>
              <a:srgbClr val="10B981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7" name="Text 21"/>
          <p:cNvSpPr/>
          <p:nvPr/>
        </p:nvSpPr>
        <p:spPr>
          <a:xfrm>
            <a:off x="1280160" y="4782240"/>
            <a:ext cx="40219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200 OK  ·  Set-Cookie: authToken HttpOnly SameSite=Lax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8" name="Shape 22"/>
          <p:cNvSpPr/>
          <p:nvPr/>
        </p:nvSpPr>
        <p:spPr>
          <a:xfrm>
            <a:off x="548640" y="5486400"/>
            <a:ext cx="11062800" cy="775800"/>
          </a:xfrm>
          <a:prstGeom prst="roundRect">
            <a:avLst>
              <a:gd name="adj" fmla="val 9412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9" name="Text 23"/>
          <p:cNvSpPr/>
          <p:nvPr/>
        </p:nvSpPr>
        <p:spPr>
          <a:xfrm>
            <a:off x="777240" y="5532120"/>
            <a:ext cx="1060560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Sécurité —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 avec 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jose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+ secret applicatif · Cookie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HttpOnly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(pas accessible JS) ·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bcrypt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cost 12 ·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OAuth Google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via state cookie anti-CSRF · Middleware Next.js qui valide le JWT pour chaque route privée.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5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51" name="Text 24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2" name="Text 25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27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3" name="Rectangle 1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54" name="TextBox 2"/>
          <p:cNvSpPr/>
          <p:nvPr/>
        </p:nvSpPr>
        <p:spPr>
          <a:xfrm>
            <a:off x="548640" y="411480"/>
            <a:ext cx="10056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DIAGRAMME DE SÉQUENCE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5" name="TextBox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Temps réel — envoi message en SSE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6" name="Rectangle 4"/>
          <p:cNvSpPr/>
          <p:nvPr/>
        </p:nvSpPr>
        <p:spPr>
          <a:xfrm>
            <a:off x="45720" y="1691640"/>
            <a:ext cx="1553040" cy="5014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57" name="TextBox 5"/>
          <p:cNvSpPr/>
          <p:nvPr/>
        </p:nvSpPr>
        <p:spPr>
          <a:xfrm>
            <a:off x="45720" y="1737360"/>
            <a:ext cx="15530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Client 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8" name="TextBox 6"/>
          <p:cNvSpPr/>
          <p:nvPr/>
        </p:nvSpPr>
        <p:spPr>
          <a:xfrm>
            <a:off x="45720" y="1947600"/>
            <a:ext cx="155304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Browser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9" name="Rectangle 7"/>
          <p:cNvSpPr/>
          <p:nvPr/>
        </p:nvSpPr>
        <p:spPr>
          <a:xfrm>
            <a:off x="804600" y="2194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0" name="Rectangle 8"/>
          <p:cNvSpPr/>
          <p:nvPr/>
        </p:nvSpPr>
        <p:spPr>
          <a:xfrm>
            <a:off x="804600" y="23590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1" name="Rectangle 9"/>
          <p:cNvSpPr/>
          <p:nvPr/>
        </p:nvSpPr>
        <p:spPr>
          <a:xfrm>
            <a:off x="804600" y="25236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2" name="Rectangle 10"/>
          <p:cNvSpPr/>
          <p:nvPr/>
        </p:nvSpPr>
        <p:spPr>
          <a:xfrm>
            <a:off x="804600" y="2688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3" name="Rectangle 11"/>
          <p:cNvSpPr/>
          <p:nvPr/>
        </p:nvSpPr>
        <p:spPr>
          <a:xfrm>
            <a:off x="804600" y="2853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4" name="Rectangle 12"/>
          <p:cNvSpPr/>
          <p:nvPr/>
        </p:nvSpPr>
        <p:spPr>
          <a:xfrm>
            <a:off x="804600" y="30175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5" name="Rectangle 13"/>
          <p:cNvSpPr/>
          <p:nvPr/>
        </p:nvSpPr>
        <p:spPr>
          <a:xfrm>
            <a:off x="804600" y="31820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6" name="Rectangle 14"/>
          <p:cNvSpPr/>
          <p:nvPr/>
        </p:nvSpPr>
        <p:spPr>
          <a:xfrm>
            <a:off x="804600" y="3346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7" name="Rectangle 15"/>
          <p:cNvSpPr/>
          <p:nvPr/>
        </p:nvSpPr>
        <p:spPr>
          <a:xfrm>
            <a:off x="804600" y="35114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8" name="Rectangle 16"/>
          <p:cNvSpPr/>
          <p:nvPr/>
        </p:nvSpPr>
        <p:spPr>
          <a:xfrm>
            <a:off x="804600" y="3675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9" name="Rectangle 17"/>
          <p:cNvSpPr/>
          <p:nvPr/>
        </p:nvSpPr>
        <p:spPr>
          <a:xfrm>
            <a:off x="804600" y="3840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0" name="Rectangle 18"/>
          <p:cNvSpPr/>
          <p:nvPr/>
        </p:nvSpPr>
        <p:spPr>
          <a:xfrm>
            <a:off x="804600" y="4005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1" name="Rectangle 19"/>
          <p:cNvSpPr/>
          <p:nvPr/>
        </p:nvSpPr>
        <p:spPr>
          <a:xfrm>
            <a:off x="804600" y="41695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2" name="Rectangle 20"/>
          <p:cNvSpPr/>
          <p:nvPr/>
        </p:nvSpPr>
        <p:spPr>
          <a:xfrm>
            <a:off x="804600" y="4334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3" name="Rectangle 21"/>
          <p:cNvSpPr/>
          <p:nvPr/>
        </p:nvSpPr>
        <p:spPr>
          <a:xfrm>
            <a:off x="804600" y="4498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4" name="Rectangle 22"/>
          <p:cNvSpPr/>
          <p:nvPr/>
        </p:nvSpPr>
        <p:spPr>
          <a:xfrm>
            <a:off x="804600" y="46634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5" name="Rectangle 23"/>
          <p:cNvSpPr/>
          <p:nvPr/>
        </p:nvSpPr>
        <p:spPr>
          <a:xfrm>
            <a:off x="804600" y="4827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6" name="Rectangle 24"/>
          <p:cNvSpPr/>
          <p:nvPr/>
        </p:nvSpPr>
        <p:spPr>
          <a:xfrm>
            <a:off x="804600" y="4992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7" name="Rectangle 25"/>
          <p:cNvSpPr/>
          <p:nvPr/>
        </p:nvSpPr>
        <p:spPr>
          <a:xfrm>
            <a:off x="804600" y="51573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8" name="Rectangle 26"/>
          <p:cNvSpPr/>
          <p:nvPr/>
        </p:nvSpPr>
        <p:spPr>
          <a:xfrm>
            <a:off x="804600" y="53218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9" name="Rectangle 27"/>
          <p:cNvSpPr/>
          <p:nvPr/>
        </p:nvSpPr>
        <p:spPr>
          <a:xfrm>
            <a:off x="804600" y="5486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0" name="Rectangle 28"/>
          <p:cNvSpPr/>
          <p:nvPr/>
        </p:nvSpPr>
        <p:spPr>
          <a:xfrm>
            <a:off x="804600" y="5650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1" name="Rectangle 29"/>
          <p:cNvSpPr/>
          <p:nvPr/>
        </p:nvSpPr>
        <p:spPr>
          <a:xfrm>
            <a:off x="2423160" y="1691640"/>
            <a:ext cx="1553040" cy="5014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2" name="TextBox 30"/>
          <p:cNvSpPr/>
          <p:nvPr/>
        </p:nvSpPr>
        <p:spPr>
          <a:xfrm>
            <a:off x="2423160" y="1737360"/>
            <a:ext cx="15530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API send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3" name="TextBox 31"/>
          <p:cNvSpPr/>
          <p:nvPr/>
        </p:nvSpPr>
        <p:spPr>
          <a:xfrm>
            <a:off x="2423160" y="1947600"/>
            <a:ext cx="155304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/chat/send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4" name="Rectangle 32"/>
          <p:cNvSpPr/>
          <p:nvPr/>
        </p:nvSpPr>
        <p:spPr>
          <a:xfrm>
            <a:off x="3182040" y="2194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5" name="Rectangle 33"/>
          <p:cNvSpPr/>
          <p:nvPr/>
        </p:nvSpPr>
        <p:spPr>
          <a:xfrm>
            <a:off x="3182040" y="23590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6" name="Rectangle 34"/>
          <p:cNvSpPr/>
          <p:nvPr/>
        </p:nvSpPr>
        <p:spPr>
          <a:xfrm>
            <a:off x="3182040" y="25236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7" name="Rectangle 35"/>
          <p:cNvSpPr/>
          <p:nvPr/>
        </p:nvSpPr>
        <p:spPr>
          <a:xfrm>
            <a:off x="3182040" y="2688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8" name="Rectangle 36"/>
          <p:cNvSpPr/>
          <p:nvPr/>
        </p:nvSpPr>
        <p:spPr>
          <a:xfrm>
            <a:off x="3182040" y="2853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9" name="Rectangle 37"/>
          <p:cNvSpPr/>
          <p:nvPr/>
        </p:nvSpPr>
        <p:spPr>
          <a:xfrm>
            <a:off x="3182040" y="30175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0" name="Rectangle 38"/>
          <p:cNvSpPr/>
          <p:nvPr/>
        </p:nvSpPr>
        <p:spPr>
          <a:xfrm>
            <a:off x="3182040" y="31820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1" name="Rectangle 39"/>
          <p:cNvSpPr/>
          <p:nvPr/>
        </p:nvSpPr>
        <p:spPr>
          <a:xfrm>
            <a:off x="3182040" y="3346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2" name="Rectangle 40"/>
          <p:cNvSpPr/>
          <p:nvPr/>
        </p:nvSpPr>
        <p:spPr>
          <a:xfrm>
            <a:off x="3200400" y="3485520"/>
            <a:ext cx="9000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3" name="Rectangle 41"/>
          <p:cNvSpPr/>
          <p:nvPr/>
        </p:nvSpPr>
        <p:spPr>
          <a:xfrm>
            <a:off x="3182040" y="3675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4" name="Rectangle 42"/>
          <p:cNvSpPr/>
          <p:nvPr/>
        </p:nvSpPr>
        <p:spPr>
          <a:xfrm>
            <a:off x="3182040" y="3840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5" name="Rectangle 43"/>
          <p:cNvSpPr/>
          <p:nvPr/>
        </p:nvSpPr>
        <p:spPr>
          <a:xfrm>
            <a:off x="3182040" y="4005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6" name="Rectangle 44"/>
          <p:cNvSpPr/>
          <p:nvPr/>
        </p:nvSpPr>
        <p:spPr>
          <a:xfrm>
            <a:off x="3182040" y="41695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7" name="Rectangle 45"/>
          <p:cNvSpPr/>
          <p:nvPr/>
        </p:nvSpPr>
        <p:spPr>
          <a:xfrm>
            <a:off x="3182040" y="4334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8" name="Rectangle 46"/>
          <p:cNvSpPr/>
          <p:nvPr/>
        </p:nvSpPr>
        <p:spPr>
          <a:xfrm>
            <a:off x="3182040" y="4498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9" name="Rectangle 47"/>
          <p:cNvSpPr/>
          <p:nvPr/>
        </p:nvSpPr>
        <p:spPr>
          <a:xfrm>
            <a:off x="3182040" y="46634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0" name="Rectangle 48"/>
          <p:cNvSpPr/>
          <p:nvPr/>
        </p:nvSpPr>
        <p:spPr>
          <a:xfrm>
            <a:off x="3182040" y="4827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1" name="Rectangle 49"/>
          <p:cNvSpPr/>
          <p:nvPr/>
        </p:nvSpPr>
        <p:spPr>
          <a:xfrm>
            <a:off x="3182040" y="4992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2" name="Rectangle 50"/>
          <p:cNvSpPr/>
          <p:nvPr/>
        </p:nvSpPr>
        <p:spPr>
          <a:xfrm>
            <a:off x="3182040" y="51573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3" name="Rectangle 51"/>
          <p:cNvSpPr/>
          <p:nvPr/>
        </p:nvSpPr>
        <p:spPr>
          <a:xfrm>
            <a:off x="3182040" y="53218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4" name="Rectangle 52"/>
          <p:cNvSpPr/>
          <p:nvPr/>
        </p:nvSpPr>
        <p:spPr>
          <a:xfrm>
            <a:off x="3182040" y="5486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5" name="Rectangle 53"/>
          <p:cNvSpPr/>
          <p:nvPr/>
        </p:nvSpPr>
        <p:spPr>
          <a:xfrm>
            <a:off x="3182040" y="5650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6" name="Rectangle 54"/>
          <p:cNvSpPr/>
          <p:nvPr/>
        </p:nvSpPr>
        <p:spPr>
          <a:xfrm>
            <a:off x="4800600" y="1691640"/>
            <a:ext cx="1553040" cy="5014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7" name="TextBox 55"/>
          <p:cNvSpPr/>
          <p:nvPr/>
        </p:nvSpPr>
        <p:spPr>
          <a:xfrm>
            <a:off x="4800600" y="1737360"/>
            <a:ext cx="15530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PostgreSQL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8" name="TextBox 56"/>
          <p:cNvSpPr/>
          <p:nvPr/>
        </p:nvSpPr>
        <p:spPr>
          <a:xfrm>
            <a:off x="4800600" y="1947600"/>
            <a:ext cx="155304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Prisma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9" name="Rectangle 57"/>
          <p:cNvSpPr/>
          <p:nvPr/>
        </p:nvSpPr>
        <p:spPr>
          <a:xfrm>
            <a:off x="5559480" y="2194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0" name="Rectangle 58"/>
          <p:cNvSpPr/>
          <p:nvPr/>
        </p:nvSpPr>
        <p:spPr>
          <a:xfrm>
            <a:off x="5559480" y="23590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1" name="Rectangle 59"/>
          <p:cNvSpPr/>
          <p:nvPr/>
        </p:nvSpPr>
        <p:spPr>
          <a:xfrm>
            <a:off x="5559480" y="25236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2" name="Rectangle 60"/>
          <p:cNvSpPr/>
          <p:nvPr/>
        </p:nvSpPr>
        <p:spPr>
          <a:xfrm>
            <a:off x="5559480" y="2688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3" name="Rectangle 61"/>
          <p:cNvSpPr/>
          <p:nvPr/>
        </p:nvSpPr>
        <p:spPr>
          <a:xfrm>
            <a:off x="5559480" y="2853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4" name="Rectangle 62"/>
          <p:cNvSpPr/>
          <p:nvPr/>
        </p:nvSpPr>
        <p:spPr>
          <a:xfrm>
            <a:off x="5486400" y="3028320"/>
            <a:ext cx="9000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5" name="Rectangle 63"/>
          <p:cNvSpPr/>
          <p:nvPr/>
        </p:nvSpPr>
        <p:spPr>
          <a:xfrm>
            <a:off x="5559480" y="31820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6" name="Rectangle 64"/>
          <p:cNvSpPr/>
          <p:nvPr/>
        </p:nvSpPr>
        <p:spPr>
          <a:xfrm>
            <a:off x="5559480" y="3346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7" name="Rectangle 65"/>
          <p:cNvSpPr/>
          <p:nvPr/>
        </p:nvSpPr>
        <p:spPr>
          <a:xfrm>
            <a:off x="5559480" y="35114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8" name="Rectangle 66"/>
          <p:cNvSpPr/>
          <p:nvPr/>
        </p:nvSpPr>
        <p:spPr>
          <a:xfrm>
            <a:off x="5559480" y="3675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9" name="Rectangle 67"/>
          <p:cNvSpPr/>
          <p:nvPr/>
        </p:nvSpPr>
        <p:spPr>
          <a:xfrm>
            <a:off x="5559480" y="3840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0" name="Rectangle 68"/>
          <p:cNvSpPr/>
          <p:nvPr/>
        </p:nvSpPr>
        <p:spPr>
          <a:xfrm>
            <a:off x="5559480" y="4005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1" name="Rectangle 69"/>
          <p:cNvSpPr/>
          <p:nvPr/>
        </p:nvSpPr>
        <p:spPr>
          <a:xfrm>
            <a:off x="5559480" y="41695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2" name="Rectangle 70"/>
          <p:cNvSpPr/>
          <p:nvPr/>
        </p:nvSpPr>
        <p:spPr>
          <a:xfrm>
            <a:off x="5559480" y="4334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3" name="Rectangle 71"/>
          <p:cNvSpPr/>
          <p:nvPr/>
        </p:nvSpPr>
        <p:spPr>
          <a:xfrm>
            <a:off x="5559480" y="4498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4" name="Rectangle 72"/>
          <p:cNvSpPr/>
          <p:nvPr/>
        </p:nvSpPr>
        <p:spPr>
          <a:xfrm>
            <a:off x="5559480" y="46634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5" name="Rectangle 73"/>
          <p:cNvSpPr/>
          <p:nvPr/>
        </p:nvSpPr>
        <p:spPr>
          <a:xfrm>
            <a:off x="5559480" y="4827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6" name="Rectangle 74"/>
          <p:cNvSpPr/>
          <p:nvPr/>
        </p:nvSpPr>
        <p:spPr>
          <a:xfrm>
            <a:off x="5559480" y="4992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7" name="Rectangle 75"/>
          <p:cNvSpPr/>
          <p:nvPr/>
        </p:nvSpPr>
        <p:spPr>
          <a:xfrm>
            <a:off x="5559480" y="51573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8" name="Rectangle 76"/>
          <p:cNvSpPr/>
          <p:nvPr/>
        </p:nvSpPr>
        <p:spPr>
          <a:xfrm>
            <a:off x="5559480" y="53218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9" name="Rectangle 77"/>
          <p:cNvSpPr/>
          <p:nvPr/>
        </p:nvSpPr>
        <p:spPr>
          <a:xfrm>
            <a:off x="5559480" y="5486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0" name="Rectangle 78"/>
          <p:cNvSpPr/>
          <p:nvPr/>
        </p:nvSpPr>
        <p:spPr>
          <a:xfrm>
            <a:off x="5559480" y="5650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1" name="Rectangle 79"/>
          <p:cNvSpPr/>
          <p:nvPr/>
        </p:nvSpPr>
        <p:spPr>
          <a:xfrm>
            <a:off x="7178040" y="1691640"/>
            <a:ext cx="1553040" cy="501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2" name="TextBox 80"/>
          <p:cNvSpPr/>
          <p:nvPr/>
        </p:nvSpPr>
        <p:spPr>
          <a:xfrm>
            <a:off x="7178040" y="1737360"/>
            <a:ext cx="15530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Upstash Redis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3" name="TextBox 81"/>
          <p:cNvSpPr/>
          <p:nvPr/>
        </p:nvSpPr>
        <p:spPr>
          <a:xfrm>
            <a:off x="7178040" y="1947600"/>
            <a:ext cx="155304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REST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4" name="Rectangle 82"/>
          <p:cNvSpPr/>
          <p:nvPr/>
        </p:nvSpPr>
        <p:spPr>
          <a:xfrm>
            <a:off x="7936920" y="2194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5" name="Rectangle 83"/>
          <p:cNvSpPr/>
          <p:nvPr/>
        </p:nvSpPr>
        <p:spPr>
          <a:xfrm>
            <a:off x="7936920" y="23590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6" name="Rectangle 84"/>
          <p:cNvSpPr/>
          <p:nvPr/>
        </p:nvSpPr>
        <p:spPr>
          <a:xfrm>
            <a:off x="7936920" y="25236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7" name="Rectangle 85"/>
          <p:cNvSpPr/>
          <p:nvPr/>
        </p:nvSpPr>
        <p:spPr>
          <a:xfrm>
            <a:off x="7936920" y="2688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8" name="Rectangle 86"/>
          <p:cNvSpPr/>
          <p:nvPr/>
        </p:nvSpPr>
        <p:spPr>
          <a:xfrm>
            <a:off x="7936920" y="2853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9" name="Rectangle 87"/>
          <p:cNvSpPr/>
          <p:nvPr/>
        </p:nvSpPr>
        <p:spPr>
          <a:xfrm>
            <a:off x="7936920" y="30175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0" name="Rectangle 88"/>
          <p:cNvSpPr/>
          <p:nvPr/>
        </p:nvSpPr>
        <p:spPr>
          <a:xfrm>
            <a:off x="7936920" y="31820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1" name="Rectangle 89"/>
          <p:cNvSpPr/>
          <p:nvPr/>
        </p:nvSpPr>
        <p:spPr>
          <a:xfrm>
            <a:off x="7936920" y="3346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2" name="Rectangle 90"/>
          <p:cNvSpPr/>
          <p:nvPr/>
        </p:nvSpPr>
        <p:spPr>
          <a:xfrm>
            <a:off x="7936920" y="35114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3" name="Rectangle 91"/>
          <p:cNvSpPr/>
          <p:nvPr/>
        </p:nvSpPr>
        <p:spPr>
          <a:xfrm>
            <a:off x="7936920" y="3675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4" name="Rectangle 92"/>
          <p:cNvSpPr/>
          <p:nvPr/>
        </p:nvSpPr>
        <p:spPr>
          <a:xfrm>
            <a:off x="7936920" y="3840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5" name="Rectangle 93"/>
          <p:cNvSpPr/>
          <p:nvPr/>
        </p:nvSpPr>
        <p:spPr>
          <a:xfrm>
            <a:off x="7936920" y="4005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6" name="Rectangle 94"/>
          <p:cNvSpPr/>
          <p:nvPr/>
        </p:nvSpPr>
        <p:spPr>
          <a:xfrm>
            <a:off x="7936920" y="41695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7" name="Rectangle 95"/>
          <p:cNvSpPr/>
          <p:nvPr/>
        </p:nvSpPr>
        <p:spPr>
          <a:xfrm>
            <a:off x="7936920" y="4334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8" name="Rectangle 96"/>
          <p:cNvSpPr/>
          <p:nvPr/>
        </p:nvSpPr>
        <p:spPr>
          <a:xfrm>
            <a:off x="7936920" y="4498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9" name="Rectangle 97"/>
          <p:cNvSpPr/>
          <p:nvPr/>
        </p:nvSpPr>
        <p:spPr>
          <a:xfrm>
            <a:off x="7936920" y="46634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0" name="Rectangle 98"/>
          <p:cNvSpPr/>
          <p:nvPr/>
        </p:nvSpPr>
        <p:spPr>
          <a:xfrm>
            <a:off x="7936920" y="4827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1" name="Rectangle 99"/>
          <p:cNvSpPr/>
          <p:nvPr/>
        </p:nvSpPr>
        <p:spPr>
          <a:xfrm>
            <a:off x="7936920" y="4992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2" name="Rectangle 100"/>
          <p:cNvSpPr/>
          <p:nvPr/>
        </p:nvSpPr>
        <p:spPr>
          <a:xfrm>
            <a:off x="7936920" y="51573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3" name="Rectangle 101"/>
          <p:cNvSpPr/>
          <p:nvPr/>
        </p:nvSpPr>
        <p:spPr>
          <a:xfrm>
            <a:off x="7936920" y="53218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4" name="Rectangle 102"/>
          <p:cNvSpPr/>
          <p:nvPr/>
        </p:nvSpPr>
        <p:spPr>
          <a:xfrm>
            <a:off x="7936920" y="5486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5" name="Rectangle 103"/>
          <p:cNvSpPr/>
          <p:nvPr/>
        </p:nvSpPr>
        <p:spPr>
          <a:xfrm>
            <a:off x="7936920" y="5650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6" name="Rectangle 104"/>
          <p:cNvSpPr/>
          <p:nvPr/>
        </p:nvSpPr>
        <p:spPr>
          <a:xfrm>
            <a:off x="9555480" y="1691640"/>
            <a:ext cx="1553040" cy="5014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7" name="TextBox 105"/>
          <p:cNvSpPr/>
          <p:nvPr/>
        </p:nvSpPr>
        <p:spPr>
          <a:xfrm>
            <a:off x="9555480" y="1737360"/>
            <a:ext cx="15530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Client B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8" name="TextBox 106"/>
          <p:cNvSpPr/>
          <p:nvPr/>
        </p:nvSpPr>
        <p:spPr>
          <a:xfrm>
            <a:off x="9555480" y="1947600"/>
            <a:ext cx="155304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SSE listener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9" name="Rectangle 107"/>
          <p:cNvSpPr/>
          <p:nvPr/>
        </p:nvSpPr>
        <p:spPr>
          <a:xfrm>
            <a:off x="10314360" y="2194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0" name="Rectangle 108"/>
          <p:cNvSpPr/>
          <p:nvPr/>
        </p:nvSpPr>
        <p:spPr>
          <a:xfrm>
            <a:off x="10314360" y="23590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1" name="Rectangle 109"/>
          <p:cNvSpPr/>
          <p:nvPr/>
        </p:nvSpPr>
        <p:spPr>
          <a:xfrm>
            <a:off x="10314360" y="25236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2" name="Rectangle 110"/>
          <p:cNvSpPr/>
          <p:nvPr/>
        </p:nvSpPr>
        <p:spPr>
          <a:xfrm>
            <a:off x="10314360" y="2688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3" name="Rectangle 111"/>
          <p:cNvSpPr/>
          <p:nvPr/>
        </p:nvSpPr>
        <p:spPr>
          <a:xfrm>
            <a:off x="10314360" y="2853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4" name="Rectangle 112"/>
          <p:cNvSpPr/>
          <p:nvPr/>
        </p:nvSpPr>
        <p:spPr>
          <a:xfrm>
            <a:off x="10314360" y="30175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5" name="Rectangle 113"/>
          <p:cNvSpPr/>
          <p:nvPr/>
        </p:nvSpPr>
        <p:spPr>
          <a:xfrm>
            <a:off x="10314360" y="31820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6" name="Rectangle 114"/>
          <p:cNvSpPr/>
          <p:nvPr/>
        </p:nvSpPr>
        <p:spPr>
          <a:xfrm>
            <a:off x="10314360" y="3346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7" name="Rectangle 115"/>
          <p:cNvSpPr/>
          <p:nvPr/>
        </p:nvSpPr>
        <p:spPr>
          <a:xfrm>
            <a:off x="10314360" y="35114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8" name="Rectangle 116"/>
          <p:cNvSpPr/>
          <p:nvPr/>
        </p:nvSpPr>
        <p:spPr>
          <a:xfrm>
            <a:off x="10314360" y="3675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9" name="Rectangle 117"/>
          <p:cNvSpPr/>
          <p:nvPr/>
        </p:nvSpPr>
        <p:spPr>
          <a:xfrm>
            <a:off x="10314360" y="3840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0" name="Rectangle 118"/>
          <p:cNvSpPr/>
          <p:nvPr/>
        </p:nvSpPr>
        <p:spPr>
          <a:xfrm>
            <a:off x="10314360" y="4005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1" name="Rectangle 119"/>
          <p:cNvSpPr/>
          <p:nvPr/>
        </p:nvSpPr>
        <p:spPr>
          <a:xfrm>
            <a:off x="10314360" y="41695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2" name="Rectangle 120"/>
          <p:cNvSpPr/>
          <p:nvPr/>
        </p:nvSpPr>
        <p:spPr>
          <a:xfrm>
            <a:off x="10314360" y="4334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3" name="Rectangle 121"/>
          <p:cNvSpPr/>
          <p:nvPr/>
        </p:nvSpPr>
        <p:spPr>
          <a:xfrm>
            <a:off x="10314360" y="4498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4" name="Rectangle 122"/>
          <p:cNvSpPr/>
          <p:nvPr/>
        </p:nvSpPr>
        <p:spPr>
          <a:xfrm>
            <a:off x="10314360" y="46634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5" name="Rectangle 123"/>
          <p:cNvSpPr/>
          <p:nvPr/>
        </p:nvSpPr>
        <p:spPr>
          <a:xfrm>
            <a:off x="10314360" y="4827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6" name="Rectangle 124"/>
          <p:cNvSpPr/>
          <p:nvPr/>
        </p:nvSpPr>
        <p:spPr>
          <a:xfrm>
            <a:off x="10314360" y="4992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7" name="Rectangle 125"/>
          <p:cNvSpPr/>
          <p:nvPr/>
        </p:nvSpPr>
        <p:spPr>
          <a:xfrm>
            <a:off x="10314360" y="51573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8" name="Rectangle 126"/>
          <p:cNvSpPr/>
          <p:nvPr/>
        </p:nvSpPr>
        <p:spPr>
          <a:xfrm>
            <a:off x="10314360" y="53218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9" name="Rectangle 127"/>
          <p:cNvSpPr/>
          <p:nvPr/>
        </p:nvSpPr>
        <p:spPr>
          <a:xfrm>
            <a:off x="10314360" y="5486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0" name="Rectangle 128"/>
          <p:cNvSpPr/>
          <p:nvPr/>
        </p:nvSpPr>
        <p:spPr>
          <a:xfrm>
            <a:off x="10314360" y="5650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1" name="Rectangle 129"/>
          <p:cNvSpPr/>
          <p:nvPr/>
        </p:nvSpPr>
        <p:spPr>
          <a:xfrm>
            <a:off x="822960" y="2606040"/>
            <a:ext cx="2376000" cy="216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2" name="Oval 130"/>
          <p:cNvSpPr/>
          <p:nvPr/>
        </p:nvSpPr>
        <p:spPr>
          <a:xfrm>
            <a:off x="3108960" y="2571120"/>
            <a:ext cx="90000" cy="9000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9440" rIns="45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3" name="TextBox 131"/>
          <p:cNvSpPr/>
          <p:nvPr/>
        </p:nvSpPr>
        <p:spPr>
          <a:xfrm>
            <a:off x="914400" y="2313360"/>
            <a:ext cx="2284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POST /chat/send  { to, message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4" name="Rectangle 132"/>
          <p:cNvSpPr/>
          <p:nvPr/>
        </p:nvSpPr>
        <p:spPr>
          <a:xfrm>
            <a:off x="3200400" y="3063240"/>
            <a:ext cx="2376000" cy="216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5" name="Oval 133"/>
          <p:cNvSpPr/>
          <p:nvPr/>
        </p:nvSpPr>
        <p:spPr>
          <a:xfrm>
            <a:off x="5486400" y="3028320"/>
            <a:ext cx="90000" cy="9000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9440" rIns="45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6" name="TextBox 134"/>
          <p:cNvSpPr/>
          <p:nvPr/>
        </p:nvSpPr>
        <p:spPr>
          <a:xfrm>
            <a:off x="3291840" y="2770560"/>
            <a:ext cx="2284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INSERT INTO Message (via Prisma)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7" name="Rectangle 135"/>
          <p:cNvSpPr/>
          <p:nvPr/>
        </p:nvSpPr>
        <p:spPr>
          <a:xfrm>
            <a:off x="3200400" y="3485520"/>
            <a:ext cx="90000" cy="900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8" name="Rectangle 136"/>
          <p:cNvSpPr/>
          <p:nvPr/>
        </p:nvSpPr>
        <p:spPr>
          <a:xfrm>
            <a:off x="336492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9" name="Rectangle 137"/>
          <p:cNvSpPr/>
          <p:nvPr/>
        </p:nvSpPr>
        <p:spPr>
          <a:xfrm>
            <a:off x="352944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0" name="Rectangle 138"/>
          <p:cNvSpPr/>
          <p:nvPr/>
        </p:nvSpPr>
        <p:spPr>
          <a:xfrm>
            <a:off x="369432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1" name="Rectangle 139"/>
          <p:cNvSpPr/>
          <p:nvPr/>
        </p:nvSpPr>
        <p:spPr>
          <a:xfrm>
            <a:off x="385884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2" name="Rectangle 140"/>
          <p:cNvSpPr/>
          <p:nvPr/>
        </p:nvSpPr>
        <p:spPr>
          <a:xfrm>
            <a:off x="402336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3" name="Rectangle 141"/>
          <p:cNvSpPr/>
          <p:nvPr/>
        </p:nvSpPr>
        <p:spPr>
          <a:xfrm>
            <a:off x="418788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4" name="Rectangle 142"/>
          <p:cNvSpPr/>
          <p:nvPr/>
        </p:nvSpPr>
        <p:spPr>
          <a:xfrm>
            <a:off x="435240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5" name="Rectangle 143"/>
          <p:cNvSpPr/>
          <p:nvPr/>
        </p:nvSpPr>
        <p:spPr>
          <a:xfrm>
            <a:off x="451728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6" name="Rectangle 144"/>
          <p:cNvSpPr/>
          <p:nvPr/>
        </p:nvSpPr>
        <p:spPr>
          <a:xfrm>
            <a:off x="468180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7" name="Rectangle 145"/>
          <p:cNvSpPr/>
          <p:nvPr/>
        </p:nvSpPr>
        <p:spPr>
          <a:xfrm>
            <a:off x="484632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8" name="Rectangle 146"/>
          <p:cNvSpPr/>
          <p:nvPr/>
        </p:nvSpPr>
        <p:spPr>
          <a:xfrm>
            <a:off x="501084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9" name="Rectangle 147"/>
          <p:cNvSpPr/>
          <p:nvPr/>
        </p:nvSpPr>
        <p:spPr>
          <a:xfrm>
            <a:off x="517536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0" name="Rectangle 148"/>
          <p:cNvSpPr/>
          <p:nvPr/>
        </p:nvSpPr>
        <p:spPr>
          <a:xfrm>
            <a:off x="534024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1" name="Rectangle 149"/>
          <p:cNvSpPr/>
          <p:nvPr/>
        </p:nvSpPr>
        <p:spPr>
          <a:xfrm>
            <a:off x="5504760" y="3520440"/>
            <a:ext cx="7164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-21960" rIns="36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2" name="Oval 150"/>
          <p:cNvSpPr/>
          <p:nvPr/>
        </p:nvSpPr>
        <p:spPr>
          <a:xfrm>
            <a:off x="3200400" y="3485520"/>
            <a:ext cx="90000" cy="9000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9440" rIns="45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3" name="TextBox 151"/>
          <p:cNvSpPr/>
          <p:nvPr/>
        </p:nvSpPr>
        <p:spPr>
          <a:xfrm>
            <a:off x="3291840" y="3227760"/>
            <a:ext cx="2284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onsolas"/>
              </a:rPr>
              <a:t>saved message  { id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4" name="Rectangle 152"/>
          <p:cNvSpPr/>
          <p:nvPr/>
        </p:nvSpPr>
        <p:spPr>
          <a:xfrm>
            <a:off x="3200400" y="3977640"/>
            <a:ext cx="4753440" cy="216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5" name="Oval 153"/>
          <p:cNvSpPr/>
          <p:nvPr/>
        </p:nvSpPr>
        <p:spPr>
          <a:xfrm>
            <a:off x="7863840" y="3942720"/>
            <a:ext cx="90000" cy="9000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9440" rIns="45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6" name="TextBox 154"/>
          <p:cNvSpPr/>
          <p:nvPr/>
        </p:nvSpPr>
        <p:spPr>
          <a:xfrm>
            <a:off x="3291840" y="3684960"/>
            <a:ext cx="46620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SET latest:chat:&lt;from&gt;:&lt;to&gt; = msg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7" name="Rectangle 155"/>
          <p:cNvSpPr/>
          <p:nvPr/>
        </p:nvSpPr>
        <p:spPr>
          <a:xfrm>
            <a:off x="822960" y="4399920"/>
            <a:ext cx="90000" cy="90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8" name="Rectangle 156"/>
          <p:cNvSpPr/>
          <p:nvPr/>
        </p:nvSpPr>
        <p:spPr>
          <a:xfrm>
            <a:off x="98748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9" name="Rectangle 157"/>
          <p:cNvSpPr/>
          <p:nvPr/>
        </p:nvSpPr>
        <p:spPr>
          <a:xfrm>
            <a:off x="115200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0" name="Rectangle 158"/>
          <p:cNvSpPr/>
          <p:nvPr/>
        </p:nvSpPr>
        <p:spPr>
          <a:xfrm>
            <a:off x="131688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1" name="Rectangle 159"/>
          <p:cNvSpPr/>
          <p:nvPr/>
        </p:nvSpPr>
        <p:spPr>
          <a:xfrm>
            <a:off x="148140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2" name="Rectangle 160"/>
          <p:cNvSpPr/>
          <p:nvPr/>
        </p:nvSpPr>
        <p:spPr>
          <a:xfrm>
            <a:off x="164592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3" name="Rectangle 161"/>
          <p:cNvSpPr/>
          <p:nvPr/>
        </p:nvSpPr>
        <p:spPr>
          <a:xfrm>
            <a:off x="181044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4" name="Rectangle 162"/>
          <p:cNvSpPr/>
          <p:nvPr/>
        </p:nvSpPr>
        <p:spPr>
          <a:xfrm>
            <a:off x="197496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5" name="Rectangle 163"/>
          <p:cNvSpPr/>
          <p:nvPr/>
        </p:nvSpPr>
        <p:spPr>
          <a:xfrm>
            <a:off x="213984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6" name="Rectangle 164"/>
          <p:cNvSpPr/>
          <p:nvPr/>
        </p:nvSpPr>
        <p:spPr>
          <a:xfrm>
            <a:off x="230436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7" name="Rectangle 165"/>
          <p:cNvSpPr/>
          <p:nvPr/>
        </p:nvSpPr>
        <p:spPr>
          <a:xfrm>
            <a:off x="246888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8" name="Rectangle 166"/>
          <p:cNvSpPr/>
          <p:nvPr/>
        </p:nvSpPr>
        <p:spPr>
          <a:xfrm>
            <a:off x="263340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9" name="Rectangle 167"/>
          <p:cNvSpPr/>
          <p:nvPr/>
        </p:nvSpPr>
        <p:spPr>
          <a:xfrm>
            <a:off x="279792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0" name="Rectangle 168"/>
          <p:cNvSpPr/>
          <p:nvPr/>
        </p:nvSpPr>
        <p:spPr>
          <a:xfrm>
            <a:off x="296280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1" name="Rectangle 169"/>
          <p:cNvSpPr/>
          <p:nvPr/>
        </p:nvSpPr>
        <p:spPr>
          <a:xfrm>
            <a:off x="3127320" y="4434840"/>
            <a:ext cx="7164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-21960" rIns="36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2" name="Oval 170"/>
          <p:cNvSpPr/>
          <p:nvPr/>
        </p:nvSpPr>
        <p:spPr>
          <a:xfrm>
            <a:off x="822960" y="4399920"/>
            <a:ext cx="90000" cy="900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9440" rIns="45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3" name="TextBox 171"/>
          <p:cNvSpPr/>
          <p:nvPr/>
        </p:nvSpPr>
        <p:spPr>
          <a:xfrm>
            <a:off x="914400" y="4480560"/>
            <a:ext cx="2284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200 OK { status: SENT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4" name="Rectangle 172"/>
          <p:cNvSpPr/>
          <p:nvPr/>
        </p:nvSpPr>
        <p:spPr>
          <a:xfrm>
            <a:off x="7498080" y="4754880"/>
            <a:ext cx="3290400" cy="867240"/>
          </a:xfrm>
          <a:prstGeom prst="rect">
            <a:avLst/>
          </a:prstGeom>
          <a:noFill/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5" name="Rectangle 173"/>
          <p:cNvSpPr/>
          <p:nvPr/>
        </p:nvSpPr>
        <p:spPr>
          <a:xfrm>
            <a:off x="7498080" y="4754880"/>
            <a:ext cx="592920" cy="2271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6" name="TextBox 174"/>
          <p:cNvSpPr/>
          <p:nvPr/>
        </p:nvSpPr>
        <p:spPr>
          <a:xfrm>
            <a:off x="7498080" y="4754880"/>
            <a:ext cx="5929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loop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7" name="TextBox 175"/>
          <p:cNvSpPr/>
          <p:nvPr/>
        </p:nvSpPr>
        <p:spPr>
          <a:xfrm>
            <a:off x="8138160" y="4754880"/>
            <a:ext cx="2284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[polling 1s]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8" name="Rectangle 176"/>
          <p:cNvSpPr/>
          <p:nvPr/>
        </p:nvSpPr>
        <p:spPr>
          <a:xfrm>
            <a:off x="7955280" y="5120640"/>
            <a:ext cx="2376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9" name="Oval 177"/>
          <p:cNvSpPr/>
          <p:nvPr/>
        </p:nvSpPr>
        <p:spPr>
          <a:xfrm>
            <a:off x="7955280" y="5085720"/>
            <a:ext cx="90000" cy="900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9440" rIns="45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0" name="TextBox 178"/>
          <p:cNvSpPr/>
          <p:nvPr/>
        </p:nvSpPr>
        <p:spPr>
          <a:xfrm>
            <a:off x="8046720" y="4827960"/>
            <a:ext cx="2284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GET latest:chat:*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1" name="Rectangle 179"/>
          <p:cNvSpPr/>
          <p:nvPr/>
        </p:nvSpPr>
        <p:spPr>
          <a:xfrm>
            <a:off x="795528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2" name="Rectangle 180"/>
          <p:cNvSpPr/>
          <p:nvPr/>
        </p:nvSpPr>
        <p:spPr>
          <a:xfrm>
            <a:off x="811980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3" name="Rectangle 181"/>
          <p:cNvSpPr/>
          <p:nvPr/>
        </p:nvSpPr>
        <p:spPr>
          <a:xfrm>
            <a:off x="828432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4" name="Rectangle 182"/>
          <p:cNvSpPr/>
          <p:nvPr/>
        </p:nvSpPr>
        <p:spPr>
          <a:xfrm>
            <a:off x="844920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5" name="Rectangle 183"/>
          <p:cNvSpPr/>
          <p:nvPr/>
        </p:nvSpPr>
        <p:spPr>
          <a:xfrm>
            <a:off x="861372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6" name="Rectangle 184"/>
          <p:cNvSpPr/>
          <p:nvPr/>
        </p:nvSpPr>
        <p:spPr>
          <a:xfrm>
            <a:off x="877824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7" name="Rectangle 185"/>
          <p:cNvSpPr/>
          <p:nvPr/>
        </p:nvSpPr>
        <p:spPr>
          <a:xfrm>
            <a:off x="894276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8" name="Rectangle 186"/>
          <p:cNvSpPr/>
          <p:nvPr/>
        </p:nvSpPr>
        <p:spPr>
          <a:xfrm>
            <a:off x="910728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9" name="Rectangle 187"/>
          <p:cNvSpPr/>
          <p:nvPr/>
        </p:nvSpPr>
        <p:spPr>
          <a:xfrm>
            <a:off x="927216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0" name="Rectangle 188"/>
          <p:cNvSpPr/>
          <p:nvPr/>
        </p:nvSpPr>
        <p:spPr>
          <a:xfrm>
            <a:off x="943668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1" name="Rectangle 189"/>
          <p:cNvSpPr/>
          <p:nvPr/>
        </p:nvSpPr>
        <p:spPr>
          <a:xfrm>
            <a:off x="960120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2" name="Rectangle 190"/>
          <p:cNvSpPr/>
          <p:nvPr/>
        </p:nvSpPr>
        <p:spPr>
          <a:xfrm>
            <a:off x="976572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3" name="Rectangle 191"/>
          <p:cNvSpPr/>
          <p:nvPr/>
        </p:nvSpPr>
        <p:spPr>
          <a:xfrm>
            <a:off x="993024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4" name="Rectangle 192"/>
          <p:cNvSpPr/>
          <p:nvPr/>
        </p:nvSpPr>
        <p:spPr>
          <a:xfrm>
            <a:off x="1009512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5" name="Rectangle 193"/>
          <p:cNvSpPr/>
          <p:nvPr/>
        </p:nvSpPr>
        <p:spPr>
          <a:xfrm>
            <a:off x="10241280" y="5405760"/>
            <a:ext cx="90000" cy="9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360" tIns="-21960" rIns="36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6" name="Oval 194"/>
          <p:cNvSpPr/>
          <p:nvPr/>
        </p:nvSpPr>
        <p:spPr>
          <a:xfrm>
            <a:off x="10241280" y="5405760"/>
            <a:ext cx="90000" cy="900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9440" rIns="45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7" name="TextBox 195"/>
          <p:cNvSpPr/>
          <p:nvPr/>
        </p:nvSpPr>
        <p:spPr>
          <a:xfrm>
            <a:off x="8046720" y="5148000"/>
            <a:ext cx="2284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data { id, message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8" name="TextBox 19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9" name="TextBox 19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28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5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Auth — signature JWT (jose)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54" name="Shape 3"/>
          <p:cNvSpPr/>
          <p:nvPr/>
        </p:nvSpPr>
        <p:spPr>
          <a:xfrm>
            <a:off x="548640" y="1691640"/>
            <a:ext cx="7313760" cy="457056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55" name="Shape 4"/>
          <p:cNvSpPr/>
          <p:nvPr/>
        </p:nvSpPr>
        <p:spPr>
          <a:xfrm>
            <a:off x="777240" y="1874520"/>
            <a:ext cx="135720" cy="13572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56" name="Shape 5"/>
          <p:cNvSpPr/>
          <p:nvPr/>
        </p:nvSpPr>
        <p:spPr>
          <a:xfrm>
            <a:off x="960120" y="1874520"/>
            <a:ext cx="135720" cy="13572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57" name="Shape 6"/>
          <p:cNvSpPr/>
          <p:nvPr/>
        </p:nvSpPr>
        <p:spPr>
          <a:xfrm>
            <a:off x="1143000" y="1874520"/>
            <a:ext cx="135720" cy="13572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58" name="Text 7"/>
          <p:cNvSpPr/>
          <p:nvPr/>
        </p:nvSpPr>
        <p:spPr>
          <a:xfrm>
            <a:off x="1371600" y="1783080"/>
            <a:ext cx="5484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src/lib/server/user/login.ts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9" name="Text 8"/>
          <p:cNvSpPr/>
          <p:nvPr/>
        </p:nvSpPr>
        <p:spPr>
          <a:xfrm>
            <a:off x="777240" y="224028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import { SignJWT } from 'jose';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0" name="Text 9"/>
          <p:cNvSpPr/>
          <p:nvPr/>
        </p:nvSpPr>
        <p:spPr>
          <a:xfrm>
            <a:off x="777240" y="244152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import bcrypt from 'bcrypt';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1" name="Text 10"/>
          <p:cNvSpPr/>
          <p:nvPr/>
        </p:nvSpPr>
        <p:spPr>
          <a:xfrm>
            <a:off x="777240" y="264276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2" name="Text 11"/>
          <p:cNvSpPr/>
          <p:nvPr/>
        </p:nvSpPr>
        <p:spPr>
          <a:xfrm>
            <a:off x="777240" y="284364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export async function login(email: string, password: string)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3" name="Text 12"/>
          <p:cNvSpPr/>
          <p:nvPr/>
        </p:nvSpPr>
        <p:spPr>
          <a:xfrm>
            <a:off x="777240" y="304488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user = await db.user.findUnique({ where: { email }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4" name="Text 13"/>
          <p:cNvSpPr/>
          <p:nvPr/>
        </p:nvSpPr>
        <p:spPr>
          <a:xfrm>
            <a:off x="777240" y="324612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(!user) throw new AuthError('INVALID_CREDENTIALS');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5" name="Text 14"/>
          <p:cNvSpPr/>
          <p:nvPr/>
        </p:nvSpPr>
        <p:spPr>
          <a:xfrm>
            <a:off x="777240" y="344736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6" name="Text 15"/>
          <p:cNvSpPr/>
          <p:nvPr/>
        </p:nvSpPr>
        <p:spPr>
          <a:xfrm>
            <a:off x="777240" y="364860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const ok = await bcrypt.compare(password, user.password);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7" name="Text 16"/>
          <p:cNvSpPr/>
          <p:nvPr/>
        </p:nvSpPr>
        <p:spPr>
          <a:xfrm>
            <a:off x="777240" y="384948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(!ok)  throw new AuthError('INVALID_CREDENTIALS');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8" name="Text 17"/>
          <p:cNvSpPr/>
          <p:nvPr/>
        </p:nvSpPr>
        <p:spPr>
          <a:xfrm>
            <a:off x="777240" y="405072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9" name="Text 18"/>
          <p:cNvSpPr/>
          <p:nvPr/>
        </p:nvSpPr>
        <p:spPr>
          <a:xfrm>
            <a:off x="777240" y="425196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const secret = new TextEncoder().encode(process.env.JWT_SECRET);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0" name="Text 19"/>
          <p:cNvSpPr/>
          <p:nvPr/>
        </p:nvSpPr>
        <p:spPr>
          <a:xfrm>
            <a:off x="777240" y="445320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  const token  = await new SignJWT({ userId: user.id })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1" name="Text 20"/>
          <p:cNvSpPr/>
          <p:nvPr/>
        </p:nvSpPr>
        <p:spPr>
          <a:xfrm>
            <a:off x="777240" y="465444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.setProtectedHeader({ alg: 'HS256' })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2" name="Text 21"/>
          <p:cNvSpPr/>
          <p:nvPr/>
        </p:nvSpPr>
        <p:spPr>
          <a:xfrm>
            <a:off x="777240" y="485532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.setIssuedAt()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3" name="Text 22"/>
          <p:cNvSpPr/>
          <p:nvPr/>
        </p:nvSpPr>
        <p:spPr>
          <a:xfrm>
            <a:off x="777240" y="505656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.setExpirationTime('7d')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4" name="Text 23"/>
          <p:cNvSpPr/>
          <p:nvPr/>
        </p:nvSpPr>
        <p:spPr>
          <a:xfrm>
            <a:off x="777240" y="525780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.sign(secret);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5" name="Text 24"/>
          <p:cNvSpPr/>
          <p:nvPr/>
        </p:nvSpPr>
        <p:spPr>
          <a:xfrm>
            <a:off x="777240" y="545904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6" name="Text 25"/>
          <p:cNvSpPr/>
          <p:nvPr/>
        </p:nvSpPr>
        <p:spPr>
          <a:xfrm>
            <a:off x="777240" y="566028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return { token, user };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7" name="Text 26"/>
          <p:cNvSpPr/>
          <p:nvPr/>
        </p:nvSpPr>
        <p:spPr>
          <a:xfrm>
            <a:off x="777240" y="586116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8" name="Shape 27"/>
          <p:cNvSpPr/>
          <p:nvPr/>
        </p:nvSpPr>
        <p:spPr>
          <a:xfrm>
            <a:off x="8092440" y="1691640"/>
            <a:ext cx="3519000" cy="457056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79" name="Text 28"/>
          <p:cNvSpPr/>
          <p:nvPr/>
        </p:nvSpPr>
        <p:spPr>
          <a:xfrm>
            <a:off x="8275320" y="1783080"/>
            <a:ext cx="3198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0" name="Shape 29"/>
          <p:cNvSpPr/>
          <p:nvPr/>
        </p:nvSpPr>
        <p:spPr>
          <a:xfrm>
            <a:off x="8275320" y="2240280"/>
            <a:ext cx="410040" cy="41004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81" name="Text 30"/>
          <p:cNvSpPr/>
          <p:nvPr/>
        </p:nvSpPr>
        <p:spPr>
          <a:xfrm>
            <a:off x="8275320" y="22402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2" name="Text 31"/>
          <p:cNvSpPr/>
          <p:nvPr/>
        </p:nvSpPr>
        <p:spPr>
          <a:xfrm>
            <a:off x="8778240" y="21945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bcrypt.compare en temps constant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3" name="Shape 32"/>
          <p:cNvSpPr/>
          <p:nvPr/>
        </p:nvSpPr>
        <p:spPr>
          <a:xfrm>
            <a:off x="8275320" y="2880360"/>
            <a:ext cx="410040" cy="41004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84" name="Text 33"/>
          <p:cNvSpPr/>
          <p:nvPr/>
        </p:nvSpPr>
        <p:spPr>
          <a:xfrm>
            <a:off x="8275320" y="28803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5" name="Text 34"/>
          <p:cNvSpPr/>
          <p:nvPr/>
        </p:nvSpPr>
        <p:spPr>
          <a:xfrm>
            <a:off x="8778240" y="283464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Même message si user inconnu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6" name="Shape 35"/>
          <p:cNvSpPr/>
          <p:nvPr/>
        </p:nvSpPr>
        <p:spPr>
          <a:xfrm>
            <a:off x="8275320" y="3520440"/>
            <a:ext cx="410040" cy="41004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87" name="Text 36"/>
          <p:cNvSpPr/>
          <p:nvPr/>
        </p:nvSpPr>
        <p:spPr>
          <a:xfrm>
            <a:off x="8275320" y="35204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8" name="Text 37"/>
          <p:cNvSpPr/>
          <p:nvPr/>
        </p:nvSpPr>
        <p:spPr>
          <a:xfrm>
            <a:off x="8778240" y="347472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 HS256 (jose)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9" name="Shape 38"/>
          <p:cNvSpPr/>
          <p:nvPr/>
        </p:nvSpPr>
        <p:spPr>
          <a:xfrm>
            <a:off x="8275320" y="4160520"/>
            <a:ext cx="410040" cy="41004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90" name="Text 39"/>
          <p:cNvSpPr/>
          <p:nvPr/>
        </p:nvSpPr>
        <p:spPr>
          <a:xfrm>
            <a:off x="8275320" y="416052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◷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1" name="Text 40"/>
          <p:cNvSpPr/>
          <p:nvPr/>
        </p:nvSpPr>
        <p:spPr>
          <a:xfrm>
            <a:off x="8778240" y="411480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Expiration explicite 7 jours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2" name="Shape 41"/>
          <p:cNvSpPr/>
          <p:nvPr/>
        </p:nvSpPr>
        <p:spPr>
          <a:xfrm>
            <a:off x="8275320" y="4800600"/>
            <a:ext cx="410040" cy="41004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93" name="Text 42"/>
          <p:cNvSpPr/>
          <p:nvPr/>
        </p:nvSpPr>
        <p:spPr>
          <a:xfrm>
            <a:off x="8275320" y="480060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✦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4" name="Text 43"/>
          <p:cNvSpPr/>
          <p:nvPr/>
        </p:nvSpPr>
        <p:spPr>
          <a:xfrm>
            <a:off x="8778240" y="475488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Secret env var jamais commité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5" name="Shape 44"/>
          <p:cNvSpPr/>
          <p:nvPr/>
        </p:nvSpPr>
        <p:spPr>
          <a:xfrm>
            <a:off x="8275320" y="5440680"/>
            <a:ext cx="410040" cy="41004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96" name="Text 45"/>
          <p:cNvSpPr/>
          <p:nvPr/>
        </p:nvSpPr>
        <p:spPr>
          <a:xfrm>
            <a:off x="8275320" y="54406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7" name="Text 46"/>
          <p:cNvSpPr/>
          <p:nvPr/>
        </p:nvSpPr>
        <p:spPr>
          <a:xfrm>
            <a:off x="8778240" y="53949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Erreurs typées (AuthError)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9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99" name="Text 47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0" name="Text 48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29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Temps réel — Server-Sent Events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04" name="Shape 3"/>
          <p:cNvSpPr/>
          <p:nvPr/>
        </p:nvSpPr>
        <p:spPr>
          <a:xfrm>
            <a:off x="274320" y="1691640"/>
            <a:ext cx="1278720" cy="501480"/>
          </a:xfrm>
          <a:prstGeom prst="roundRect">
            <a:avLst>
              <a:gd name="adj" fmla="val 14545"/>
            </a:avLst>
          </a:prstGeom>
          <a:solidFill>
            <a:srgbClr val="EC4899">
              <a:alpha val="4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05" name="Text 4"/>
          <p:cNvSpPr/>
          <p:nvPr/>
        </p:nvSpPr>
        <p:spPr>
          <a:xfrm>
            <a:off x="274320" y="1691640"/>
            <a:ext cx="12787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A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6" name="Shape 5"/>
          <p:cNvSpPr/>
          <p:nvPr/>
        </p:nvSpPr>
        <p:spPr>
          <a:xfrm>
            <a:off x="914400" y="2194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07" name="Shape 6"/>
          <p:cNvSpPr/>
          <p:nvPr/>
        </p:nvSpPr>
        <p:spPr>
          <a:xfrm>
            <a:off x="3383280" y="1691640"/>
            <a:ext cx="1278720" cy="501480"/>
          </a:xfrm>
          <a:prstGeom prst="roundRect">
            <a:avLst>
              <a:gd name="adj" fmla="val 14545"/>
            </a:avLst>
          </a:prstGeom>
          <a:solidFill>
            <a:srgbClr val="06B6D4">
              <a:alpha val="4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08" name="Text 7"/>
          <p:cNvSpPr/>
          <p:nvPr/>
        </p:nvSpPr>
        <p:spPr>
          <a:xfrm>
            <a:off x="3383280" y="1691640"/>
            <a:ext cx="12787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9" name="Shape 8"/>
          <p:cNvSpPr/>
          <p:nvPr/>
        </p:nvSpPr>
        <p:spPr>
          <a:xfrm>
            <a:off x="4023360" y="2194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0" name="Shape 9"/>
          <p:cNvSpPr/>
          <p:nvPr/>
        </p:nvSpPr>
        <p:spPr>
          <a:xfrm>
            <a:off x="6126480" y="1691640"/>
            <a:ext cx="1278720" cy="501480"/>
          </a:xfrm>
          <a:prstGeom prst="roundRect">
            <a:avLst>
              <a:gd name="adj" fmla="val 14545"/>
            </a:avLst>
          </a:prstGeom>
          <a:solidFill>
            <a:srgbClr val="8B5CF6">
              <a:alpha val="4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1" name="Text 10"/>
          <p:cNvSpPr/>
          <p:nvPr/>
        </p:nvSpPr>
        <p:spPr>
          <a:xfrm>
            <a:off x="6126480" y="1691640"/>
            <a:ext cx="12787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2" name="Shape 11"/>
          <p:cNvSpPr/>
          <p:nvPr/>
        </p:nvSpPr>
        <p:spPr>
          <a:xfrm>
            <a:off x="6766560" y="2194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3" name="Shape 12"/>
          <p:cNvSpPr/>
          <p:nvPr/>
        </p:nvSpPr>
        <p:spPr>
          <a:xfrm>
            <a:off x="8503920" y="1691640"/>
            <a:ext cx="1278720" cy="501480"/>
          </a:xfrm>
          <a:prstGeom prst="roundRect">
            <a:avLst>
              <a:gd name="adj" fmla="val 14545"/>
            </a:avLst>
          </a:prstGeom>
          <a:solidFill>
            <a:srgbClr val="F59E0B">
              <a:alpha val="4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4" name="Text 13"/>
          <p:cNvSpPr/>
          <p:nvPr/>
        </p:nvSpPr>
        <p:spPr>
          <a:xfrm>
            <a:off x="8503920" y="1691640"/>
            <a:ext cx="12787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Redis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5" name="Shape 14"/>
          <p:cNvSpPr/>
          <p:nvPr/>
        </p:nvSpPr>
        <p:spPr>
          <a:xfrm>
            <a:off x="9144000" y="2194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6" name="Shape 15"/>
          <p:cNvSpPr/>
          <p:nvPr/>
        </p:nvSpPr>
        <p:spPr>
          <a:xfrm>
            <a:off x="10881360" y="1691640"/>
            <a:ext cx="1278720" cy="501480"/>
          </a:xfrm>
          <a:prstGeom prst="roundRect">
            <a:avLst>
              <a:gd name="adj" fmla="val 14545"/>
            </a:avLst>
          </a:prstGeom>
          <a:solidFill>
            <a:srgbClr val="10B981">
              <a:alpha val="4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7" name="Text 16"/>
          <p:cNvSpPr/>
          <p:nvPr/>
        </p:nvSpPr>
        <p:spPr>
          <a:xfrm>
            <a:off x="10881360" y="1691640"/>
            <a:ext cx="12787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B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(SSE)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8" name="Shape 17"/>
          <p:cNvSpPr/>
          <p:nvPr/>
        </p:nvSpPr>
        <p:spPr>
          <a:xfrm>
            <a:off x="11521440" y="2194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9" name="Shape 18"/>
          <p:cNvSpPr/>
          <p:nvPr/>
        </p:nvSpPr>
        <p:spPr>
          <a:xfrm>
            <a:off x="914400" y="2651760"/>
            <a:ext cx="310896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20" name="Text 19"/>
          <p:cNvSpPr/>
          <p:nvPr/>
        </p:nvSpPr>
        <p:spPr>
          <a:xfrm>
            <a:off x="914400" y="2359080"/>
            <a:ext cx="31075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POST /api/private/chat/send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1" name="Shape 20"/>
          <p:cNvSpPr/>
          <p:nvPr/>
        </p:nvSpPr>
        <p:spPr>
          <a:xfrm>
            <a:off x="4023360" y="3063240"/>
            <a:ext cx="274320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22" name="Text 21"/>
          <p:cNvSpPr/>
          <p:nvPr/>
        </p:nvSpPr>
        <p:spPr>
          <a:xfrm>
            <a:off x="4023360" y="2770560"/>
            <a:ext cx="2741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INSERT message (Prisma)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3" name="Shape 22"/>
          <p:cNvSpPr/>
          <p:nvPr/>
        </p:nvSpPr>
        <p:spPr>
          <a:xfrm>
            <a:off x="4023360" y="3474720"/>
            <a:ext cx="5120640" cy="360"/>
          </a:xfrm>
          <a:prstGeom prst="line">
            <a:avLst/>
          </a:prstGeom>
          <a:ln w="25400">
            <a:solidFill>
              <a:srgbClr val="F59E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24" name="Text 23"/>
          <p:cNvSpPr/>
          <p:nvPr/>
        </p:nvSpPr>
        <p:spPr>
          <a:xfrm>
            <a:off x="4023360" y="3182040"/>
            <a:ext cx="5119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SET latest:chat:{from}:{to}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5" name="Shape 24"/>
          <p:cNvSpPr/>
          <p:nvPr/>
        </p:nvSpPr>
        <p:spPr>
          <a:xfrm flipH="1">
            <a:off x="914400" y="3886200"/>
            <a:ext cx="3108960" cy="360"/>
          </a:xfrm>
          <a:prstGeom prst="line">
            <a:avLst/>
          </a:prstGeom>
          <a:ln w="25400">
            <a:solidFill>
              <a:srgbClr val="10B981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26" name="Text 25"/>
          <p:cNvSpPr/>
          <p:nvPr/>
        </p:nvSpPr>
        <p:spPr>
          <a:xfrm>
            <a:off x="914400" y="3593520"/>
            <a:ext cx="31075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200 OK status SENT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7" name="Shape 26"/>
          <p:cNvSpPr/>
          <p:nvPr/>
        </p:nvSpPr>
        <p:spPr>
          <a:xfrm flipH="1">
            <a:off x="9144000" y="4343400"/>
            <a:ext cx="2377440" cy="360"/>
          </a:xfrm>
          <a:prstGeom prst="line">
            <a:avLst/>
          </a:prstGeom>
          <a:ln w="25400">
            <a:solidFill>
              <a:srgbClr val="10B981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28" name="Text 27"/>
          <p:cNvSpPr/>
          <p:nvPr/>
        </p:nvSpPr>
        <p:spPr>
          <a:xfrm>
            <a:off x="9144000" y="4050720"/>
            <a:ext cx="23760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GET latest:chat:* (polling REST)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9" name="Shape 28"/>
          <p:cNvSpPr/>
          <p:nvPr/>
        </p:nvSpPr>
        <p:spPr>
          <a:xfrm>
            <a:off x="9144000" y="4754880"/>
            <a:ext cx="2377440" cy="360"/>
          </a:xfrm>
          <a:prstGeom prst="line">
            <a:avLst/>
          </a:prstGeom>
          <a:ln w="25400">
            <a:solidFill>
              <a:srgbClr val="F59E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30" name="Text 29"/>
          <p:cNvSpPr/>
          <p:nvPr/>
        </p:nvSpPr>
        <p:spPr>
          <a:xfrm>
            <a:off x="9144000" y="4462200"/>
            <a:ext cx="23760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payload SSE  data: {...}\n\n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1" name="Shape 30"/>
          <p:cNvSpPr/>
          <p:nvPr/>
        </p:nvSpPr>
        <p:spPr>
          <a:xfrm>
            <a:off x="548640" y="5349240"/>
            <a:ext cx="11062800" cy="958680"/>
          </a:xfrm>
          <a:prstGeom prst="roundRect">
            <a:avLst>
              <a:gd name="adj" fmla="val 761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32" name="Text 31"/>
          <p:cNvSpPr/>
          <p:nvPr/>
        </p:nvSpPr>
        <p:spPr>
          <a:xfrm>
            <a:off x="777240" y="5440680"/>
            <a:ext cx="1060560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Compromis assumé · Upstash Redis est un service REST (pas de pub/sub TCP) : on poll la clé latest:chat:* depuis l'endpoint SSE, ce qui reste compatible avec Vercel serverless et suffit pour le volume du projet. Roadmap : Redis classique en pub/sub si la charge augmente.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3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34" name="Text 32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5" name="Text 33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30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6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7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SSE — endpoint /chat/listen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8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39" name="Shape 3"/>
          <p:cNvSpPr/>
          <p:nvPr/>
        </p:nvSpPr>
        <p:spPr>
          <a:xfrm>
            <a:off x="548640" y="1691640"/>
            <a:ext cx="7313760" cy="457056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40" name="Shape 4"/>
          <p:cNvSpPr/>
          <p:nvPr/>
        </p:nvSpPr>
        <p:spPr>
          <a:xfrm>
            <a:off x="777240" y="1874520"/>
            <a:ext cx="135720" cy="13572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41" name="Shape 5"/>
          <p:cNvSpPr/>
          <p:nvPr/>
        </p:nvSpPr>
        <p:spPr>
          <a:xfrm>
            <a:off x="960120" y="1874520"/>
            <a:ext cx="135720" cy="13572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42" name="Shape 6"/>
          <p:cNvSpPr/>
          <p:nvPr/>
        </p:nvSpPr>
        <p:spPr>
          <a:xfrm>
            <a:off x="1143000" y="1874520"/>
            <a:ext cx="135720" cy="13572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43" name="Text 7"/>
          <p:cNvSpPr/>
          <p:nvPr/>
        </p:nvSpPr>
        <p:spPr>
          <a:xfrm>
            <a:off x="1371600" y="1783080"/>
            <a:ext cx="5484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src/app/api/private/chat/listen/route.ts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4" name="Text 8"/>
          <p:cNvSpPr/>
          <p:nvPr/>
        </p:nvSpPr>
        <p:spPr>
          <a:xfrm>
            <a:off x="777240" y="224028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export async function GET(req: NextRequest)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5" name="Text 9"/>
          <p:cNvSpPr/>
          <p:nvPr/>
        </p:nvSpPr>
        <p:spPr>
          <a:xfrm>
            <a:off x="777240" y="238212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const userId = await getUserIdFromRequest(req);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6" name="Text 10"/>
          <p:cNvSpPr/>
          <p:nvPr/>
        </p:nvSpPr>
        <p:spPr>
          <a:xfrm>
            <a:off x="777240" y="252360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(!userId) return new Response('Unauthorized', { status: 401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7" name="Text 11"/>
          <p:cNvSpPr/>
          <p:nvPr/>
        </p:nvSpPr>
        <p:spPr>
          <a:xfrm>
            <a:off x="777240" y="266544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8" name="Text 12"/>
          <p:cNvSpPr/>
          <p:nvPr/>
        </p:nvSpPr>
        <p:spPr>
          <a:xfrm>
            <a:off x="777240" y="280728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{ conversationId, type } = parseParams(req.url);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9" name="Text 13"/>
          <p:cNvSpPr/>
          <p:nvPr/>
        </p:nvSpPr>
        <p:spPr>
          <a:xfrm>
            <a:off x="777240" y="294912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0" name="Text 14"/>
          <p:cNvSpPr/>
          <p:nvPr/>
        </p:nvSpPr>
        <p:spPr>
          <a:xfrm>
            <a:off x="777240" y="309060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  const stream = new ReadableStream({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1" name="Text 15"/>
          <p:cNvSpPr/>
          <p:nvPr/>
        </p:nvSpPr>
        <p:spPr>
          <a:xfrm>
            <a:off x="777240" y="323244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  start(controller)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2" name="Text 16"/>
          <p:cNvSpPr/>
          <p:nvPr/>
        </p:nvSpPr>
        <p:spPr>
          <a:xfrm>
            <a:off x="777240" y="337428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  const enc = new TextEncoder();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3" name="Text 17"/>
          <p:cNvSpPr/>
          <p:nvPr/>
        </p:nvSpPr>
        <p:spPr>
          <a:xfrm>
            <a:off x="777240" y="351576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controller.enqueue(enc.encode('data: {"type":"connected"}\n\n'));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4" name="Text 18"/>
          <p:cNvSpPr/>
          <p:nvPr/>
        </p:nvSpPr>
        <p:spPr>
          <a:xfrm>
            <a:off x="777240" y="365760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5" name="Text 19"/>
          <p:cNvSpPr/>
          <p:nvPr/>
        </p:nvSpPr>
        <p:spPr>
          <a:xfrm>
            <a:off x="777240" y="379944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  let active = true, lastId = '';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6" name="Text 20"/>
          <p:cNvSpPr/>
          <p:nvPr/>
        </p:nvSpPr>
        <p:spPr>
          <a:xfrm>
            <a:off x="777240" y="394092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(async function poll()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7" name="Text 21"/>
          <p:cNvSpPr/>
          <p:nvPr/>
        </p:nvSpPr>
        <p:spPr>
          <a:xfrm>
            <a:off x="777240" y="408276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while (active)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8" name="Text 22"/>
          <p:cNvSpPr/>
          <p:nvPr/>
        </p:nvSpPr>
        <p:spPr>
          <a:xfrm>
            <a:off x="777240" y="422460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    const key = `latest:chat:${userId}:${conversationId}`;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9" name="Text 23"/>
          <p:cNvSpPr/>
          <p:nvPr/>
        </p:nvSpPr>
        <p:spPr>
          <a:xfrm>
            <a:off x="777240" y="436644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    const data = await redis.get(key);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0" name="Text 24"/>
          <p:cNvSpPr/>
          <p:nvPr/>
        </p:nvSpPr>
        <p:spPr>
          <a:xfrm>
            <a:off x="777240" y="450792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  if (data &amp;&amp; data.id !== lastId)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1" name="Text 25"/>
          <p:cNvSpPr/>
          <p:nvPr/>
        </p:nvSpPr>
        <p:spPr>
          <a:xfrm>
            <a:off x="777240" y="464976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        lastId = data.id;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2" name="Text 26"/>
          <p:cNvSpPr/>
          <p:nvPr/>
        </p:nvSpPr>
        <p:spPr>
          <a:xfrm>
            <a:off x="777240" y="479160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      controller.enqueue(enc.encode(`data: ${JSON.stringify(data)}\n\n`));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3" name="Text 27"/>
          <p:cNvSpPr/>
          <p:nvPr/>
        </p:nvSpPr>
        <p:spPr>
          <a:xfrm>
            <a:off x="777240" y="493308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  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4" name="Text 28"/>
          <p:cNvSpPr/>
          <p:nvPr/>
        </p:nvSpPr>
        <p:spPr>
          <a:xfrm>
            <a:off x="777240" y="507492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      await sleep(1000);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5" name="Text 29"/>
          <p:cNvSpPr/>
          <p:nvPr/>
        </p:nvSpPr>
        <p:spPr>
          <a:xfrm>
            <a:off x="777240" y="521676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6" name="Text 30"/>
          <p:cNvSpPr/>
          <p:nvPr/>
        </p:nvSpPr>
        <p:spPr>
          <a:xfrm>
            <a:off x="777240" y="535824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})();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7" name="Text 31"/>
          <p:cNvSpPr/>
          <p:nvPr/>
        </p:nvSpPr>
        <p:spPr>
          <a:xfrm>
            <a:off x="777240" y="550008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  req.signal.addEventListener('abort', () =&gt; { active = false; controller.close();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8" name="Text 32"/>
          <p:cNvSpPr/>
          <p:nvPr/>
        </p:nvSpPr>
        <p:spPr>
          <a:xfrm>
            <a:off x="777240" y="564192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  },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9" name="Text 33"/>
          <p:cNvSpPr/>
          <p:nvPr/>
        </p:nvSpPr>
        <p:spPr>
          <a:xfrm>
            <a:off x="777240" y="578376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 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0" name="Text 34"/>
          <p:cNvSpPr/>
          <p:nvPr/>
        </p:nvSpPr>
        <p:spPr>
          <a:xfrm>
            <a:off x="777240" y="592524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return new Response(stream, { headers: { 'Content-Type': 'text/event-stream' }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1" name="Text 35"/>
          <p:cNvSpPr/>
          <p:nvPr/>
        </p:nvSpPr>
        <p:spPr>
          <a:xfrm>
            <a:off x="777240" y="606708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2" name="Shape 36"/>
          <p:cNvSpPr/>
          <p:nvPr/>
        </p:nvSpPr>
        <p:spPr>
          <a:xfrm>
            <a:off x="8092440" y="1691640"/>
            <a:ext cx="3519000" cy="457056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73" name="Text 37"/>
          <p:cNvSpPr/>
          <p:nvPr/>
        </p:nvSpPr>
        <p:spPr>
          <a:xfrm>
            <a:off x="8275320" y="1783080"/>
            <a:ext cx="3198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Mécanique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4" name="Shape 38"/>
          <p:cNvSpPr/>
          <p:nvPr/>
        </p:nvSpPr>
        <p:spPr>
          <a:xfrm>
            <a:off x="8275320" y="2240280"/>
            <a:ext cx="410040" cy="41004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75" name="Text 39"/>
          <p:cNvSpPr/>
          <p:nvPr/>
        </p:nvSpPr>
        <p:spPr>
          <a:xfrm>
            <a:off x="8275320" y="22402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▶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6" name="Text 40"/>
          <p:cNvSpPr/>
          <p:nvPr/>
        </p:nvSpPr>
        <p:spPr>
          <a:xfrm>
            <a:off x="8778240" y="21945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ReadableStream Web standard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7" name="Shape 41"/>
          <p:cNvSpPr/>
          <p:nvPr/>
        </p:nvSpPr>
        <p:spPr>
          <a:xfrm>
            <a:off x="8275320" y="2880360"/>
            <a:ext cx="410040" cy="41004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78" name="Text 42"/>
          <p:cNvSpPr/>
          <p:nvPr/>
        </p:nvSpPr>
        <p:spPr>
          <a:xfrm>
            <a:off x="8275320" y="28803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↻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9" name="Text 43"/>
          <p:cNvSpPr/>
          <p:nvPr/>
        </p:nvSpPr>
        <p:spPr>
          <a:xfrm>
            <a:off x="8778240" y="283464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Polling Redis 1s (REST)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0" name="Shape 44"/>
          <p:cNvSpPr/>
          <p:nvPr/>
        </p:nvSpPr>
        <p:spPr>
          <a:xfrm>
            <a:off x="8275320" y="3520440"/>
            <a:ext cx="410040" cy="41004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81" name="Text 45"/>
          <p:cNvSpPr/>
          <p:nvPr/>
        </p:nvSpPr>
        <p:spPr>
          <a:xfrm>
            <a:off x="8275320" y="35204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✦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2" name="Text 46"/>
          <p:cNvSpPr/>
          <p:nvPr/>
        </p:nvSpPr>
        <p:spPr>
          <a:xfrm>
            <a:off x="8778240" y="347472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Clé latest:chat:&lt;from&gt;:&lt;to&gt;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3" name="Shape 47"/>
          <p:cNvSpPr/>
          <p:nvPr/>
        </p:nvSpPr>
        <p:spPr>
          <a:xfrm>
            <a:off x="8275320" y="4160520"/>
            <a:ext cx="410040" cy="41004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84" name="Text 48"/>
          <p:cNvSpPr/>
          <p:nvPr/>
        </p:nvSpPr>
        <p:spPr>
          <a:xfrm>
            <a:off x="8275320" y="416052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5" name="Text 49"/>
          <p:cNvSpPr/>
          <p:nvPr/>
        </p:nvSpPr>
        <p:spPr>
          <a:xfrm>
            <a:off x="8778240" y="411480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Déduplication par lastId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6" name="Shape 50"/>
          <p:cNvSpPr/>
          <p:nvPr/>
        </p:nvSpPr>
        <p:spPr>
          <a:xfrm>
            <a:off x="8275320" y="4800600"/>
            <a:ext cx="410040" cy="41004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87" name="Text 51"/>
          <p:cNvSpPr/>
          <p:nvPr/>
        </p:nvSpPr>
        <p:spPr>
          <a:xfrm>
            <a:off x="8275320" y="480060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⊘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8" name="Text 52"/>
          <p:cNvSpPr/>
          <p:nvPr/>
        </p:nvSpPr>
        <p:spPr>
          <a:xfrm>
            <a:off x="8778240" y="475488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abort → cleanup poll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9" name="Shape 53"/>
          <p:cNvSpPr/>
          <p:nvPr/>
        </p:nvSpPr>
        <p:spPr>
          <a:xfrm>
            <a:off x="8275320" y="5440680"/>
            <a:ext cx="410040" cy="41004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90" name="Text 54"/>
          <p:cNvSpPr/>
          <p:nvPr/>
        </p:nvSpPr>
        <p:spPr>
          <a:xfrm>
            <a:off x="8275320" y="54406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1" name="Text 55"/>
          <p:cNvSpPr/>
          <p:nvPr/>
        </p:nvSpPr>
        <p:spPr>
          <a:xfrm>
            <a:off x="8778240" y="53949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userId injecté par middleware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9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93" name="Text 5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4" name="Text 5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31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5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6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API · 60+ endpoints REST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7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98" name="Shape 3"/>
          <p:cNvSpPr/>
          <p:nvPr/>
        </p:nvSpPr>
        <p:spPr>
          <a:xfrm>
            <a:off x="457200" y="169164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99" name="Shape 4"/>
          <p:cNvSpPr/>
          <p:nvPr/>
        </p:nvSpPr>
        <p:spPr>
          <a:xfrm>
            <a:off x="457200" y="1691640"/>
            <a:ext cx="71640" cy="2238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0" name="Text 5"/>
          <p:cNvSpPr/>
          <p:nvPr/>
        </p:nvSpPr>
        <p:spPr>
          <a:xfrm>
            <a:off x="685800" y="178308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Auth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1" name="Shape 6"/>
          <p:cNvSpPr/>
          <p:nvPr/>
        </p:nvSpPr>
        <p:spPr>
          <a:xfrm>
            <a:off x="685800" y="219456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2" name="Text 7"/>
          <p:cNvSpPr/>
          <p:nvPr/>
        </p:nvSpPr>
        <p:spPr>
          <a:xfrm>
            <a:off x="685800" y="219456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3" name="Text 8"/>
          <p:cNvSpPr/>
          <p:nvPr/>
        </p:nvSpPr>
        <p:spPr>
          <a:xfrm>
            <a:off x="1325880" y="219456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/api/public/auth/register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4" name="Shape 9"/>
          <p:cNvSpPr/>
          <p:nvPr/>
        </p:nvSpPr>
        <p:spPr>
          <a:xfrm>
            <a:off x="685800" y="260604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5" name="Text 10"/>
          <p:cNvSpPr/>
          <p:nvPr/>
        </p:nvSpPr>
        <p:spPr>
          <a:xfrm>
            <a:off x="685800" y="260604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6" name="Text 11"/>
          <p:cNvSpPr/>
          <p:nvPr/>
        </p:nvSpPr>
        <p:spPr>
          <a:xfrm>
            <a:off x="1325880" y="260604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/api/public/auth/login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7" name="Shape 12"/>
          <p:cNvSpPr/>
          <p:nvPr/>
        </p:nvSpPr>
        <p:spPr>
          <a:xfrm>
            <a:off x="685800" y="301752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8" name="Text 13"/>
          <p:cNvSpPr/>
          <p:nvPr/>
        </p:nvSpPr>
        <p:spPr>
          <a:xfrm>
            <a:off x="685800" y="301752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9" name="Text 14"/>
          <p:cNvSpPr/>
          <p:nvPr/>
        </p:nvSpPr>
        <p:spPr>
          <a:xfrm>
            <a:off x="1325880" y="301752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/api/public/auth/logout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0" name="Shape 15"/>
          <p:cNvSpPr/>
          <p:nvPr/>
        </p:nvSpPr>
        <p:spPr>
          <a:xfrm>
            <a:off x="685800" y="342900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1" name="Text 16"/>
          <p:cNvSpPr/>
          <p:nvPr/>
        </p:nvSpPr>
        <p:spPr>
          <a:xfrm>
            <a:off x="685800" y="342900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2" name="Text 17"/>
          <p:cNvSpPr/>
          <p:nvPr/>
        </p:nvSpPr>
        <p:spPr>
          <a:xfrm>
            <a:off x="1325880" y="342900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/api/public/auth/callback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3" name="Shape 18"/>
          <p:cNvSpPr/>
          <p:nvPr/>
        </p:nvSpPr>
        <p:spPr>
          <a:xfrm>
            <a:off x="4251960" y="169164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4" name="Shape 19"/>
          <p:cNvSpPr/>
          <p:nvPr/>
        </p:nvSpPr>
        <p:spPr>
          <a:xfrm>
            <a:off x="4251960" y="1691640"/>
            <a:ext cx="71640" cy="223884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5" name="Text 20"/>
          <p:cNvSpPr/>
          <p:nvPr/>
        </p:nvSpPr>
        <p:spPr>
          <a:xfrm>
            <a:off x="4480560" y="178308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User &amp; Profil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6" name="Shape 21"/>
          <p:cNvSpPr/>
          <p:nvPr/>
        </p:nvSpPr>
        <p:spPr>
          <a:xfrm>
            <a:off x="4480560" y="219456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7" name="Text 22"/>
          <p:cNvSpPr/>
          <p:nvPr/>
        </p:nvSpPr>
        <p:spPr>
          <a:xfrm>
            <a:off x="4480560" y="219456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8" name="Text 23"/>
          <p:cNvSpPr/>
          <p:nvPr/>
        </p:nvSpPr>
        <p:spPr>
          <a:xfrm>
            <a:off x="5120640" y="219456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/api/private/me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9" name="Shape 24"/>
          <p:cNvSpPr/>
          <p:nvPr/>
        </p:nvSpPr>
        <p:spPr>
          <a:xfrm>
            <a:off x="4480560" y="260604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0" name="Text 25"/>
          <p:cNvSpPr/>
          <p:nvPr/>
        </p:nvSpPr>
        <p:spPr>
          <a:xfrm>
            <a:off x="4480560" y="260604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PUT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1" name="Text 26"/>
          <p:cNvSpPr/>
          <p:nvPr/>
        </p:nvSpPr>
        <p:spPr>
          <a:xfrm>
            <a:off x="5120640" y="260604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/api/private/me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2" name="Shape 27"/>
          <p:cNvSpPr/>
          <p:nvPr/>
        </p:nvSpPr>
        <p:spPr>
          <a:xfrm>
            <a:off x="4480560" y="301752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3" name="Text 28"/>
          <p:cNvSpPr/>
          <p:nvPr/>
        </p:nvSpPr>
        <p:spPr>
          <a:xfrm>
            <a:off x="4480560" y="301752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4" name="Text 29"/>
          <p:cNvSpPr/>
          <p:nvPr/>
        </p:nvSpPr>
        <p:spPr>
          <a:xfrm>
            <a:off x="5120640" y="301752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/api/private/friend-requests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5" name="Shape 30"/>
          <p:cNvSpPr/>
          <p:nvPr/>
        </p:nvSpPr>
        <p:spPr>
          <a:xfrm>
            <a:off x="4480560" y="342900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6" name="Text 31"/>
          <p:cNvSpPr/>
          <p:nvPr/>
        </p:nvSpPr>
        <p:spPr>
          <a:xfrm>
            <a:off x="4480560" y="342900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7" name="Text 32"/>
          <p:cNvSpPr/>
          <p:nvPr/>
        </p:nvSpPr>
        <p:spPr>
          <a:xfrm>
            <a:off x="5120640" y="342900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/api/private/friend-requests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8" name="Shape 33"/>
          <p:cNvSpPr/>
          <p:nvPr/>
        </p:nvSpPr>
        <p:spPr>
          <a:xfrm>
            <a:off x="8046720" y="169164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9" name="Shape 34"/>
          <p:cNvSpPr/>
          <p:nvPr/>
        </p:nvSpPr>
        <p:spPr>
          <a:xfrm>
            <a:off x="8046720" y="1691640"/>
            <a:ext cx="71640" cy="223884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0" name="Text 35"/>
          <p:cNvSpPr/>
          <p:nvPr/>
        </p:nvSpPr>
        <p:spPr>
          <a:xfrm>
            <a:off x="8275320" y="178308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Contenu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1" name="Shape 36"/>
          <p:cNvSpPr/>
          <p:nvPr/>
        </p:nvSpPr>
        <p:spPr>
          <a:xfrm>
            <a:off x="8275320" y="219456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2" name="Text 37"/>
          <p:cNvSpPr/>
          <p:nvPr/>
        </p:nvSpPr>
        <p:spPr>
          <a:xfrm>
            <a:off x="8275320" y="219456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3" name="Text 38"/>
          <p:cNvSpPr/>
          <p:nvPr/>
        </p:nvSpPr>
        <p:spPr>
          <a:xfrm>
            <a:off x="8915400" y="219456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4" name="Shape 39"/>
          <p:cNvSpPr/>
          <p:nvPr/>
        </p:nvSpPr>
        <p:spPr>
          <a:xfrm>
            <a:off x="8275320" y="260604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5" name="Text 40"/>
          <p:cNvSpPr/>
          <p:nvPr/>
        </p:nvSpPr>
        <p:spPr>
          <a:xfrm>
            <a:off x="8275320" y="260604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6" name="Text 41"/>
          <p:cNvSpPr/>
          <p:nvPr/>
        </p:nvSpPr>
        <p:spPr>
          <a:xfrm>
            <a:off x="8915400" y="260604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7" name="Shape 42"/>
          <p:cNvSpPr/>
          <p:nvPr/>
        </p:nvSpPr>
        <p:spPr>
          <a:xfrm>
            <a:off x="8275320" y="301752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8" name="Text 43"/>
          <p:cNvSpPr/>
          <p:nvPr/>
        </p:nvSpPr>
        <p:spPr>
          <a:xfrm>
            <a:off x="8275320" y="301752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9" name="Text 44"/>
          <p:cNvSpPr/>
          <p:nvPr/>
        </p:nvSpPr>
        <p:spPr>
          <a:xfrm>
            <a:off x="8915400" y="301752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/api/private/stories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0" name="Shape 45"/>
          <p:cNvSpPr/>
          <p:nvPr/>
        </p:nvSpPr>
        <p:spPr>
          <a:xfrm>
            <a:off x="8275320" y="342900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41" name="Text 46"/>
          <p:cNvSpPr/>
          <p:nvPr/>
        </p:nvSpPr>
        <p:spPr>
          <a:xfrm>
            <a:off x="8275320" y="342900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2" name="Text 47"/>
          <p:cNvSpPr/>
          <p:nvPr/>
        </p:nvSpPr>
        <p:spPr>
          <a:xfrm>
            <a:off x="8915400" y="342900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/api/private/stories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3" name="Shape 48"/>
          <p:cNvSpPr/>
          <p:nvPr/>
        </p:nvSpPr>
        <p:spPr>
          <a:xfrm>
            <a:off x="457200" y="406908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44" name="Shape 49"/>
          <p:cNvSpPr/>
          <p:nvPr/>
        </p:nvSpPr>
        <p:spPr>
          <a:xfrm>
            <a:off x="457200" y="4069080"/>
            <a:ext cx="71640" cy="223884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45" name="Text 50"/>
          <p:cNvSpPr/>
          <p:nvPr/>
        </p:nvSpPr>
        <p:spPr>
          <a:xfrm>
            <a:off x="685800" y="416052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Messagerie &amp; Temps réel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6" name="Shape 51"/>
          <p:cNvSpPr/>
          <p:nvPr/>
        </p:nvSpPr>
        <p:spPr>
          <a:xfrm>
            <a:off x="685800" y="457200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47" name="Text 52"/>
          <p:cNvSpPr/>
          <p:nvPr/>
        </p:nvSpPr>
        <p:spPr>
          <a:xfrm>
            <a:off x="685800" y="457200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8" name="Text 53"/>
          <p:cNvSpPr/>
          <p:nvPr/>
        </p:nvSpPr>
        <p:spPr>
          <a:xfrm>
            <a:off x="1325880" y="457200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/api/private/conversations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9" name="Shape 54"/>
          <p:cNvSpPr/>
          <p:nvPr/>
        </p:nvSpPr>
        <p:spPr>
          <a:xfrm>
            <a:off x="685800" y="498348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0" name="Text 55"/>
          <p:cNvSpPr/>
          <p:nvPr/>
        </p:nvSpPr>
        <p:spPr>
          <a:xfrm>
            <a:off x="685800" y="498348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1" name="Text 56"/>
          <p:cNvSpPr/>
          <p:nvPr/>
        </p:nvSpPr>
        <p:spPr>
          <a:xfrm>
            <a:off x="1325880" y="498348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/api/private/chat/send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2" name="Shape 57"/>
          <p:cNvSpPr/>
          <p:nvPr/>
        </p:nvSpPr>
        <p:spPr>
          <a:xfrm>
            <a:off x="685800" y="539496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3" name="Text 58"/>
          <p:cNvSpPr/>
          <p:nvPr/>
        </p:nvSpPr>
        <p:spPr>
          <a:xfrm>
            <a:off x="685800" y="539496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SSE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4" name="Text 59"/>
          <p:cNvSpPr/>
          <p:nvPr/>
        </p:nvSpPr>
        <p:spPr>
          <a:xfrm>
            <a:off x="1325880" y="539496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/api/private/chat/listen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5" name="Shape 60"/>
          <p:cNvSpPr/>
          <p:nvPr/>
        </p:nvSpPr>
        <p:spPr>
          <a:xfrm>
            <a:off x="685800" y="580644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6" name="Text 61"/>
          <p:cNvSpPr/>
          <p:nvPr/>
        </p:nvSpPr>
        <p:spPr>
          <a:xfrm>
            <a:off x="685800" y="580644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SSE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7" name="Text 62"/>
          <p:cNvSpPr/>
          <p:nvPr/>
        </p:nvSpPr>
        <p:spPr>
          <a:xfrm>
            <a:off x="1325880" y="580644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/api/private/chat/typing/listen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8" name="Shape 63"/>
          <p:cNvSpPr/>
          <p:nvPr/>
        </p:nvSpPr>
        <p:spPr>
          <a:xfrm>
            <a:off x="4251960" y="406908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9" name="Shape 64"/>
          <p:cNvSpPr/>
          <p:nvPr/>
        </p:nvSpPr>
        <p:spPr>
          <a:xfrm>
            <a:off x="4251960" y="4069080"/>
            <a:ext cx="71640" cy="223884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0" name="Text 65"/>
          <p:cNvSpPr/>
          <p:nvPr/>
        </p:nvSpPr>
        <p:spPr>
          <a:xfrm>
            <a:off x="4480560" y="416052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Communautés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1" name="Shape 66"/>
          <p:cNvSpPr/>
          <p:nvPr/>
        </p:nvSpPr>
        <p:spPr>
          <a:xfrm>
            <a:off x="4480560" y="457200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2" name="Text 67"/>
          <p:cNvSpPr/>
          <p:nvPr/>
        </p:nvSpPr>
        <p:spPr>
          <a:xfrm>
            <a:off x="4480560" y="457200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3" name="Text 68"/>
          <p:cNvSpPr/>
          <p:nvPr/>
        </p:nvSpPr>
        <p:spPr>
          <a:xfrm>
            <a:off x="5120640" y="457200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/api/private/groups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4" name="Shape 69"/>
          <p:cNvSpPr/>
          <p:nvPr/>
        </p:nvSpPr>
        <p:spPr>
          <a:xfrm>
            <a:off x="4480560" y="498348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5" name="Text 70"/>
          <p:cNvSpPr/>
          <p:nvPr/>
        </p:nvSpPr>
        <p:spPr>
          <a:xfrm>
            <a:off x="4480560" y="498348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6" name="Text 71"/>
          <p:cNvSpPr/>
          <p:nvPr/>
        </p:nvSpPr>
        <p:spPr>
          <a:xfrm>
            <a:off x="5120640" y="498348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/api/private/groups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7" name="Shape 72"/>
          <p:cNvSpPr/>
          <p:nvPr/>
        </p:nvSpPr>
        <p:spPr>
          <a:xfrm>
            <a:off x="4480560" y="539496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8" name="Text 73"/>
          <p:cNvSpPr/>
          <p:nvPr/>
        </p:nvSpPr>
        <p:spPr>
          <a:xfrm>
            <a:off x="4480560" y="539496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9" name="Text 74"/>
          <p:cNvSpPr/>
          <p:nvPr/>
        </p:nvSpPr>
        <p:spPr>
          <a:xfrm>
            <a:off x="5120640" y="539496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/api/private/events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0" name="Shape 75"/>
          <p:cNvSpPr/>
          <p:nvPr/>
        </p:nvSpPr>
        <p:spPr>
          <a:xfrm>
            <a:off x="4480560" y="580644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1" name="Text 76"/>
          <p:cNvSpPr/>
          <p:nvPr/>
        </p:nvSpPr>
        <p:spPr>
          <a:xfrm>
            <a:off x="4480560" y="580644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2" name="Text 77"/>
          <p:cNvSpPr/>
          <p:nvPr/>
        </p:nvSpPr>
        <p:spPr>
          <a:xfrm>
            <a:off x="5120640" y="580644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/api/private/events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3" name="Shape 78"/>
          <p:cNvSpPr/>
          <p:nvPr/>
        </p:nvSpPr>
        <p:spPr>
          <a:xfrm>
            <a:off x="8046720" y="406908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4" name="Shape 79"/>
          <p:cNvSpPr/>
          <p:nvPr/>
        </p:nvSpPr>
        <p:spPr>
          <a:xfrm>
            <a:off x="8046720" y="4069080"/>
            <a:ext cx="71640" cy="223884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5" name="Text 80"/>
          <p:cNvSpPr/>
          <p:nvPr/>
        </p:nvSpPr>
        <p:spPr>
          <a:xfrm>
            <a:off x="8275320" y="416052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Recherche &amp; Notif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6" name="Shape 81"/>
          <p:cNvSpPr/>
          <p:nvPr/>
        </p:nvSpPr>
        <p:spPr>
          <a:xfrm>
            <a:off x="8275320" y="457200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7" name="Text 82"/>
          <p:cNvSpPr/>
          <p:nvPr/>
        </p:nvSpPr>
        <p:spPr>
          <a:xfrm>
            <a:off x="8275320" y="457200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8" name="Text 83"/>
          <p:cNvSpPr/>
          <p:nvPr/>
        </p:nvSpPr>
        <p:spPr>
          <a:xfrm>
            <a:off x="8915400" y="457200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/api/private/search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9" name="Shape 84"/>
          <p:cNvSpPr/>
          <p:nvPr/>
        </p:nvSpPr>
        <p:spPr>
          <a:xfrm>
            <a:off x="8275320" y="498348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0" name="Text 85"/>
          <p:cNvSpPr/>
          <p:nvPr/>
        </p:nvSpPr>
        <p:spPr>
          <a:xfrm>
            <a:off x="8275320" y="498348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1" name="Text 86"/>
          <p:cNvSpPr/>
          <p:nvPr/>
        </p:nvSpPr>
        <p:spPr>
          <a:xfrm>
            <a:off x="8915400" y="498348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/api/private/invitations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2" name="Shape 87"/>
          <p:cNvSpPr/>
          <p:nvPr/>
        </p:nvSpPr>
        <p:spPr>
          <a:xfrm>
            <a:off x="8275320" y="539496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3" name="Text 88"/>
          <p:cNvSpPr/>
          <p:nvPr/>
        </p:nvSpPr>
        <p:spPr>
          <a:xfrm>
            <a:off x="8275320" y="539496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4" name="Text 89"/>
          <p:cNvSpPr/>
          <p:nvPr/>
        </p:nvSpPr>
        <p:spPr>
          <a:xfrm>
            <a:off x="8915400" y="539496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/api/private/notifications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5" name="Shape 90"/>
          <p:cNvSpPr/>
          <p:nvPr/>
        </p:nvSpPr>
        <p:spPr>
          <a:xfrm>
            <a:off x="8275320" y="580644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6" name="Text 91"/>
          <p:cNvSpPr/>
          <p:nvPr/>
        </p:nvSpPr>
        <p:spPr>
          <a:xfrm>
            <a:off x="8275320" y="580644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PATCH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7" name="Text 92"/>
          <p:cNvSpPr/>
          <p:nvPr/>
        </p:nvSpPr>
        <p:spPr>
          <a:xfrm>
            <a:off x="8915400" y="580644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/api/private/notifications/:id/read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8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89" name="Text 93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0" name="Text 94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32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Middleware d'authentification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4" name="Shape 3"/>
          <p:cNvSpPr/>
          <p:nvPr/>
        </p:nvSpPr>
        <p:spPr>
          <a:xfrm>
            <a:off x="548640" y="1691640"/>
            <a:ext cx="7313760" cy="457056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5" name="Shape 4"/>
          <p:cNvSpPr/>
          <p:nvPr/>
        </p:nvSpPr>
        <p:spPr>
          <a:xfrm>
            <a:off x="777240" y="1874520"/>
            <a:ext cx="135720" cy="13572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6" name="Shape 5"/>
          <p:cNvSpPr/>
          <p:nvPr/>
        </p:nvSpPr>
        <p:spPr>
          <a:xfrm>
            <a:off x="960120" y="1874520"/>
            <a:ext cx="135720" cy="13572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7" name="Shape 6"/>
          <p:cNvSpPr/>
          <p:nvPr/>
        </p:nvSpPr>
        <p:spPr>
          <a:xfrm>
            <a:off x="1143000" y="1874520"/>
            <a:ext cx="135720" cy="13572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8" name="Text 7"/>
          <p:cNvSpPr/>
          <p:nvPr/>
        </p:nvSpPr>
        <p:spPr>
          <a:xfrm>
            <a:off x="1371600" y="1783080"/>
            <a:ext cx="5484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src/middleware.ts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9" name="Text 8"/>
          <p:cNvSpPr/>
          <p:nvPr/>
        </p:nvSpPr>
        <p:spPr>
          <a:xfrm>
            <a:off x="777240" y="224028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export async function middleware(req: NextRequest)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0" name="Text 9"/>
          <p:cNvSpPr/>
          <p:nvPr/>
        </p:nvSpPr>
        <p:spPr>
          <a:xfrm>
            <a:off x="777240" y="245052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{ pathname } = req.nextUrl;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1" name="Text 10"/>
          <p:cNvSpPr/>
          <p:nvPr/>
        </p:nvSpPr>
        <p:spPr>
          <a:xfrm>
            <a:off x="777240" y="266076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isPublic = pathname.startsWith('/api/public')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2" name="Text 11"/>
          <p:cNvSpPr/>
          <p:nvPr/>
        </p:nvSpPr>
        <p:spPr>
          <a:xfrm>
            <a:off x="777240" y="287136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|| ['/login', '/register'].some(r =&gt; pathname.startsWith(r));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3" name="Text 12"/>
          <p:cNvSpPr/>
          <p:nvPr/>
        </p:nvSpPr>
        <p:spPr>
          <a:xfrm>
            <a:off x="777240" y="308160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if (isPublic) return NextResponse.next();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4" name="Text 13"/>
          <p:cNvSpPr/>
          <p:nvPr/>
        </p:nvSpPr>
        <p:spPr>
          <a:xfrm>
            <a:off x="777240" y="329184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5" name="Text 14"/>
          <p:cNvSpPr/>
          <p:nvPr/>
        </p:nvSpPr>
        <p:spPr>
          <a:xfrm>
            <a:off x="777240" y="350208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const token = req.cookies.get('authToken')?.value;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6" name="Text 15"/>
          <p:cNvSpPr/>
          <p:nvPr/>
        </p:nvSpPr>
        <p:spPr>
          <a:xfrm>
            <a:off x="777240" y="371232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(!token) return NextResponse.redirect('/login');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7" name="Text 16"/>
          <p:cNvSpPr/>
          <p:nvPr/>
        </p:nvSpPr>
        <p:spPr>
          <a:xfrm>
            <a:off x="777240" y="392292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8" name="Text 17"/>
          <p:cNvSpPr/>
          <p:nvPr/>
        </p:nvSpPr>
        <p:spPr>
          <a:xfrm>
            <a:off x="777240" y="413316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try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9" name="Text 18"/>
          <p:cNvSpPr/>
          <p:nvPr/>
        </p:nvSpPr>
        <p:spPr>
          <a:xfrm>
            <a:off x="777240" y="434340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  const { userId } = await verifyJwt(token);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0" name="Text 19"/>
          <p:cNvSpPr/>
          <p:nvPr/>
        </p:nvSpPr>
        <p:spPr>
          <a:xfrm>
            <a:off x="777240" y="455364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const headers = new Headers(req.headers);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1" name="Text 20"/>
          <p:cNvSpPr/>
          <p:nvPr/>
        </p:nvSpPr>
        <p:spPr>
          <a:xfrm>
            <a:off x="777240" y="476388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headers.set('x-user-id', userId);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2" name="Text 21"/>
          <p:cNvSpPr/>
          <p:nvPr/>
        </p:nvSpPr>
        <p:spPr>
          <a:xfrm>
            <a:off x="777240" y="497448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return NextResponse.next({ request: { headers }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3" name="Text 22"/>
          <p:cNvSpPr/>
          <p:nvPr/>
        </p:nvSpPr>
        <p:spPr>
          <a:xfrm>
            <a:off x="777240" y="518472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} catch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4" name="Text 23"/>
          <p:cNvSpPr/>
          <p:nvPr/>
        </p:nvSpPr>
        <p:spPr>
          <a:xfrm>
            <a:off x="777240" y="539496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return NextResponse.redirect('/login');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5" name="Text 24"/>
          <p:cNvSpPr/>
          <p:nvPr/>
        </p:nvSpPr>
        <p:spPr>
          <a:xfrm>
            <a:off x="777240" y="560520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6" name="Text 25"/>
          <p:cNvSpPr/>
          <p:nvPr/>
        </p:nvSpPr>
        <p:spPr>
          <a:xfrm>
            <a:off x="777240" y="581544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7" name="Shape 26"/>
          <p:cNvSpPr/>
          <p:nvPr/>
        </p:nvSpPr>
        <p:spPr>
          <a:xfrm>
            <a:off x="8092440" y="1691640"/>
            <a:ext cx="3519000" cy="457056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8" name="Text 27"/>
          <p:cNvSpPr/>
          <p:nvPr/>
        </p:nvSpPr>
        <p:spPr>
          <a:xfrm>
            <a:off x="8275320" y="1783080"/>
            <a:ext cx="3198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9" name="Shape 28"/>
          <p:cNvSpPr/>
          <p:nvPr/>
        </p:nvSpPr>
        <p:spPr>
          <a:xfrm>
            <a:off x="8275320" y="2240280"/>
            <a:ext cx="410040" cy="41004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0" name="Text 29"/>
          <p:cNvSpPr/>
          <p:nvPr/>
        </p:nvSpPr>
        <p:spPr>
          <a:xfrm>
            <a:off x="8275320" y="22402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1" name="Text 30"/>
          <p:cNvSpPr/>
          <p:nvPr/>
        </p:nvSpPr>
        <p:spPr>
          <a:xfrm>
            <a:off x="8778240" y="21945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Allow-list pour routes publiques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2" name="Shape 31"/>
          <p:cNvSpPr/>
          <p:nvPr/>
        </p:nvSpPr>
        <p:spPr>
          <a:xfrm>
            <a:off x="8275320" y="2880360"/>
            <a:ext cx="410040" cy="41004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3" name="Text 32"/>
          <p:cNvSpPr/>
          <p:nvPr/>
        </p:nvSpPr>
        <p:spPr>
          <a:xfrm>
            <a:off x="8275320" y="28803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4" name="Text 33"/>
          <p:cNvSpPr/>
          <p:nvPr/>
        </p:nvSpPr>
        <p:spPr>
          <a:xfrm>
            <a:off x="8778240" y="283464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Cookie HttpOnly authToken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5" name="Shape 34"/>
          <p:cNvSpPr/>
          <p:nvPr/>
        </p:nvSpPr>
        <p:spPr>
          <a:xfrm>
            <a:off x="8275320" y="3520440"/>
            <a:ext cx="410040" cy="41004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6" name="Text 35"/>
          <p:cNvSpPr/>
          <p:nvPr/>
        </p:nvSpPr>
        <p:spPr>
          <a:xfrm>
            <a:off x="8275320" y="35204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✓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7" name="Text 36"/>
          <p:cNvSpPr/>
          <p:nvPr/>
        </p:nvSpPr>
        <p:spPr>
          <a:xfrm>
            <a:off x="8778240" y="347472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Vérification JWT via jose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8" name="Shape 37"/>
          <p:cNvSpPr/>
          <p:nvPr/>
        </p:nvSpPr>
        <p:spPr>
          <a:xfrm>
            <a:off x="8275320" y="4160520"/>
            <a:ext cx="410040" cy="41004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9" name="Text 38"/>
          <p:cNvSpPr/>
          <p:nvPr/>
        </p:nvSpPr>
        <p:spPr>
          <a:xfrm>
            <a:off x="8275320" y="416052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↩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0" name="Text 39"/>
          <p:cNvSpPr/>
          <p:nvPr/>
        </p:nvSpPr>
        <p:spPr>
          <a:xfrm>
            <a:off x="8778240" y="411480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Redirect /login si invalide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1" name="Shape 40"/>
          <p:cNvSpPr/>
          <p:nvPr/>
        </p:nvSpPr>
        <p:spPr>
          <a:xfrm>
            <a:off x="8275320" y="4800600"/>
            <a:ext cx="410040" cy="41004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32" name="Text 41"/>
          <p:cNvSpPr/>
          <p:nvPr/>
        </p:nvSpPr>
        <p:spPr>
          <a:xfrm>
            <a:off x="8275320" y="480060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3" name="Text 42"/>
          <p:cNvSpPr/>
          <p:nvPr/>
        </p:nvSpPr>
        <p:spPr>
          <a:xfrm>
            <a:off x="8778240" y="475488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Injection x-user-id header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4" name="Shape 43"/>
          <p:cNvSpPr/>
          <p:nvPr/>
        </p:nvSpPr>
        <p:spPr>
          <a:xfrm>
            <a:off x="8275320" y="5440680"/>
            <a:ext cx="410040" cy="41004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35" name="Text 44"/>
          <p:cNvSpPr/>
          <p:nvPr/>
        </p:nvSpPr>
        <p:spPr>
          <a:xfrm>
            <a:off x="8275320" y="54406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▣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6" name="Text 45"/>
          <p:cNvSpPr/>
          <p:nvPr/>
        </p:nvSpPr>
        <p:spPr>
          <a:xfrm>
            <a:off x="8778240" y="53949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par défaut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3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38" name="Text 4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9" name="Text 4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33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0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1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applicative &amp; RGPD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2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3" name="Shape 3"/>
          <p:cNvSpPr/>
          <p:nvPr/>
        </p:nvSpPr>
        <p:spPr>
          <a:xfrm>
            <a:off x="548640" y="1691640"/>
            <a:ext cx="5530680" cy="457056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4" name="Text 4"/>
          <p:cNvSpPr/>
          <p:nvPr/>
        </p:nvSpPr>
        <p:spPr>
          <a:xfrm>
            <a:off x="731520" y="1783080"/>
            <a:ext cx="5027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Mesures en place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5" name="Text 5"/>
          <p:cNvSpPr/>
          <p:nvPr/>
        </p:nvSpPr>
        <p:spPr>
          <a:xfrm>
            <a:off x="777240" y="2194560"/>
            <a:ext cx="3643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6" name="Text 6"/>
          <p:cNvSpPr/>
          <p:nvPr/>
        </p:nvSpPr>
        <p:spPr>
          <a:xfrm>
            <a:off x="1188720" y="219456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 (jose) · cookies HttpOnly · SameSite=Lax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7" name="Text 7"/>
          <p:cNvSpPr/>
          <p:nvPr/>
        </p:nvSpPr>
        <p:spPr>
          <a:xfrm>
            <a:off x="777240" y="2743200"/>
            <a:ext cx="3643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✦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8" name="Text 8"/>
          <p:cNvSpPr/>
          <p:nvPr/>
        </p:nvSpPr>
        <p:spPr>
          <a:xfrm>
            <a:off x="1188720" y="274320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bcrypt cost 12 sur tous les mots de passe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9" name="Text 9"/>
          <p:cNvSpPr/>
          <p:nvPr/>
        </p:nvSpPr>
        <p:spPr>
          <a:xfrm>
            <a:off x="777240" y="3291840"/>
            <a:ext cx="3643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0" name="Text 10"/>
          <p:cNvSpPr/>
          <p:nvPr/>
        </p:nvSpPr>
        <p:spPr>
          <a:xfrm>
            <a:off x="1188720" y="329184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 systématique des payloads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1" name="Text 11"/>
          <p:cNvSpPr/>
          <p:nvPr/>
        </p:nvSpPr>
        <p:spPr>
          <a:xfrm>
            <a:off x="777240" y="3840480"/>
            <a:ext cx="3643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▣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2" name="Text 12"/>
          <p:cNvSpPr/>
          <p:nvPr/>
        </p:nvSpPr>
        <p:spPr>
          <a:xfrm>
            <a:off x="1188720" y="38404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 avec 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3" name="Text 13"/>
          <p:cNvSpPr/>
          <p:nvPr/>
        </p:nvSpPr>
        <p:spPr>
          <a:xfrm>
            <a:off x="777240" y="4389120"/>
            <a:ext cx="3643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⊘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4" name="Text 14"/>
          <p:cNvSpPr/>
          <p:nvPr/>
        </p:nvSpPr>
        <p:spPr>
          <a:xfrm>
            <a:off x="1188720" y="438912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SQL injection bloquée par Prisma (paramétrage)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5" name="Text 15"/>
          <p:cNvSpPr/>
          <p:nvPr/>
        </p:nvSpPr>
        <p:spPr>
          <a:xfrm>
            <a:off x="777240" y="4937760"/>
            <a:ext cx="3643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⌕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6" name="Text 16"/>
          <p:cNvSpPr/>
          <p:nvPr/>
        </p:nvSpPr>
        <p:spPr>
          <a:xfrm>
            <a:off x="1188720" y="493776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OWASP Top 10 audité — voir securite-rgpd.md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7" name="Text 17"/>
          <p:cNvSpPr/>
          <p:nvPr/>
        </p:nvSpPr>
        <p:spPr>
          <a:xfrm>
            <a:off x="777240" y="5486400"/>
            <a:ext cx="3643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◌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8" name="Text 18"/>
          <p:cNvSpPr/>
          <p:nvPr/>
        </p:nvSpPr>
        <p:spPr>
          <a:xfrm>
            <a:off x="1188720" y="548640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HTTPS forcé en production via Vercel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9" name="Shape 19"/>
          <p:cNvSpPr/>
          <p:nvPr/>
        </p:nvSpPr>
        <p:spPr>
          <a:xfrm>
            <a:off x="6263640" y="1691640"/>
            <a:ext cx="5530680" cy="457056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60" name="Text 20"/>
          <p:cNvSpPr/>
          <p:nvPr/>
        </p:nvSpPr>
        <p:spPr>
          <a:xfrm>
            <a:off x="6446520" y="1783080"/>
            <a:ext cx="5027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Conformité RGPD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1" name="Text 21"/>
          <p:cNvSpPr/>
          <p:nvPr/>
        </p:nvSpPr>
        <p:spPr>
          <a:xfrm>
            <a:off x="6446520" y="2194560"/>
            <a:ext cx="5027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Données collectées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2" name="Text 22"/>
          <p:cNvSpPr/>
          <p:nvPr/>
        </p:nvSpPr>
        <p:spPr>
          <a:xfrm>
            <a:off x="6446520" y="2468880"/>
            <a:ext cx="52106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Email, nom, date de naissance, contenus publiés. Aucun traitement marketing ; aucune donnée sensible au sens art. 9.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3" name="Text 23"/>
          <p:cNvSpPr/>
          <p:nvPr/>
        </p:nvSpPr>
        <p:spPr>
          <a:xfrm>
            <a:off x="6446520" y="3108960"/>
            <a:ext cx="5027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Droits de la personne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4" name="Text 24"/>
          <p:cNvSpPr/>
          <p:nvPr/>
        </p:nvSpPr>
        <p:spPr>
          <a:xfrm>
            <a:off x="6446520" y="338328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Accès &amp; consultation profil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5" name="Shape 25"/>
          <p:cNvSpPr/>
          <p:nvPr/>
        </p:nvSpPr>
        <p:spPr>
          <a:xfrm>
            <a:off x="10058400" y="3410640"/>
            <a:ext cx="1370160" cy="254520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66" name="Text 26"/>
          <p:cNvSpPr/>
          <p:nvPr/>
        </p:nvSpPr>
        <p:spPr>
          <a:xfrm>
            <a:off x="10058400" y="3410640"/>
            <a:ext cx="13701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7" name="Text 27"/>
          <p:cNvSpPr/>
          <p:nvPr/>
        </p:nvSpPr>
        <p:spPr>
          <a:xfrm>
            <a:off x="6446520" y="374904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Rectification (settings)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8" name="Shape 28"/>
          <p:cNvSpPr/>
          <p:nvPr/>
        </p:nvSpPr>
        <p:spPr>
          <a:xfrm>
            <a:off x="10058400" y="3776400"/>
            <a:ext cx="1370160" cy="254520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69" name="Text 29"/>
          <p:cNvSpPr/>
          <p:nvPr/>
        </p:nvSpPr>
        <p:spPr>
          <a:xfrm>
            <a:off x="10058400" y="3776400"/>
            <a:ext cx="13701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0" name="Text 30"/>
          <p:cNvSpPr/>
          <p:nvPr/>
        </p:nvSpPr>
        <p:spPr>
          <a:xfrm>
            <a:off x="6446520" y="411480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Effacement / droit à l'oubli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1" name="Shape 31"/>
          <p:cNvSpPr/>
          <p:nvPr/>
        </p:nvSpPr>
        <p:spPr>
          <a:xfrm>
            <a:off x="10058400" y="4142160"/>
            <a:ext cx="1370160" cy="254520"/>
          </a:xfrm>
          <a:prstGeom prst="roundRect">
            <a:avLst>
              <a:gd name="adj" fmla="val 53571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2" name="Text 32"/>
          <p:cNvSpPr/>
          <p:nvPr/>
        </p:nvSpPr>
        <p:spPr>
          <a:xfrm>
            <a:off x="10058400" y="4142160"/>
            <a:ext cx="13701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Roadmap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3" name="Text 33"/>
          <p:cNvSpPr/>
          <p:nvPr/>
        </p:nvSpPr>
        <p:spPr>
          <a:xfrm>
            <a:off x="6446520" y="448056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Portabilité (export JSON)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4" name="Shape 34"/>
          <p:cNvSpPr/>
          <p:nvPr/>
        </p:nvSpPr>
        <p:spPr>
          <a:xfrm>
            <a:off x="10058400" y="4507920"/>
            <a:ext cx="1370160" cy="254520"/>
          </a:xfrm>
          <a:prstGeom prst="roundRect">
            <a:avLst>
              <a:gd name="adj" fmla="val 53571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5" name="Text 35"/>
          <p:cNvSpPr/>
          <p:nvPr/>
        </p:nvSpPr>
        <p:spPr>
          <a:xfrm>
            <a:off x="10058400" y="4507920"/>
            <a:ext cx="13701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Roadmap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6" name="Text 36"/>
          <p:cNvSpPr/>
          <p:nvPr/>
        </p:nvSpPr>
        <p:spPr>
          <a:xfrm>
            <a:off x="6446520" y="484632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Opposition / consentement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7" name="Shape 37"/>
          <p:cNvSpPr/>
          <p:nvPr/>
        </p:nvSpPr>
        <p:spPr>
          <a:xfrm>
            <a:off x="10058400" y="4873680"/>
            <a:ext cx="1370160" cy="254520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8" name="Text 38"/>
          <p:cNvSpPr/>
          <p:nvPr/>
        </p:nvSpPr>
        <p:spPr>
          <a:xfrm>
            <a:off x="10058400" y="4873680"/>
            <a:ext cx="13701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9" name="Text 39"/>
          <p:cNvSpPr/>
          <p:nvPr/>
        </p:nvSpPr>
        <p:spPr>
          <a:xfrm>
            <a:off x="6446520" y="5349240"/>
            <a:ext cx="5210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Roadmap durcissement : rate-limit, headers CSP, sanitization markdown (DOMPurify).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8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81" name="Text 40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2" name="Text 41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34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3" name="Rectangle 1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84" name="TextBox 2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5" name="TextBox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Cheminement d'une requête SQL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6" name="Rectangle 4"/>
          <p:cNvSpPr/>
          <p:nvPr/>
        </p:nvSpPr>
        <p:spPr>
          <a:xfrm>
            <a:off x="548640" y="1691640"/>
            <a:ext cx="7313760" cy="45705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87" name="Oval 5"/>
          <p:cNvSpPr/>
          <p:nvPr/>
        </p:nvSpPr>
        <p:spPr>
          <a:xfrm>
            <a:off x="777240" y="1874520"/>
            <a:ext cx="135720" cy="13572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88" name="Oval 6"/>
          <p:cNvSpPr/>
          <p:nvPr/>
        </p:nvSpPr>
        <p:spPr>
          <a:xfrm>
            <a:off x="960120" y="1874520"/>
            <a:ext cx="135720" cy="13572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89" name="Oval 7"/>
          <p:cNvSpPr/>
          <p:nvPr/>
        </p:nvSpPr>
        <p:spPr>
          <a:xfrm>
            <a:off x="1143000" y="1874520"/>
            <a:ext cx="135720" cy="13572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90" name="TextBox 8"/>
          <p:cNvSpPr/>
          <p:nvPr/>
        </p:nvSpPr>
        <p:spPr>
          <a:xfrm>
            <a:off x="1371600" y="1783080"/>
            <a:ext cx="63993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src/app/api/private/post/[id]/route.ts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1" name="TextBox 9"/>
          <p:cNvSpPr/>
          <p:nvPr/>
        </p:nvSpPr>
        <p:spPr>
          <a:xfrm>
            <a:off x="777240" y="224028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import { db } from '@/lib/db';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2" name="TextBox 10"/>
          <p:cNvSpPr/>
          <p:nvPr/>
        </p:nvSpPr>
        <p:spPr>
          <a:xfrm>
            <a:off x="777240" y="244152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import { getUserIdFromRequest } from '@/lib/server/api/getUserId';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3" name="TextBox 12"/>
          <p:cNvSpPr/>
          <p:nvPr/>
        </p:nvSpPr>
        <p:spPr>
          <a:xfrm>
            <a:off x="777240" y="26427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export async function GET(req: NextRequest, ctx)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4" name="TextBox 13"/>
          <p:cNvSpPr/>
          <p:nvPr/>
        </p:nvSpPr>
        <p:spPr>
          <a:xfrm>
            <a:off x="777240" y="284364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const userId = await getUserIdFromRequest(req);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5" name="TextBox 14"/>
          <p:cNvSpPr/>
          <p:nvPr/>
        </p:nvSpPr>
        <p:spPr>
          <a:xfrm>
            <a:off x="777240" y="304488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  if (!userId) return respondError('Unauthorized', 401);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6" name="TextBox 16"/>
          <p:cNvSpPr/>
          <p:nvPr/>
        </p:nvSpPr>
        <p:spPr>
          <a:xfrm>
            <a:off x="777240" y="324612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const { id } = await ctx.params;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7" name="TextBox 18"/>
          <p:cNvSpPr/>
          <p:nvPr/>
        </p:nvSpPr>
        <p:spPr>
          <a:xfrm>
            <a:off x="777240" y="34473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// 1. Validation entrée — Zod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8" name="TextBox 19"/>
          <p:cNvSpPr/>
          <p:nvPr/>
        </p:nvSpPr>
        <p:spPr>
          <a:xfrm>
            <a:off x="777240" y="364860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const params = z.object({ id: z.string().cuid() }).parse({ id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9" name="TextBox 21"/>
          <p:cNvSpPr/>
          <p:nvPr/>
        </p:nvSpPr>
        <p:spPr>
          <a:xfrm>
            <a:off x="777240" y="384948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// 2. Query Prisma type-safe → SQL paramétré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0" name="TextBox 22"/>
          <p:cNvSpPr/>
          <p:nvPr/>
        </p:nvSpPr>
        <p:spPr>
          <a:xfrm>
            <a:off x="777240" y="405072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  const post = await db.post.findUnique({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1" name="TextBox 23"/>
          <p:cNvSpPr/>
          <p:nvPr/>
        </p:nvSpPr>
        <p:spPr>
          <a:xfrm>
            <a:off x="777240" y="42519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where: { id: params.id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2" name="TextBox 24"/>
          <p:cNvSpPr/>
          <p:nvPr/>
        </p:nvSpPr>
        <p:spPr>
          <a:xfrm>
            <a:off x="777240" y="445320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include: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3" name="TextBox 25"/>
          <p:cNvSpPr/>
          <p:nvPr/>
        </p:nvSpPr>
        <p:spPr>
          <a:xfrm>
            <a:off x="777240" y="465444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user:     { select: { id, username, avatar }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4" name="TextBox 26"/>
          <p:cNvSpPr/>
          <p:nvPr/>
        </p:nvSpPr>
        <p:spPr>
          <a:xfrm>
            <a:off x="777240" y="485532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comments: { select: { id, message, datetime }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5" name="TextBox 27"/>
          <p:cNvSpPr/>
          <p:nvPr/>
        </p:nvSpPr>
        <p:spPr>
          <a:xfrm>
            <a:off x="777240" y="50565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reactions: true,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6" name="TextBox 28"/>
          <p:cNvSpPr/>
          <p:nvPr/>
        </p:nvSpPr>
        <p:spPr>
          <a:xfrm>
            <a:off x="777240" y="525780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7" name="TextBox 29"/>
          <p:cNvSpPr/>
          <p:nvPr/>
        </p:nvSpPr>
        <p:spPr>
          <a:xfrm>
            <a:off x="777240" y="545904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 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8" name="TextBox 31"/>
          <p:cNvSpPr/>
          <p:nvPr/>
        </p:nvSpPr>
        <p:spPr>
          <a:xfrm>
            <a:off x="777240" y="566028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// 3. Retour structuré + types inférés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9" name="TextBox 32"/>
          <p:cNvSpPr/>
          <p:nvPr/>
        </p:nvSpPr>
        <p:spPr>
          <a:xfrm>
            <a:off x="777240" y="58611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return respondSuccess(post);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0" name="TextBox 33"/>
          <p:cNvSpPr/>
          <p:nvPr/>
        </p:nvSpPr>
        <p:spPr>
          <a:xfrm>
            <a:off x="777240" y="606240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1" name="Rectangle 34"/>
          <p:cNvSpPr/>
          <p:nvPr/>
        </p:nvSpPr>
        <p:spPr>
          <a:xfrm>
            <a:off x="8092440" y="1691640"/>
            <a:ext cx="3519000" cy="45705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12" name="TextBox 35"/>
          <p:cNvSpPr/>
          <p:nvPr/>
        </p:nvSpPr>
        <p:spPr>
          <a:xfrm>
            <a:off x="8275320" y="1783080"/>
            <a:ext cx="3153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Pipeline en 5 étapes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3" name="Oval 36"/>
          <p:cNvSpPr/>
          <p:nvPr/>
        </p:nvSpPr>
        <p:spPr>
          <a:xfrm>
            <a:off x="8275320" y="2240280"/>
            <a:ext cx="410040" cy="4100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14" name="TextBox 37"/>
          <p:cNvSpPr/>
          <p:nvPr/>
        </p:nvSpPr>
        <p:spPr>
          <a:xfrm>
            <a:off x="8275320" y="22402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5" name="TextBox 38"/>
          <p:cNvSpPr/>
          <p:nvPr/>
        </p:nvSpPr>
        <p:spPr>
          <a:xfrm>
            <a:off x="8778240" y="219456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Middleware → x-user-id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6" name="Oval 39"/>
          <p:cNvSpPr/>
          <p:nvPr/>
        </p:nvSpPr>
        <p:spPr>
          <a:xfrm>
            <a:off x="8275320" y="2880360"/>
            <a:ext cx="410040" cy="4100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17" name="TextBox 40"/>
          <p:cNvSpPr/>
          <p:nvPr/>
        </p:nvSpPr>
        <p:spPr>
          <a:xfrm>
            <a:off x="8275320" y="28803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8" name="TextBox 41"/>
          <p:cNvSpPr/>
          <p:nvPr/>
        </p:nvSpPr>
        <p:spPr>
          <a:xfrm>
            <a:off x="8778240" y="283464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Zod valide l'entrée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9" name="Oval 42"/>
          <p:cNvSpPr/>
          <p:nvPr/>
        </p:nvSpPr>
        <p:spPr>
          <a:xfrm>
            <a:off x="8275320" y="3520440"/>
            <a:ext cx="410040" cy="4100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20" name="TextBox 43"/>
          <p:cNvSpPr/>
          <p:nvPr/>
        </p:nvSpPr>
        <p:spPr>
          <a:xfrm>
            <a:off x="8275320" y="35204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1" name="TextBox 44"/>
          <p:cNvSpPr/>
          <p:nvPr/>
        </p:nvSpPr>
        <p:spPr>
          <a:xfrm>
            <a:off x="8778240" y="347472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 compose le SQL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2" name="Oval 45"/>
          <p:cNvSpPr/>
          <p:nvPr/>
        </p:nvSpPr>
        <p:spPr>
          <a:xfrm>
            <a:off x="8275320" y="4160520"/>
            <a:ext cx="410040" cy="41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23" name="TextBox 46"/>
          <p:cNvSpPr/>
          <p:nvPr/>
        </p:nvSpPr>
        <p:spPr>
          <a:xfrm>
            <a:off x="8275320" y="416052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4" name="TextBox 47"/>
          <p:cNvSpPr/>
          <p:nvPr/>
        </p:nvSpPr>
        <p:spPr>
          <a:xfrm>
            <a:off x="8778240" y="411480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pg envoie SQL paramétré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5" name="Oval 48"/>
          <p:cNvSpPr/>
          <p:nvPr/>
        </p:nvSpPr>
        <p:spPr>
          <a:xfrm>
            <a:off x="8275320" y="4800600"/>
            <a:ext cx="410040" cy="41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26" name="TextBox 49"/>
          <p:cNvSpPr/>
          <p:nvPr/>
        </p:nvSpPr>
        <p:spPr>
          <a:xfrm>
            <a:off x="8275320" y="480060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</a:rPr>
              <a:t>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7" name="TextBox 50"/>
          <p:cNvSpPr/>
          <p:nvPr/>
        </p:nvSpPr>
        <p:spPr>
          <a:xfrm>
            <a:off x="8778240" y="475488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Réponse typée TypeScript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8" name="TextBox 51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9" name="TextBox 52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35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3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1" name="Rectangle 1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32" name="TextBox 2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3" name="TextBox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Requête préparée : pourquoi c'est sûr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4" name="Rectangle 4"/>
          <p:cNvSpPr/>
          <p:nvPr/>
        </p:nvSpPr>
        <p:spPr>
          <a:xfrm>
            <a:off x="548640" y="1691640"/>
            <a:ext cx="5347800" cy="45705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35" name="Rectangle 5"/>
          <p:cNvSpPr/>
          <p:nvPr/>
        </p:nvSpPr>
        <p:spPr>
          <a:xfrm>
            <a:off x="548640" y="1691640"/>
            <a:ext cx="5347800" cy="3643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36" name="TextBox 6"/>
          <p:cNvSpPr/>
          <p:nvPr/>
        </p:nvSpPr>
        <p:spPr>
          <a:xfrm>
            <a:off x="685800" y="1755720"/>
            <a:ext cx="5027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❌  Requête naïve — VULNÉRABLE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7" name="TextBox 7"/>
          <p:cNvSpPr/>
          <p:nvPr/>
        </p:nvSpPr>
        <p:spPr>
          <a:xfrm>
            <a:off x="731520" y="224028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⚠️ N'EST PAS dans notre code, illustration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8" name="TextBox 8"/>
          <p:cNvSpPr/>
          <p:nvPr/>
        </p:nvSpPr>
        <p:spPr>
          <a:xfrm>
            <a:off x="731520" y="251460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9" name="TextBox 9"/>
          <p:cNvSpPr/>
          <p:nvPr/>
        </p:nvSpPr>
        <p:spPr>
          <a:xfrm>
            <a:off x="731520" y="278892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const email = req.body.email;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0" name="TextBox 10"/>
          <p:cNvSpPr/>
          <p:nvPr/>
        </p:nvSpPr>
        <p:spPr>
          <a:xfrm>
            <a:off x="731520" y="306324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1" name="TextBox 11"/>
          <p:cNvSpPr/>
          <p:nvPr/>
        </p:nvSpPr>
        <p:spPr>
          <a:xfrm>
            <a:off x="731520" y="333756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const result = await db.$queryRawUnsafe(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2" name="TextBox 12"/>
          <p:cNvSpPr/>
          <p:nvPr/>
        </p:nvSpPr>
        <p:spPr>
          <a:xfrm>
            <a:off x="731520" y="361188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  `SELECT * FROM users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3" name="TextBox 13"/>
          <p:cNvSpPr/>
          <p:nvPr/>
        </p:nvSpPr>
        <p:spPr>
          <a:xfrm>
            <a:off x="731520" y="388620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   WHERE email = '${email}'`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4" name="TextBox 14"/>
          <p:cNvSpPr/>
          <p:nvPr/>
        </p:nvSpPr>
        <p:spPr>
          <a:xfrm>
            <a:off x="731520" y="416052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5" name="TextBox 15"/>
          <p:cNvSpPr/>
          <p:nvPr/>
        </p:nvSpPr>
        <p:spPr>
          <a:xfrm>
            <a:off x="731520" y="443484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6" name="TextBox 16"/>
          <p:cNvSpPr/>
          <p:nvPr/>
        </p:nvSpPr>
        <p:spPr>
          <a:xfrm>
            <a:off x="731520" y="470916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Si email = "x' OR '1'='1"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7" name="TextBox 17"/>
          <p:cNvSpPr/>
          <p:nvPr/>
        </p:nvSpPr>
        <p:spPr>
          <a:xfrm>
            <a:off x="731520" y="498348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// → SELECT * FROM users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8" name="TextBox 18"/>
          <p:cNvSpPr/>
          <p:nvPr/>
        </p:nvSpPr>
        <p:spPr>
          <a:xfrm>
            <a:off x="731520" y="525780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//   WHERE email = 'x' OR '1'='1'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9" name="TextBox 19"/>
          <p:cNvSpPr/>
          <p:nvPr/>
        </p:nvSpPr>
        <p:spPr>
          <a:xfrm>
            <a:off x="731520" y="553212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// → renvoie TOUS les utilisateurs ☠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0" name="Rectangle 20"/>
          <p:cNvSpPr/>
          <p:nvPr/>
        </p:nvSpPr>
        <p:spPr>
          <a:xfrm>
            <a:off x="6080760" y="1691640"/>
            <a:ext cx="5347800" cy="45705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51" name="Rectangle 21"/>
          <p:cNvSpPr/>
          <p:nvPr/>
        </p:nvSpPr>
        <p:spPr>
          <a:xfrm>
            <a:off x="6080760" y="1691640"/>
            <a:ext cx="5347800" cy="364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52" name="TextBox 22"/>
          <p:cNvSpPr/>
          <p:nvPr/>
        </p:nvSpPr>
        <p:spPr>
          <a:xfrm>
            <a:off x="6217920" y="1755720"/>
            <a:ext cx="5027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  Prisma — PROTÉGÉ par défaut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3" name="TextBox 23"/>
          <p:cNvSpPr/>
          <p:nvPr/>
        </p:nvSpPr>
        <p:spPr>
          <a:xfrm>
            <a:off x="6263640" y="224028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✅ Le pattern utilisé partout dans le projet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4" name="TextBox 24"/>
          <p:cNvSpPr/>
          <p:nvPr/>
        </p:nvSpPr>
        <p:spPr>
          <a:xfrm>
            <a:off x="6263640" y="251460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5" name="TextBox 25"/>
          <p:cNvSpPr/>
          <p:nvPr/>
        </p:nvSpPr>
        <p:spPr>
          <a:xfrm>
            <a:off x="6263640" y="278892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const email = req.body.email;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6" name="TextBox 26"/>
          <p:cNvSpPr/>
          <p:nvPr/>
        </p:nvSpPr>
        <p:spPr>
          <a:xfrm>
            <a:off x="6263640" y="306324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7" name="TextBox 27"/>
          <p:cNvSpPr/>
          <p:nvPr/>
        </p:nvSpPr>
        <p:spPr>
          <a:xfrm>
            <a:off x="6263640" y="333756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const user = await db.user.findUnique({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8" name="TextBox 28"/>
          <p:cNvSpPr/>
          <p:nvPr/>
        </p:nvSpPr>
        <p:spPr>
          <a:xfrm>
            <a:off x="6263640" y="361188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where: { email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9" name="TextBox 29"/>
          <p:cNvSpPr/>
          <p:nvPr/>
        </p:nvSpPr>
        <p:spPr>
          <a:xfrm>
            <a:off x="6263640" y="388620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0" name="TextBox 30"/>
          <p:cNvSpPr/>
          <p:nvPr/>
        </p:nvSpPr>
        <p:spPr>
          <a:xfrm>
            <a:off x="6263640" y="416052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1" name="TextBox 31"/>
          <p:cNvSpPr/>
          <p:nvPr/>
        </p:nvSpPr>
        <p:spPr>
          <a:xfrm>
            <a:off x="6263640" y="443484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Prisma envoie au driver pg 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2" name="TextBox 32"/>
          <p:cNvSpPr/>
          <p:nvPr/>
        </p:nvSpPr>
        <p:spPr>
          <a:xfrm>
            <a:off x="6263640" y="470916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  SELECT * FROM users WHERE email = $1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3" name="TextBox 33"/>
          <p:cNvSpPr/>
          <p:nvPr/>
        </p:nvSpPr>
        <p:spPr>
          <a:xfrm>
            <a:off x="6263640" y="498348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  avec params = ['x' OR ''1''=''1']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4" name="TextBox 34"/>
          <p:cNvSpPr/>
          <p:nvPr/>
        </p:nvSpPr>
        <p:spPr>
          <a:xfrm>
            <a:off x="6263640" y="525780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5" name="TextBox 35"/>
          <p:cNvSpPr/>
          <p:nvPr/>
        </p:nvSpPr>
        <p:spPr>
          <a:xfrm>
            <a:off x="6263640" y="553212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PostgreSQL traite $1 comme STRING littérale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6" name="TextBox 36"/>
          <p:cNvSpPr/>
          <p:nvPr/>
        </p:nvSpPr>
        <p:spPr>
          <a:xfrm>
            <a:off x="6263640" y="580644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→ 0 ligne renvoyée 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7" name="TextBox 37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8" name="TextBox 38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36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69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0" name="Rectangle 1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71" name="TextBox 2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2" name="TextBox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Anti-SQLi : défense en profondeur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3" name="Rectangle 4"/>
          <p:cNvSpPr/>
          <p:nvPr/>
        </p:nvSpPr>
        <p:spPr>
          <a:xfrm>
            <a:off x="548640" y="1691640"/>
            <a:ext cx="7313760" cy="8672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74" name="Rectangle 5"/>
          <p:cNvSpPr/>
          <p:nvPr/>
        </p:nvSpPr>
        <p:spPr>
          <a:xfrm>
            <a:off x="548640" y="1691640"/>
            <a:ext cx="108360" cy="867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360" tIns="45000" rIns="54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75" name="TextBox 6"/>
          <p:cNvSpPr/>
          <p:nvPr/>
        </p:nvSpPr>
        <p:spPr>
          <a:xfrm>
            <a:off x="822960" y="1783080"/>
            <a:ext cx="455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1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6" name="TextBox 7"/>
          <p:cNvSpPr/>
          <p:nvPr/>
        </p:nvSpPr>
        <p:spPr>
          <a:xfrm>
            <a:off x="1417320" y="1783080"/>
            <a:ext cx="2284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7" name="TextBox 8"/>
          <p:cNvSpPr/>
          <p:nvPr/>
        </p:nvSpPr>
        <p:spPr>
          <a:xfrm>
            <a:off x="1417320" y="2057400"/>
            <a:ext cx="5027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Validation type + format avant tout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8" name="TextBox 9"/>
          <p:cNvSpPr/>
          <p:nvPr/>
        </p:nvSpPr>
        <p:spPr>
          <a:xfrm>
            <a:off x="3749040" y="2194560"/>
            <a:ext cx="402192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z.string().email().min(6)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9" name="Rectangle 10"/>
          <p:cNvSpPr/>
          <p:nvPr/>
        </p:nvSpPr>
        <p:spPr>
          <a:xfrm>
            <a:off x="548640" y="2743200"/>
            <a:ext cx="7313760" cy="8672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80" name="Rectangle 11"/>
          <p:cNvSpPr/>
          <p:nvPr/>
        </p:nvSpPr>
        <p:spPr>
          <a:xfrm>
            <a:off x="548640" y="2743200"/>
            <a:ext cx="108360" cy="8672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360" tIns="45000" rIns="54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81" name="TextBox 12"/>
          <p:cNvSpPr/>
          <p:nvPr/>
        </p:nvSpPr>
        <p:spPr>
          <a:xfrm>
            <a:off x="822960" y="2834640"/>
            <a:ext cx="455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2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2" name="TextBox 13"/>
          <p:cNvSpPr/>
          <p:nvPr/>
        </p:nvSpPr>
        <p:spPr>
          <a:xfrm>
            <a:off x="1417320" y="2834640"/>
            <a:ext cx="2284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3" name="TextBox 14"/>
          <p:cNvSpPr/>
          <p:nvPr/>
        </p:nvSpPr>
        <p:spPr>
          <a:xfrm>
            <a:off x="1417320" y="3108960"/>
            <a:ext cx="5027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Compose un SQL paramétré (jamais de concat)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4" name="TextBox 15"/>
          <p:cNvSpPr/>
          <p:nvPr/>
        </p:nvSpPr>
        <p:spPr>
          <a:xfrm>
            <a:off x="3749040" y="3246120"/>
            <a:ext cx="402192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db.user.findUnique({ where: { email } })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5" name="Rectangle 16"/>
          <p:cNvSpPr/>
          <p:nvPr/>
        </p:nvSpPr>
        <p:spPr>
          <a:xfrm>
            <a:off x="548640" y="3794760"/>
            <a:ext cx="7313760" cy="8672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86" name="Rectangle 17"/>
          <p:cNvSpPr/>
          <p:nvPr/>
        </p:nvSpPr>
        <p:spPr>
          <a:xfrm>
            <a:off x="548640" y="3794760"/>
            <a:ext cx="108360" cy="8672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360" tIns="45000" rIns="54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87" name="TextBox 18"/>
          <p:cNvSpPr/>
          <p:nvPr/>
        </p:nvSpPr>
        <p:spPr>
          <a:xfrm>
            <a:off x="822960" y="3886200"/>
            <a:ext cx="455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3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8" name="TextBox 19"/>
          <p:cNvSpPr/>
          <p:nvPr/>
        </p:nvSpPr>
        <p:spPr>
          <a:xfrm>
            <a:off x="1417320" y="3886200"/>
            <a:ext cx="2284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DRIVER PG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9" name="TextBox 20"/>
          <p:cNvSpPr/>
          <p:nvPr/>
        </p:nvSpPr>
        <p:spPr>
          <a:xfrm>
            <a:off x="1417320" y="4160520"/>
            <a:ext cx="5027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Sépare query texte + array de params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0" name="TextBox 21"/>
          <p:cNvSpPr/>
          <p:nvPr/>
        </p:nvSpPr>
        <p:spPr>
          <a:xfrm>
            <a:off x="3749040" y="4297680"/>
            <a:ext cx="402192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PREPARE → EXECUTE($1, $2, ...)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1" name="Rectangle 22"/>
          <p:cNvSpPr/>
          <p:nvPr/>
        </p:nvSpPr>
        <p:spPr>
          <a:xfrm>
            <a:off x="548640" y="4846320"/>
            <a:ext cx="7313760" cy="8672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92" name="Rectangle 23"/>
          <p:cNvSpPr/>
          <p:nvPr/>
        </p:nvSpPr>
        <p:spPr>
          <a:xfrm>
            <a:off x="548640" y="4846320"/>
            <a:ext cx="108360" cy="867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360" tIns="45000" rIns="54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93" name="TextBox 24"/>
          <p:cNvSpPr/>
          <p:nvPr/>
        </p:nvSpPr>
        <p:spPr>
          <a:xfrm>
            <a:off x="822960" y="4937760"/>
            <a:ext cx="455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4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4" name="TextBox 25"/>
          <p:cNvSpPr/>
          <p:nvPr/>
        </p:nvSpPr>
        <p:spPr>
          <a:xfrm>
            <a:off x="1417320" y="4937760"/>
            <a:ext cx="2284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POSTGRES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5" name="TextBox 26"/>
          <p:cNvSpPr/>
          <p:nvPr/>
        </p:nvSpPr>
        <p:spPr>
          <a:xfrm>
            <a:off x="1417320" y="5212080"/>
            <a:ext cx="5027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Traite chaque param comme littéral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6" name="TextBox 27"/>
          <p:cNvSpPr/>
          <p:nvPr/>
        </p:nvSpPr>
        <p:spPr>
          <a:xfrm>
            <a:off x="3749040" y="5349240"/>
            <a:ext cx="402192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WHERE email = $1   (binding)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7" name="Rectangle 28"/>
          <p:cNvSpPr/>
          <p:nvPr/>
        </p:nvSpPr>
        <p:spPr>
          <a:xfrm>
            <a:off x="8092440" y="1691640"/>
            <a:ext cx="3519000" cy="45705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98" name="TextBox 29"/>
          <p:cNvSpPr/>
          <p:nvPr/>
        </p:nvSpPr>
        <p:spPr>
          <a:xfrm>
            <a:off x="8275320" y="1783080"/>
            <a:ext cx="3153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Payload attaque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9" name="Oval 30"/>
          <p:cNvSpPr/>
          <p:nvPr/>
        </p:nvSpPr>
        <p:spPr>
          <a:xfrm>
            <a:off x="8275320" y="2240280"/>
            <a:ext cx="410040" cy="4100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00" name="TextBox 31"/>
          <p:cNvSpPr/>
          <p:nvPr/>
        </p:nvSpPr>
        <p:spPr>
          <a:xfrm>
            <a:off x="8275320" y="22402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1" name="TextBox 32"/>
          <p:cNvSpPr/>
          <p:nvPr/>
        </p:nvSpPr>
        <p:spPr>
          <a:xfrm>
            <a:off x="8778240" y="219456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' OR 1=1-- envoyé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2" name="Oval 33"/>
          <p:cNvSpPr/>
          <p:nvPr/>
        </p:nvSpPr>
        <p:spPr>
          <a:xfrm>
            <a:off x="8275320" y="2880360"/>
            <a:ext cx="410040" cy="4100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03" name="TextBox 34"/>
          <p:cNvSpPr/>
          <p:nvPr/>
        </p:nvSpPr>
        <p:spPr>
          <a:xfrm>
            <a:off x="8275320" y="28803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4" name="TextBox 35"/>
          <p:cNvSpPr/>
          <p:nvPr/>
        </p:nvSpPr>
        <p:spPr>
          <a:xfrm>
            <a:off x="8778240" y="283464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Zod : pas un email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5" name="Oval 36"/>
          <p:cNvSpPr/>
          <p:nvPr/>
        </p:nvSpPr>
        <p:spPr>
          <a:xfrm>
            <a:off x="8275320" y="3520440"/>
            <a:ext cx="410040" cy="4100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06" name="TextBox 37"/>
          <p:cNvSpPr/>
          <p:nvPr/>
        </p:nvSpPr>
        <p:spPr>
          <a:xfrm>
            <a:off x="8275320" y="35204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7" name="TextBox 38"/>
          <p:cNvSpPr/>
          <p:nvPr/>
        </p:nvSpPr>
        <p:spPr>
          <a:xfrm>
            <a:off x="8778240" y="347472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 : paramètre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8" name="Oval 39"/>
          <p:cNvSpPr/>
          <p:nvPr/>
        </p:nvSpPr>
        <p:spPr>
          <a:xfrm>
            <a:off x="8275320" y="4160520"/>
            <a:ext cx="410040" cy="4100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09" name="TextBox 40"/>
          <p:cNvSpPr/>
          <p:nvPr/>
        </p:nvSpPr>
        <p:spPr>
          <a:xfrm>
            <a:off x="8275320" y="416052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0" name="TextBox 41"/>
          <p:cNvSpPr/>
          <p:nvPr/>
        </p:nvSpPr>
        <p:spPr>
          <a:xfrm>
            <a:off x="8778240" y="411480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Driver : binding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1" name="Oval 42"/>
          <p:cNvSpPr/>
          <p:nvPr/>
        </p:nvSpPr>
        <p:spPr>
          <a:xfrm>
            <a:off x="8275320" y="4800600"/>
            <a:ext cx="410040" cy="41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12" name="TextBox 43"/>
          <p:cNvSpPr/>
          <p:nvPr/>
        </p:nvSpPr>
        <p:spPr>
          <a:xfrm>
            <a:off x="8275320" y="480060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3" name="TextBox 44"/>
          <p:cNvSpPr/>
          <p:nvPr/>
        </p:nvSpPr>
        <p:spPr>
          <a:xfrm>
            <a:off x="8778240" y="475488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PG : 0 résultat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4" name="TextBox 45"/>
          <p:cNvSpPr/>
          <p:nvPr/>
        </p:nvSpPr>
        <p:spPr>
          <a:xfrm>
            <a:off x="548640" y="59893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OWASP Top 10 — A03:2021 Injection · neutralisée structurellement par 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5" name="TextBox 4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6" name="TextBox 4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37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1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8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QUALITÉ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9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Stratégie de tests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0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1" name="Shape 3"/>
          <p:cNvSpPr/>
          <p:nvPr/>
        </p:nvSpPr>
        <p:spPr>
          <a:xfrm>
            <a:off x="4000680" y="1828800"/>
            <a:ext cx="1233000" cy="912960"/>
          </a:xfrm>
          <a:prstGeom prst="rect">
            <a:avLst/>
          </a:prstGeom>
          <a:solidFill>
            <a:srgbClr val="EF4444">
              <a:alpha val="40000"/>
            </a:srgbClr>
          </a:solidFill>
          <a:ln w="1905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2" name="Text 4"/>
          <p:cNvSpPr/>
          <p:nvPr/>
        </p:nvSpPr>
        <p:spPr>
          <a:xfrm>
            <a:off x="4000680" y="1828800"/>
            <a:ext cx="123300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E2E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3" name="Shape 5"/>
          <p:cNvSpPr/>
          <p:nvPr/>
        </p:nvSpPr>
        <p:spPr>
          <a:xfrm>
            <a:off x="3383280" y="2743200"/>
            <a:ext cx="2467440" cy="1278720"/>
          </a:xfrm>
          <a:prstGeom prst="rect">
            <a:avLst/>
          </a:prstGeom>
          <a:solidFill>
            <a:srgbClr val="F59E0B">
              <a:alpha val="4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4" name="Text 6"/>
          <p:cNvSpPr/>
          <p:nvPr/>
        </p:nvSpPr>
        <p:spPr>
          <a:xfrm>
            <a:off x="3383280" y="2743200"/>
            <a:ext cx="2467440" cy="127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d'intégration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5" name="Shape 7"/>
          <p:cNvSpPr/>
          <p:nvPr/>
        </p:nvSpPr>
        <p:spPr>
          <a:xfrm>
            <a:off x="2560320" y="4023360"/>
            <a:ext cx="4113360" cy="1461600"/>
          </a:xfrm>
          <a:prstGeom prst="rect">
            <a:avLst/>
          </a:prstGeom>
          <a:solidFill>
            <a:srgbClr val="10B981">
              <a:alpha val="4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6" name="Text 8"/>
          <p:cNvSpPr/>
          <p:nvPr/>
        </p:nvSpPr>
        <p:spPr>
          <a:xfrm>
            <a:off x="2560320" y="4023360"/>
            <a:ext cx="4113360" cy="14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unitaires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7" name="Shape 9"/>
          <p:cNvSpPr/>
          <p:nvPr/>
        </p:nvSpPr>
        <p:spPr>
          <a:xfrm>
            <a:off x="7315200" y="1783080"/>
            <a:ext cx="4479120" cy="4479120"/>
          </a:xfrm>
          <a:prstGeom prst="roundRect">
            <a:avLst>
              <a:gd name="adj" fmla="val 16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8" name="Text 10"/>
          <p:cNvSpPr/>
          <p:nvPr/>
        </p:nvSpPr>
        <p:spPr>
          <a:xfrm>
            <a:off x="7498080" y="1874520"/>
            <a:ext cx="41133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Pyramide adoptée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9" name="Shape 11"/>
          <p:cNvSpPr/>
          <p:nvPr/>
        </p:nvSpPr>
        <p:spPr>
          <a:xfrm>
            <a:off x="7498080" y="2331720"/>
            <a:ext cx="90000" cy="82152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30" name="Text 12"/>
          <p:cNvSpPr/>
          <p:nvPr/>
        </p:nvSpPr>
        <p:spPr>
          <a:xfrm>
            <a:off x="7680960" y="233172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E2E (Playwright)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1" name="Shape 13"/>
          <p:cNvSpPr/>
          <p:nvPr/>
        </p:nvSpPr>
        <p:spPr>
          <a:xfrm>
            <a:off x="10469880" y="2377440"/>
            <a:ext cx="1141560" cy="272880"/>
          </a:xfrm>
          <a:prstGeom prst="roundRect">
            <a:avLst>
              <a:gd name="adj" fmla="val 50000"/>
            </a:avLst>
          </a:prstGeom>
          <a:solidFill>
            <a:srgbClr val="EF4444">
              <a:alpha val="25000"/>
            </a:srgbClr>
          </a:solidFill>
          <a:ln w="9525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32" name="Text 14"/>
          <p:cNvSpPr/>
          <p:nvPr/>
        </p:nvSpPr>
        <p:spPr>
          <a:xfrm>
            <a:off x="10469880" y="2377440"/>
            <a:ext cx="1141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Roadmap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3" name="Text 15"/>
          <p:cNvSpPr/>
          <p:nvPr/>
        </p:nvSpPr>
        <p:spPr>
          <a:xfrm>
            <a:off x="7680960" y="2697480"/>
            <a:ext cx="39304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Parcours critiques : inscription, post, chat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4" name="Shape 16"/>
          <p:cNvSpPr/>
          <p:nvPr/>
        </p:nvSpPr>
        <p:spPr>
          <a:xfrm>
            <a:off x="7498080" y="3246120"/>
            <a:ext cx="90000" cy="82152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35" name="Text 17"/>
          <p:cNvSpPr/>
          <p:nvPr/>
        </p:nvSpPr>
        <p:spPr>
          <a:xfrm>
            <a:off x="7680960" y="324612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Intégration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6" name="Shape 18"/>
          <p:cNvSpPr/>
          <p:nvPr/>
        </p:nvSpPr>
        <p:spPr>
          <a:xfrm>
            <a:off x="10469880" y="3291840"/>
            <a:ext cx="1141560" cy="272880"/>
          </a:xfrm>
          <a:prstGeom prst="roundRect">
            <a:avLst>
              <a:gd name="adj" fmla="val 50000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37" name="Text 19"/>
          <p:cNvSpPr/>
          <p:nvPr/>
        </p:nvSpPr>
        <p:spPr>
          <a:xfrm>
            <a:off x="10469880" y="3291840"/>
            <a:ext cx="1141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En place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8" name="Text 20"/>
          <p:cNvSpPr/>
          <p:nvPr/>
        </p:nvSpPr>
        <p:spPr>
          <a:xfrm>
            <a:off x="7680960" y="3611880"/>
            <a:ext cx="39304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Jest + ts-jest sur /api/*  (auth, posts, chat)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9" name="Shape 21"/>
          <p:cNvSpPr/>
          <p:nvPr/>
        </p:nvSpPr>
        <p:spPr>
          <a:xfrm>
            <a:off x="7498080" y="4160520"/>
            <a:ext cx="90000" cy="82152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0" name="Text 22"/>
          <p:cNvSpPr/>
          <p:nvPr/>
        </p:nvSpPr>
        <p:spPr>
          <a:xfrm>
            <a:off x="7680960" y="416052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Unitaires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1" name="Shape 23"/>
          <p:cNvSpPr/>
          <p:nvPr/>
        </p:nvSpPr>
        <p:spPr>
          <a:xfrm>
            <a:off x="10469880" y="4206240"/>
            <a:ext cx="1141560" cy="27288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2" name="Text 24"/>
          <p:cNvSpPr/>
          <p:nvPr/>
        </p:nvSpPr>
        <p:spPr>
          <a:xfrm>
            <a:off x="10469880" y="4206240"/>
            <a:ext cx="1141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En place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3" name="Text 25"/>
          <p:cNvSpPr/>
          <p:nvPr/>
        </p:nvSpPr>
        <p:spPr>
          <a:xfrm>
            <a:off x="7680960" y="4526280"/>
            <a:ext cx="39304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Helpers, validators Zod, hashing, JWT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4" name="Shape 26"/>
          <p:cNvSpPr/>
          <p:nvPr/>
        </p:nvSpPr>
        <p:spPr>
          <a:xfrm>
            <a:off x="7498080" y="5074920"/>
            <a:ext cx="90000" cy="8215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5" name="Text 27"/>
          <p:cNvSpPr/>
          <p:nvPr/>
        </p:nvSpPr>
        <p:spPr>
          <a:xfrm>
            <a:off x="7680960" y="507492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Lint &amp; types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6" name="Shape 28"/>
          <p:cNvSpPr/>
          <p:nvPr/>
        </p:nvSpPr>
        <p:spPr>
          <a:xfrm>
            <a:off x="10469880" y="5120640"/>
            <a:ext cx="1141560" cy="27288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7" name="Text 29"/>
          <p:cNvSpPr/>
          <p:nvPr/>
        </p:nvSpPr>
        <p:spPr>
          <a:xfrm>
            <a:off x="10469880" y="5120640"/>
            <a:ext cx="1141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CI bloquant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8" name="Text 30"/>
          <p:cNvSpPr/>
          <p:nvPr/>
        </p:nvSpPr>
        <p:spPr>
          <a:xfrm>
            <a:off x="7680960" y="5440680"/>
            <a:ext cx="39304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ESLint + TypeScript strict, prisma generate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9" name="Shape 31"/>
          <p:cNvSpPr/>
          <p:nvPr/>
        </p:nvSpPr>
        <p:spPr>
          <a:xfrm>
            <a:off x="548640" y="5577840"/>
            <a:ext cx="11062800" cy="684360"/>
          </a:xfrm>
          <a:prstGeom prst="roundRect">
            <a:avLst>
              <a:gd name="adj" fmla="val 10667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0" name="Text 32"/>
          <p:cNvSpPr/>
          <p:nvPr/>
        </p:nvSpPr>
        <p:spPr>
          <a:xfrm>
            <a:off x="777240" y="5623560"/>
            <a:ext cx="1060560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Coverage cible :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80% sur les modules critiques (auth, chat, persistence).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Jeux d'essai documentés dans tests-strategy.md.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5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52" name="Text 33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3" name="Text 34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38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4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QUALITÉ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5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Pipeline CI/CD GitHub Actions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6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7" name="Shape 3"/>
          <p:cNvSpPr/>
          <p:nvPr/>
        </p:nvSpPr>
        <p:spPr>
          <a:xfrm>
            <a:off x="434520" y="2194560"/>
            <a:ext cx="1370160" cy="21931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8" name="Shape 4"/>
          <p:cNvSpPr/>
          <p:nvPr/>
        </p:nvSpPr>
        <p:spPr>
          <a:xfrm>
            <a:off x="800280" y="2423160"/>
            <a:ext cx="638640" cy="638640"/>
          </a:xfrm>
          <a:prstGeom prst="ellipse">
            <a:avLst/>
          </a:prstGeom>
          <a:solidFill>
            <a:srgbClr val="A1A1AA">
              <a:alpha val="30000"/>
            </a:srgbClr>
          </a:solidFill>
          <a:ln w="19050">
            <a:solidFill>
              <a:srgbClr val="A1A1A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9" name="Text 5"/>
          <p:cNvSpPr/>
          <p:nvPr/>
        </p:nvSpPr>
        <p:spPr>
          <a:xfrm>
            <a:off x="800280" y="242316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↗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0" name="Text 6"/>
          <p:cNvSpPr/>
          <p:nvPr/>
        </p:nvSpPr>
        <p:spPr>
          <a:xfrm>
            <a:off x="480240" y="3154680"/>
            <a:ext cx="12787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Push / PR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1" name="Text 7"/>
          <p:cNvSpPr/>
          <p:nvPr/>
        </p:nvSpPr>
        <p:spPr>
          <a:xfrm>
            <a:off x="480240" y="3520440"/>
            <a:ext cx="127872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main · feature-*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2" name="Shape 8"/>
          <p:cNvSpPr/>
          <p:nvPr/>
        </p:nvSpPr>
        <p:spPr>
          <a:xfrm>
            <a:off x="180576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63" name="Shape 9"/>
          <p:cNvSpPr/>
          <p:nvPr/>
        </p:nvSpPr>
        <p:spPr>
          <a:xfrm>
            <a:off x="1851840" y="2194560"/>
            <a:ext cx="1370160" cy="21931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64" name="Shape 10"/>
          <p:cNvSpPr/>
          <p:nvPr/>
        </p:nvSpPr>
        <p:spPr>
          <a:xfrm>
            <a:off x="2217600" y="2423160"/>
            <a:ext cx="638640" cy="63864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65" name="Text 11"/>
          <p:cNvSpPr/>
          <p:nvPr/>
        </p:nvSpPr>
        <p:spPr>
          <a:xfrm>
            <a:off x="2217600" y="242316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6" name="Text 12"/>
          <p:cNvSpPr/>
          <p:nvPr/>
        </p:nvSpPr>
        <p:spPr>
          <a:xfrm>
            <a:off x="1897560" y="3154680"/>
            <a:ext cx="12787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Checkout &amp; Setup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7" name="Text 13"/>
          <p:cNvSpPr/>
          <p:nvPr/>
        </p:nvSpPr>
        <p:spPr>
          <a:xfrm>
            <a:off x="1897560" y="3520440"/>
            <a:ext cx="127872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actions/checkout · setup-bun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8" name="Shape 14"/>
          <p:cNvSpPr/>
          <p:nvPr/>
        </p:nvSpPr>
        <p:spPr>
          <a:xfrm>
            <a:off x="322308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69" name="Shape 15"/>
          <p:cNvSpPr/>
          <p:nvPr/>
        </p:nvSpPr>
        <p:spPr>
          <a:xfrm>
            <a:off x="3269160" y="2194560"/>
            <a:ext cx="1370160" cy="21931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70" name="Shape 16"/>
          <p:cNvSpPr/>
          <p:nvPr/>
        </p:nvSpPr>
        <p:spPr>
          <a:xfrm>
            <a:off x="3634920" y="2423160"/>
            <a:ext cx="638640" cy="63864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71" name="Text 17"/>
          <p:cNvSpPr/>
          <p:nvPr/>
        </p:nvSpPr>
        <p:spPr>
          <a:xfrm>
            <a:off x="3634920" y="242316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2" name="Text 18"/>
          <p:cNvSpPr/>
          <p:nvPr/>
        </p:nvSpPr>
        <p:spPr>
          <a:xfrm>
            <a:off x="3314880" y="3154680"/>
            <a:ext cx="12787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Install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3" name="Text 19"/>
          <p:cNvSpPr/>
          <p:nvPr/>
        </p:nvSpPr>
        <p:spPr>
          <a:xfrm>
            <a:off x="3314880" y="3520440"/>
            <a:ext cx="127872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install --frozen-lockfile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4" name="Shape 20"/>
          <p:cNvSpPr/>
          <p:nvPr/>
        </p:nvSpPr>
        <p:spPr>
          <a:xfrm>
            <a:off x="464040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75" name="Shape 21"/>
          <p:cNvSpPr/>
          <p:nvPr/>
        </p:nvSpPr>
        <p:spPr>
          <a:xfrm>
            <a:off x="4686480" y="2194560"/>
            <a:ext cx="1370160" cy="21931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76" name="Shape 22"/>
          <p:cNvSpPr/>
          <p:nvPr/>
        </p:nvSpPr>
        <p:spPr>
          <a:xfrm>
            <a:off x="5052240" y="2423160"/>
            <a:ext cx="638640" cy="63864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77" name="Text 23"/>
          <p:cNvSpPr/>
          <p:nvPr/>
        </p:nvSpPr>
        <p:spPr>
          <a:xfrm>
            <a:off x="5052240" y="242316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8" name="Text 24"/>
          <p:cNvSpPr/>
          <p:nvPr/>
        </p:nvSpPr>
        <p:spPr>
          <a:xfrm>
            <a:off x="4732200" y="3154680"/>
            <a:ext cx="12787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generate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9" name="Text 25"/>
          <p:cNvSpPr/>
          <p:nvPr/>
        </p:nvSpPr>
        <p:spPr>
          <a:xfrm>
            <a:off x="4732200" y="3520440"/>
            <a:ext cx="127872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bunx prisma generate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0" name="Shape 26"/>
          <p:cNvSpPr/>
          <p:nvPr/>
        </p:nvSpPr>
        <p:spPr>
          <a:xfrm>
            <a:off x="605772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1" name="Shape 27"/>
          <p:cNvSpPr/>
          <p:nvPr/>
        </p:nvSpPr>
        <p:spPr>
          <a:xfrm>
            <a:off x="6103800" y="2194560"/>
            <a:ext cx="1370160" cy="21931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2" name="Shape 28"/>
          <p:cNvSpPr/>
          <p:nvPr/>
        </p:nvSpPr>
        <p:spPr>
          <a:xfrm>
            <a:off x="6469560" y="2423160"/>
            <a:ext cx="638640" cy="63864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3" name="Text 29"/>
          <p:cNvSpPr/>
          <p:nvPr/>
        </p:nvSpPr>
        <p:spPr>
          <a:xfrm>
            <a:off x="6469560" y="242316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≡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4" name="Text 30"/>
          <p:cNvSpPr/>
          <p:nvPr/>
        </p:nvSpPr>
        <p:spPr>
          <a:xfrm>
            <a:off x="6149520" y="3154680"/>
            <a:ext cx="12787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5" name="Text 31"/>
          <p:cNvSpPr/>
          <p:nvPr/>
        </p:nvSpPr>
        <p:spPr>
          <a:xfrm>
            <a:off x="6149520" y="3520440"/>
            <a:ext cx="127872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run lint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6" name="Shape 32"/>
          <p:cNvSpPr/>
          <p:nvPr/>
        </p:nvSpPr>
        <p:spPr>
          <a:xfrm>
            <a:off x="747504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7" name="Shape 33"/>
          <p:cNvSpPr/>
          <p:nvPr/>
        </p:nvSpPr>
        <p:spPr>
          <a:xfrm>
            <a:off x="7521120" y="2194560"/>
            <a:ext cx="1370160" cy="21931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8" name="Shape 34"/>
          <p:cNvSpPr/>
          <p:nvPr/>
        </p:nvSpPr>
        <p:spPr>
          <a:xfrm>
            <a:off x="7886880" y="2423160"/>
            <a:ext cx="638640" cy="638640"/>
          </a:xfrm>
          <a:prstGeom prst="ellipse">
            <a:avLst/>
          </a:prstGeom>
          <a:solidFill>
            <a:srgbClr val="EF4444">
              <a:alpha val="30000"/>
            </a:srgbClr>
          </a:solidFill>
          <a:ln w="1905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9" name="Text 35"/>
          <p:cNvSpPr/>
          <p:nvPr/>
        </p:nvSpPr>
        <p:spPr>
          <a:xfrm>
            <a:off x="7886880" y="242316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0" name="Text 36"/>
          <p:cNvSpPr/>
          <p:nvPr/>
        </p:nvSpPr>
        <p:spPr>
          <a:xfrm>
            <a:off x="7566840" y="3154680"/>
            <a:ext cx="12787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1" name="Text 37"/>
          <p:cNvSpPr/>
          <p:nvPr/>
        </p:nvSpPr>
        <p:spPr>
          <a:xfrm>
            <a:off x="7566840" y="3520440"/>
            <a:ext cx="127872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run test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2" name="Shape 38"/>
          <p:cNvSpPr/>
          <p:nvPr/>
        </p:nvSpPr>
        <p:spPr>
          <a:xfrm>
            <a:off x="889236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93" name="Shape 39"/>
          <p:cNvSpPr/>
          <p:nvPr/>
        </p:nvSpPr>
        <p:spPr>
          <a:xfrm>
            <a:off x="8938440" y="2194560"/>
            <a:ext cx="1370160" cy="21931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94" name="Shape 40"/>
          <p:cNvSpPr/>
          <p:nvPr/>
        </p:nvSpPr>
        <p:spPr>
          <a:xfrm>
            <a:off x="9304200" y="2423160"/>
            <a:ext cx="638640" cy="638640"/>
          </a:xfrm>
          <a:prstGeom prst="ellipse">
            <a:avLst/>
          </a:prstGeom>
          <a:solidFill>
            <a:srgbClr val="F472B6">
              <a:alpha val="30000"/>
            </a:srgbClr>
          </a:solidFill>
          <a:ln w="19050">
            <a:solidFill>
              <a:srgbClr val="F472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95" name="Text 41"/>
          <p:cNvSpPr/>
          <p:nvPr/>
        </p:nvSpPr>
        <p:spPr>
          <a:xfrm>
            <a:off x="9304200" y="242316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◧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6" name="Text 42"/>
          <p:cNvSpPr/>
          <p:nvPr/>
        </p:nvSpPr>
        <p:spPr>
          <a:xfrm>
            <a:off x="8984160" y="3154680"/>
            <a:ext cx="12787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Build Next.js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7" name="Text 43"/>
          <p:cNvSpPr/>
          <p:nvPr/>
        </p:nvSpPr>
        <p:spPr>
          <a:xfrm>
            <a:off x="8984160" y="3520440"/>
            <a:ext cx="127872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run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8" name="Shape 44"/>
          <p:cNvSpPr/>
          <p:nvPr/>
        </p:nvSpPr>
        <p:spPr>
          <a:xfrm>
            <a:off x="1030968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99" name="Shape 45"/>
          <p:cNvSpPr/>
          <p:nvPr/>
        </p:nvSpPr>
        <p:spPr>
          <a:xfrm>
            <a:off x="10355760" y="2194560"/>
            <a:ext cx="1370160" cy="21931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00" name="Shape 46"/>
          <p:cNvSpPr/>
          <p:nvPr/>
        </p:nvSpPr>
        <p:spPr>
          <a:xfrm>
            <a:off x="10721520" y="2423160"/>
            <a:ext cx="638640" cy="63864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01" name="Text 47"/>
          <p:cNvSpPr/>
          <p:nvPr/>
        </p:nvSpPr>
        <p:spPr>
          <a:xfrm>
            <a:off x="10721520" y="242316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▲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2" name="Text 48"/>
          <p:cNvSpPr/>
          <p:nvPr/>
        </p:nvSpPr>
        <p:spPr>
          <a:xfrm>
            <a:off x="10401480" y="3154680"/>
            <a:ext cx="12787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Deploy 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3" name="Text 49"/>
          <p:cNvSpPr/>
          <p:nvPr/>
        </p:nvSpPr>
        <p:spPr>
          <a:xfrm>
            <a:off x="10401480" y="3520440"/>
            <a:ext cx="127872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preview ou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4" name="Shape 50"/>
          <p:cNvSpPr/>
          <p:nvPr/>
        </p:nvSpPr>
        <p:spPr>
          <a:xfrm>
            <a:off x="548640" y="4754880"/>
            <a:ext cx="11062800" cy="1553040"/>
          </a:xfrm>
          <a:prstGeom prst="roundRect">
            <a:avLst>
              <a:gd name="adj" fmla="val 5882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05" name="Text 51"/>
          <p:cNvSpPr/>
          <p:nvPr/>
        </p:nvSpPr>
        <p:spPr>
          <a:xfrm>
            <a:off x="731520" y="4846320"/>
            <a:ext cx="5484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.github/workflows/ci.yml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6" name="Text 52"/>
          <p:cNvSpPr/>
          <p:nvPr/>
        </p:nvSpPr>
        <p:spPr>
          <a:xfrm>
            <a:off x="731520" y="5120640"/>
            <a:ext cx="106970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name: CI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7" name="Text 53"/>
          <p:cNvSpPr/>
          <p:nvPr/>
        </p:nvSpPr>
        <p:spPr>
          <a:xfrm>
            <a:off x="731520" y="5312520"/>
            <a:ext cx="106970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on: [push, pull_request]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8" name="Text 54"/>
          <p:cNvSpPr/>
          <p:nvPr/>
        </p:nvSpPr>
        <p:spPr>
          <a:xfrm>
            <a:off x="731520" y="5504760"/>
            <a:ext cx="106970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jobs: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9" name="Text 55"/>
          <p:cNvSpPr/>
          <p:nvPr/>
        </p:nvSpPr>
        <p:spPr>
          <a:xfrm>
            <a:off x="731520" y="5696640"/>
            <a:ext cx="106970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build: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0" name="Text 56"/>
          <p:cNvSpPr/>
          <p:nvPr/>
        </p:nvSpPr>
        <p:spPr>
          <a:xfrm>
            <a:off x="731520" y="5888880"/>
            <a:ext cx="106970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runs-on: ubuntu-latest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1" name="Text 57"/>
          <p:cNvSpPr/>
          <p:nvPr/>
        </p:nvSpPr>
        <p:spPr>
          <a:xfrm>
            <a:off x="731520" y="6080760"/>
            <a:ext cx="106970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steps: [checkout, setup-bun, install, prisma:generate, lint, test, build]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1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13" name="Text 58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4" name="Text 59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39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5" name="Rectangle 1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16" name="TextBox 2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05 · DÉPLOIEMENT · CI/CD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7" name="TextBox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Du commit à la production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8" name="Rectangle 4"/>
          <p:cNvSpPr/>
          <p:nvPr/>
        </p:nvSpPr>
        <p:spPr>
          <a:xfrm>
            <a:off x="548640" y="2011680"/>
            <a:ext cx="1507320" cy="11872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19" name="Rectangle 5"/>
          <p:cNvSpPr/>
          <p:nvPr/>
        </p:nvSpPr>
        <p:spPr>
          <a:xfrm>
            <a:off x="548640" y="2011680"/>
            <a:ext cx="1507320" cy="716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0" name="TextBox 6"/>
          <p:cNvSpPr/>
          <p:nvPr/>
        </p:nvSpPr>
        <p:spPr>
          <a:xfrm>
            <a:off x="548640" y="2194560"/>
            <a:ext cx="15073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8B5CF6"/>
                </a:solidFill>
                <a:effectLst/>
                <a:uFillTx/>
                <a:latin typeface="Calibri"/>
              </a:rPr>
              <a:t>⟳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1" name="TextBox 7"/>
          <p:cNvSpPr/>
          <p:nvPr/>
        </p:nvSpPr>
        <p:spPr>
          <a:xfrm>
            <a:off x="548640" y="2743200"/>
            <a:ext cx="15073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git push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2" name="TextBox 8"/>
          <p:cNvSpPr/>
          <p:nvPr/>
        </p:nvSpPr>
        <p:spPr>
          <a:xfrm>
            <a:off x="548640" y="2971800"/>
            <a:ext cx="150732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main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3" name="TextBox 9"/>
          <p:cNvSpPr/>
          <p:nvPr/>
        </p:nvSpPr>
        <p:spPr>
          <a:xfrm>
            <a:off x="2075760" y="2514600"/>
            <a:ext cx="181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4" name="Rectangle 10"/>
          <p:cNvSpPr/>
          <p:nvPr/>
        </p:nvSpPr>
        <p:spPr>
          <a:xfrm>
            <a:off x="2194560" y="2011680"/>
            <a:ext cx="1507320" cy="11872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5" name="Rectangle 11"/>
          <p:cNvSpPr/>
          <p:nvPr/>
        </p:nvSpPr>
        <p:spPr>
          <a:xfrm>
            <a:off x="2194560" y="2011680"/>
            <a:ext cx="1507320" cy="716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6" name="TextBox 12"/>
          <p:cNvSpPr/>
          <p:nvPr/>
        </p:nvSpPr>
        <p:spPr>
          <a:xfrm>
            <a:off x="2194560" y="2194560"/>
            <a:ext cx="15073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◉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7" name="TextBox 13"/>
          <p:cNvSpPr/>
          <p:nvPr/>
        </p:nvSpPr>
        <p:spPr>
          <a:xfrm>
            <a:off x="2194560" y="2743200"/>
            <a:ext cx="15073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8" name="TextBox 14"/>
          <p:cNvSpPr/>
          <p:nvPr/>
        </p:nvSpPr>
        <p:spPr>
          <a:xfrm>
            <a:off x="2194560" y="2971800"/>
            <a:ext cx="150732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ci.yml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9" name="TextBox 15"/>
          <p:cNvSpPr/>
          <p:nvPr/>
        </p:nvSpPr>
        <p:spPr>
          <a:xfrm>
            <a:off x="3721680" y="2514600"/>
            <a:ext cx="181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0" name="Rectangle 16"/>
          <p:cNvSpPr/>
          <p:nvPr/>
        </p:nvSpPr>
        <p:spPr>
          <a:xfrm>
            <a:off x="3840480" y="2011680"/>
            <a:ext cx="1507320" cy="11872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31" name="Rectangle 17"/>
          <p:cNvSpPr/>
          <p:nvPr/>
        </p:nvSpPr>
        <p:spPr>
          <a:xfrm>
            <a:off x="3840480" y="2011680"/>
            <a:ext cx="1507320" cy="716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32" name="TextBox 18"/>
          <p:cNvSpPr/>
          <p:nvPr/>
        </p:nvSpPr>
        <p:spPr>
          <a:xfrm>
            <a:off x="3840480" y="2194560"/>
            <a:ext cx="15073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3" name="TextBox 19"/>
          <p:cNvSpPr/>
          <p:nvPr/>
        </p:nvSpPr>
        <p:spPr>
          <a:xfrm>
            <a:off x="3840480" y="2743200"/>
            <a:ext cx="15073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Lint + Test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4" name="TextBox 20"/>
          <p:cNvSpPr/>
          <p:nvPr/>
        </p:nvSpPr>
        <p:spPr>
          <a:xfrm>
            <a:off x="3840480" y="2971800"/>
            <a:ext cx="150732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Jest passe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5" name="TextBox 21"/>
          <p:cNvSpPr/>
          <p:nvPr/>
        </p:nvSpPr>
        <p:spPr>
          <a:xfrm>
            <a:off x="5367600" y="2514600"/>
            <a:ext cx="181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6" name="Rectangle 22"/>
          <p:cNvSpPr/>
          <p:nvPr/>
        </p:nvSpPr>
        <p:spPr>
          <a:xfrm>
            <a:off x="5486400" y="2011680"/>
            <a:ext cx="1507320" cy="11872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37" name="Rectangle 23"/>
          <p:cNvSpPr/>
          <p:nvPr/>
        </p:nvSpPr>
        <p:spPr>
          <a:xfrm>
            <a:off x="5486400" y="2011680"/>
            <a:ext cx="1507320" cy="716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38" name="TextBox 24"/>
          <p:cNvSpPr/>
          <p:nvPr/>
        </p:nvSpPr>
        <p:spPr>
          <a:xfrm>
            <a:off x="5486400" y="2194560"/>
            <a:ext cx="15073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▣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9" name="TextBox 25"/>
          <p:cNvSpPr/>
          <p:nvPr/>
        </p:nvSpPr>
        <p:spPr>
          <a:xfrm>
            <a:off x="5486400" y="2743200"/>
            <a:ext cx="15073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Build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0" name="TextBox 26"/>
          <p:cNvSpPr/>
          <p:nvPr/>
        </p:nvSpPr>
        <p:spPr>
          <a:xfrm>
            <a:off x="5486400" y="2971800"/>
            <a:ext cx="150732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next build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1" name="TextBox 27"/>
          <p:cNvSpPr/>
          <p:nvPr/>
        </p:nvSpPr>
        <p:spPr>
          <a:xfrm>
            <a:off x="7013520" y="2514600"/>
            <a:ext cx="181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2" name="Rectangle 28"/>
          <p:cNvSpPr/>
          <p:nvPr/>
        </p:nvSpPr>
        <p:spPr>
          <a:xfrm>
            <a:off x="7132320" y="2011680"/>
            <a:ext cx="1507320" cy="11872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3" name="Rectangle 29"/>
          <p:cNvSpPr/>
          <p:nvPr/>
        </p:nvSpPr>
        <p:spPr>
          <a:xfrm>
            <a:off x="7132320" y="2011680"/>
            <a:ext cx="1507320" cy="7164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4" name="TextBox 30"/>
          <p:cNvSpPr/>
          <p:nvPr/>
        </p:nvSpPr>
        <p:spPr>
          <a:xfrm>
            <a:off x="7132320" y="2194560"/>
            <a:ext cx="15073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5" name="TextBox 31"/>
          <p:cNvSpPr/>
          <p:nvPr/>
        </p:nvSpPr>
        <p:spPr>
          <a:xfrm>
            <a:off x="7132320" y="2743200"/>
            <a:ext cx="15073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Vercel deploy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6" name="TextBox 32"/>
          <p:cNvSpPr/>
          <p:nvPr/>
        </p:nvSpPr>
        <p:spPr>
          <a:xfrm>
            <a:off x="7132320" y="2971800"/>
            <a:ext cx="150732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Edge runtime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7" name="TextBox 33"/>
          <p:cNvSpPr/>
          <p:nvPr/>
        </p:nvSpPr>
        <p:spPr>
          <a:xfrm>
            <a:off x="8659440" y="2514600"/>
            <a:ext cx="181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8" name="Rectangle 34"/>
          <p:cNvSpPr/>
          <p:nvPr/>
        </p:nvSpPr>
        <p:spPr>
          <a:xfrm>
            <a:off x="8778240" y="2011680"/>
            <a:ext cx="1507320" cy="11872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9" name="Rectangle 35"/>
          <p:cNvSpPr/>
          <p:nvPr/>
        </p:nvSpPr>
        <p:spPr>
          <a:xfrm>
            <a:off x="8778240" y="2011680"/>
            <a:ext cx="1507320" cy="716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0" name="TextBox 36"/>
          <p:cNvSpPr/>
          <p:nvPr/>
        </p:nvSpPr>
        <p:spPr>
          <a:xfrm>
            <a:off x="8778240" y="2194560"/>
            <a:ext cx="15073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●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1" name="TextBox 37"/>
          <p:cNvSpPr/>
          <p:nvPr/>
        </p:nvSpPr>
        <p:spPr>
          <a:xfrm>
            <a:off x="8778240" y="2743200"/>
            <a:ext cx="15073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Production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2" name="TextBox 38"/>
          <p:cNvSpPr/>
          <p:nvPr/>
        </p:nvSpPr>
        <p:spPr>
          <a:xfrm>
            <a:off x="8778240" y="2971800"/>
            <a:ext cx="150732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URL live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3" name="Rectangle 39"/>
          <p:cNvSpPr/>
          <p:nvPr/>
        </p:nvSpPr>
        <p:spPr>
          <a:xfrm>
            <a:off x="548640" y="3749040"/>
            <a:ext cx="6856560" cy="24674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4" name="Oval 40"/>
          <p:cNvSpPr/>
          <p:nvPr/>
        </p:nvSpPr>
        <p:spPr>
          <a:xfrm>
            <a:off x="777240" y="3931920"/>
            <a:ext cx="135720" cy="13572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5" name="Oval 41"/>
          <p:cNvSpPr/>
          <p:nvPr/>
        </p:nvSpPr>
        <p:spPr>
          <a:xfrm>
            <a:off x="960120" y="3931920"/>
            <a:ext cx="135720" cy="13572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6" name="Oval 42"/>
          <p:cNvSpPr/>
          <p:nvPr/>
        </p:nvSpPr>
        <p:spPr>
          <a:xfrm>
            <a:off x="1143000" y="3931920"/>
            <a:ext cx="135720" cy="13572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7" name="TextBox 43"/>
          <p:cNvSpPr/>
          <p:nvPr/>
        </p:nvSpPr>
        <p:spPr>
          <a:xfrm>
            <a:off x="1371600" y="3840480"/>
            <a:ext cx="59421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.github/workflows/ci.yml — déclencheurs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8" name="TextBox 44"/>
          <p:cNvSpPr/>
          <p:nvPr/>
        </p:nvSpPr>
        <p:spPr>
          <a:xfrm>
            <a:off x="777240" y="4297680"/>
            <a:ext cx="6399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name: CI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9" name="TextBox 45"/>
          <p:cNvSpPr/>
          <p:nvPr/>
        </p:nvSpPr>
        <p:spPr>
          <a:xfrm>
            <a:off x="777240" y="4498920"/>
            <a:ext cx="6399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0" name="TextBox 46"/>
          <p:cNvSpPr/>
          <p:nvPr/>
        </p:nvSpPr>
        <p:spPr>
          <a:xfrm>
            <a:off x="777240" y="4700160"/>
            <a:ext cx="6399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1" name="TextBox 47"/>
          <p:cNvSpPr/>
          <p:nvPr/>
        </p:nvSpPr>
        <p:spPr>
          <a:xfrm>
            <a:off x="777240" y="4901040"/>
            <a:ext cx="6399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push: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2" name="TextBox 48"/>
          <p:cNvSpPr/>
          <p:nvPr/>
        </p:nvSpPr>
        <p:spPr>
          <a:xfrm>
            <a:off x="777240" y="5102280"/>
            <a:ext cx="6399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branches: [main]              # auto-deploy sur main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3" name="TextBox 49"/>
          <p:cNvSpPr/>
          <p:nvPr/>
        </p:nvSpPr>
        <p:spPr>
          <a:xfrm>
            <a:off x="777240" y="5303520"/>
            <a:ext cx="6399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pull_request:                   # check sur PR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4" name="TextBox 50"/>
          <p:cNvSpPr/>
          <p:nvPr/>
        </p:nvSpPr>
        <p:spPr>
          <a:xfrm>
            <a:off x="777240" y="5504760"/>
            <a:ext cx="6399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branches: [main, develop]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5" name="TextBox 51"/>
          <p:cNvSpPr/>
          <p:nvPr/>
        </p:nvSpPr>
        <p:spPr>
          <a:xfrm>
            <a:off x="777240" y="5706000"/>
            <a:ext cx="6399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workflow_dispatch:              # bouton manuel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6" name="Rectangle 52"/>
          <p:cNvSpPr/>
          <p:nvPr/>
        </p:nvSpPr>
        <p:spPr>
          <a:xfrm>
            <a:off x="8092440" y="3749040"/>
            <a:ext cx="3519000" cy="246744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7" name="TextBox 53"/>
          <p:cNvSpPr/>
          <p:nvPr/>
        </p:nvSpPr>
        <p:spPr>
          <a:xfrm>
            <a:off x="8275320" y="3840480"/>
            <a:ext cx="3153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Chiffres clés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8" name="Oval 54"/>
          <p:cNvSpPr/>
          <p:nvPr/>
        </p:nvSpPr>
        <p:spPr>
          <a:xfrm>
            <a:off x="8275320" y="4297680"/>
            <a:ext cx="410040" cy="41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9" name="TextBox 55"/>
          <p:cNvSpPr/>
          <p:nvPr/>
        </p:nvSpPr>
        <p:spPr>
          <a:xfrm>
            <a:off x="8275320" y="42976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⚡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0" name="TextBox 56"/>
          <p:cNvSpPr/>
          <p:nvPr/>
        </p:nvSpPr>
        <p:spPr>
          <a:xfrm>
            <a:off x="8778240" y="425196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~2 min commit → preview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1" name="Oval 57"/>
          <p:cNvSpPr/>
          <p:nvPr/>
        </p:nvSpPr>
        <p:spPr>
          <a:xfrm>
            <a:off x="8275320" y="4937760"/>
            <a:ext cx="410040" cy="4100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2" name="TextBox 58"/>
          <p:cNvSpPr/>
          <p:nvPr/>
        </p:nvSpPr>
        <p:spPr>
          <a:xfrm>
            <a:off x="8275320" y="49377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3" name="TextBox 59"/>
          <p:cNvSpPr/>
          <p:nvPr/>
        </p:nvSpPr>
        <p:spPr>
          <a:xfrm>
            <a:off x="8778240" y="489204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Lint + Test bloquants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4" name="Oval 60"/>
          <p:cNvSpPr/>
          <p:nvPr/>
        </p:nvSpPr>
        <p:spPr>
          <a:xfrm>
            <a:off x="8275320" y="5577840"/>
            <a:ext cx="410040" cy="41004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5" name="TextBox 61"/>
          <p:cNvSpPr/>
          <p:nvPr/>
        </p:nvSpPr>
        <p:spPr>
          <a:xfrm>
            <a:off x="8275320" y="55778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6" name="TextBox 62"/>
          <p:cNvSpPr/>
          <p:nvPr/>
        </p:nvSpPr>
        <p:spPr>
          <a:xfrm>
            <a:off x="8778240" y="553212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Vercel preview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7" name="TextBox 63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8" name="TextBox 64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40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79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0" name="Rectangle 1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1" name="TextBox 2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05 · DÉPLOIEMENT · CI/CD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2" name="TextBox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Workflow GitHub Actions — détail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3" name="Rectangle 4"/>
          <p:cNvSpPr/>
          <p:nvPr/>
        </p:nvSpPr>
        <p:spPr>
          <a:xfrm>
            <a:off x="548640" y="1691640"/>
            <a:ext cx="7313760" cy="45705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4" name="Oval 5"/>
          <p:cNvSpPr/>
          <p:nvPr/>
        </p:nvSpPr>
        <p:spPr>
          <a:xfrm>
            <a:off x="777240" y="1874520"/>
            <a:ext cx="135720" cy="13572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5" name="Oval 6"/>
          <p:cNvSpPr/>
          <p:nvPr/>
        </p:nvSpPr>
        <p:spPr>
          <a:xfrm>
            <a:off x="960120" y="1874520"/>
            <a:ext cx="135720" cy="13572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6" name="Oval 7"/>
          <p:cNvSpPr/>
          <p:nvPr/>
        </p:nvSpPr>
        <p:spPr>
          <a:xfrm>
            <a:off x="1143000" y="1874520"/>
            <a:ext cx="135720" cy="13572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7" name="TextBox 8"/>
          <p:cNvSpPr/>
          <p:nvPr/>
        </p:nvSpPr>
        <p:spPr>
          <a:xfrm>
            <a:off x="1371600" y="1783080"/>
            <a:ext cx="63993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.github/workflows/ci.yml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8" name="TextBox 9"/>
          <p:cNvSpPr/>
          <p:nvPr/>
        </p:nvSpPr>
        <p:spPr>
          <a:xfrm>
            <a:off x="777240" y="21945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name: CI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9" name="TextBox 11"/>
          <p:cNvSpPr/>
          <p:nvPr/>
        </p:nvSpPr>
        <p:spPr>
          <a:xfrm>
            <a:off x="777240" y="237744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0" name="TextBox 12"/>
          <p:cNvSpPr/>
          <p:nvPr/>
        </p:nvSpPr>
        <p:spPr>
          <a:xfrm>
            <a:off x="777240" y="256032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push:        { branches: [main]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1" name="TextBox 13"/>
          <p:cNvSpPr/>
          <p:nvPr/>
        </p:nvSpPr>
        <p:spPr>
          <a:xfrm>
            <a:off x="777240" y="274320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pull_request: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2" name="TextBox 15"/>
          <p:cNvSpPr/>
          <p:nvPr/>
        </p:nvSpPr>
        <p:spPr>
          <a:xfrm>
            <a:off x="777240" y="292608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jobs: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3" name="TextBox 16"/>
          <p:cNvSpPr/>
          <p:nvPr/>
        </p:nvSpPr>
        <p:spPr>
          <a:xfrm>
            <a:off x="777240" y="31089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build: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4" name="TextBox 17"/>
          <p:cNvSpPr/>
          <p:nvPr/>
        </p:nvSpPr>
        <p:spPr>
          <a:xfrm>
            <a:off x="777240" y="329184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runs-on: ubuntu-latest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5" name="TextBox 18"/>
          <p:cNvSpPr/>
          <p:nvPr/>
        </p:nvSpPr>
        <p:spPr>
          <a:xfrm>
            <a:off x="777240" y="347472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timeout-minutes: 10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6" name="TextBox 20"/>
          <p:cNvSpPr/>
          <p:nvPr/>
        </p:nvSpPr>
        <p:spPr>
          <a:xfrm>
            <a:off x="777240" y="365760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  steps: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7" name="TextBox 21"/>
          <p:cNvSpPr/>
          <p:nvPr/>
        </p:nvSpPr>
        <p:spPr>
          <a:xfrm>
            <a:off x="777240" y="384048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      - uses: actions/checkout@v4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8" name="TextBox 23"/>
          <p:cNvSpPr/>
          <p:nvPr/>
        </p:nvSpPr>
        <p:spPr>
          <a:xfrm>
            <a:off x="777240" y="40233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      - uses: oven-sh/setup-bun@v1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9" name="TextBox 24"/>
          <p:cNvSpPr/>
          <p:nvPr/>
        </p:nvSpPr>
        <p:spPr>
          <a:xfrm>
            <a:off x="777240" y="420624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  with: { bun-version: '1'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0" name="TextBox 26"/>
          <p:cNvSpPr/>
          <p:nvPr/>
        </p:nvSpPr>
        <p:spPr>
          <a:xfrm>
            <a:off x="777240" y="438912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Install deps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1" name="TextBox 27"/>
          <p:cNvSpPr/>
          <p:nvPr/>
        </p:nvSpPr>
        <p:spPr>
          <a:xfrm>
            <a:off x="777240" y="457200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 install --frozen-lockfile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2" name="TextBox 29"/>
          <p:cNvSpPr/>
          <p:nvPr/>
        </p:nvSpPr>
        <p:spPr>
          <a:xfrm>
            <a:off x="777240" y="475488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Prisma generate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3" name="TextBox 30"/>
          <p:cNvSpPr/>
          <p:nvPr/>
        </p:nvSpPr>
        <p:spPr>
          <a:xfrm>
            <a:off x="777240" y="49377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bunx prisma generate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4" name="TextBox 32"/>
          <p:cNvSpPr/>
          <p:nvPr/>
        </p:nvSpPr>
        <p:spPr>
          <a:xfrm>
            <a:off x="777240" y="512064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Lint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5" name="TextBox 33"/>
          <p:cNvSpPr/>
          <p:nvPr/>
        </p:nvSpPr>
        <p:spPr>
          <a:xfrm>
            <a:off x="777240" y="530352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 run lint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6" name="TextBox 35"/>
          <p:cNvSpPr/>
          <p:nvPr/>
        </p:nvSpPr>
        <p:spPr>
          <a:xfrm>
            <a:off x="777240" y="548640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Tests d'intégration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7" name="TextBox 36"/>
          <p:cNvSpPr/>
          <p:nvPr/>
        </p:nvSpPr>
        <p:spPr>
          <a:xfrm>
            <a:off x="777240" y="566928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 run 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8" name="TextBox 38"/>
          <p:cNvSpPr/>
          <p:nvPr/>
        </p:nvSpPr>
        <p:spPr>
          <a:xfrm>
            <a:off x="777240" y="58521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Build Next.js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9" name="TextBox 39"/>
          <p:cNvSpPr/>
          <p:nvPr/>
        </p:nvSpPr>
        <p:spPr>
          <a:xfrm>
            <a:off x="777240" y="603504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 run build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0" name="Rectangle 40"/>
          <p:cNvSpPr/>
          <p:nvPr/>
        </p:nvSpPr>
        <p:spPr>
          <a:xfrm>
            <a:off x="8092440" y="1691640"/>
            <a:ext cx="3519000" cy="45705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1" name="TextBox 41"/>
          <p:cNvSpPr/>
          <p:nvPr/>
        </p:nvSpPr>
        <p:spPr>
          <a:xfrm>
            <a:off x="8275320" y="1783080"/>
            <a:ext cx="3153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Que fait chaque étape ?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2" name="Oval 42"/>
          <p:cNvSpPr/>
          <p:nvPr/>
        </p:nvSpPr>
        <p:spPr>
          <a:xfrm>
            <a:off x="8275320" y="2240280"/>
            <a:ext cx="410040" cy="41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3" name="TextBox 43"/>
          <p:cNvSpPr/>
          <p:nvPr/>
        </p:nvSpPr>
        <p:spPr>
          <a:xfrm>
            <a:off x="8275320" y="22402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</a:rPr>
              <a:t>◐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4" name="TextBox 44"/>
          <p:cNvSpPr/>
          <p:nvPr/>
        </p:nvSpPr>
        <p:spPr>
          <a:xfrm>
            <a:off x="8778240" y="219456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checkout : clone le repo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5" name="Oval 45"/>
          <p:cNvSpPr/>
          <p:nvPr/>
        </p:nvSpPr>
        <p:spPr>
          <a:xfrm>
            <a:off x="8275320" y="2880360"/>
            <a:ext cx="410040" cy="4100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6" name="TextBox 46"/>
          <p:cNvSpPr/>
          <p:nvPr/>
        </p:nvSpPr>
        <p:spPr>
          <a:xfrm>
            <a:off x="8275320" y="28803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7" name="TextBox 47"/>
          <p:cNvSpPr/>
          <p:nvPr/>
        </p:nvSpPr>
        <p:spPr>
          <a:xfrm>
            <a:off x="8778240" y="283464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setup-bun : runtime CI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8" name="Oval 48"/>
          <p:cNvSpPr/>
          <p:nvPr/>
        </p:nvSpPr>
        <p:spPr>
          <a:xfrm>
            <a:off x="8275320" y="3520440"/>
            <a:ext cx="410040" cy="4100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9" name="TextBox 49"/>
          <p:cNvSpPr/>
          <p:nvPr/>
        </p:nvSpPr>
        <p:spPr>
          <a:xfrm>
            <a:off x="8275320" y="35204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0" name="TextBox 50"/>
          <p:cNvSpPr/>
          <p:nvPr/>
        </p:nvSpPr>
        <p:spPr>
          <a:xfrm>
            <a:off x="8778240" y="347472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bun install : deps lockées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1" name="Oval 51"/>
          <p:cNvSpPr/>
          <p:nvPr/>
        </p:nvSpPr>
        <p:spPr>
          <a:xfrm>
            <a:off x="8275320" y="4160520"/>
            <a:ext cx="410040" cy="4100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22" name="TextBox 52"/>
          <p:cNvSpPr/>
          <p:nvPr/>
        </p:nvSpPr>
        <p:spPr>
          <a:xfrm>
            <a:off x="8275320" y="416052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3" name="TextBox 53"/>
          <p:cNvSpPr/>
          <p:nvPr/>
        </p:nvSpPr>
        <p:spPr>
          <a:xfrm>
            <a:off x="8778240" y="411480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 generate : types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4" name="Oval 54"/>
          <p:cNvSpPr/>
          <p:nvPr/>
        </p:nvSpPr>
        <p:spPr>
          <a:xfrm>
            <a:off x="8275320" y="4800600"/>
            <a:ext cx="410040" cy="41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25" name="TextBox 55"/>
          <p:cNvSpPr/>
          <p:nvPr/>
        </p:nvSpPr>
        <p:spPr>
          <a:xfrm>
            <a:off x="8275320" y="480060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6" name="TextBox 56"/>
          <p:cNvSpPr/>
          <p:nvPr/>
        </p:nvSpPr>
        <p:spPr>
          <a:xfrm>
            <a:off x="8778240" y="475488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lint + test : qualité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7" name="Oval 57"/>
          <p:cNvSpPr/>
          <p:nvPr/>
        </p:nvSpPr>
        <p:spPr>
          <a:xfrm>
            <a:off x="8275320" y="5440680"/>
            <a:ext cx="410040" cy="41004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28" name="TextBox 58"/>
          <p:cNvSpPr/>
          <p:nvPr/>
        </p:nvSpPr>
        <p:spPr>
          <a:xfrm>
            <a:off x="8275320" y="54406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9" name="TextBox 59"/>
          <p:cNvSpPr/>
          <p:nvPr/>
        </p:nvSpPr>
        <p:spPr>
          <a:xfrm>
            <a:off x="8778240" y="539496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build : artefact .next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0" name="TextBox 60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1" name="TextBox 61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41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3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3" name="Rectangle 1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34" name="TextBox 2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05 · DÉPLOIEMENT · CI/CD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5" name="TextBox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Triggers : 3 façons de déclencher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6" name="Rectangle 4"/>
          <p:cNvSpPr/>
          <p:nvPr/>
        </p:nvSpPr>
        <p:spPr>
          <a:xfrm>
            <a:off x="548640" y="1691640"/>
            <a:ext cx="3656160" cy="45705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37" name="Rectangle 5"/>
          <p:cNvSpPr/>
          <p:nvPr/>
        </p:nvSpPr>
        <p:spPr>
          <a:xfrm>
            <a:off x="548640" y="1691640"/>
            <a:ext cx="3656160" cy="90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38" name="TextBox 6"/>
          <p:cNvSpPr/>
          <p:nvPr/>
        </p:nvSpPr>
        <p:spPr>
          <a:xfrm>
            <a:off x="731520" y="1965960"/>
            <a:ext cx="7300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⟳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9" name="TextBox 7"/>
          <p:cNvSpPr/>
          <p:nvPr/>
        </p:nvSpPr>
        <p:spPr>
          <a:xfrm>
            <a:off x="1508760" y="1965960"/>
            <a:ext cx="2513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push sur main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0" name="TextBox 8"/>
          <p:cNvSpPr/>
          <p:nvPr/>
        </p:nvSpPr>
        <p:spPr>
          <a:xfrm>
            <a:off x="1508760" y="2331720"/>
            <a:ext cx="2513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Merge d'une PR sur main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1" name="Rectangle 9"/>
          <p:cNvSpPr/>
          <p:nvPr/>
        </p:nvSpPr>
        <p:spPr>
          <a:xfrm>
            <a:off x="731520" y="2788920"/>
            <a:ext cx="3290400" cy="4557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42" name="TextBox 10"/>
          <p:cNvSpPr/>
          <p:nvPr/>
        </p:nvSpPr>
        <p:spPr>
          <a:xfrm>
            <a:off x="822960" y="2853000"/>
            <a:ext cx="3107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complet + auto-deploy 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3" name="TextBox 11"/>
          <p:cNvSpPr/>
          <p:nvPr/>
        </p:nvSpPr>
        <p:spPr>
          <a:xfrm>
            <a:off x="777240" y="352044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4" name="TextBox 12"/>
          <p:cNvSpPr/>
          <p:nvPr/>
        </p:nvSpPr>
        <p:spPr>
          <a:xfrm>
            <a:off x="777240" y="377640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push: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5" name="TextBox 13"/>
          <p:cNvSpPr/>
          <p:nvPr/>
        </p:nvSpPr>
        <p:spPr>
          <a:xfrm>
            <a:off x="777240" y="403236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branches: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6" name="TextBox 14"/>
          <p:cNvSpPr/>
          <p:nvPr/>
        </p:nvSpPr>
        <p:spPr>
          <a:xfrm>
            <a:off x="777240" y="428868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- main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7" name="TextBox 15"/>
          <p:cNvSpPr/>
          <p:nvPr/>
        </p:nvSpPr>
        <p:spPr>
          <a:xfrm>
            <a:off x="731520" y="498348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8" name="TextBox 16"/>
          <p:cNvSpPr/>
          <p:nvPr/>
        </p:nvSpPr>
        <p:spPr>
          <a:xfrm>
            <a:off x="731520" y="534924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Déploiement auto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9" name="TextBox 17"/>
          <p:cNvSpPr/>
          <p:nvPr/>
        </p:nvSpPr>
        <p:spPr>
          <a:xfrm>
            <a:off x="731520" y="562356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en 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0" name="Rectangle 18"/>
          <p:cNvSpPr/>
          <p:nvPr/>
        </p:nvSpPr>
        <p:spPr>
          <a:xfrm>
            <a:off x="4343400" y="1691640"/>
            <a:ext cx="3656160" cy="45705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51" name="Rectangle 19"/>
          <p:cNvSpPr/>
          <p:nvPr/>
        </p:nvSpPr>
        <p:spPr>
          <a:xfrm>
            <a:off x="4343400" y="1691640"/>
            <a:ext cx="3656160" cy="9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52" name="TextBox 20"/>
          <p:cNvSpPr/>
          <p:nvPr/>
        </p:nvSpPr>
        <p:spPr>
          <a:xfrm>
            <a:off x="4526280" y="1965960"/>
            <a:ext cx="7300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⊕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3" name="TextBox 21"/>
          <p:cNvSpPr/>
          <p:nvPr/>
        </p:nvSpPr>
        <p:spPr>
          <a:xfrm>
            <a:off x="5303520" y="1965960"/>
            <a:ext cx="2513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pull_request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4" name="TextBox 22"/>
          <p:cNvSpPr/>
          <p:nvPr/>
        </p:nvSpPr>
        <p:spPr>
          <a:xfrm>
            <a:off x="5303520" y="2331720"/>
            <a:ext cx="2513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Ouverture / update d'une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5" name="Rectangle 23"/>
          <p:cNvSpPr/>
          <p:nvPr/>
        </p:nvSpPr>
        <p:spPr>
          <a:xfrm>
            <a:off x="4526280" y="2788920"/>
            <a:ext cx="3290400" cy="4557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56" name="TextBox 24"/>
          <p:cNvSpPr/>
          <p:nvPr/>
        </p:nvSpPr>
        <p:spPr>
          <a:xfrm>
            <a:off x="4617720" y="2853000"/>
            <a:ext cx="3107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+ Preview Vercel + Neon branch isolée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7" name="TextBox 25"/>
          <p:cNvSpPr/>
          <p:nvPr/>
        </p:nvSpPr>
        <p:spPr>
          <a:xfrm>
            <a:off x="4572000" y="352044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8" name="TextBox 26"/>
          <p:cNvSpPr/>
          <p:nvPr/>
        </p:nvSpPr>
        <p:spPr>
          <a:xfrm>
            <a:off x="4572000" y="377640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pull_request: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9" name="TextBox 27"/>
          <p:cNvSpPr/>
          <p:nvPr/>
        </p:nvSpPr>
        <p:spPr>
          <a:xfrm>
            <a:off x="4572000" y="403236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branches: [main, develop]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0" name="TextBox 28"/>
          <p:cNvSpPr/>
          <p:nvPr/>
        </p:nvSpPr>
        <p:spPr>
          <a:xfrm>
            <a:off x="4572000" y="428868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types: [opened, synchronize]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1" name="TextBox 29"/>
          <p:cNvSpPr/>
          <p:nvPr/>
        </p:nvSpPr>
        <p:spPr>
          <a:xfrm>
            <a:off x="4526280" y="498348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2" name="TextBox 30"/>
          <p:cNvSpPr/>
          <p:nvPr/>
        </p:nvSpPr>
        <p:spPr>
          <a:xfrm>
            <a:off x="4526280" y="534924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Status check obligatoire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3" name="TextBox 31"/>
          <p:cNvSpPr/>
          <p:nvPr/>
        </p:nvSpPr>
        <p:spPr>
          <a:xfrm>
            <a:off x="4526280" y="562356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avant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4" name="Rectangle 32"/>
          <p:cNvSpPr/>
          <p:nvPr/>
        </p:nvSpPr>
        <p:spPr>
          <a:xfrm>
            <a:off x="8138160" y="1691640"/>
            <a:ext cx="3656160" cy="45705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65" name="Rectangle 33"/>
          <p:cNvSpPr/>
          <p:nvPr/>
        </p:nvSpPr>
        <p:spPr>
          <a:xfrm>
            <a:off x="8138160" y="1691640"/>
            <a:ext cx="3656160" cy="9000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66" name="TextBox 34"/>
          <p:cNvSpPr/>
          <p:nvPr/>
        </p:nvSpPr>
        <p:spPr>
          <a:xfrm>
            <a:off x="8321040" y="1965960"/>
            <a:ext cx="7300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◉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7" name="TextBox 35"/>
          <p:cNvSpPr/>
          <p:nvPr/>
        </p:nvSpPr>
        <p:spPr>
          <a:xfrm>
            <a:off x="9098280" y="1965960"/>
            <a:ext cx="2513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workflow_dispatch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8" name="TextBox 36"/>
          <p:cNvSpPr/>
          <p:nvPr/>
        </p:nvSpPr>
        <p:spPr>
          <a:xfrm>
            <a:off x="9098280" y="2331720"/>
            <a:ext cx="2513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Bouton manuel dans GitHub UI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9" name="Rectangle 37"/>
          <p:cNvSpPr/>
          <p:nvPr/>
        </p:nvSpPr>
        <p:spPr>
          <a:xfrm>
            <a:off x="8321040" y="2788920"/>
            <a:ext cx="3290400" cy="4557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70" name="TextBox 38"/>
          <p:cNvSpPr/>
          <p:nvPr/>
        </p:nvSpPr>
        <p:spPr>
          <a:xfrm>
            <a:off x="8412480" y="2853000"/>
            <a:ext cx="3107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Rejeu d'un déploiement, debug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1" name="TextBox 39"/>
          <p:cNvSpPr/>
          <p:nvPr/>
        </p:nvSpPr>
        <p:spPr>
          <a:xfrm>
            <a:off x="8366760" y="352044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2" name="TextBox 40"/>
          <p:cNvSpPr/>
          <p:nvPr/>
        </p:nvSpPr>
        <p:spPr>
          <a:xfrm>
            <a:off x="8366760" y="377640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workflow_dispatch: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3" name="TextBox 41"/>
          <p:cNvSpPr/>
          <p:nvPr/>
        </p:nvSpPr>
        <p:spPr>
          <a:xfrm>
            <a:off x="8366760" y="403236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inputs: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4" name="TextBox 42"/>
          <p:cNvSpPr/>
          <p:nvPr/>
        </p:nvSpPr>
        <p:spPr>
          <a:xfrm>
            <a:off x="8366760" y="428868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env: { type: choice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5" name="TextBox 43"/>
          <p:cNvSpPr/>
          <p:nvPr/>
        </p:nvSpPr>
        <p:spPr>
          <a:xfrm>
            <a:off x="8321040" y="498348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6" name="TextBox 44"/>
          <p:cNvSpPr/>
          <p:nvPr/>
        </p:nvSpPr>
        <p:spPr>
          <a:xfrm>
            <a:off x="8321040" y="534924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Lancement manuel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7" name="TextBox 45"/>
          <p:cNvSpPr/>
          <p:nvPr/>
        </p:nvSpPr>
        <p:spPr>
          <a:xfrm>
            <a:off x="8321040" y="562356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pour rebuild d'urgence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8" name="TextBox 4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9" name="TextBox 4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42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8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Dockerfile — image applicative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84" name="Shape 3"/>
          <p:cNvSpPr/>
          <p:nvPr/>
        </p:nvSpPr>
        <p:spPr>
          <a:xfrm>
            <a:off x="548640" y="1691640"/>
            <a:ext cx="7313760" cy="457056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85" name="Shape 4"/>
          <p:cNvSpPr/>
          <p:nvPr/>
        </p:nvSpPr>
        <p:spPr>
          <a:xfrm>
            <a:off x="777240" y="1874520"/>
            <a:ext cx="135720" cy="13572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86" name="Shape 5"/>
          <p:cNvSpPr/>
          <p:nvPr/>
        </p:nvSpPr>
        <p:spPr>
          <a:xfrm>
            <a:off x="960120" y="1874520"/>
            <a:ext cx="135720" cy="13572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87" name="Shape 6"/>
          <p:cNvSpPr/>
          <p:nvPr/>
        </p:nvSpPr>
        <p:spPr>
          <a:xfrm>
            <a:off x="1143000" y="1874520"/>
            <a:ext cx="135720" cy="13572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88" name="Text 7"/>
          <p:cNvSpPr/>
          <p:nvPr/>
        </p:nvSpPr>
        <p:spPr>
          <a:xfrm>
            <a:off x="1371600" y="1783080"/>
            <a:ext cx="5484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Dockerfile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9" name="Text 8"/>
          <p:cNvSpPr/>
          <p:nvPr/>
        </p:nvSpPr>
        <p:spPr>
          <a:xfrm>
            <a:off x="777240" y="224028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# Stage 1 — deps (cache layer)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0" name="Text 9"/>
          <p:cNvSpPr/>
          <p:nvPr/>
        </p:nvSpPr>
        <p:spPr>
          <a:xfrm>
            <a:off x="777240" y="24141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FROM oven/bun:1 AS deps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1" name="Text 10"/>
          <p:cNvSpPr/>
          <p:nvPr/>
        </p:nvSpPr>
        <p:spPr>
          <a:xfrm>
            <a:off x="777240" y="258768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2" name="Text 11"/>
          <p:cNvSpPr/>
          <p:nvPr/>
        </p:nvSpPr>
        <p:spPr>
          <a:xfrm>
            <a:off x="777240" y="27615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package.json bun.lock ./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3" name="Text 12"/>
          <p:cNvSpPr/>
          <p:nvPr/>
        </p:nvSpPr>
        <p:spPr>
          <a:xfrm>
            <a:off x="777240" y="293508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RUN bun install --frozen-lockfile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4" name="Text 13"/>
          <p:cNvSpPr/>
          <p:nvPr/>
        </p:nvSpPr>
        <p:spPr>
          <a:xfrm>
            <a:off x="777240" y="31089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5" name="Text 14"/>
          <p:cNvSpPr/>
          <p:nvPr/>
        </p:nvSpPr>
        <p:spPr>
          <a:xfrm>
            <a:off x="777240" y="32828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# Stage 2 — builder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6" name="Text 15"/>
          <p:cNvSpPr/>
          <p:nvPr/>
        </p:nvSpPr>
        <p:spPr>
          <a:xfrm>
            <a:off x="777240" y="34563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FROM oven/bun:1 AS builder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7" name="Text 16"/>
          <p:cNvSpPr/>
          <p:nvPr/>
        </p:nvSpPr>
        <p:spPr>
          <a:xfrm>
            <a:off x="777240" y="36302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8" name="Text 17"/>
          <p:cNvSpPr/>
          <p:nvPr/>
        </p:nvSpPr>
        <p:spPr>
          <a:xfrm>
            <a:off x="777240" y="38037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--from=deps /app/node_modules ./node_modules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9" name="Text 18"/>
          <p:cNvSpPr/>
          <p:nvPr/>
        </p:nvSpPr>
        <p:spPr>
          <a:xfrm>
            <a:off x="777240" y="39776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. 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0" name="Text 19"/>
          <p:cNvSpPr/>
          <p:nvPr/>
        </p:nvSpPr>
        <p:spPr>
          <a:xfrm>
            <a:off x="777240" y="41515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RUN bunx prisma generate &amp;&amp; bun run build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1" name="Text 20"/>
          <p:cNvSpPr/>
          <p:nvPr/>
        </p:nvSpPr>
        <p:spPr>
          <a:xfrm>
            <a:off x="777240" y="43250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2" name="Text 21"/>
          <p:cNvSpPr/>
          <p:nvPr/>
        </p:nvSpPr>
        <p:spPr>
          <a:xfrm>
            <a:off x="777240" y="44989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# Stage 3 — runner (image légère)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3" name="Text 22"/>
          <p:cNvSpPr/>
          <p:nvPr/>
        </p:nvSpPr>
        <p:spPr>
          <a:xfrm>
            <a:off x="777240" y="46724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FROM oven/bun:1-slim AS runner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4" name="Text 23"/>
          <p:cNvSpPr/>
          <p:nvPr/>
        </p:nvSpPr>
        <p:spPr>
          <a:xfrm>
            <a:off x="777240" y="48463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5" name="Text 24"/>
          <p:cNvSpPr/>
          <p:nvPr/>
        </p:nvSpPr>
        <p:spPr>
          <a:xfrm>
            <a:off x="777240" y="502020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ENV NODE_ENV=production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6" name="Text 25"/>
          <p:cNvSpPr/>
          <p:nvPr/>
        </p:nvSpPr>
        <p:spPr>
          <a:xfrm>
            <a:off x="777240" y="51937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--from=builder /app/.next ./.next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7" name="Text 26"/>
          <p:cNvSpPr/>
          <p:nvPr/>
        </p:nvSpPr>
        <p:spPr>
          <a:xfrm>
            <a:off x="777240" y="536760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--from=builder /app/node_modules ./node_modules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8" name="Text 27"/>
          <p:cNvSpPr/>
          <p:nvPr/>
        </p:nvSpPr>
        <p:spPr>
          <a:xfrm>
            <a:off x="777240" y="55411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--from=builder /app/package.json ./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9" name="Text 28"/>
          <p:cNvSpPr/>
          <p:nvPr/>
        </p:nvSpPr>
        <p:spPr>
          <a:xfrm>
            <a:off x="777240" y="571500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EXPOSE 3000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0" name="Text 29"/>
          <p:cNvSpPr/>
          <p:nvPr/>
        </p:nvSpPr>
        <p:spPr>
          <a:xfrm>
            <a:off x="777240" y="588888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CMD ["bun", "run", "start"]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1" name="Shape 30"/>
          <p:cNvSpPr/>
          <p:nvPr/>
        </p:nvSpPr>
        <p:spPr>
          <a:xfrm>
            <a:off x="8092440" y="1691640"/>
            <a:ext cx="3519000" cy="457056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12" name="Text 31"/>
          <p:cNvSpPr/>
          <p:nvPr/>
        </p:nvSpPr>
        <p:spPr>
          <a:xfrm>
            <a:off x="8275320" y="1783080"/>
            <a:ext cx="3198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Choix techniques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3" name="Shape 32"/>
          <p:cNvSpPr/>
          <p:nvPr/>
        </p:nvSpPr>
        <p:spPr>
          <a:xfrm>
            <a:off x="8275320" y="2240280"/>
            <a:ext cx="410040" cy="41004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14" name="Text 33"/>
          <p:cNvSpPr/>
          <p:nvPr/>
        </p:nvSpPr>
        <p:spPr>
          <a:xfrm>
            <a:off x="8275320" y="22402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5" name="Text 34"/>
          <p:cNvSpPr/>
          <p:nvPr/>
        </p:nvSpPr>
        <p:spPr>
          <a:xfrm>
            <a:off x="8778240" y="21945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Multi-stage : cache deps séparé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6" name="Shape 35"/>
          <p:cNvSpPr/>
          <p:nvPr/>
        </p:nvSpPr>
        <p:spPr>
          <a:xfrm>
            <a:off x="8275320" y="2880360"/>
            <a:ext cx="410040" cy="41004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17" name="Text 36"/>
          <p:cNvSpPr/>
          <p:nvPr/>
        </p:nvSpPr>
        <p:spPr>
          <a:xfrm>
            <a:off x="8275320" y="28803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⚡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8" name="Text 37"/>
          <p:cNvSpPr/>
          <p:nvPr/>
        </p:nvSpPr>
        <p:spPr>
          <a:xfrm>
            <a:off x="8778240" y="283464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Bun runtime (build &amp; run)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9" name="Shape 38"/>
          <p:cNvSpPr/>
          <p:nvPr/>
        </p:nvSpPr>
        <p:spPr>
          <a:xfrm>
            <a:off x="8275320" y="3520440"/>
            <a:ext cx="410040" cy="41004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20" name="Text 39"/>
          <p:cNvSpPr/>
          <p:nvPr/>
        </p:nvSpPr>
        <p:spPr>
          <a:xfrm>
            <a:off x="8275320" y="35204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1" name="Text 40"/>
          <p:cNvSpPr/>
          <p:nvPr/>
        </p:nvSpPr>
        <p:spPr>
          <a:xfrm>
            <a:off x="8778240" y="347472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generate avant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2" name="Shape 41"/>
          <p:cNvSpPr/>
          <p:nvPr/>
        </p:nvSpPr>
        <p:spPr>
          <a:xfrm>
            <a:off x="8275320" y="4160520"/>
            <a:ext cx="410040" cy="41004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23" name="Text 42"/>
          <p:cNvSpPr/>
          <p:nvPr/>
        </p:nvSpPr>
        <p:spPr>
          <a:xfrm>
            <a:off x="8275320" y="416052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◯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4" name="Text 43"/>
          <p:cNvSpPr/>
          <p:nvPr/>
        </p:nvSpPr>
        <p:spPr>
          <a:xfrm>
            <a:off x="8778240" y="411480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 slim finale (~150 Mo)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5" name="Shape 44"/>
          <p:cNvSpPr/>
          <p:nvPr/>
        </p:nvSpPr>
        <p:spPr>
          <a:xfrm>
            <a:off x="8275320" y="4800600"/>
            <a:ext cx="410040" cy="41004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26" name="Text 45"/>
          <p:cNvSpPr/>
          <p:nvPr/>
        </p:nvSpPr>
        <p:spPr>
          <a:xfrm>
            <a:off x="8275320" y="480060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7" name="Text 46"/>
          <p:cNvSpPr/>
          <p:nvPr/>
        </p:nvSpPr>
        <p:spPr>
          <a:xfrm>
            <a:off x="8778240" y="475488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Pas de secret dans l'image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8" name="Shape 47"/>
          <p:cNvSpPr/>
          <p:nvPr/>
        </p:nvSpPr>
        <p:spPr>
          <a:xfrm>
            <a:off x="8275320" y="5440680"/>
            <a:ext cx="410040" cy="41004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29" name="Text 48"/>
          <p:cNvSpPr/>
          <p:nvPr/>
        </p:nvSpPr>
        <p:spPr>
          <a:xfrm>
            <a:off x="8275320" y="54406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↗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0" name="Text 49"/>
          <p:cNvSpPr/>
          <p:nvPr/>
        </p:nvSpPr>
        <p:spPr>
          <a:xfrm>
            <a:off x="8778240" y="53949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Port 3000 explicite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3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32" name="Text 50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3" name="Text 51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43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4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5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docker-compose.yml — env local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6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37" name="Shape 3"/>
          <p:cNvSpPr/>
          <p:nvPr/>
        </p:nvSpPr>
        <p:spPr>
          <a:xfrm>
            <a:off x="548640" y="1691640"/>
            <a:ext cx="7313760" cy="457056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38" name="Shape 4"/>
          <p:cNvSpPr/>
          <p:nvPr/>
        </p:nvSpPr>
        <p:spPr>
          <a:xfrm>
            <a:off x="777240" y="1874520"/>
            <a:ext cx="135720" cy="13572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39" name="Shape 5"/>
          <p:cNvSpPr/>
          <p:nvPr/>
        </p:nvSpPr>
        <p:spPr>
          <a:xfrm>
            <a:off x="960120" y="1874520"/>
            <a:ext cx="135720" cy="13572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40" name="Shape 6"/>
          <p:cNvSpPr/>
          <p:nvPr/>
        </p:nvSpPr>
        <p:spPr>
          <a:xfrm>
            <a:off x="1143000" y="1874520"/>
            <a:ext cx="135720" cy="13572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41" name="Text 7"/>
          <p:cNvSpPr/>
          <p:nvPr/>
        </p:nvSpPr>
        <p:spPr>
          <a:xfrm>
            <a:off x="1371600" y="1783080"/>
            <a:ext cx="5484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docker-compose.yml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2" name="Text 8"/>
          <p:cNvSpPr/>
          <p:nvPr/>
        </p:nvSpPr>
        <p:spPr>
          <a:xfrm>
            <a:off x="777240" y="224028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services: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3" name="Text 9"/>
          <p:cNvSpPr/>
          <p:nvPr/>
        </p:nvSpPr>
        <p:spPr>
          <a:xfrm>
            <a:off x="777240" y="24141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app: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4" name="Text 10"/>
          <p:cNvSpPr/>
          <p:nvPr/>
        </p:nvSpPr>
        <p:spPr>
          <a:xfrm>
            <a:off x="777240" y="258768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build: 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5" name="Text 11"/>
          <p:cNvSpPr/>
          <p:nvPr/>
        </p:nvSpPr>
        <p:spPr>
          <a:xfrm>
            <a:off x="777240" y="27615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ports: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6" name="Text 12"/>
          <p:cNvSpPr/>
          <p:nvPr/>
        </p:nvSpPr>
        <p:spPr>
          <a:xfrm>
            <a:off x="777240" y="293508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- "3000:3000"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7" name="Text 13"/>
          <p:cNvSpPr/>
          <p:nvPr/>
        </p:nvSpPr>
        <p:spPr>
          <a:xfrm>
            <a:off x="777240" y="31089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environment: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8" name="Text 14"/>
          <p:cNvSpPr/>
          <p:nvPr/>
        </p:nvSpPr>
        <p:spPr>
          <a:xfrm>
            <a:off x="777240" y="32828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DATABASE_URL: postgresql://postgres:postgres@db:5432/social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9" name="Text 15"/>
          <p:cNvSpPr/>
          <p:nvPr/>
        </p:nvSpPr>
        <p:spPr>
          <a:xfrm>
            <a:off x="777240" y="34563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REDIS_URL: Upstash Redis REST (UPSTASH_REDIS_REST_URL)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0" name="Text 16"/>
          <p:cNvSpPr/>
          <p:nvPr/>
        </p:nvSpPr>
        <p:spPr>
          <a:xfrm>
            <a:off x="777240" y="36302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  JWT_SECRET: ${JWT_SECRET}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1" name="Text 17"/>
          <p:cNvSpPr/>
          <p:nvPr/>
        </p:nvSpPr>
        <p:spPr>
          <a:xfrm>
            <a:off x="777240" y="38037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depends_on: [db, redis]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2" name="Text 18"/>
          <p:cNvSpPr/>
          <p:nvPr/>
        </p:nvSpPr>
        <p:spPr>
          <a:xfrm>
            <a:off x="777240" y="39776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3" name="Text 19"/>
          <p:cNvSpPr/>
          <p:nvPr/>
        </p:nvSpPr>
        <p:spPr>
          <a:xfrm>
            <a:off x="777240" y="41515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db: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4" name="Text 20"/>
          <p:cNvSpPr/>
          <p:nvPr/>
        </p:nvSpPr>
        <p:spPr>
          <a:xfrm>
            <a:off x="777240" y="43250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image: postgres:16-alpine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5" name="Text 21"/>
          <p:cNvSpPr/>
          <p:nvPr/>
        </p:nvSpPr>
        <p:spPr>
          <a:xfrm>
            <a:off x="777240" y="44989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ports: ["5432:5432"]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6" name="Text 22"/>
          <p:cNvSpPr/>
          <p:nvPr/>
        </p:nvSpPr>
        <p:spPr>
          <a:xfrm>
            <a:off x="777240" y="46724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environment: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7" name="Text 23"/>
          <p:cNvSpPr/>
          <p:nvPr/>
        </p:nvSpPr>
        <p:spPr>
          <a:xfrm>
            <a:off x="777240" y="48463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POSTGRES_DB: social-network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8" name="Text 24"/>
          <p:cNvSpPr/>
          <p:nvPr/>
        </p:nvSpPr>
        <p:spPr>
          <a:xfrm>
            <a:off x="777240" y="502020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POSTGRES_USER: postgres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9" name="Text 25"/>
          <p:cNvSpPr/>
          <p:nvPr/>
        </p:nvSpPr>
        <p:spPr>
          <a:xfrm>
            <a:off x="777240" y="51937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  POSTGRES_PASSWORD: postgres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0" name="Text 26"/>
          <p:cNvSpPr/>
          <p:nvPr/>
        </p:nvSpPr>
        <p:spPr>
          <a:xfrm>
            <a:off x="777240" y="536760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1" name="Text 27"/>
          <p:cNvSpPr/>
          <p:nvPr/>
        </p:nvSpPr>
        <p:spPr>
          <a:xfrm>
            <a:off x="777240" y="55411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redis: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2" name="Text 28"/>
          <p:cNvSpPr/>
          <p:nvPr/>
        </p:nvSpPr>
        <p:spPr>
          <a:xfrm>
            <a:off x="777240" y="571500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image: redis:7-alpine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3" name="Text 29"/>
          <p:cNvSpPr/>
          <p:nvPr/>
        </p:nvSpPr>
        <p:spPr>
          <a:xfrm>
            <a:off x="777240" y="588888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ports: ["6379:6379"]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4" name="Shape 30"/>
          <p:cNvSpPr/>
          <p:nvPr/>
        </p:nvSpPr>
        <p:spPr>
          <a:xfrm>
            <a:off x="8092440" y="1691640"/>
            <a:ext cx="3519000" cy="457056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65" name="Text 31"/>
          <p:cNvSpPr/>
          <p:nvPr/>
        </p:nvSpPr>
        <p:spPr>
          <a:xfrm>
            <a:off x="8275320" y="1783080"/>
            <a:ext cx="3198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Pourquoi compose ?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6" name="Shape 32"/>
          <p:cNvSpPr/>
          <p:nvPr/>
        </p:nvSpPr>
        <p:spPr>
          <a:xfrm>
            <a:off x="8275320" y="2240280"/>
            <a:ext cx="410040" cy="41004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67" name="Text 33"/>
          <p:cNvSpPr/>
          <p:nvPr/>
        </p:nvSpPr>
        <p:spPr>
          <a:xfrm>
            <a:off x="8275320" y="22402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8" name="Text 34"/>
          <p:cNvSpPr/>
          <p:nvPr/>
        </p:nvSpPr>
        <p:spPr>
          <a:xfrm>
            <a:off x="8778240" y="21945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Reproduit prod en local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9" name="Shape 35"/>
          <p:cNvSpPr/>
          <p:nvPr/>
        </p:nvSpPr>
        <p:spPr>
          <a:xfrm>
            <a:off x="8275320" y="2880360"/>
            <a:ext cx="410040" cy="41004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70" name="Text 36"/>
          <p:cNvSpPr/>
          <p:nvPr/>
        </p:nvSpPr>
        <p:spPr>
          <a:xfrm>
            <a:off x="8275320" y="28803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1" name="Text 37"/>
          <p:cNvSpPr/>
          <p:nvPr/>
        </p:nvSpPr>
        <p:spPr>
          <a:xfrm>
            <a:off x="8778240" y="283464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DB + Redis + App orchestrés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2" name="Shape 38"/>
          <p:cNvSpPr/>
          <p:nvPr/>
        </p:nvSpPr>
        <p:spPr>
          <a:xfrm>
            <a:off x="8275320" y="3520440"/>
            <a:ext cx="410040" cy="41004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73" name="Text 39"/>
          <p:cNvSpPr/>
          <p:nvPr/>
        </p:nvSpPr>
        <p:spPr>
          <a:xfrm>
            <a:off x="8275320" y="35204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↻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4" name="Text 40"/>
          <p:cNvSpPr/>
          <p:nvPr/>
        </p:nvSpPr>
        <p:spPr>
          <a:xfrm>
            <a:off x="8778240" y="347472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depends_on respecté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5" name="Shape 41"/>
          <p:cNvSpPr/>
          <p:nvPr/>
        </p:nvSpPr>
        <p:spPr>
          <a:xfrm>
            <a:off x="8275320" y="4160520"/>
            <a:ext cx="410040" cy="41004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76" name="Text 42"/>
          <p:cNvSpPr/>
          <p:nvPr/>
        </p:nvSpPr>
        <p:spPr>
          <a:xfrm>
            <a:off x="8275320" y="416052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✦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7" name="Text 43"/>
          <p:cNvSpPr/>
          <p:nvPr/>
        </p:nvSpPr>
        <p:spPr>
          <a:xfrm>
            <a:off x="8778240" y="411480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Variables d'env via .env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8" name="Shape 44"/>
          <p:cNvSpPr/>
          <p:nvPr/>
        </p:nvSpPr>
        <p:spPr>
          <a:xfrm>
            <a:off x="8275320" y="4800600"/>
            <a:ext cx="410040" cy="41004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79" name="Text 45"/>
          <p:cNvSpPr/>
          <p:nvPr/>
        </p:nvSpPr>
        <p:spPr>
          <a:xfrm>
            <a:off x="8275320" y="480060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▷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0" name="Text 46"/>
          <p:cNvSpPr/>
          <p:nvPr/>
        </p:nvSpPr>
        <p:spPr>
          <a:xfrm>
            <a:off x="8778240" y="475488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 compose up = ready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1" name="Shape 47"/>
          <p:cNvSpPr/>
          <p:nvPr/>
        </p:nvSpPr>
        <p:spPr>
          <a:xfrm>
            <a:off x="8275320" y="5440680"/>
            <a:ext cx="410040" cy="41004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82" name="Text 48"/>
          <p:cNvSpPr/>
          <p:nvPr/>
        </p:nvSpPr>
        <p:spPr>
          <a:xfrm>
            <a:off x="8275320" y="54406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3" name="Text 49"/>
          <p:cNvSpPr/>
          <p:nvPr/>
        </p:nvSpPr>
        <p:spPr>
          <a:xfrm>
            <a:off x="8778240" y="53949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 dev (hot reload)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8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85" name="Text 50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6" name="Text 51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44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7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8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Production · Vercel + Neon + Upstash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9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90" name="Shape 3"/>
          <p:cNvSpPr/>
          <p:nvPr/>
        </p:nvSpPr>
        <p:spPr>
          <a:xfrm>
            <a:off x="480240" y="1691640"/>
            <a:ext cx="3701880" cy="420480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91" name="Shape 4"/>
          <p:cNvSpPr/>
          <p:nvPr/>
        </p:nvSpPr>
        <p:spPr>
          <a:xfrm>
            <a:off x="480240" y="1691640"/>
            <a:ext cx="3701880" cy="4557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92" name="Text 5"/>
          <p:cNvSpPr/>
          <p:nvPr/>
        </p:nvSpPr>
        <p:spPr>
          <a:xfrm>
            <a:off x="480240" y="1691640"/>
            <a:ext cx="37018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DÉVELOPPEMENT LOCAL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3" name="Shape 6"/>
          <p:cNvSpPr/>
          <p:nvPr/>
        </p:nvSpPr>
        <p:spPr>
          <a:xfrm>
            <a:off x="708840" y="2331720"/>
            <a:ext cx="547200" cy="54720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94" name="Text 7"/>
          <p:cNvSpPr/>
          <p:nvPr/>
        </p:nvSpPr>
        <p:spPr>
          <a:xfrm>
            <a:off x="708840" y="233172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⚓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5" name="Text 8"/>
          <p:cNvSpPr/>
          <p:nvPr/>
        </p:nvSpPr>
        <p:spPr>
          <a:xfrm>
            <a:off x="1348920" y="2331720"/>
            <a:ext cx="26960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docker-compose.yml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6" name="Text 9"/>
          <p:cNvSpPr/>
          <p:nvPr/>
        </p:nvSpPr>
        <p:spPr>
          <a:xfrm>
            <a:off x="1348920" y="2651760"/>
            <a:ext cx="2696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Postgres + Redis + App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7" name="Shape 10"/>
          <p:cNvSpPr/>
          <p:nvPr/>
        </p:nvSpPr>
        <p:spPr>
          <a:xfrm>
            <a:off x="708840" y="3474720"/>
            <a:ext cx="547200" cy="54720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98" name="Text 11"/>
          <p:cNvSpPr/>
          <p:nvPr/>
        </p:nvSpPr>
        <p:spPr>
          <a:xfrm>
            <a:off x="708840" y="347472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9" name="Text 12"/>
          <p:cNvSpPr/>
          <p:nvPr/>
        </p:nvSpPr>
        <p:spPr>
          <a:xfrm>
            <a:off x="1348920" y="3474720"/>
            <a:ext cx="26960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Bun + hot reload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0" name="Text 13"/>
          <p:cNvSpPr/>
          <p:nvPr/>
        </p:nvSpPr>
        <p:spPr>
          <a:xfrm>
            <a:off x="1348920" y="3794760"/>
            <a:ext cx="2696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dev profil dev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1" name="Shape 14"/>
          <p:cNvSpPr/>
          <p:nvPr/>
        </p:nvSpPr>
        <p:spPr>
          <a:xfrm>
            <a:off x="708840" y="4617720"/>
            <a:ext cx="547200" cy="54720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02" name="Text 15"/>
          <p:cNvSpPr/>
          <p:nvPr/>
        </p:nvSpPr>
        <p:spPr>
          <a:xfrm>
            <a:off x="708840" y="461772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↻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3" name="Text 16"/>
          <p:cNvSpPr/>
          <p:nvPr/>
        </p:nvSpPr>
        <p:spPr>
          <a:xfrm>
            <a:off x="1348920" y="4617720"/>
            <a:ext cx="26960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Migrations auto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4" name="Text 17"/>
          <p:cNvSpPr/>
          <p:nvPr/>
        </p:nvSpPr>
        <p:spPr>
          <a:xfrm>
            <a:off x="1348920" y="4937760"/>
            <a:ext cx="2696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prisma migrate dev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5" name="Shape 18"/>
          <p:cNvSpPr/>
          <p:nvPr/>
        </p:nvSpPr>
        <p:spPr>
          <a:xfrm>
            <a:off x="4155840" y="3794760"/>
            <a:ext cx="9144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45720" tIns="-44640" rIns="4572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06" name="Shape 19"/>
          <p:cNvSpPr/>
          <p:nvPr/>
        </p:nvSpPr>
        <p:spPr>
          <a:xfrm>
            <a:off x="4229280" y="1691640"/>
            <a:ext cx="3701880" cy="420480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07" name="Shape 20"/>
          <p:cNvSpPr/>
          <p:nvPr/>
        </p:nvSpPr>
        <p:spPr>
          <a:xfrm>
            <a:off x="4229280" y="1691640"/>
            <a:ext cx="3701880" cy="45576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08" name="Text 21"/>
          <p:cNvSpPr/>
          <p:nvPr/>
        </p:nvSpPr>
        <p:spPr>
          <a:xfrm>
            <a:off x="4229280" y="1691640"/>
            <a:ext cx="37018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PRÉ-PROD / CI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9" name="Shape 22"/>
          <p:cNvSpPr/>
          <p:nvPr/>
        </p:nvSpPr>
        <p:spPr>
          <a:xfrm>
            <a:off x="4457880" y="2331720"/>
            <a:ext cx="547200" cy="54720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10" name="Text 23"/>
          <p:cNvSpPr/>
          <p:nvPr/>
        </p:nvSpPr>
        <p:spPr>
          <a:xfrm>
            <a:off x="4457880" y="233172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1" name="Text 24"/>
          <p:cNvSpPr/>
          <p:nvPr/>
        </p:nvSpPr>
        <p:spPr>
          <a:xfrm>
            <a:off x="5097960" y="2331720"/>
            <a:ext cx="26960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2" name="Text 25"/>
          <p:cNvSpPr/>
          <p:nvPr/>
        </p:nvSpPr>
        <p:spPr>
          <a:xfrm>
            <a:off x="5097960" y="2651760"/>
            <a:ext cx="2696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Lint · Test ·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3" name="Shape 26"/>
          <p:cNvSpPr/>
          <p:nvPr/>
        </p:nvSpPr>
        <p:spPr>
          <a:xfrm>
            <a:off x="4457880" y="3474720"/>
            <a:ext cx="547200" cy="54720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14" name="Text 27"/>
          <p:cNvSpPr/>
          <p:nvPr/>
        </p:nvSpPr>
        <p:spPr>
          <a:xfrm>
            <a:off x="4457880" y="347472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❀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5" name="Text 28"/>
          <p:cNvSpPr/>
          <p:nvPr/>
        </p:nvSpPr>
        <p:spPr>
          <a:xfrm>
            <a:off x="5097960" y="3474720"/>
            <a:ext cx="26960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Preview 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6" name="Text 29"/>
          <p:cNvSpPr/>
          <p:nvPr/>
        </p:nvSpPr>
        <p:spPr>
          <a:xfrm>
            <a:off x="5097960" y="3794760"/>
            <a:ext cx="2696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URL unique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7" name="Shape 30"/>
          <p:cNvSpPr/>
          <p:nvPr/>
        </p:nvSpPr>
        <p:spPr>
          <a:xfrm>
            <a:off x="4457880" y="4617720"/>
            <a:ext cx="547200" cy="54720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18" name="Text 31"/>
          <p:cNvSpPr/>
          <p:nvPr/>
        </p:nvSpPr>
        <p:spPr>
          <a:xfrm>
            <a:off x="4457880" y="461772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9" name="Text 32"/>
          <p:cNvSpPr/>
          <p:nvPr/>
        </p:nvSpPr>
        <p:spPr>
          <a:xfrm>
            <a:off x="5097960" y="4617720"/>
            <a:ext cx="26960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Neon Branching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0" name="Text 33"/>
          <p:cNvSpPr/>
          <p:nvPr/>
        </p:nvSpPr>
        <p:spPr>
          <a:xfrm>
            <a:off x="5097960" y="4937760"/>
            <a:ext cx="2696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BDD isolée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1" name="Shape 34"/>
          <p:cNvSpPr/>
          <p:nvPr/>
        </p:nvSpPr>
        <p:spPr>
          <a:xfrm>
            <a:off x="7904880" y="3794760"/>
            <a:ext cx="9144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45720" tIns="-44640" rIns="4572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22" name="Shape 35"/>
          <p:cNvSpPr/>
          <p:nvPr/>
        </p:nvSpPr>
        <p:spPr>
          <a:xfrm>
            <a:off x="7978320" y="1691640"/>
            <a:ext cx="3701880" cy="420480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23" name="Shape 36"/>
          <p:cNvSpPr/>
          <p:nvPr/>
        </p:nvSpPr>
        <p:spPr>
          <a:xfrm>
            <a:off x="7978320" y="1691640"/>
            <a:ext cx="3701880" cy="45576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24" name="Text 37"/>
          <p:cNvSpPr/>
          <p:nvPr/>
        </p:nvSpPr>
        <p:spPr>
          <a:xfrm>
            <a:off x="7978320" y="1691640"/>
            <a:ext cx="37018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5" name="Shape 38"/>
          <p:cNvSpPr/>
          <p:nvPr/>
        </p:nvSpPr>
        <p:spPr>
          <a:xfrm>
            <a:off x="8206920" y="2331720"/>
            <a:ext cx="547200" cy="54720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26" name="Text 39"/>
          <p:cNvSpPr/>
          <p:nvPr/>
        </p:nvSpPr>
        <p:spPr>
          <a:xfrm>
            <a:off x="8206920" y="233172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▲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7" name="Text 40"/>
          <p:cNvSpPr/>
          <p:nvPr/>
        </p:nvSpPr>
        <p:spPr>
          <a:xfrm>
            <a:off x="8847000" y="2331720"/>
            <a:ext cx="26960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8" name="Text 41"/>
          <p:cNvSpPr/>
          <p:nvPr/>
        </p:nvSpPr>
        <p:spPr>
          <a:xfrm>
            <a:off x="8847000" y="2651760"/>
            <a:ext cx="2696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Next.js + edge functions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9" name="Shape 42"/>
          <p:cNvSpPr/>
          <p:nvPr/>
        </p:nvSpPr>
        <p:spPr>
          <a:xfrm>
            <a:off x="8206920" y="3474720"/>
            <a:ext cx="547200" cy="54720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30" name="Text 43"/>
          <p:cNvSpPr/>
          <p:nvPr/>
        </p:nvSpPr>
        <p:spPr>
          <a:xfrm>
            <a:off x="8206920" y="347472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1" name="Text 44"/>
          <p:cNvSpPr/>
          <p:nvPr/>
        </p:nvSpPr>
        <p:spPr>
          <a:xfrm>
            <a:off x="8847000" y="3474720"/>
            <a:ext cx="26960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Neon PostgreSQL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2" name="Text 45"/>
          <p:cNvSpPr/>
          <p:nvPr/>
        </p:nvSpPr>
        <p:spPr>
          <a:xfrm>
            <a:off x="8847000" y="3794760"/>
            <a:ext cx="2696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Branches main +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3" name="Shape 46"/>
          <p:cNvSpPr/>
          <p:nvPr/>
        </p:nvSpPr>
        <p:spPr>
          <a:xfrm>
            <a:off x="8206920" y="4617720"/>
            <a:ext cx="547200" cy="54720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34" name="Text 47"/>
          <p:cNvSpPr/>
          <p:nvPr/>
        </p:nvSpPr>
        <p:spPr>
          <a:xfrm>
            <a:off x="8206920" y="461772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5" name="Text 48"/>
          <p:cNvSpPr/>
          <p:nvPr/>
        </p:nvSpPr>
        <p:spPr>
          <a:xfrm>
            <a:off x="8847000" y="4617720"/>
            <a:ext cx="26960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6" name="Text 49"/>
          <p:cNvSpPr/>
          <p:nvPr/>
        </p:nvSpPr>
        <p:spPr>
          <a:xfrm>
            <a:off x="8847000" y="4937760"/>
            <a:ext cx="2696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REST · pay-as-you-go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7" name="Shape 50"/>
          <p:cNvSpPr/>
          <p:nvPr/>
        </p:nvSpPr>
        <p:spPr>
          <a:xfrm>
            <a:off x="548640" y="6035040"/>
            <a:ext cx="11062800" cy="272880"/>
          </a:xfrm>
          <a:prstGeom prst="roundRect">
            <a:avLst>
              <a:gd name="adj" fmla="val 26667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38" name="Text 51"/>
          <p:cNvSpPr/>
          <p:nvPr/>
        </p:nvSpPr>
        <p:spPr>
          <a:xfrm>
            <a:off x="777240" y="6035040"/>
            <a:ext cx="10605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Rollback Vercel one-click · Healthcheck applicatif · Secrets via env vars (jamais committés) · SSL automatique.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39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40" name="Text 52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1" name="Text 53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45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2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3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Veille technique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4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45" name="Shape 3"/>
          <p:cNvSpPr/>
          <p:nvPr/>
        </p:nvSpPr>
        <p:spPr>
          <a:xfrm>
            <a:off x="548640" y="1691640"/>
            <a:ext cx="5530680" cy="457056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46" name="Text 4"/>
          <p:cNvSpPr/>
          <p:nvPr/>
        </p:nvSpPr>
        <p:spPr>
          <a:xfrm>
            <a:off x="731520" y="1783080"/>
            <a:ext cx="5027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Sources suivies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7" name="Text 5"/>
          <p:cNvSpPr/>
          <p:nvPr/>
        </p:nvSpPr>
        <p:spPr>
          <a:xfrm>
            <a:off x="777240" y="2240280"/>
            <a:ext cx="455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8" name="Text 6"/>
          <p:cNvSpPr/>
          <p:nvPr/>
        </p:nvSpPr>
        <p:spPr>
          <a:xfrm>
            <a:off x="1280160" y="224028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 Blog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9" name="Text 7"/>
          <p:cNvSpPr/>
          <p:nvPr/>
        </p:nvSpPr>
        <p:spPr>
          <a:xfrm>
            <a:off x="1280160" y="2514600"/>
            <a:ext cx="4570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Annonces Next.js, App Router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0" name="Text 8"/>
          <p:cNvSpPr/>
          <p:nvPr/>
        </p:nvSpPr>
        <p:spPr>
          <a:xfrm>
            <a:off x="777240" y="2880360"/>
            <a:ext cx="455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1" name="Text 9"/>
          <p:cNvSpPr/>
          <p:nvPr/>
        </p:nvSpPr>
        <p:spPr>
          <a:xfrm>
            <a:off x="1280160" y="288036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 Docs (canary)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2" name="Text 10"/>
          <p:cNvSpPr/>
          <p:nvPr/>
        </p:nvSpPr>
        <p:spPr>
          <a:xfrm>
            <a:off x="1280160" y="3154680"/>
            <a:ext cx="4570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 Components,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3" name="Text 11"/>
          <p:cNvSpPr/>
          <p:nvPr/>
        </p:nvSpPr>
        <p:spPr>
          <a:xfrm>
            <a:off x="777240" y="3520440"/>
            <a:ext cx="455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4" name="Text 12"/>
          <p:cNvSpPr/>
          <p:nvPr/>
        </p:nvSpPr>
        <p:spPr>
          <a:xfrm>
            <a:off x="1280160" y="352044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OWASP Cheat Sheets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5" name="Text 13"/>
          <p:cNvSpPr/>
          <p:nvPr/>
        </p:nvSpPr>
        <p:spPr>
          <a:xfrm>
            <a:off x="1280160" y="3794760"/>
            <a:ext cx="4570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Sécurité applicative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6" name="Text 14"/>
          <p:cNvSpPr/>
          <p:nvPr/>
        </p:nvSpPr>
        <p:spPr>
          <a:xfrm>
            <a:off x="777240" y="4160520"/>
            <a:ext cx="455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7" name="Text 15"/>
          <p:cNvSpPr/>
          <p:nvPr/>
        </p:nvSpPr>
        <p:spPr>
          <a:xfrm>
            <a:off x="1280160" y="416052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RFC / WHATWG specs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8" name="Text 16"/>
          <p:cNvSpPr/>
          <p:nvPr/>
        </p:nvSpPr>
        <p:spPr>
          <a:xfrm>
            <a:off x="1280160" y="4434840"/>
            <a:ext cx="4570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HTTP, cookies, fetch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9" name="Text 17"/>
          <p:cNvSpPr/>
          <p:nvPr/>
        </p:nvSpPr>
        <p:spPr>
          <a:xfrm>
            <a:off x="777240" y="4800600"/>
            <a:ext cx="455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✦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0" name="Text 18"/>
          <p:cNvSpPr/>
          <p:nvPr/>
        </p:nvSpPr>
        <p:spPr>
          <a:xfrm>
            <a:off x="1280160" y="480060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Twitter dev community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1" name="Text 19"/>
          <p:cNvSpPr/>
          <p:nvPr/>
        </p:nvSpPr>
        <p:spPr>
          <a:xfrm>
            <a:off x="1280160" y="5074920"/>
            <a:ext cx="4570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Theo, Lee Robinson, Dan Abramov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2" name="Text 20"/>
          <p:cNvSpPr/>
          <p:nvPr/>
        </p:nvSpPr>
        <p:spPr>
          <a:xfrm>
            <a:off x="777240" y="5440680"/>
            <a:ext cx="455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▷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3" name="Text 21"/>
          <p:cNvSpPr/>
          <p:nvPr/>
        </p:nvSpPr>
        <p:spPr>
          <a:xfrm>
            <a:off x="1280160" y="544068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YouTube — Theo, Fireship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4" name="Text 22"/>
          <p:cNvSpPr/>
          <p:nvPr/>
        </p:nvSpPr>
        <p:spPr>
          <a:xfrm>
            <a:off x="1280160" y="5715000"/>
            <a:ext cx="4570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Synthèses &amp; démos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5" name="Shape 23"/>
          <p:cNvSpPr/>
          <p:nvPr/>
        </p:nvSpPr>
        <p:spPr>
          <a:xfrm>
            <a:off x="6263640" y="1691640"/>
            <a:ext cx="5530680" cy="457056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6" name="Text 24"/>
          <p:cNvSpPr/>
          <p:nvPr/>
        </p:nvSpPr>
        <p:spPr>
          <a:xfrm>
            <a:off x="6446520" y="1783080"/>
            <a:ext cx="5027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Méthode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7" name="Shape 25"/>
          <p:cNvSpPr/>
          <p:nvPr/>
        </p:nvSpPr>
        <p:spPr>
          <a:xfrm>
            <a:off x="6446520" y="2240280"/>
            <a:ext cx="501480" cy="50148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8" name="Text 26"/>
          <p:cNvSpPr/>
          <p:nvPr/>
        </p:nvSpPr>
        <p:spPr>
          <a:xfrm>
            <a:off x="6446520" y="224028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9" name="Text 27"/>
          <p:cNvSpPr/>
          <p:nvPr/>
        </p:nvSpPr>
        <p:spPr>
          <a:xfrm>
            <a:off x="7040880" y="224028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Filtrer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0" name="Text 28"/>
          <p:cNvSpPr/>
          <p:nvPr/>
        </p:nvSpPr>
        <p:spPr>
          <a:xfrm>
            <a:off x="7040880" y="2514600"/>
            <a:ext cx="45705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Critère : signal-to-noise élevé, sources primaires d'abord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1" name="Shape 29"/>
          <p:cNvSpPr/>
          <p:nvPr/>
        </p:nvSpPr>
        <p:spPr>
          <a:xfrm>
            <a:off x="6446520" y="3017520"/>
            <a:ext cx="501480" cy="50148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72" name="Text 30"/>
          <p:cNvSpPr/>
          <p:nvPr/>
        </p:nvSpPr>
        <p:spPr>
          <a:xfrm>
            <a:off x="6446520" y="301752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3" name="Text 31"/>
          <p:cNvSpPr/>
          <p:nvPr/>
        </p:nvSpPr>
        <p:spPr>
          <a:xfrm>
            <a:off x="7040880" y="301752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4" name="Text 32"/>
          <p:cNvSpPr/>
          <p:nvPr/>
        </p:nvSpPr>
        <p:spPr>
          <a:xfrm>
            <a:off x="7040880" y="3291840"/>
            <a:ext cx="45705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30 min / matin, Pocket pour le offline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5" name="Shape 33"/>
          <p:cNvSpPr/>
          <p:nvPr/>
        </p:nvSpPr>
        <p:spPr>
          <a:xfrm>
            <a:off x="6446520" y="3794760"/>
            <a:ext cx="501480" cy="50148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76" name="Text 34"/>
          <p:cNvSpPr/>
          <p:nvPr/>
        </p:nvSpPr>
        <p:spPr>
          <a:xfrm>
            <a:off x="6446520" y="379476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7" name="Text 35"/>
          <p:cNvSpPr/>
          <p:nvPr/>
        </p:nvSpPr>
        <p:spPr>
          <a:xfrm>
            <a:off x="7040880" y="379476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8" name="Text 36"/>
          <p:cNvSpPr/>
          <p:nvPr/>
        </p:nvSpPr>
        <p:spPr>
          <a:xfrm>
            <a:off x="7040880" y="4069080"/>
            <a:ext cx="45705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Petite preuve de concept si la techno entre dans le projet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9" name="Shape 37"/>
          <p:cNvSpPr/>
          <p:nvPr/>
        </p:nvSpPr>
        <p:spPr>
          <a:xfrm>
            <a:off x="6446520" y="4572000"/>
            <a:ext cx="501480" cy="50148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80" name="Text 38"/>
          <p:cNvSpPr/>
          <p:nvPr/>
        </p:nvSpPr>
        <p:spPr>
          <a:xfrm>
            <a:off x="6446520" y="457200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1" name="Text 39"/>
          <p:cNvSpPr/>
          <p:nvPr/>
        </p:nvSpPr>
        <p:spPr>
          <a:xfrm>
            <a:off x="7040880" y="457200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Documenter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2" name="Text 40"/>
          <p:cNvSpPr/>
          <p:nvPr/>
        </p:nvSpPr>
        <p:spPr>
          <a:xfrm>
            <a:off x="7040880" y="4846320"/>
            <a:ext cx="45705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Notes dans Obsidian, lien vers la source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3" name="Shape 41"/>
          <p:cNvSpPr/>
          <p:nvPr/>
        </p:nvSpPr>
        <p:spPr>
          <a:xfrm>
            <a:off x="6446520" y="5349240"/>
            <a:ext cx="501480" cy="50148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84" name="Text 42"/>
          <p:cNvSpPr/>
          <p:nvPr/>
        </p:nvSpPr>
        <p:spPr>
          <a:xfrm>
            <a:off x="6446520" y="534924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5" name="Text 43"/>
          <p:cNvSpPr/>
          <p:nvPr/>
        </p:nvSpPr>
        <p:spPr>
          <a:xfrm>
            <a:off x="7040880" y="534924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Partager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6" name="Text 44"/>
          <p:cNvSpPr/>
          <p:nvPr/>
        </p:nvSpPr>
        <p:spPr>
          <a:xfrm>
            <a:off x="7040880" y="5623560"/>
            <a:ext cx="45705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Discussion équipe sur les choix structurants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8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88" name="Text 4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9" name="Text 4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46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0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1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Métriques du projet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2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3" name="Shape 3"/>
          <p:cNvSpPr/>
          <p:nvPr/>
        </p:nvSpPr>
        <p:spPr>
          <a:xfrm>
            <a:off x="548640" y="1691640"/>
            <a:ext cx="2696040" cy="164448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4" name="Text 4"/>
          <p:cNvSpPr/>
          <p:nvPr/>
        </p:nvSpPr>
        <p:spPr>
          <a:xfrm>
            <a:off x="548640" y="1783080"/>
            <a:ext cx="269604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5" name="Text 5"/>
          <p:cNvSpPr/>
          <p:nvPr/>
        </p:nvSpPr>
        <p:spPr>
          <a:xfrm>
            <a:off x="548640" y="2697480"/>
            <a:ext cx="26960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6" name="Shape 6"/>
          <p:cNvSpPr/>
          <p:nvPr/>
        </p:nvSpPr>
        <p:spPr>
          <a:xfrm>
            <a:off x="3383280" y="1691640"/>
            <a:ext cx="2696040" cy="164448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7" name="Text 7"/>
          <p:cNvSpPr/>
          <p:nvPr/>
        </p:nvSpPr>
        <p:spPr>
          <a:xfrm>
            <a:off x="3383280" y="1783080"/>
            <a:ext cx="269604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60+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8" name="Text 8"/>
          <p:cNvSpPr/>
          <p:nvPr/>
        </p:nvSpPr>
        <p:spPr>
          <a:xfrm>
            <a:off x="3383280" y="2697480"/>
            <a:ext cx="26960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endpoints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9" name="Shape 9"/>
          <p:cNvSpPr/>
          <p:nvPr/>
        </p:nvSpPr>
        <p:spPr>
          <a:xfrm>
            <a:off x="6217920" y="1691640"/>
            <a:ext cx="2696040" cy="164448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00" name="Text 10"/>
          <p:cNvSpPr/>
          <p:nvPr/>
        </p:nvSpPr>
        <p:spPr>
          <a:xfrm>
            <a:off x="6217920" y="1783080"/>
            <a:ext cx="269604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12+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1" name="Text 11"/>
          <p:cNvSpPr/>
          <p:nvPr/>
        </p:nvSpPr>
        <p:spPr>
          <a:xfrm>
            <a:off x="6217920" y="2697480"/>
            <a:ext cx="26960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principales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2" name="Shape 12"/>
          <p:cNvSpPr/>
          <p:nvPr/>
        </p:nvSpPr>
        <p:spPr>
          <a:xfrm>
            <a:off x="9052560" y="1691640"/>
            <a:ext cx="2696040" cy="164448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03" name="Text 13"/>
          <p:cNvSpPr/>
          <p:nvPr/>
        </p:nvSpPr>
        <p:spPr>
          <a:xfrm>
            <a:off x="9052560" y="1783080"/>
            <a:ext cx="269604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43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4" name="Text 14"/>
          <p:cNvSpPr/>
          <p:nvPr/>
        </p:nvSpPr>
        <p:spPr>
          <a:xfrm>
            <a:off x="9052560" y="2697480"/>
            <a:ext cx="26960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stories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5" name="Text 15"/>
          <p:cNvSpPr/>
          <p:nvPr/>
        </p:nvSpPr>
        <p:spPr>
          <a:xfrm>
            <a:off x="548640" y="3611880"/>
            <a:ext cx="109713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Répartition des features livrées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6" name="Shape 16"/>
          <p:cNvSpPr/>
          <p:nvPr/>
        </p:nvSpPr>
        <p:spPr>
          <a:xfrm>
            <a:off x="548640" y="3977640"/>
            <a:ext cx="5530680" cy="2330280"/>
          </a:xfrm>
          <a:prstGeom prst="roundRect">
            <a:avLst>
              <a:gd name="adj" fmla="val 313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2207" name="Chart 0"/>
          <p:cNvGraphicFramePr/>
          <p:nvPr/>
        </p:nvGraphicFramePr>
        <p:xfrm>
          <a:off x="640080" y="4069080"/>
          <a:ext cx="5347800" cy="2147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208" name="Shape 17"/>
          <p:cNvSpPr/>
          <p:nvPr/>
        </p:nvSpPr>
        <p:spPr>
          <a:xfrm>
            <a:off x="6263640" y="3977640"/>
            <a:ext cx="5530680" cy="2330280"/>
          </a:xfrm>
          <a:prstGeom prst="roundRect">
            <a:avLst>
              <a:gd name="adj" fmla="val 313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09" name="Text 18"/>
          <p:cNvSpPr/>
          <p:nvPr/>
        </p:nvSpPr>
        <p:spPr>
          <a:xfrm>
            <a:off x="6400800" y="4069080"/>
            <a:ext cx="53478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Charge de travail par phase (jours)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10" name="Chart 1"/>
          <p:cNvGraphicFramePr/>
          <p:nvPr/>
        </p:nvGraphicFramePr>
        <p:xfrm>
          <a:off x="6400800" y="4343400"/>
          <a:ext cx="5210640" cy="187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2211" name="Image 0" descr="/sessions/sweet-funny-newton/mnt/outputs/build/assets/konekt-logo.png"/>
          <p:cNvPicPr/>
          <p:nvPr/>
        </p:nvPicPr>
        <p:blipFill>
          <a:blip r:embed="rId3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12" name="Text 19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3" name="Text 20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47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4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5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une application sécurisée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6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7" name="Shape 3"/>
          <p:cNvSpPr/>
          <p:nvPr/>
        </p:nvSpPr>
        <p:spPr>
          <a:xfrm>
            <a:off x="548640" y="1691640"/>
            <a:ext cx="3656160" cy="1553040"/>
          </a:xfrm>
          <a:prstGeom prst="roundRect">
            <a:avLst>
              <a:gd name="adj" fmla="val 7059"/>
            </a:avLst>
          </a:prstGeom>
          <a:solidFill>
            <a:srgbClr val="EC4899">
              <a:alpha val="35000"/>
            </a:srgbClr>
          </a:solidFill>
          <a:ln w="254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8" name="Text 4"/>
          <p:cNvSpPr/>
          <p:nvPr/>
        </p:nvSpPr>
        <p:spPr>
          <a:xfrm>
            <a:off x="548640" y="1691640"/>
            <a:ext cx="365616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BC01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9" name="Text 5"/>
          <p:cNvSpPr/>
          <p:nvPr/>
        </p:nvSpPr>
        <p:spPr>
          <a:xfrm>
            <a:off x="548640" y="2606040"/>
            <a:ext cx="3656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0" name="Text 6"/>
          <p:cNvSpPr/>
          <p:nvPr/>
        </p:nvSpPr>
        <p:spPr>
          <a:xfrm>
            <a:off x="548640" y="288036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1" name="Shape 7"/>
          <p:cNvSpPr/>
          <p:nvPr/>
        </p:nvSpPr>
        <p:spPr>
          <a:xfrm>
            <a:off x="4389120" y="1691640"/>
            <a:ext cx="7222320" cy="155304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22" name="Text 8"/>
          <p:cNvSpPr/>
          <p:nvPr/>
        </p:nvSpPr>
        <p:spPr>
          <a:xfrm>
            <a:off x="4572000" y="1783080"/>
            <a:ext cx="6856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3" name="Text 9"/>
          <p:cNvSpPr/>
          <p:nvPr/>
        </p:nvSpPr>
        <p:spPr>
          <a:xfrm>
            <a:off x="4572000" y="2103120"/>
            <a:ext cx="685656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Concevoir, développer et tester une application en intégrant les principes de sécurité dès la phase de conception.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4" name="Text 10"/>
          <p:cNvSpPr/>
          <p:nvPr/>
        </p:nvSpPr>
        <p:spPr>
          <a:xfrm>
            <a:off x="548640" y="3383280"/>
            <a:ext cx="10971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5" name="Shape 11"/>
          <p:cNvSpPr/>
          <p:nvPr/>
        </p:nvSpPr>
        <p:spPr>
          <a:xfrm>
            <a:off x="548640" y="3703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26" name="Shape 12"/>
          <p:cNvSpPr/>
          <p:nvPr/>
        </p:nvSpPr>
        <p:spPr>
          <a:xfrm>
            <a:off x="548640" y="3703320"/>
            <a:ext cx="90000" cy="1050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27" name="Text 13"/>
          <p:cNvSpPr/>
          <p:nvPr/>
        </p:nvSpPr>
        <p:spPr>
          <a:xfrm>
            <a:off x="777240" y="3840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Maquetter une application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8" name="Text 14"/>
          <p:cNvSpPr/>
          <p:nvPr/>
        </p:nvSpPr>
        <p:spPr>
          <a:xfrm>
            <a:off x="777240" y="4160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Wireframes + mockups 6 pages principales, design system Konekt dédié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9" name="Shape 15"/>
          <p:cNvSpPr/>
          <p:nvPr/>
        </p:nvSpPr>
        <p:spPr>
          <a:xfrm>
            <a:off x="6217920" y="3703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0" name="Shape 16"/>
          <p:cNvSpPr/>
          <p:nvPr/>
        </p:nvSpPr>
        <p:spPr>
          <a:xfrm>
            <a:off x="6217920" y="3703320"/>
            <a:ext cx="90000" cy="1050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1" name="Text 17"/>
          <p:cNvSpPr/>
          <p:nvPr/>
        </p:nvSpPr>
        <p:spPr>
          <a:xfrm>
            <a:off x="6446520" y="3840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une interface utilisateur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2" name="Text 18"/>
          <p:cNvSpPr/>
          <p:nvPr/>
        </p:nvSpPr>
        <p:spPr>
          <a:xfrm>
            <a:off x="6446520" y="4160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Next.js App Router, React Server Components, Tailwind + shadcn/ui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3" name="Shape 19"/>
          <p:cNvSpPr/>
          <p:nvPr/>
        </p:nvSpPr>
        <p:spPr>
          <a:xfrm>
            <a:off x="548640" y="4846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4" name="Shape 20"/>
          <p:cNvSpPr/>
          <p:nvPr/>
        </p:nvSpPr>
        <p:spPr>
          <a:xfrm>
            <a:off x="548640" y="4846320"/>
            <a:ext cx="90000" cy="1050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5" name="Text 21"/>
          <p:cNvSpPr/>
          <p:nvPr/>
        </p:nvSpPr>
        <p:spPr>
          <a:xfrm>
            <a:off x="777240" y="4983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des composants réutilisables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6" name="Text 22"/>
          <p:cNvSpPr/>
          <p:nvPr/>
        </p:nvSpPr>
        <p:spPr>
          <a:xfrm>
            <a:off x="777240" y="5303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Button, Avatar, Card, Dialog, Input — bibliothèque cohérente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7" name="Shape 23"/>
          <p:cNvSpPr/>
          <p:nvPr/>
        </p:nvSpPr>
        <p:spPr>
          <a:xfrm>
            <a:off x="6217920" y="4846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8" name="Shape 24"/>
          <p:cNvSpPr/>
          <p:nvPr/>
        </p:nvSpPr>
        <p:spPr>
          <a:xfrm>
            <a:off x="6217920" y="4846320"/>
            <a:ext cx="90000" cy="1050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9" name="Text 25"/>
          <p:cNvSpPr/>
          <p:nvPr/>
        </p:nvSpPr>
        <p:spPr>
          <a:xfrm>
            <a:off x="6446520" y="4983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Intégrer la sécurité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0" name="Text 26"/>
          <p:cNvSpPr/>
          <p:nvPr/>
        </p:nvSpPr>
        <p:spPr>
          <a:xfrm>
            <a:off x="6446520" y="5303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JWT signé (jose), bcrypt cost 12, cookies HttpOnly, validation Zod, OWASP Top 10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1" name="Text 27"/>
          <p:cNvSpPr/>
          <p:nvPr/>
        </p:nvSpPr>
        <p:spPr>
          <a:xfrm>
            <a:off x="548640" y="598932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2" name="Shape 28"/>
          <p:cNvSpPr/>
          <p:nvPr/>
        </p:nvSpPr>
        <p:spPr>
          <a:xfrm>
            <a:off x="2743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3" name="Text 29"/>
          <p:cNvSpPr/>
          <p:nvPr/>
        </p:nvSpPr>
        <p:spPr>
          <a:xfrm>
            <a:off x="2743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Sécurité applicative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4" name="Shape 30"/>
          <p:cNvSpPr/>
          <p:nvPr/>
        </p:nvSpPr>
        <p:spPr>
          <a:xfrm>
            <a:off x="5029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5" name="Text 31"/>
          <p:cNvSpPr/>
          <p:nvPr/>
        </p:nvSpPr>
        <p:spPr>
          <a:xfrm>
            <a:off x="5029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6" name="Shape 32"/>
          <p:cNvSpPr/>
          <p:nvPr/>
        </p:nvSpPr>
        <p:spPr>
          <a:xfrm>
            <a:off x="7315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7" name="Text 33"/>
          <p:cNvSpPr/>
          <p:nvPr/>
        </p:nvSpPr>
        <p:spPr>
          <a:xfrm>
            <a:off x="7315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Middleware JWT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8" name="Shape 34"/>
          <p:cNvSpPr/>
          <p:nvPr/>
        </p:nvSpPr>
        <p:spPr>
          <a:xfrm>
            <a:off x="9601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9" name="Text 35"/>
          <p:cNvSpPr/>
          <p:nvPr/>
        </p:nvSpPr>
        <p:spPr>
          <a:xfrm>
            <a:off x="9601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Audit RGPD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5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51" name="Text 3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2" name="Text 3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48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BC02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4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 et développer la persistance des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5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6" name="Shape 3"/>
          <p:cNvSpPr/>
          <p:nvPr/>
        </p:nvSpPr>
        <p:spPr>
          <a:xfrm>
            <a:off x="548640" y="1691640"/>
            <a:ext cx="3656160" cy="1553040"/>
          </a:xfrm>
          <a:prstGeom prst="roundRect">
            <a:avLst>
              <a:gd name="adj" fmla="val 7059"/>
            </a:avLst>
          </a:prstGeom>
          <a:solidFill>
            <a:srgbClr val="06B6D4">
              <a:alpha val="35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7" name="Text 4"/>
          <p:cNvSpPr/>
          <p:nvPr/>
        </p:nvSpPr>
        <p:spPr>
          <a:xfrm>
            <a:off x="548640" y="1691640"/>
            <a:ext cx="365616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BC02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8" name="Text 5"/>
          <p:cNvSpPr/>
          <p:nvPr/>
        </p:nvSpPr>
        <p:spPr>
          <a:xfrm>
            <a:off x="548640" y="2606040"/>
            <a:ext cx="3656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9" name="Text 6"/>
          <p:cNvSpPr/>
          <p:nvPr/>
        </p:nvSpPr>
        <p:spPr>
          <a:xfrm>
            <a:off x="548640" y="288036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0" name="Shape 7"/>
          <p:cNvSpPr/>
          <p:nvPr/>
        </p:nvSpPr>
        <p:spPr>
          <a:xfrm>
            <a:off x="4389120" y="1691640"/>
            <a:ext cx="7222320" cy="155304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1" name="Text 8"/>
          <p:cNvSpPr/>
          <p:nvPr/>
        </p:nvSpPr>
        <p:spPr>
          <a:xfrm>
            <a:off x="4572000" y="1783080"/>
            <a:ext cx="6856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2" name="Text 9"/>
          <p:cNvSpPr/>
          <p:nvPr/>
        </p:nvSpPr>
        <p:spPr>
          <a:xfrm>
            <a:off x="4572000" y="2103120"/>
            <a:ext cx="685656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Modéliser une base de données relationnelle, écrire les requêtes optimisées et garantir l'intégrité.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3" name="Text 10"/>
          <p:cNvSpPr/>
          <p:nvPr/>
        </p:nvSpPr>
        <p:spPr>
          <a:xfrm>
            <a:off x="548640" y="3383280"/>
            <a:ext cx="10971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4" name="Shape 11"/>
          <p:cNvSpPr/>
          <p:nvPr/>
        </p:nvSpPr>
        <p:spPr>
          <a:xfrm>
            <a:off x="548640" y="3703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5" name="Shape 12"/>
          <p:cNvSpPr/>
          <p:nvPr/>
        </p:nvSpPr>
        <p:spPr>
          <a:xfrm>
            <a:off x="548640" y="3703320"/>
            <a:ext cx="90000" cy="10501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6" name="Text 13"/>
          <p:cNvSpPr/>
          <p:nvPr/>
        </p:nvSpPr>
        <p:spPr>
          <a:xfrm>
            <a:off x="777240" y="3840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Analyser le besoin et concevoir un MCD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7" name="Text 14"/>
          <p:cNvSpPr/>
          <p:nvPr/>
        </p:nvSpPr>
        <p:spPr>
          <a:xfrm>
            <a:off x="777240" y="4160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43 user stories → 18 entités identifiées, cardinalités explicites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8" name="Shape 15"/>
          <p:cNvSpPr/>
          <p:nvPr/>
        </p:nvSpPr>
        <p:spPr>
          <a:xfrm>
            <a:off x="6217920" y="3703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9" name="Shape 16"/>
          <p:cNvSpPr/>
          <p:nvPr/>
        </p:nvSpPr>
        <p:spPr>
          <a:xfrm>
            <a:off x="6217920" y="3703320"/>
            <a:ext cx="90000" cy="10501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0" name="Text 17"/>
          <p:cNvSpPr/>
          <p:nvPr/>
        </p:nvSpPr>
        <p:spPr>
          <a:xfrm>
            <a:off x="6446520" y="3840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Mettre en place une base relationnelle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1" name="Text 18"/>
          <p:cNvSpPr/>
          <p:nvPr/>
        </p:nvSpPr>
        <p:spPr>
          <a:xfrm>
            <a:off x="6446520" y="4160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PostgreSQL Neon, migrations versionnées prisma/migrations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2" name="Shape 19"/>
          <p:cNvSpPr/>
          <p:nvPr/>
        </p:nvSpPr>
        <p:spPr>
          <a:xfrm>
            <a:off x="548640" y="4846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3" name="Shape 20"/>
          <p:cNvSpPr/>
          <p:nvPr/>
        </p:nvSpPr>
        <p:spPr>
          <a:xfrm>
            <a:off x="548640" y="4846320"/>
            <a:ext cx="90000" cy="10501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4" name="Text 21"/>
          <p:cNvSpPr/>
          <p:nvPr/>
        </p:nvSpPr>
        <p:spPr>
          <a:xfrm>
            <a:off x="777240" y="4983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des composants d'accès aux données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5" name="Text 22"/>
          <p:cNvSpPr/>
          <p:nvPr/>
        </p:nvSpPr>
        <p:spPr>
          <a:xfrm>
            <a:off x="777240" y="5303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Prisma ORM type-safe, helpers src/lib/server/&lt;domaine&gt;/&lt;entité&gt;.ts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6" name="Shape 23"/>
          <p:cNvSpPr/>
          <p:nvPr/>
        </p:nvSpPr>
        <p:spPr>
          <a:xfrm>
            <a:off x="6217920" y="4846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7" name="Shape 24"/>
          <p:cNvSpPr/>
          <p:nvPr/>
        </p:nvSpPr>
        <p:spPr>
          <a:xfrm>
            <a:off x="6217920" y="4846320"/>
            <a:ext cx="90000" cy="10501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8" name="Text 25"/>
          <p:cNvSpPr/>
          <p:nvPr/>
        </p:nvSpPr>
        <p:spPr>
          <a:xfrm>
            <a:off x="6446520" y="4983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Garantir l'intégrité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9" name="Text 26"/>
          <p:cNvSpPr/>
          <p:nvPr/>
        </p:nvSpPr>
        <p:spPr>
          <a:xfrm>
            <a:off x="6446520" y="5303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PK, FK, UNIQUE composées (réactions), ENUM métier, cascades maîtrisées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0" name="Text 27"/>
          <p:cNvSpPr/>
          <p:nvPr/>
        </p:nvSpPr>
        <p:spPr>
          <a:xfrm>
            <a:off x="548640" y="598932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1" name="Shape 28"/>
          <p:cNvSpPr/>
          <p:nvPr/>
        </p:nvSpPr>
        <p:spPr>
          <a:xfrm>
            <a:off x="2743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2" name="Text 29"/>
          <p:cNvSpPr/>
          <p:nvPr/>
        </p:nvSpPr>
        <p:spPr>
          <a:xfrm>
            <a:off x="2743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MCD / MLD / MPD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3" name="Shape 30"/>
          <p:cNvSpPr/>
          <p:nvPr/>
        </p:nvSpPr>
        <p:spPr>
          <a:xfrm>
            <a:off x="5029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4" name="Text 31"/>
          <p:cNvSpPr/>
          <p:nvPr/>
        </p:nvSpPr>
        <p:spPr>
          <a:xfrm>
            <a:off x="5029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18 modèles Prisma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5" name="Shape 32"/>
          <p:cNvSpPr/>
          <p:nvPr/>
        </p:nvSpPr>
        <p:spPr>
          <a:xfrm>
            <a:off x="7315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6" name="Text 33"/>
          <p:cNvSpPr/>
          <p:nvPr/>
        </p:nvSpPr>
        <p:spPr>
          <a:xfrm>
            <a:off x="7315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40+ relations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7" name="Shape 34"/>
          <p:cNvSpPr/>
          <p:nvPr/>
        </p:nvSpPr>
        <p:spPr>
          <a:xfrm>
            <a:off x="9601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8" name="Text 35"/>
          <p:cNvSpPr/>
          <p:nvPr/>
        </p:nvSpPr>
        <p:spPr>
          <a:xfrm>
            <a:off x="9601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7 enums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89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90" name="Text 3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1" name="Text 3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49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2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3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 et développer une application multicouche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4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5" name="Shape 3"/>
          <p:cNvSpPr/>
          <p:nvPr/>
        </p:nvSpPr>
        <p:spPr>
          <a:xfrm>
            <a:off x="548640" y="1691640"/>
            <a:ext cx="3656160" cy="1553040"/>
          </a:xfrm>
          <a:prstGeom prst="roundRect">
            <a:avLst>
              <a:gd name="adj" fmla="val 7059"/>
            </a:avLst>
          </a:prstGeom>
          <a:solidFill>
            <a:srgbClr val="8B5CF6">
              <a:alpha val="35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6" name="Text 4"/>
          <p:cNvSpPr/>
          <p:nvPr/>
        </p:nvSpPr>
        <p:spPr>
          <a:xfrm>
            <a:off x="548640" y="1691640"/>
            <a:ext cx="365616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BC03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7" name="Text 5"/>
          <p:cNvSpPr/>
          <p:nvPr/>
        </p:nvSpPr>
        <p:spPr>
          <a:xfrm>
            <a:off x="548640" y="2606040"/>
            <a:ext cx="3656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8" name="Text 6"/>
          <p:cNvSpPr/>
          <p:nvPr/>
        </p:nvSpPr>
        <p:spPr>
          <a:xfrm>
            <a:off x="548640" y="288036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9" name="Shape 7"/>
          <p:cNvSpPr/>
          <p:nvPr/>
        </p:nvSpPr>
        <p:spPr>
          <a:xfrm>
            <a:off x="4389120" y="1691640"/>
            <a:ext cx="7222320" cy="155304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0" name="Text 8"/>
          <p:cNvSpPr/>
          <p:nvPr/>
        </p:nvSpPr>
        <p:spPr>
          <a:xfrm>
            <a:off x="4572000" y="1783080"/>
            <a:ext cx="6856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1" name="Text 9"/>
          <p:cNvSpPr/>
          <p:nvPr/>
        </p:nvSpPr>
        <p:spPr>
          <a:xfrm>
            <a:off x="4572000" y="2103120"/>
            <a:ext cx="685656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Construire une application répartie front + back avec une logique métier propre, des API et du temps réel.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2" name="Text 10"/>
          <p:cNvSpPr/>
          <p:nvPr/>
        </p:nvSpPr>
        <p:spPr>
          <a:xfrm>
            <a:off x="548640" y="3383280"/>
            <a:ext cx="10971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3" name="Shape 11"/>
          <p:cNvSpPr/>
          <p:nvPr/>
        </p:nvSpPr>
        <p:spPr>
          <a:xfrm>
            <a:off x="548640" y="3703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4" name="Shape 12"/>
          <p:cNvSpPr/>
          <p:nvPr/>
        </p:nvSpPr>
        <p:spPr>
          <a:xfrm>
            <a:off x="548640" y="3703320"/>
            <a:ext cx="90000" cy="10501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5" name="Text 13"/>
          <p:cNvSpPr/>
          <p:nvPr/>
        </p:nvSpPr>
        <p:spPr>
          <a:xfrm>
            <a:off x="777240" y="3840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multicouche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6" name="Text 14"/>
          <p:cNvSpPr/>
          <p:nvPr/>
        </p:nvSpPr>
        <p:spPr>
          <a:xfrm>
            <a:off x="777240" y="4160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Présentation → Métier → Persistance → Infrastructure, frontières claires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7" name="Shape 15"/>
          <p:cNvSpPr/>
          <p:nvPr/>
        </p:nvSpPr>
        <p:spPr>
          <a:xfrm>
            <a:off x="6217920" y="3703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8" name="Shape 16"/>
          <p:cNvSpPr/>
          <p:nvPr/>
        </p:nvSpPr>
        <p:spPr>
          <a:xfrm>
            <a:off x="6217920" y="3703320"/>
            <a:ext cx="90000" cy="10501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9" name="Text 17"/>
          <p:cNvSpPr/>
          <p:nvPr/>
        </p:nvSpPr>
        <p:spPr>
          <a:xfrm>
            <a:off x="6446520" y="3840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la partie front-end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0" name="Text 18"/>
          <p:cNvSpPr/>
          <p:nvPr/>
        </p:nvSpPr>
        <p:spPr>
          <a:xfrm>
            <a:off x="6446520" y="4160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 Router, Server Components, hooks personnalisés (use-real-time-chat…)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1" name="Shape 19"/>
          <p:cNvSpPr/>
          <p:nvPr/>
        </p:nvSpPr>
        <p:spPr>
          <a:xfrm>
            <a:off x="548640" y="4846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12" name="Shape 20"/>
          <p:cNvSpPr/>
          <p:nvPr/>
        </p:nvSpPr>
        <p:spPr>
          <a:xfrm>
            <a:off x="548640" y="4846320"/>
            <a:ext cx="90000" cy="10501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13" name="Text 21"/>
          <p:cNvSpPr/>
          <p:nvPr/>
        </p:nvSpPr>
        <p:spPr>
          <a:xfrm>
            <a:off x="777240" y="4983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la partie back-end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4" name="Text 22"/>
          <p:cNvSpPr/>
          <p:nvPr/>
        </p:nvSpPr>
        <p:spPr>
          <a:xfrm>
            <a:off x="777240" y="5303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Route Handlers REST + SSE, Server Actions, validation Zod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5" name="Shape 23"/>
          <p:cNvSpPr/>
          <p:nvPr/>
        </p:nvSpPr>
        <p:spPr>
          <a:xfrm>
            <a:off x="6217920" y="4846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16" name="Shape 24"/>
          <p:cNvSpPr/>
          <p:nvPr/>
        </p:nvSpPr>
        <p:spPr>
          <a:xfrm>
            <a:off x="6217920" y="4846320"/>
            <a:ext cx="90000" cy="10501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17" name="Text 25"/>
          <p:cNvSpPr/>
          <p:nvPr/>
        </p:nvSpPr>
        <p:spPr>
          <a:xfrm>
            <a:off x="6446520" y="4983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Temps réel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8" name="Text 26"/>
          <p:cNvSpPr/>
          <p:nvPr/>
        </p:nvSpPr>
        <p:spPr>
          <a:xfrm>
            <a:off x="6446520" y="5303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Server-Sent Events + Upstash Redis (compatible serverless Vercel)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9" name="Text 27"/>
          <p:cNvSpPr/>
          <p:nvPr/>
        </p:nvSpPr>
        <p:spPr>
          <a:xfrm>
            <a:off x="548640" y="598932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0" name="Shape 28"/>
          <p:cNvSpPr/>
          <p:nvPr/>
        </p:nvSpPr>
        <p:spPr>
          <a:xfrm>
            <a:off x="2743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21" name="Text 29"/>
          <p:cNvSpPr/>
          <p:nvPr/>
        </p:nvSpPr>
        <p:spPr>
          <a:xfrm>
            <a:off x="2743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20+ endpoints API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2" name="Shape 30"/>
          <p:cNvSpPr/>
          <p:nvPr/>
        </p:nvSpPr>
        <p:spPr>
          <a:xfrm>
            <a:off x="5029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23" name="Text 31"/>
          <p:cNvSpPr/>
          <p:nvPr/>
        </p:nvSpPr>
        <p:spPr>
          <a:xfrm>
            <a:off x="5029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Architecture 4 couches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4" name="Shape 32"/>
          <p:cNvSpPr/>
          <p:nvPr/>
        </p:nvSpPr>
        <p:spPr>
          <a:xfrm>
            <a:off x="7315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25" name="Text 33"/>
          <p:cNvSpPr/>
          <p:nvPr/>
        </p:nvSpPr>
        <p:spPr>
          <a:xfrm>
            <a:off x="7315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Push SSE temps réel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6" name="Shape 34"/>
          <p:cNvSpPr/>
          <p:nvPr/>
        </p:nvSpPr>
        <p:spPr>
          <a:xfrm>
            <a:off x="9601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27" name="Text 35"/>
          <p:cNvSpPr/>
          <p:nvPr/>
        </p:nvSpPr>
        <p:spPr>
          <a:xfrm>
            <a:off x="9601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Server Actions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2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29" name="Text 3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0" name="Text 3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50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Préparer le déploiement d'une application sécurisée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34" name="Shape 3"/>
          <p:cNvSpPr/>
          <p:nvPr/>
        </p:nvSpPr>
        <p:spPr>
          <a:xfrm>
            <a:off x="548640" y="1691640"/>
            <a:ext cx="3656160" cy="1553040"/>
          </a:xfrm>
          <a:prstGeom prst="roundRect">
            <a:avLst>
              <a:gd name="adj" fmla="val 7059"/>
            </a:avLst>
          </a:prstGeom>
          <a:solidFill>
            <a:srgbClr val="10B981">
              <a:alpha val="35000"/>
            </a:srgbClr>
          </a:solidFill>
          <a:ln w="254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35" name="Text 4"/>
          <p:cNvSpPr/>
          <p:nvPr/>
        </p:nvSpPr>
        <p:spPr>
          <a:xfrm>
            <a:off x="548640" y="1691640"/>
            <a:ext cx="365616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BC03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6" name="Text 5"/>
          <p:cNvSpPr/>
          <p:nvPr/>
        </p:nvSpPr>
        <p:spPr>
          <a:xfrm>
            <a:off x="548640" y="2606040"/>
            <a:ext cx="3656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7" name="Text 6"/>
          <p:cNvSpPr/>
          <p:nvPr/>
        </p:nvSpPr>
        <p:spPr>
          <a:xfrm>
            <a:off x="548640" y="288036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8" name="Shape 7"/>
          <p:cNvSpPr/>
          <p:nvPr/>
        </p:nvSpPr>
        <p:spPr>
          <a:xfrm>
            <a:off x="4389120" y="1691640"/>
            <a:ext cx="7222320" cy="155304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39" name="Text 8"/>
          <p:cNvSpPr/>
          <p:nvPr/>
        </p:nvSpPr>
        <p:spPr>
          <a:xfrm>
            <a:off x="4572000" y="1783080"/>
            <a:ext cx="6856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0" name="Text 9"/>
          <p:cNvSpPr/>
          <p:nvPr/>
        </p:nvSpPr>
        <p:spPr>
          <a:xfrm>
            <a:off x="4572000" y="2103120"/>
            <a:ext cx="685656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Mettre en place une chaîne CI/CD complète, conteneuriser et déployer en environnement de production sécurisé.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1" name="Text 10"/>
          <p:cNvSpPr/>
          <p:nvPr/>
        </p:nvSpPr>
        <p:spPr>
          <a:xfrm>
            <a:off x="548640" y="3383280"/>
            <a:ext cx="10971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2" name="Shape 11"/>
          <p:cNvSpPr/>
          <p:nvPr/>
        </p:nvSpPr>
        <p:spPr>
          <a:xfrm>
            <a:off x="548640" y="3703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3" name="Shape 12"/>
          <p:cNvSpPr/>
          <p:nvPr/>
        </p:nvSpPr>
        <p:spPr>
          <a:xfrm>
            <a:off x="548640" y="3703320"/>
            <a:ext cx="90000" cy="105012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4" name="Text 13"/>
          <p:cNvSpPr/>
          <p:nvPr/>
        </p:nvSpPr>
        <p:spPr>
          <a:xfrm>
            <a:off x="777240" y="3840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Préparer et documenter le déploiement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5" name="Text 14"/>
          <p:cNvSpPr/>
          <p:nvPr/>
        </p:nvSpPr>
        <p:spPr>
          <a:xfrm>
            <a:off x="777240" y="4160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Dockerfile multi-stage, docker-compose, variables d'env documentées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6" name="Shape 15"/>
          <p:cNvSpPr/>
          <p:nvPr/>
        </p:nvSpPr>
        <p:spPr>
          <a:xfrm>
            <a:off x="6217920" y="3703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7" name="Shape 16"/>
          <p:cNvSpPr/>
          <p:nvPr/>
        </p:nvSpPr>
        <p:spPr>
          <a:xfrm>
            <a:off x="6217920" y="3703320"/>
            <a:ext cx="90000" cy="105012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8" name="Text 17"/>
          <p:cNvSpPr/>
          <p:nvPr/>
        </p:nvSpPr>
        <p:spPr>
          <a:xfrm>
            <a:off x="6446520" y="3840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Contribuer à la mise en production DevOps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9" name="Text 18"/>
          <p:cNvSpPr/>
          <p:nvPr/>
        </p:nvSpPr>
        <p:spPr>
          <a:xfrm>
            <a:off x="6446520" y="4160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GitHub Actions : lint + test + build + deploy, secrets cloisonnés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0" name="Shape 19"/>
          <p:cNvSpPr/>
          <p:nvPr/>
        </p:nvSpPr>
        <p:spPr>
          <a:xfrm>
            <a:off x="548640" y="4846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1" name="Shape 20"/>
          <p:cNvSpPr/>
          <p:nvPr/>
        </p:nvSpPr>
        <p:spPr>
          <a:xfrm>
            <a:off x="548640" y="4846320"/>
            <a:ext cx="90000" cy="105012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2" name="Text 21"/>
          <p:cNvSpPr/>
          <p:nvPr/>
        </p:nvSpPr>
        <p:spPr>
          <a:xfrm>
            <a:off x="777240" y="4983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Industrialiser la livraison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3" name="Text 22"/>
          <p:cNvSpPr/>
          <p:nvPr/>
        </p:nvSpPr>
        <p:spPr>
          <a:xfrm>
            <a:off x="777240" y="5303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Vercel (preview par PR + prod), Neon branching pour BDD isolée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4" name="Shape 23"/>
          <p:cNvSpPr/>
          <p:nvPr/>
        </p:nvSpPr>
        <p:spPr>
          <a:xfrm>
            <a:off x="6217920" y="4846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5" name="Shape 24"/>
          <p:cNvSpPr/>
          <p:nvPr/>
        </p:nvSpPr>
        <p:spPr>
          <a:xfrm>
            <a:off x="6217920" y="4846320"/>
            <a:ext cx="90000" cy="105012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6" name="Text 25"/>
          <p:cNvSpPr/>
          <p:nvPr/>
        </p:nvSpPr>
        <p:spPr>
          <a:xfrm>
            <a:off x="6446520" y="4983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Garantir l'exploitabilité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7" name="Text 26"/>
          <p:cNvSpPr/>
          <p:nvPr/>
        </p:nvSpPr>
        <p:spPr>
          <a:xfrm>
            <a:off x="6446520" y="5303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Healthcheck, rollback Vercel one-click, logs structurés, monitoring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8" name="Text 27"/>
          <p:cNvSpPr/>
          <p:nvPr/>
        </p:nvSpPr>
        <p:spPr>
          <a:xfrm>
            <a:off x="548640" y="598932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9" name="Shape 28"/>
          <p:cNvSpPr/>
          <p:nvPr/>
        </p:nvSpPr>
        <p:spPr>
          <a:xfrm>
            <a:off x="2743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0" name="Text 29"/>
          <p:cNvSpPr/>
          <p:nvPr/>
        </p:nvSpPr>
        <p:spPr>
          <a:xfrm>
            <a:off x="2743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Docker multi-stage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1" name="Shape 30"/>
          <p:cNvSpPr/>
          <p:nvPr/>
        </p:nvSpPr>
        <p:spPr>
          <a:xfrm>
            <a:off x="5029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2" name="Text 31"/>
          <p:cNvSpPr/>
          <p:nvPr/>
        </p:nvSpPr>
        <p:spPr>
          <a:xfrm>
            <a:off x="5029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CI/CD GitHub Actions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3" name="Shape 32"/>
          <p:cNvSpPr/>
          <p:nvPr/>
        </p:nvSpPr>
        <p:spPr>
          <a:xfrm>
            <a:off x="7315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4" name="Text 33"/>
          <p:cNvSpPr/>
          <p:nvPr/>
        </p:nvSpPr>
        <p:spPr>
          <a:xfrm>
            <a:off x="7315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Vercel + Neon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5" name="Shape 34"/>
          <p:cNvSpPr/>
          <p:nvPr/>
        </p:nvSpPr>
        <p:spPr>
          <a:xfrm>
            <a:off x="9601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6" name="Text 35"/>
          <p:cNvSpPr/>
          <p:nvPr/>
        </p:nvSpPr>
        <p:spPr>
          <a:xfrm>
            <a:off x="9601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Rollback + monitoring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6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68" name="Text 3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9" name="Text 3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51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0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1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Difficultés rencontrées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2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3" name="Shape 3"/>
          <p:cNvSpPr/>
          <p:nvPr/>
        </p:nvSpPr>
        <p:spPr>
          <a:xfrm>
            <a:off x="548640" y="1691640"/>
            <a:ext cx="5530680" cy="219312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4" name="Shape 4"/>
          <p:cNvSpPr/>
          <p:nvPr/>
        </p:nvSpPr>
        <p:spPr>
          <a:xfrm>
            <a:off x="777240" y="1920240"/>
            <a:ext cx="867240" cy="86724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5" name="Text 5"/>
          <p:cNvSpPr/>
          <p:nvPr/>
        </p:nvSpPr>
        <p:spPr>
          <a:xfrm>
            <a:off x="777240" y="1920240"/>
            <a:ext cx="86724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↻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6" name="Text 6"/>
          <p:cNvSpPr/>
          <p:nvPr/>
        </p:nvSpPr>
        <p:spPr>
          <a:xfrm>
            <a:off x="1783080" y="1965960"/>
            <a:ext cx="42048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Temps réel sans WebSocket persistant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7" name="Text 7"/>
          <p:cNvSpPr/>
          <p:nvPr/>
        </p:nvSpPr>
        <p:spPr>
          <a:xfrm>
            <a:off x="777240" y="2880360"/>
            <a:ext cx="516492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Vercel serverless + Upstash Redis REST = pas de pub/sub TCP. J'ai construit un mécanisme SSE + polling Redis qui reste compatible serverless tout en garantissant l'ordre d'arrivée et la persistance Prisma avant push.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8" name="Shape 8"/>
          <p:cNvSpPr/>
          <p:nvPr/>
        </p:nvSpPr>
        <p:spPr>
          <a:xfrm>
            <a:off x="6217920" y="1691640"/>
            <a:ext cx="5530680" cy="219312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9" name="Shape 9"/>
          <p:cNvSpPr/>
          <p:nvPr/>
        </p:nvSpPr>
        <p:spPr>
          <a:xfrm>
            <a:off x="6446520" y="1920240"/>
            <a:ext cx="867240" cy="86724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80" name="Text 10"/>
          <p:cNvSpPr/>
          <p:nvPr/>
        </p:nvSpPr>
        <p:spPr>
          <a:xfrm>
            <a:off x="6446520" y="1920240"/>
            <a:ext cx="86724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1" name="Text 11"/>
          <p:cNvSpPr/>
          <p:nvPr/>
        </p:nvSpPr>
        <p:spPr>
          <a:xfrm>
            <a:off x="7452360" y="1965960"/>
            <a:ext cx="42048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Modélisation Prisma de bout en bout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2" name="Text 12"/>
          <p:cNvSpPr/>
          <p:nvPr/>
        </p:nvSpPr>
        <p:spPr>
          <a:xfrm>
            <a:off x="6446520" y="2880360"/>
            <a:ext cx="516492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18 modèles avec des contraintes d'unicité, des cascades à choisir avec soin et des enums métier. J'ai itéré sur le MCD plusieurs fois avant d'arriver à un schéma équilibré.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3" name="Shape 13"/>
          <p:cNvSpPr/>
          <p:nvPr/>
        </p:nvSpPr>
        <p:spPr>
          <a:xfrm>
            <a:off x="548640" y="4023360"/>
            <a:ext cx="5530680" cy="219312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84" name="Shape 14"/>
          <p:cNvSpPr/>
          <p:nvPr/>
        </p:nvSpPr>
        <p:spPr>
          <a:xfrm>
            <a:off x="777240" y="4251960"/>
            <a:ext cx="867240" cy="86724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85" name="Text 15"/>
          <p:cNvSpPr/>
          <p:nvPr/>
        </p:nvSpPr>
        <p:spPr>
          <a:xfrm>
            <a:off x="777240" y="4251960"/>
            <a:ext cx="86724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6" name="Text 16"/>
          <p:cNvSpPr/>
          <p:nvPr/>
        </p:nvSpPr>
        <p:spPr>
          <a:xfrm>
            <a:off x="1783080" y="4297680"/>
            <a:ext cx="42048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Auth custom sans NextAuth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7" name="Text 17"/>
          <p:cNvSpPr/>
          <p:nvPr/>
        </p:nvSpPr>
        <p:spPr>
          <a:xfrm>
            <a:off x="777240" y="5212080"/>
            <a:ext cx="516492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Choix assumé pour comprendre le fonctionnement du JWT. Il a fallu gérer le middleware, le state OAuth, l'injection de headers et l'éventuelle révocation — toujours en roadmap.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8" name="Shape 18"/>
          <p:cNvSpPr/>
          <p:nvPr/>
        </p:nvSpPr>
        <p:spPr>
          <a:xfrm>
            <a:off x="6217920" y="4023360"/>
            <a:ext cx="5530680" cy="219312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89" name="Shape 19"/>
          <p:cNvSpPr/>
          <p:nvPr/>
        </p:nvSpPr>
        <p:spPr>
          <a:xfrm>
            <a:off x="6446520" y="4251960"/>
            <a:ext cx="867240" cy="86724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90" name="Text 20"/>
          <p:cNvSpPr/>
          <p:nvPr/>
        </p:nvSpPr>
        <p:spPr>
          <a:xfrm>
            <a:off x="6446520" y="4251960"/>
            <a:ext cx="86724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1" name="Text 21"/>
          <p:cNvSpPr/>
          <p:nvPr/>
        </p:nvSpPr>
        <p:spPr>
          <a:xfrm>
            <a:off x="7452360" y="4297680"/>
            <a:ext cx="42048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Documentation jury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2" name="Text 22"/>
          <p:cNvSpPr/>
          <p:nvPr/>
        </p:nvSpPr>
        <p:spPr>
          <a:xfrm>
            <a:off x="6446520" y="5212080"/>
            <a:ext cx="516492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Structurer le dossier de certification pour qu'il reste lisible par un jury non technique tout en étant suffisamment précis pour la partie technique. Beaucoup d'allers-retours sur la table des matières.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9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94" name="Text 23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5" name="Text 24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52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6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7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Ce que j'ai appris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8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99" name="Shape 3"/>
          <p:cNvSpPr/>
          <p:nvPr/>
        </p:nvSpPr>
        <p:spPr>
          <a:xfrm>
            <a:off x="548640" y="1691640"/>
            <a:ext cx="5530680" cy="457056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0" name="Text 4"/>
          <p:cNvSpPr/>
          <p:nvPr/>
        </p:nvSpPr>
        <p:spPr>
          <a:xfrm>
            <a:off x="731520" y="1783080"/>
            <a:ext cx="5027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techniques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1" name="Shape 5"/>
          <p:cNvSpPr/>
          <p:nvPr/>
        </p:nvSpPr>
        <p:spPr>
          <a:xfrm>
            <a:off x="777240" y="23500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2" name="Text 6"/>
          <p:cNvSpPr/>
          <p:nvPr/>
        </p:nvSpPr>
        <p:spPr>
          <a:xfrm>
            <a:off x="1005840" y="22402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TypeScript strict, génériques, schémas Zod partagés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3" name="Shape 7"/>
          <p:cNvSpPr/>
          <p:nvPr/>
        </p:nvSpPr>
        <p:spPr>
          <a:xfrm>
            <a:off x="777240" y="28072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4" name="Text 8"/>
          <p:cNvSpPr/>
          <p:nvPr/>
        </p:nvSpPr>
        <p:spPr>
          <a:xfrm>
            <a:off x="1005840" y="26974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15 — App Router, Server Components,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5" name="Shape 9"/>
          <p:cNvSpPr/>
          <p:nvPr/>
        </p:nvSpPr>
        <p:spPr>
          <a:xfrm>
            <a:off x="777240" y="32644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6" name="Text 10"/>
          <p:cNvSpPr/>
          <p:nvPr/>
        </p:nvSpPr>
        <p:spPr>
          <a:xfrm>
            <a:off x="1005840" y="31546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— modélisation, migrations, requêtes complexes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7" name="Shape 11"/>
          <p:cNvSpPr/>
          <p:nvPr/>
        </p:nvSpPr>
        <p:spPr>
          <a:xfrm>
            <a:off x="777240" y="37216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8" name="Text 12"/>
          <p:cNvSpPr/>
          <p:nvPr/>
        </p:nvSpPr>
        <p:spPr>
          <a:xfrm>
            <a:off x="1005840" y="36118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— relations riches, contraintes, indexation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9" name="Shape 13"/>
          <p:cNvSpPr/>
          <p:nvPr/>
        </p:nvSpPr>
        <p:spPr>
          <a:xfrm>
            <a:off x="777240" y="41788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0" name="Text 14"/>
          <p:cNvSpPr/>
          <p:nvPr/>
        </p:nvSpPr>
        <p:spPr>
          <a:xfrm>
            <a:off x="1005840" y="40690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Redis — cache + buffer SSE serverless-compatible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1" name="Shape 15"/>
          <p:cNvSpPr/>
          <p:nvPr/>
        </p:nvSpPr>
        <p:spPr>
          <a:xfrm>
            <a:off x="777240" y="46360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2" name="Text 16"/>
          <p:cNvSpPr/>
          <p:nvPr/>
        </p:nvSpPr>
        <p:spPr>
          <a:xfrm>
            <a:off x="1005840" y="45262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applicative — OWASP, RGPD, JWT, bcrypt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3" name="Shape 17"/>
          <p:cNvSpPr/>
          <p:nvPr/>
        </p:nvSpPr>
        <p:spPr>
          <a:xfrm>
            <a:off x="777240" y="50932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4" name="Text 18"/>
          <p:cNvSpPr/>
          <p:nvPr/>
        </p:nvSpPr>
        <p:spPr>
          <a:xfrm>
            <a:off x="1005840" y="49834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 — multi-stage, compose, healthcheck, secrets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5" name="Shape 19"/>
          <p:cNvSpPr/>
          <p:nvPr/>
        </p:nvSpPr>
        <p:spPr>
          <a:xfrm>
            <a:off x="777240" y="55504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6" name="Text 20"/>
          <p:cNvSpPr/>
          <p:nvPr/>
        </p:nvSpPr>
        <p:spPr>
          <a:xfrm>
            <a:off x="1005840" y="54406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CI/CD GitHub Actions — pipeline lint+test+build+deploy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7" name="Shape 21"/>
          <p:cNvSpPr/>
          <p:nvPr/>
        </p:nvSpPr>
        <p:spPr>
          <a:xfrm>
            <a:off x="6263640" y="1691640"/>
            <a:ext cx="5530680" cy="457056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8" name="Text 22"/>
          <p:cNvSpPr/>
          <p:nvPr/>
        </p:nvSpPr>
        <p:spPr>
          <a:xfrm>
            <a:off x="6446520" y="1783080"/>
            <a:ext cx="5027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0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Compétences transverses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9" name="Shape 23"/>
          <p:cNvSpPr/>
          <p:nvPr/>
        </p:nvSpPr>
        <p:spPr>
          <a:xfrm>
            <a:off x="6492240" y="23500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0" name="Text 24"/>
          <p:cNvSpPr/>
          <p:nvPr/>
        </p:nvSpPr>
        <p:spPr>
          <a:xfrm>
            <a:off x="6720840" y="22402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Découpe d'un gros projet en sprints + user stories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1" name="Shape 25"/>
          <p:cNvSpPr/>
          <p:nvPr/>
        </p:nvSpPr>
        <p:spPr>
          <a:xfrm>
            <a:off x="6492240" y="28072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2" name="Text 26"/>
          <p:cNvSpPr/>
          <p:nvPr/>
        </p:nvSpPr>
        <p:spPr>
          <a:xfrm>
            <a:off x="6720840" y="26974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Documentation technique adressée à des développeurs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3" name="Shape 27"/>
          <p:cNvSpPr/>
          <p:nvPr/>
        </p:nvSpPr>
        <p:spPr>
          <a:xfrm>
            <a:off x="6492240" y="32644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4" name="Text 28"/>
          <p:cNvSpPr/>
          <p:nvPr/>
        </p:nvSpPr>
        <p:spPr>
          <a:xfrm>
            <a:off x="6720840" y="31546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Lecture critique du code des coéquipiers (code review)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5" name="Shape 29"/>
          <p:cNvSpPr/>
          <p:nvPr/>
        </p:nvSpPr>
        <p:spPr>
          <a:xfrm>
            <a:off x="6492240" y="37216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6" name="Text 30"/>
          <p:cNvSpPr/>
          <p:nvPr/>
        </p:nvSpPr>
        <p:spPr>
          <a:xfrm>
            <a:off x="6720840" y="36118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Veille technique organisée et soutenable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7" name="Shape 31"/>
          <p:cNvSpPr/>
          <p:nvPr/>
        </p:nvSpPr>
        <p:spPr>
          <a:xfrm>
            <a:off x="6492240" y="41788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8" name="Text 32"/>
          <p:cNvSpPr/>
          <p:nvPr/>
        </p:nvSpPr>
        <p:spPr>
          <a:xfrm>
            <a:off x="6720840" y="40690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Estimation et priorisation pragmatique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9" name="Shape 33"/>
          <p:cNvSpPr/>
          <p:nvPr/>
        </p:nvSpPr>
        <p:spPr>
          <a:xfrm>
            <a:off x="6492240" y="46360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0" name="Text 34"/>
          <p:cNvSpPr/>
          <p:nvPr/>
        </p:nvSpPr>
        <p:spPr>
          <a:xfrm>
            <a:off x="6720840" y="45262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Justification de choix d'architecture face à un jury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1" name="Shape 35"/>
          <p:cNvSpPr/>
          <p:nvPr/>
        </p:nvSpPr>
        <p:spPr>
          <a:xfrm>
            <a:off x="6492240" y="50932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2" name="Text 36"/>
          <p:cNvSpPr/>
          <p:nvPr/>
        </p:nvSpPr>
        <p:spPr>
          <a:xfrm>
            <a:off x="6720840" y="49834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Communication métier ↔ technique (atout de reconversion)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3" name="Shape 37"/>
          <p:cNvSpPr/>
          <p:nvPr/>
        </p:nvSpPr>
        <p:spPr>
          <a:xfrm>
            <a:off x="6492240" y="55504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4" name="Text 38"/>
          <p:cNvSpPr/>
          <p:nvPr/>
        </p:nvSpPr>
        <p:spPr>
          <a:xfrm>
            <a:off x="6720840" y="54406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Endurance sur un projet long de plusieurs mois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35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36" name="Text 39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7" name="Text 40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53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8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9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Axes d'amélioration &amp; roadmap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0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1" name="Shape 3"/>
          <p:cNvSpPr/>
          <p:nvPr/>
        </p:nvSpPr>
        <p:spPr>
          <a:xfrm>
            <a:off x="480240" y="1691640"/>
            <a:ext cx="3701880" cy="457056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2" name="Shape 4"/>
          <p:cNvSpPr/>
          <p:nvPr/>
        </p:nvSpPr>
        <p:spPr>
          <a:xfrm>
            <a:off x="480240" y="1691640"/>
            <a:ext cx="3701880" cy="4557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3" name="Text 5"/>
          <p:cNvSpPr/>
          <p:nvPr/>
        </p:nvSpPr>
        <p:spPr>
          <a:xfrm>
            <a:off x="480240" y="1691640"/>
            <a:ext cx="37018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COURT TERME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4" name="Shape 6"/>
          <p:cNvSpPr/>
          <p:nvPr/>
        </p:nvSpPr>
        <p:spPr>
          <a:xfrm>
            <a:off x="708840" y="24688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5" name="Text 7"/>
          <p:cNvSpPr/>
          <p:nvPr/>
        </p:nvSpPr>
        <p:spPr>
          <a:xfrm>
            <a:off x="983160" y="237744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Sanitization markdown (DOMPurify) — XSS résiduelle ChatMessage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6" name="Shape 8"/>
          <p:cNvSpPr/>
          <p:nvPr/>
        </p:nvSpPr>
        <p:spPr>
          <a:xfrm>
            <a:off x="708840" y="342900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7" name="Text 9"/>
          <p:cNvSpPr/>
          <p:nvPr/>
        </p:nvSpPr>
        <p:spPr>
          <a:xfrm>
            <a:off x="983160" y="333756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Rate limit /login, /register, /chat/send via @upstash/ratelimit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8" name="Shape 10"/>
          <p:cNvSpPr/>
          <p:nvPr/>
        </p:nvSpPr>
        <p:spPr>
          <a:xfrm>
            <a:off x="708840" y="438912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9" name="Text 11"/>
          <p:cNvSpPr/>
          <p:nvPr/>
        </p:nvSpPr>
        <p:spPr>
          <a:xfrm>
            <a:off x="983160" y="429768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Headers HTTP de sécurité (CSP, X-Frame, Referrer)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0" name="Shape 12"/>
          <p:cNvSpPr/>
          <p:nvPr/>
        </p:nvSpPr>
        <p:spPr>
          <a:xfrm>
            <a:off x="708840" y="534924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1" name="Text 13"/>
          <p:cNvSpPr/>
          <p:nvPr/>
        </p:nvSpPr>
        <p:spPr>
          <a:xfrm>
            <a:off x="983160" y="525780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Sentry + alertes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2" name="Shape 14"/>
          <p:cNvSpPr/>
          <p:nvPr/>
        </p:nvSpPr>
        <p:spPr>
          <a:xfrm>
            <a:off x="4229280" y="1691640"/>
            <a:ext cx="3701880" cy="457056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3" name="Shape 15"/>
          <p:cNvSpPr/>
          <p:nvPr/>
        </p:nvSpPr>
        <p:spPr>
          <a:xfrm>
            <a:off x="4229280" y="1691640"/>
            <a:ext cx="3701880" cy="45576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4" name="Text 16"/>
          <p:cNvSpPr/>
          <p:nvPr/>
        </p:nvSpPr>
        <p:spPr>
          <a:xfrm>
            <a:off x="4229280" y="1691640"/>
            <a:ext cx="37018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MOYEN TERME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5" name="Shape 17"/>
          <p:cNvSpPr/>
          <p:nvPr/>
        </p:nvSpPr>
        <p:spPr>
          <a:xfrm>
            <a:off x="4457880" y="2468880"/>
            <a:ext cx="144720" cy="14472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6" name="Text 18"/>
          <p:cNvSpPr/>
          <p:nvPr/>
        </p:nvSpPr>
        <p:spPr>
          <a:xfrm>
            <a:off x="4732200" y="237744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E2E Playwright sur les parcours critiques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7" name="Shape 19"/>
          <p:cNvSpPr/>
          <p:nvPr/>
        </p:nvSpPr>
        <p:spPr>
          <a:xfrm>
            <a:off x="4457880" y="3429000"/>
            <a:ext cx="144720" cy="14472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8" name="Text 20"/>
          <p:cNvSpPr/>
          <p:nvPr/>
        </p:nvSpPr>
        <p:spPr>
          <a:xfrm>
            <a:off x="4732200" y="333756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Droit RGPD : suppression compte + export JSON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9" name="Shape 21"/>
          <p:cNvSpPr/>
          <p:nvPr/>
        </p:nvSpPr>
        <p:spPr>
          <a:xfrm>
            <a:off x="4457880" y="4389120"/>
            <a:ext cx="144720" cy="14472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0" name="Text 22"/>
          <p:cNvSpPr/>
          <p:nvPr/>
        </p:nvSpPr>
        <p:spPr>
          <a:xfrm>
            <a:off x="4732200" y="429768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Notifications push natives (Web Push)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1" name="Shape 23"/>
          <p:cNvSpPr/>
          <p:nvPr/>
        </p:nvSpPr>
        <p:spPr>
          <a:xfrm>
            <a:off x="4457880" y="5349240"/>
            <a:ext cx="144720" cy="14472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2" name="Text 24"/>
          <p:cNvSpPr/>
          <p:nvPr/>
        </p:nvSpPr>
        <p:spPr>
          <a:xfrm>
            <a:off x="4732200" y="525780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Modération &amp; signalement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3" name="Shape 25"/>
          <p:cNvSpPr/>
          <p:nvPr/>
        </p:nvSpPr>
        <p:spPr>
          <a:xfrm>
            <a:off x="7978320" y="1691640"/>
            <a:ext cx="3701880" cy="457056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4" name="Shape 26"/>
          <p:cNvSpPr/>
          <p:nvPr/>
        </p:nvSpPr>
        <p:spPr>
          <a:xfrm>
            <a:off x="7978320" y="1691640"/>
            <a:ext cx="3701880" cy="45576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5" name="Text 27"/>
          <p:cNvSpPr/>
          <p:nvPr/>
        </p:nvSpPr>
        <p:spPr>
          <a:xfrm>
            <a:off x="7978320" y="1691640"/>
            <a:ext cx="37018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LONG TERME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6" name="Shape 28"/>
          <p:cNvSpPr/>
          <p:nvPr/>
        </p:nvSpPr>
        <p:spPr>
          <a:xfrm>
            <a:off x="8206920" y="2468880"/>
            <a:ext cx="144720" cy="14472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7" name="Text 29"/>
          <p:cNvSpPr/>
          <p:nvPr/>
        </p:nvSpPr>
        <p:spPr>
          <a:xfrm>
            <a:off x="8481240" y="237744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Décomposer en services (chat → ws dédié)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8" name="Shape 30"/>
          <p:cNvSpPr/>
          <p:nvPr/>
        </p:nvSpPr>
        <p:spPr>
          <a:xfrm>
            <a:off x="8206920" y="3429000"/>
            <a:ext cx="144720" cy="14472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9" name="Text 31"/>
          <p:cNvSpPr/>
          <p:nvPr/>
        </p:nvSpPr>
        <p:spPr>
          <a:xfrm>
            <a:off x="8481240" y="333756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Recommandations contenu personnalisées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0" name="Shape 32"/>
          <p:cNvSpPr/>
          <p:nvPr/>
        </p:nvSpPr>
        <p:spPr>
          <a:xfrm>
            <a:off x="8206920" y="4389120"/>
            <a:ext cx="144720" cy="14472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1" name="Text 33"/>
          <p:cNvSpPr/>
          <p:nvPr/>
        </p:nvSpPr>
        <p:spPr>
          <a:xfrm>
            <a:off x="8481240" y="429768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App mobile dédiée (React Native ?)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2" name="Shape 34"/>
          <p:cNvSpPr/>
          <p:nvPr/>
        </p:nvSpPr>
        <p:spPr>
          <a:xfrm>
            <a:off x="8206920" y="5349240"/>
            <a:ext cx="144720" cy="14472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3" name="Text 35"/>
          <p:cNvSpPr/>
          <p:nvPr/>
        </p:nvSpPr>
        <p:spPr>
          <a:xfrm>
            <a:off x="8481240" y="525780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Métriques produit + analytics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7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75" name="Text 3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6" name="Text 3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54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7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8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Conclusion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9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0" name="Shape 3"/>
          <p:cNvSpPr/>
          <p:nvPr/>
        </p:nvSpPr>
        <p:spPr>
          <a:xfrm>
            <a:off x="548640" y="1828800"/>
            <a:ext cx="90000" cy="16444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1" name="Text 4"/>
          <p:cNvSpPr/>
          <p:nvPr/>
        </p:nvSpPr>
        <p:spPr>
          <a:xfrm>
            <a:off x="822960" y="1783080"/>
            <a:ext cx="1078848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Konekt m'a permis de mettre en pratique l'ensemble du cycle de développement d'une application moderne — de la modélisation à la mise en production — tout en faisant des choix techniques justifiés et documentés.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2" name="Text 5"/>
          <p:cNvSpPr/>
          <p:nvPr/>
        </p:nvSpPr>
        <p:spPr>
          <a:xfrm>
            <a:off x="822960" y="2697480"/>
            <a:ext cx="1078848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Au-delà de la certification, ce projet matérialise ma transition concrète vers le métier de Concepteur Développeur d'Applications.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3" name="Shape 6"/>
          <p:cNvSpPr/>
          <p:nvPr/>
        </p:nvSpPr>
        <p:spPr>
          <a:xfrm>
            <a:off x="548640" y="3657600"/>
            <a:ext cx="2696040" cy="182736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4" name="Shape 7"/>
          <p:cNvSpPr/>
          <p:nvPr/>
        </p:nvSpPr>
        <p:spPr>
          <a:xfrm>
            <a:off x="1600200" y="3886200"/>
            <a:ext cx="592920" cy="59292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5" name="Text 8"/>
          <p:cNvSpPr/>
          <p:nvPr/>
        </p:nvSpPr>
        <p:spPr>
          <a:xfrm>
            <a:off x="1600200" y="3886200"/>
            <a:ext cx="592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6" name="Text 9"/>
          <p:cNvSpPr/>
          <p:nvPr/>
        </p:nvSpPr>
        <p:spPr>
          <a:xfrm>
            <a:off x="640080" y="4572000"/>
            <a:ext cx="2513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Cycle complet maîtrisé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7" name="Text 10"/>
          <p:cNvSpPr/>
          <p:nvPr/>
        </p:nvSpPr>
        <p:spPr>
          <a:xfrm>
            <a:off x="640080" y="4937760"/>
            <a:ext cx="25131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 la conception à la 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8" name="Shape 11"/>
          <p:cNvSpPr/>
          <p:nvPr/>
        </p:nvSpPr>
        <p:spPr>
          <a:xfrm>
            <a:off x="3383280" y="3657600"/>
            <a:ext cx="2696040" cy="182736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9" name="Shape 12"/>
          <p:cNvSpPr/>
          <p:nvPr/>
        </p:nvSpPr>
        <p:spPr>
          <a:xfrm>
            <a:off x="4434840" y="3886200"/>
            <a:ext cx="592920" cy="59292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0" name="Text 13"/>
          <p:cNvSpPr/>
          <p:nvPr/>
        </p:nvSpPr>
        <p:spPr>
          <a:xfrm>
            <a:off x="4434840" y="3886200"/>
            <a:ext cx="592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1" name="Text 14"/>
          <p:cNvSpPr/>
          <p:nvPr/>
        </p:nvSpPr>
        <p:spPr>
          <a:xfrm>
            <a:off x="3474720" y="4572000"/>
            <a:ext cx="2513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&amp; RGPD pris au sérieux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2" name="Text 15"/>
          <p:cNvSpPr/>
          <p:nvPr/>
        </p:nvSpPr>
        <p:spPr>
          <a:xfrm>
            <a:off x="3474720" y="4937760"/>
            <a:ext cx="25131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Audit + roadmap durcissement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3" name="Shape 16"/>
          <p:cNvSpPr/>
          <p:nvPr/>
        </p:nvSpPr>
        <p:spPr>
          <a:xfrm>
            <a:off x="6217920" y="3657600"/>
            <a:ext cx="2696040" cy="182736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4" name="Shape 17"/>
          <p:cNvSpPr/>
          <p:nvPr/>
        </p:nvSpPr>
        <p:spPr>
          <a:xfrm>
            <a:off x="7269480" y="3886200"/>
            <a:ext cx="592920" cy="59292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5" name="Text 18"/>
          <p:cNvSpPr/>
          <p:nvPr/>
        </p:nvSpPr>
        <p:spPr>
          <a:xfrm>
            <a:off x="7269480" y="3886200"/>
            <a:ext cx="592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6" name="Text 19"/>
          <p:cNvSpPr/>
          <p:nvPr/>
        </p:nvSpPr>
        <p:spPr>
          <a:xfrm>
            <a:off x="6309360" y="4572000"/>
            <a:ext cx="2513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Choix techniques justifiés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7" name="Text 20"/>
          <p:cNvSpPr/>
          <p:nvPr/>
        </p:nvSpPr>
        <p:spPr>
          <a:xfrm>
            <a:off x="6309360" y="4937760"/>
            <a:ext cx="25131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Trade-offs assumés et documentés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8" name="Shape 21"/>
          <p:cNvSpPr/>
          <p:nvPr/>
        </p:nvSpPr>
        <p:spPr>
          <a:xfrm>
            <a:off x="9052560" y="3657600"/>
            <a:ext cx="2696040" cy="182736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9" name="Shape 22"/>
          <p:cNvSpPr/>
          <p:nvPr/>
        </p:nvSpPr>
        <p:spPr>
          <a:xfrm>
            <a:off x="10104120" y="3886200"/>
            <a:ext cx="592920" cy="59292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0" name="Text 23"/>
          <p:cNvSpPr/>
          <p:nvPr/>
        </p:nvSpPr>
        <p:spPr>
          <a:xfrm>
            <a:off x="10104120" y="3886200"/>
            <a:ext cx="592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◎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1" name="Text 24"/>
          <p:cNvSpPr/>
          <p:nvPr/>
        </p:nvSpPr>
        <p:spPr>
          <a:xfrm>
            <a:off x="9144000" y="4572000"/>
            <a:ext cx="2513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Recul critique acquis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2" name="Text 25"/>
          <p:cNvSpPr/>
          <p:nvPr/>
        </p:nvSpPr>
        <p:spPr>
          <a:xfrm>
            <a:off x="9144000" y="4937760"/>
            <a:ext cx="25131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Limites identifiées, plan d'évolution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3" name="Text 26"/>
          <p:cNvSpPr/>
          <p:nvPr/>
        </p:nvSpPr>
        <p:spPr>
          <a:xfrm>
            <a:off x="548640" y="5852160"/>
            <a:ext cx="110628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i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Disponible pour une alternance · 12 mois · Normandie / télétravail · CDA RNCP 37873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0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05" name="Text 27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6" name="Text 28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55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7" name="Shape 0"/>
          <p:cNvSpPr/>
          <p:nvPr/>
        </p:nvSpPr>
        <p:spPr>
          <a:xfrm>
            <a:off x="-2743200" y="3200400"/>
            <a:ext cx="7313760" cy="7313760"/>
          </a:xfrm>
          <a:prstGeom prst="ellipse">
            <a:avLst/>
          </a:prstGeom>
          <a:solidFill>
            <a:srgbClr val="EC4899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8" name="Shape 1"/>
          <p:cNvSpPr/>
          <p:nvPr/>
        </p:nvSpPr>
        <p:spPr>
          <a:xfrm>
            <a:off x="7589520" y="-2743200"/>
            <a:ext cx="7313760" cy="7313760"/>
          </a:xfrm>
          <a:prstGeom prst="ellipse">
            <a:avLst/>
          </a:prstGeom>
          <a:solidFill>
            <a:srgbClr val="8B5CF6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9" name="Text 2"/>
          <p:cNvSpPr/>
          <p:nvPr/>
        </p:nvSpPr>
        <p:spPr>
          <a:xfrm>
            <a:off x="457200" y="3108960"/>
            <a:ext cx="1124568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Merci pour votre attention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0" name="Text 3"/>
          <p:cNvSpPr/>
          <p:nvPr/>
        </p:nvSpPr>
        <p:spPr>
          <a:xfrm>
            <a:off x="474120" y="4343400"/>
            <a:ext cx="112456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Place aux questions</a:t>
            </a:r>
            <a:br>
              <a:rPr sz="2200"/>
            </a:br>
            <a:br>
              <a:rPr sz="2200"/>
            </a:br>
            <a:r>
              <a:rPr lang="en-US" sz="22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^^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1" name="Text 8"/>
          <p:cNvSpPr/>
          <p:nvPr/>
        </p:nvSpPr>
        <p:spPr>
          <a:xfrm>
            <a:off x="3657600" y="5212080"/>
            <a:ext cx="3643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2" name="Text 16"/>
          <p:cNvSpPr/>
          <p:nvPr/>
        </p:nvSpPr>
        <p:spPr>
          <a:xfrm>
            <a:off x="457200" y="6172200"/>
            <a:ext cx="112456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RNCP 37873 — Concepteur Développeur d'Applications · Zone01 Rouen Normandie · 2026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13" name=""/>
          <p:cNvPicPr/>
          <p:nvPr/>
        </p:nvPicPr>
        <p:blipFill>
          <a:blip r:embed="rId1"/>
          <a:stretch/>
        </p:blipFill>
        <p:spPr>
          <a:xfrm>
            <a:off x="9601200" y="5029200"/>
            <a:ext cx="3428280" cy="1955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14" name=""/>
          <p:cNvPicPr/>
          <p:nvPr/>
        </p:nvPicPr>
        <p:blipFill>
          <a:blip r:embed="rId2"/>
          <a:stretch/>
        </p:blipFill>
        <p:spPr>
          <a:xfrm>
            <a:off x="448200" y="-685800"/>
            <a:ext cx="5494680" cy="4123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</TotalTime>
  <Application>LibreOffice/26.2.3.2$Linux_X86_64 LibreOffice_project/d4d5ed47b6084125f28d269a5650105d54dde034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2026-05-19T10:21:42Z</dcterms:created>
  <dc:creator>Christophe Lecart</dc:creator>
  <dc:description/>
  <dc:language>en-US</dc:language>
  <cp:lastModifiedBy/>
  <dcterms:modified xsi:type="dcterms:W3CDTF">2026-05-21T17:57:33Z</dcterms:modified>
  <cp:revision>10</cp:revision>
  <dc:subject>PptxGenJS Presentation</dc:subject>
  <dc:title>Konekt - Support Visuel RNCP 37873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47</vt:i4>
  </property>
  <property fmtid="{D5CDD505-2E9C-101B-9397-08002B2CF9AE}" pid="3" name="PresentationFormat">
    <vt:lpwstr>On-screen Show (16:9)</vt:lpwstr>
  </property>
  <property fmtid="{D5CDD505-2E9C-101B-9397-08002B2CF9AE}" pid="4" name="Slides">
    <vt:i4>47</vt:i4>
  </property>
</Properties>
</file>