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C4899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5"/>
      </c:doughnutChart>
      <c:spPr>
        <a:solidFill>
          <a:srgbClr val="27273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FFFFF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2727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Conception</c:v>
                  </c:pt>
                  <c:pt idx="1">
                    <c:v>Développement</c:v>
                  </c:pt>
                  <c:pt idx="2">
                    <c:v>Tests</c:v>
                  </c:pt>
                  <c:pt idx="3">
                    <c:v>Déploiement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1A1A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F3F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72730"/>
        </a:solidFill>
        <a:ln>
          <a:noFill/>
        </a:ln>
        <a:effectLst/>
      </c:spPr>
    </c:plotArea>
    <c:plotVisOnly val="1"/>
    <c:dispBlanksAs val="span"/>
  </c:chart>
  <c:spPr>
    <a:solidFill>
      <a:srgbClr val="272730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EC4899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4114800"/>
            <a:ext cx="6400800" cy="64008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914400"/>
            <a:ext cx="2743200" cy="27432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pic>
        <p:nvPicPr>
          <p:cNvPr id="5" name="Image 0" descr="/sessions/sweet-funny-newton/mnt/outputs/build/assets/konekt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3200400" cy="1097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2468880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  ·  Niveau 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 soutenance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social Konekt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914400" y="4526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sociale full-stack temps réel — Next.js 15, Prisma, PostgreSQL, SSE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914400" y="5212080"/>
            <a:ext cx="1097280" cy="3657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5349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 Lecart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 ·  Promotion 2024-2026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046720" y="6217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 Rouen Normandie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3657600" cy="3657600"/>
          </a:xfrm>
          <a:prstGeom prst="ellipse">
            <a:avLst/>
          </a:prstGeom>
          <a:solidFill>
            <a:srgbClr val="EC489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-457200"/>
            <a:ext cx="1645920" cy="164592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54480" y="1828800"/>
            <a:ext cx="18288" cy="36576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1691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candidat &amp; le contexte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Parcours, reconversion, formation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4048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0487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1554480" y="2542032"/>
            <a:ext cx="18288" cy="36576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15" name="Text 13"/>
          <p:cNvSpPr/>
          <p:nvPr/>
        </p:nvSpPr>
        <p:spPr>
          <a:xfrm>
            <a:off x="1737360" y="24048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Konekt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048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Problématique, périmètre, équipe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181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11810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1554480" y="3255264"/>
            <a:ext cx="18288" cy="36576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20" name="Text 18"/>
          <p:cNvSpPr/>
          <p:nvPr/>
        </p:nvSpPr>
        <p:spPr>
          <a:xfrm>
            <a:off x="1737360" y="311810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0" y="311810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MCD, design system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83133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8313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554480" y="3968496"/>
            <a:ext cx="18288" cy="36576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25" name="Text 23"/>
          <p:cNvSpPr/>
          <p:nvPr/>
        </p:nvSpPr>
        <p:spPr>
          <a:xfrm>
            <a:off x="1737360" y="38313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développement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0" y="3831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API, temps réel, sécurité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54456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5445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54480" y="4681728"/>
            <a:ext cx="18288" cy="36576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30" name="Text 28"/>
          <p:cNvSpPr/>
          <p:nvPr/>
        </p:nvSpPr>
        <p:spPr>
          <a:xfrm>
            <a:off x="1737360" y="454456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CI/CD &amp; déploiement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00800" y="454456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Qualité, automatisation, production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257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34" name="Shape 32"/>
          <p:cNvSpPr/>
          <p:nvPr/>
        </p:nvSpPr>
        <p:spPr>
          <a:xfrm>
            <a:off x="1554480" y="5394960"/>
            <a:ext cx="18288" cy="36576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35" name="Text 33"/>
          <p:cNvSpPr/>
          <p:nvPr/>
        </p:nvSpPr>
        <p:spPr>
          <a:xfrm>
            <a:off x="173736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compétences RNCP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00800" y="5257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Apprentissages, mapping des blocs</a:t>
            </a:r>
            <a:endParaRPr lang="en-US" sz="12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CANDIDAT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 Lecart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91640"/>
            <a:ext cx="2926080" cy="292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9000" dirty="0"/>
          </a:p>
        </p:txBody>
      </p:sp>
      <p:sp>
        <p:nvSpPr>
          <p:cNvPr id="7" name="Shape 5"/>
          <p:cNvSpPr/>
          <p:nvPr/>
        </p:nvSpPr>
        <p:spPr>
          <a:xfrm>
            <a:off x="731520" y="4846320"/>
            <a:ext cx="2926080" cy="3657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RECONVERSION DEV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terrain industriel au code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224028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8076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04672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visée (RNCP)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01268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1268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1268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Appétence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0" y="5074920"/>
            <a:ext cx="7680960" cy="11887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97680" y="5120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clés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5413248"/>
            <a:ext cx="502920" cy="50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4632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Rigueur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72200" y="5413248"/>
            <a:ext cx="502920" cy="50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7220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72084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Pragmatisme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46720" y="5413248"/>
            <a:ext cx="502920" cy="50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59536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Autodidacte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21240" y="5413248"/>
            <a:ext cx="502920" cy="50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212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046988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 ↔ Tech</a:t>
            </a:r>
            <a:endParaRPr lang="en-US" sz="14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PARCOURS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ans de terrain, puis le code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1645920"/>
            <a:ext cx="54864" cy="4572000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6" name="Shape 4"/>
          <p:cNvSpPr/>
          <p:nvPr/>
        </p:nvSpPr>
        <p:spPr>
          <a:xfrm>
            <a:off x="1691640" y="1801368"/>
            <a:ext cx="329184" cy="329184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916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 PRO MSMA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286000" y="1965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Systèmes Mécaniques Automatisés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2578608"/>
            <a:ext cx="329184" cy="329184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423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BTS MAI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8600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Mécanique et Automatismes Industriels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91640" y="3355848"/>
            <a:ext cx="329184" cy="329184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46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2004-2010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 Ascenseurs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86000" y="3520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régleur et mise en service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91640" y="4133088"/>
            <a:ext cx="329184" cy="329184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2010-2024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SOCOTEC Équipements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286000" y="4297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vérifications générales périodiques (14 ans)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691640" y="4910328"/>
            <a:ext cx="329184" cy="329184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800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 Rouen Normandie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286000" y="5074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CDA — peer learning, projets, stack moderne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691640" y="5687568"/>
            <a:ext cx="329184" cy="329184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577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28600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RNCP 37873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286000" y="58521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+ Dossier professionnel + alternance visée</a:t>
            </a:r>
            <a:endParaRPr lang="en-US" sz="1100" dirty="0"/>
          </a:p>
        </p:txBody>
      </p:sp>
      <p:pic>
        <p:nvPicPr>
          <p:cNvPr id="3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MÉTHODE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mode agile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développement adopté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1208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4168" y="2240280"/>
            <a:ext cx="548640" cy="54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4168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priorisées HIGH/MED/LOW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15768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752344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224028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75304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843784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43784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GitHub assignées, points estimés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46904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83480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240280"/>
            <a:ext cx="548640" cy="54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064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◯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standup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avancement, blocages, plan du jour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178040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14616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37576" y="2240280"/>
            <a:ext cx="548640" cy="54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37576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▷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06056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demo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06056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de fin de sprint en équipe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409176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445752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268712" y="224028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6871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37192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537192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marché / ce qu'on change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023360"/>
            <a:ext cx="553212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rituels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46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vivant, labels, milestones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77240" y="504748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Projects (Kanban)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4612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Todo / Doing / Review / Done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7240" y="545896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4" name="Text 42"/>
          <p:cNvSpPr/>
          <p:nvPr/>
        </p:nvSpPr>
        <p:spPr>
          <a:xfrm>
            <a:off x="1005840" y="5349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246120" y="5349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obligatoire avant merge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7240" y="587044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7" name="Text 45"/>
          <p:cNvSpPr/>
          <p:nvPr/>
        </p:nvSpPr>
        <p:spPr>
          <a:xfrm>
            <a:off x="1005840" y="5760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46120" y="5760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bloquante : lint + test + build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263640" y="4023360"/>
            <a:ext cx="553212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4652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du projet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446520" y="45262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717804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(MVP / Features / Polish)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46520" y="4937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178040" y="4937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d'environ 10 jours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446520" y="5349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7178040" y="5349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réparties par sprint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46520" y="5760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7178040" y="5760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rétro par sprint</a:t>
            </a:r>
            <a:endParaRPr lang="en-US" sz="1100" dirty="0"/>
          </a:p>
        </p:txBody>
      </p:sp>
      <p:pic>
        <p:nvPicPr>
          <p:cNvPr id="5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— contexte &amp; vision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proposée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Réseautage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Stories, Reels, Reactions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8064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75304" y="4389120"/>
            <a:ext cx="640080" cy="640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7530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◐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889504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889504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DM, Group Chat, SSE temps réel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47488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4728" y="4389120"/>
            <a:ext cx="640080" cy="640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2472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❖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38928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Communautés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38928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Groupes, Événements, RSVP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96912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4152" y="4389120"/>
            <a:ext cx="640080" cy="640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74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⌕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88352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88352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Trending, Recommandations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546336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23576" y="4389120"/>
            <a:ext cx="640080" cy="640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2357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637776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637776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Thème, langue, confidentialité</a:t>
            </a:r>
            <a:endParaRPr lang="en-US" sz="1000" dirty="0"/>
          </a:p>
        </p:txBody>
      </p:sp>
      <p:pic>
        <p:nvPicPr>
          <p:cNvPr id="3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CAHIER DES CHARGES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&amp; périmètre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98064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98064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798064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principales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47488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47488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047488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Prisma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96912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912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296912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API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46336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546336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37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stories prioritaires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265176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Critère d'acceptation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S'inscrire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validé, compte créé, JWT émis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un post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visible immédiatement dans le feed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Envoyer un message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persisté + push SSE au destinataire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Réagir / commenter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Compteur incrémenté, doublon impossible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Modérateur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Supprimer un contenu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retiré, log d'action conservé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2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multicouche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109728" cy="10972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— ce que l'utilisateur voit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Next.js (React Server Components)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0" y="21214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UI (shadcn/ui, Tailwind)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de données (use-api, use-real-time-chat)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788920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862072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862072"/>
            <a:ext cx="109728" cy="1097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953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applicative et règles métier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 /api/private/* /api/public/*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 (mutations) · Middleware JWT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0" y="3584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Zod, schémas partagés client/serveur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3959352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4032504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032504"/>
            <a:ext cx="109728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123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897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données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41696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(18 modèles, requêtes type-safe)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0" y="44622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versionnées prisma/migrations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src/lib/server/&lt;domaine&gt;/&lt;entité&gt;.ts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5129784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5202936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02936"/>
            <a:ext cx="10972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52943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5660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et services externes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0" y="53400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Neon (DB relationnelle)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0" y="56327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(cache + buffer SSE)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657600" y="5925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 (médias) · Vercel (runtime)</a:t>
            </a:r>
            <a:endParaRPr lang="en-US" sz="1100" dirty="0"/>
          </a:p>
        </p:txBody>
      </p:sp>
      <p:pic>
        <p:nvPicPr>
          <p:cNvPr id="3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22402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· SSR/CSR hybride · Server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typés, hooks personnalisés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system, dark theme natif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51960" y="1691640"/>
            <a:ext cx="73152" cy="2240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448056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API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Server-Sent Events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8056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type-safe, migrations, 18 modèles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payloads, schémas partagés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4672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1691640"/>
            <a:ext cx="73152" cy="2240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827532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Temps réel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7532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(Neon)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53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relationnelle managée, branches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7532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(REST)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532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buffer SSE compatible serverless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7532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images / vidéos, transformations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Sécurité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custom (jose)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· SameSite · Secret applicatif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cost 12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mots de passe, comparison constante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580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580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googleapis + state cookie anti-CSRF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25196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51960" y="4069080"/>
            <a:ext cx="73152" cy="2240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3" name="Text 41"/>
          <p:cNvSpPr/>
          <p:nvPr/>
        </p:nvSpPr>
        <p:spPr>
          <a:xfrm>
            <a:off x="448056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CI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48056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8056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légère oven/bun:1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8056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48056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 · Build · Deploy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8056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Neon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48056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préview par PR + prod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04672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46720" y="4069080"/>
            <a:ext cx="73152" cy="2240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Text 50"/>
          <p:cNvSpPr/>
          <p:nvPr/>
        </p:nvSpPr>
        <p:spPr>
          <a:xfrm>
            <a:off x="827532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27532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ts-jest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7532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API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7532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strict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7532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style + typage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27532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Playwright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7532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parcours critiques</a:t>
            </a:r>
            <a:endParaRPr lang="en-US" sz="900" dirty="0"/>
          </a:p>
        </p:txBody>
      </p:sp>
      <p:pic>
        <p:nvPicPr>
          <p:cNvPr id="5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système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743200"/>
            <a:ext cx="1965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EventSource (SSE)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/ forms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authToken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17520" y="21945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2194560"/>
            <a:ext cx="1645920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CDN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08960" y="2743200"/>
            <a:ext cx="1463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HTML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37760" y="2194560"/>
            <a:ext cx="2377440" cy="27432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194560"/>
            <a:ext cx="2377440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274320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/api/private/...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/api/public/...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1783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0" y="1783080"/>
            <a:ext cx="91440" cy="10058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Neon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0" y="2194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relationnelle, 18 modèles Prisma, migrations versionnées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80960" y="2926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0" y="2926080"/>
            <a:ext cx="91440" cy="1005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(REST)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63840" y="3337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buffer SSE — clés latest:chat:* polling REST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0960" y="4069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4069080"/>
            <a:ext cx="91440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médias, transformations à la volée, CDN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3657600"/>
            <a:ext cx="27432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663440" y="3657600"/>
            <a:ext cx="27432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2286000"/>
            <a:ext cx="3657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15200" y="3429000"/>
            <a:ext cx="36576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315200" y="4572000"/>
            <a:ext cx="3657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serverless-ready : la stack tourne nativement sur Vercel et reste reproductible en local via docker-compose.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85800" y="5120640"/>
            <a:ext cx="192024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120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bidirectionnel</a:t>
            </a:r>
            <a:endParaRPr lang="en-US" sz="10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de modélisation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des termes que l'on rencontrera dans MCD / MLD / MPD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86000"/>
            <a:ext cx="502920" cy="50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 / Table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 métier matérialisé en table SQL. Une ligne = une instance.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User, Post, Comment, Reaction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286000"/>
            <a:ext cx="502920" cy="50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 / Colonne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 d'une entité, typée. Devient une colonne en base.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 (varchar) · Post.message (text)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0" y="2286000"/>
            <a:ext cx="502920" cy="50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0684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primaire (PK)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 unique non-null d'une ligne. Une seule par table.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124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1248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User.id (uuid) · Post.id (cuid)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4434840"/>
            <a:ext cx="502920" cy="5029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⌬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étrangère (FK)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la PK d'une autre table. Maintient l'intégrité référentielle.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Post.userId → User.id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4434840"/>
            <a:ext cx="502920" cy="50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16636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d'instances liées : 1-1, 1-N, N-N. Détermine la structure relationnelle.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1—N Post  ·  User N—N User via Friendship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434840"/>
            <a:ext cx="502920" cy="5029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1248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▩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900684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41248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d'accès accélérant les lectures sur certaines colonnes.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41248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41248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@@index([userId, createdAt]) sur Post</a:t>
            </a:r>
            <a:endParaRPr lang="en-US" sz="1000" dirty="0"/>
          </a:p>
        </p:txBody>
      </p:sp>
      <p:pic>
        <p:nvPicPr>
          <p:cNvPr id="4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Conceptuel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456432"/>
            <a:ext cx="2377440" cy="18288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3456432"/>
            <a:ext cx="237744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0" y="3456432"/>
            <a:ext cx="237744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2354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createdAt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3749040"/>
            <a:ext cx="17373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29184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 1,N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3749040"/>
            <a:ext cx="17373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40664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1,N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937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MCD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212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</a:t>
            </a:r>
            <a:pPr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publie 0..N </a:t>
            </a:r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 Post a exactement 1 auteur (cardinalité 1,1 côté Post)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</a:t>
            </a:r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contient 0..N </a:t>
            </a:r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chaque Comment référence exactement 1 Post (parent)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MCD n'expose </a:t>
            </a:r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clés étrangères, ni types techniques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uniquement le sens métier</a:t>
            </a:r>
            <a:endParaRPr lang="en-US" sz="1200" dirty="0"/>
          </a:p>
        </p:txBody>
      </p:sp>
      <p:pic>
        <p:nvPicPr>
          <p:cNvPr id="2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Logique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8036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88036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288036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MLD — extrait (notation Prisma)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546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 (id PK, email UNIQUE, username UNIQUE, password, birthDate, createdAt)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(id PK, userId FK → USER.id, message, image?, visibility, createdAt)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7033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COMMENT (id PK, postId FK → POST.id, userId FK → USER.id, message, createdAt)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9776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REACTION (id PK, userId FK → USER.id, postId FK? → POST.id, type, createdAt)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UNIQUE (userId, postId, type)   ← un user ne peut pas dupliquer une réaction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262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STORY (id PK, userId FK → USER.id, image, expiresAt, createdAt)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FRIENDSHIP (id PK, requesterId FK → USER.id, addresseeId FK → USER.id, status)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50749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UNIQUE (requesterId, addresseeId)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57784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relation N-1 du MCD devient une 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côté "plusieurs". Les relations N-N (ex. Friendship) deviennent une table d'association avec ses propres attributs.</a:t>
            </a:r>
            <a:endParaRPr lang="en-US" sz="1100" dirty="0"/>
          </a:p>
        </p:txBody>
      </p:sp>
      <p:pic>
        <p:nvPicPr>
          <p:cNvPr id="23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MPD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Physique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32461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8036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88036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288036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MPD — extrait DDL PostgreSQL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5468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"User" 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   TEXT        PRIMARY KEY DEFAULT cuid(),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48386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        VARCHAR(255) NOT NULL UNIQUE,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64845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username      VARCHAR(50)  NOT NULL UNIQUE,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1304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password      VARCHAR(255) NOT NULL,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7764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visibility    "ProfileVisibility" NOT NULL DEFAULT 'PUBLIC',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14223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    TIMESTAMPTZ  NOT NULL DEFAULT NOW()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30682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47141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63600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"Post" (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80060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 TEXT PRIMARY KEY DEFAULT cuid(),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96519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userId      TEXT NOT NULL REFERENCES "User"(id) ON DELETE CASCADE,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1297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     TEXT NOT NULL CHECK (length(message) &lt;= 5000),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29437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visibility  "Visibility" NOT NULL DEFAULT 'PUBLIC',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45896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  TIMESTAMPTZ NOT NULL DEFAULT NOW()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62356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78815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idx_post_user_created ON "Post"(userId, createdAt DESC);</a:t>
            </a:r>
            <a:endParaRPr lang="en-US" sz="1000" dirty="0"/>
          </a:p>
        </p:txBody>
      </p:sp>
      <p:pic>
        <p:nvPicPr>
          <p:cNvPr id="3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données — 18 entités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pic>
        <p:nvPicPr>
          <p:cNvPr id="5" name="Image 0" descr="/sessions/sweet-funny-newton/mnt/outputs/build/assets/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86384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91640"/>
            <a:ext cx="3017520" cy="45720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saillants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148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46920" y="2148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Prisma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32520" y="26517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646920" y="2651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73252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646920" y="3154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métier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732520" y="3657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9646920" y="3657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User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4297680"/>
            <a:ext cx="2743200" cy="18288"/>
          </a:xfrm>
          <a:prstGeom prst="rect">
            <a:avLst/>
          </a:prstGeom>
          <a:solidFill>
            <a:srgbClr val="3F3F46"/>
          </a:solidFill>
          <a:ln/>
        </p:spPr>
      </p:sp>
      <p:sp>
        <p:nvSpPr>
          <p:cNvPr id="17" name="Text 14"/>
          <p:cNvSpPr/>
          <p:nvPr/>
        </p:nvSpPr>
        <p:spPr>
          <a:xfrm>
            <a:off x="87325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centrales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732520" y="4663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732520" y="4919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 Comment / Reaction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32520" y="51755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32520" y="54315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Conversation / Message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32520" y="5687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Group / Event / Rsvp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32520" y="5943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</a:t>
            </a:r>
            <a:endParaRPr lang="en-US" sz="1000" dirty="0"/>
          </a:p>
        </p:txBody>
      </p:sp>
      <p:pic>
        <p:nvPicPr>
          <p:cNvPr id="24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 cœur du domaine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0" y="3017520"/>
            <a:ext cx="1737360" cy="17373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0" y="301752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212080" y="4069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entités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relations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6080760" y="2258568"/>
            <a:ext cx="914" cy="740664"/>
          </a:xfrm>
          <a:prstGeom prst="line">
            <a:avLst/>
          </a:prstGeom>
          <a:noFill/>
          <a:ln w="19050">
            <a:solidFill>
              <a:srgbClr val="06B6D4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77840" y="1234440"/>
            <a:ext cx="1005840" cy="10058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12344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57784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77840" y="20116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6707941" y="2735290"/>
            <a:ext cx="523729" cy="523729"/>
          </a:xfrm>
          <a:prstGeom prst="line">
            <a:avLst/>
          </a:prstGeom>
          <a:noFill/>
          <a:ln w="19050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97299" y="1863821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97299" y="1863821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097299" y="236674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97299" y="2641061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67728" y="3886200"/>
            <a:ext cx="740664" cy="914"/>
          </a:xfrm>
          <a:prstGeom prst="line">
            <a:avLst/>
          </a:prstGeom>
          <a:noFill/>
          <a:ln w="1905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6680" y="3383280"/>
            <a:ext cx="1005840" cy="10058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26680" y="33832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2668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26680" y="4160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réagit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7941" y="4513381"/>
            <a:ext cx="523729" cy="523729"/>
          </a:xfrm>
          <a:prstGeom prst="line">
            <a:avLst/>
          </a:prstGeom>
          <a:noFill/>
          <a:ln w="19050">
            <a:solidFill>
              <a:srgbClr val="10B981">
                <a:alpha val="7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97299" y="4902739"/>
            <a:ext cx="1005840" cy="10058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7299" y="4902739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97299" y="54056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97299" y="5679979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080760" y="4773168"/>
            <a:ext cx="914" cy="740664"/>
          </a:xfrm>
          <a:prstGeom prst="line">
            <a:avLst/>
          </a:prstGeom>
          <a:noFill/>
          <a:ln w="19050">
            <a:solidFill>
              <a:srgbClr val="F472B6">
                <a:alpha val="7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77840" y="5532120"/>
            <a:ext cx="1005840" cy="10058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77840" y="5532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6035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77840" y="63093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 flipH="1">
            <a:off x="4929850" y="4513381"/>
            <a:ext cx="523729" cy="523729"/>
          </a:xfrm>
          <a:prstGeom prst="line">
            <a:avLst/>
          </a:prstGeom>
          <a:noFill/>
          <a:ln w="19050">
            <a:solidFill>
              <a:srgbClr val="EF4444">
                <a:alpha val="7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58381" y="4902739"/>
            <a:ext cx="1005840" cy="10058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58381" y="4902739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058381" y="54056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58381" y="5679979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 flipH="1">
            <a:off x="4453128" y="3886200"/>
            <a:ext cx="740664" cy="914"/>
          </a:xfrm>
          <a:prstGeom prst="line">
            <a:avLst/>
          </a:prstGeom>
          <a:noFill/>
          <a:ln w="19050">
            <a:solidFill>
              <a:srgbClr val="06B6D4">
                <a:alpha val="7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29000" y="3383280"/>
            <a:ext cx="1005840" cy="10058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29000" y="33832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342900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429000" y="4160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 flipH="1" flipV="1">
            <a:off x="4929850" y="2735290"/>
            <a:ext cx="523729" cy="523729"/>
          </a:xfrm>
          <a:prstGeom prst="line">
            <a:avLst/>
          </a:prstGeom>
          <a:noFill/>
          <a:ln w="19050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58381" y="1863821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58381" y="1863821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4058381" y="236674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058381" y="2641061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conceptuel simplifié — toutes les entités du domaine gravitent autour de l'utilisateur, avec des cardinalités explicites côté Prisma.</a:t>
            </a:r>
            <a:endParaRPr lang="en-US" sz="1100" dirty="0"/>
          </a:p>
        </p:txBody>
      </p:sp>
      <p:pic>
        <p:nvPicPr>
          <p:cNvPr id="4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Konekt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#EC4899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#1A1B23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976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#272730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B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#FFFFFF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774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688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#10B981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062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976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#8B5CF6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Typographie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2011680"/>
            <a:ext cx="5577840" cy="26517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6400" dirty="0"/>
          </a:p>
        </p:txBody>
      </p:sp>
      <p:sp>
        <p:nvSpPr>
          <p:cNvPr id="27" name="Text 25"/>
          <p:cNvSpPr/>
          <p:nvPr/>
        </p:nvSpPr>
        <p:spPr>
          <a:xfrm>
            <a:off x="777240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Geist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77240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family — Next.js next/font · variable, optimisée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px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px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px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px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50876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50876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46888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6888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2900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2900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8912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912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864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50876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50876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46888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888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2900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2900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1792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217920" y="5120640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▢ Mobile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550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640px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1838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 Tablet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1838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640 – 1024px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00126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 Desktop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00126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1024px</a:t>
            </a:r>
            <a:endParaRPr lang="en-US" sz="1100" dirty="0"/>
          </a:p>
        </p:txBody>
      </p:sp>
      <p:pic>
        <p:nvPicPr>
          <p:cNvPr id="6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5" name="Text 6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6" name="Text 6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AUTHENTIFICATION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Login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pic>
        <p:nvPicPr>
          <p:cNvPr id="6" name="Image 0" descr="/sessions/sweet-funny-newton/mnt/outputs/build/assets/Mockups_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 + secret applicatif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SameSite=Lax · pas d'accès JS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cookie anti-CSRF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partagé client / serveur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VUE PRINCIPALE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Home Feed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pic>
        <p:nvPicPr>
          <p:cNvPr id="6" name="Image 0" descr="/sessions/sweet-funny-newton/mnt/outputs/build/assets/Mockups_Home_Fe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PRINCIPALE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scroll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cursor-based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ephemeral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24h, polling SSE pour le statut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inline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UI · doublon impossible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optimisée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Next/Image + Cloudinary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IDENTITÉ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Profil utilisateur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pic>
        <p:nvPicPr>
          <p:cNvPr id="6" name="Image 0" descr="/sessions/sweet-funny-newton/mnt/outputs/build/assets/Mockups_Us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utilisateur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PUBLIC/PRIVATE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Prisma respecté côté API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/ Following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Friendship 2-way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dynamiques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/ Photos / Vidéos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profile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 + Cloudinary upload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PUBLICATION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Création de post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pic>
        <p:nvPicPr>
          <p:cNvPr id="6" name="Image 0" descr="/sessions/sweet-funny-newton/mnt/outputs/build/assets/Mockups_Create_P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post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Cloudinary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upload signé côté serveur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granulaire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niveaux + check au fetch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taille, type MIME, longueur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type-safe Next.js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CONTENU ÉPHÉMÈRE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Story Viewer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pic>
        <p:nvPicPr>
          <p:cNvPr id="6" name="Image 0" descr="/sessions/sweet-funny-newton/mnt/outputs/build/assets/Mockups_Story_Vie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Viewer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ÉPHÉMÈRE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24h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cron · cleanup expirés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segmentée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Multi-stories par utilisateur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uniques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 stocké en relation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emoji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reply au créateur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PERSONNALISATION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Paramètres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pic>
        <p:nvPicPr>
          <p:cNvPr id="6" name="Image 0" descr="/sessions/sweet-funny-newton/mnt/outputs/build/assets/Mockups_Sett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UserSettings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Prisma 1-to-1 dédié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toggle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Stocké côté serveur · cohérent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EN / FR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next-intl, dictionnaires lazy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controls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ProfileVisibility, notification opt-in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implémentées · 14 routes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des posts du réseau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17830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691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32104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email + OAuth Google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1488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0574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/register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51760" y="2057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avec vérification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205740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</p:sp>
      <p:sp>
        <p:nvSpPr>
          <p:cNvPr id="21" name="Shape 19"/>
          <p:cNvSpPr/>
          <p:nvPr/>
        </p:nvSpPr>
        <p:spPr>
          <a:xfrm>
            <a:off x="6355080" y="21488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20574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/onboarding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21040" y="2057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0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Complétion du profil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242316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251460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24231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/profile/[id]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51760" y="24231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0" y="24231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public/privé, posts, abonnés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242316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55080" y="251460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24231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21040" y="24231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0" y="24231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messages 1-to-1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278892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" y="28803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2788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/chat/[id]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51760" y="2788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DM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931920" y="2788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privée temps réel (SSE)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78892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</p:sp>
      <p:sp>
        <p:nvSpPr>
          <p:cNvPr id="41" name="Shape 39"/>
          <p:cNvSpPr/>
          <p:nvPr/>
        </p:nvSpPr>
        <p:spPr>
          <a:xfrm>
            <a:off x="6355080" y="28803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0" y="2788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/reels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321040" y="2788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01200" y="2788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Vidéos courtes verticales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8640" y="315468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46" name="Shape 44"/>
          <p:cNvSpPr/>
          <p:nvPr/>
        </p:nvSpPr>
        <p:spPr>
          <a:xfrm>
            <a:off x="685800" y="32461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7" name="Text 45"/>
          <p:cNvSpPr/>
          <p:nvPr/>
        </p:nvSpPr>
        <p:spPr>
          <a:xfrm>
            <a:off x="91440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651760" y="3154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3192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+ posts avec historique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17920" y="315468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51" name="Shape 49"/>
          <p:cNvSpPr/>
          <p:nvPr/>
        </p:nvSpPr>
        <p:spPr>
          <a:xfrm>
            <a:off x="6355080" y="32461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2" name="Text 50"/>
          <p:cNvSpPr/>
          <p:nvPr/>
        </p:nvSpPr>
        <p:spPr>
          <a:xfrm>
            <a:off x="658368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/groups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21040" y="3154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6012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Liste, recherche, création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48640" y="352044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3520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/groups/[id]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65176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931920" y="3520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+ chat + membres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217920" y="352044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</p:sp>
      <p:sp>
        <p:nvSpPr>
          <p:cNvPr id="61" name="Shape 59"/>
          <p:cNvSpPr/>
          <p:nvPr/>
        </p:nvSpPr>
        <p:spPr>
          <a:xfrm>
            <a:off x="635508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2" name="Text 60"/>
          <p:cNvSpPr/>
          <p:nvPr/>
        </p:nvSpPr>
        <p:spPr>
          <a:xfrm>
            <a:off x="6583680" y="3520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/events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32104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601200" y="3520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+ RSVP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8640" y="388620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66" name="Shape 64"/>
          <p:cNvSpPr/>
          <p:nvPr/>
        </p:nvSpPr>
        <p:spPr>
          <a:xfrm>
            <a:off x="685800" y="3977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7" name="Text 65"/>
          <p:cNvSpPr/>
          <p:nvPr/>
        </p:nvSpPr>
        <p:spPr>
          <a:xfrm>
            <a:off x="91440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/settings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2651760" y="3886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3931920" y="38862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Profil, sécurité, langue, thème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217920" y="388620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5080" y="3977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72" name="Text 70"/>
          <p:cNvSpPr/>
          <p:nvPr/>
        </p:nvSpPr>
        <p:spPr>
          <a:xfrm>
            <a:off x="658368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/invitations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321040" y="3886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601200" y="38862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d'amitié et de groupe</a:t>
            </a:r>
            <a:endParaRPr lang="en-US" sz="900" dirty="0"/>
          </a:p>
        </p:txBody>
      </p:sp>
      <p:pic>
        <p:nvPicPr>
          <p:cNvPr id="7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76" name="Text 7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d'authentification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8016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48056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850392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(Prisma)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280160" y="2743200"/>
            <a:ext cx="40233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280160" y="24505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/api/public/auth/login  { email, password 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3246120"/>
            <a:ext cx="40233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30352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user WHERE email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5303520" y="3749040"/>
            <a:ext cx="402336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dash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303520" y="3456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row (hashed pwd)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9240" y="402336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40690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bcrypt.compare(password, user.password)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jose.SignJWT({ userId }) ➜ JWT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280160" y="5074920"/>
            <a:ext cx="40233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80160" y="4782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  ·  Set-Cookie: authToken HttpOnly SameSite=Lax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avec </a:t>
            </a:r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secret applicatif · Cookie </a:t>
            </a:r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(pas accessible JS) · </a:t>
            </a:r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 12 · </a:t>
            </a:r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state cookie anti-CSRF · Middleware Next.js qui valide le JWT pour chaque route privée.</a:t>
            </a:r>
            <a:endParaRPr lang="en-US" sz="1100" dirty="0"/>
          </a:p>
        </p:txBody>
      </p:sp>
      <p:pic>
        <p:nvPicPr>
          <p:cNvPr id="2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— signature JWT (jose)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src/lib/server/user/login.ts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SignJWT } from 'jose';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bcrypt from 'bcrypt';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4261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4378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login(email: string, password: string) {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4495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user = await db.user.findUnique({ where: { email } });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(!user) throw new AuthError('INVALID_CREDENTIALS');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44728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64845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ok = await bcrypt.compare(password, user.password);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4962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(!ok)  throw new AuthError('INVALID_CREDENTIALS');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05079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25196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secret = new TextEncoder().encode(process.env.JWT_SECRET);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4531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 = await new SignJWT({ userId: user.id })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65429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.setProtectedHeader({ alg: 'HS256' })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85546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.setIssuedAt()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0566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.setExpirationTime('7d')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.sign(secret);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45896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66013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token, user };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8613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bcrypt.compare en temps constant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message si user inconnu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HS256 (jose)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Expiration explicite 7 jours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env var jamais commité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typées (AuthError)</a:t>
            </a:r>
            <a:endParaRPr lang="en-US" sz="1100" dirty="0"/>
          </a:p>
        </p:txBody>
      </p:sp>
      <p:pic>
        <p:nvPicPr>
          <p:cNvPr id="4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— Server-Sent Events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38328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12648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6656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50392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088136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8136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(SSE)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2144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914400" y="2651760"/>
            <a:ext cx="31089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14400" y="2359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/api/private/chat/send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23360" y="3063240"/>
            <a:ext cx="2743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4023360" y="2770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message (Prisma)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23360" y="3474720"/>
            <a:ext cx="5120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023360" y="3182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latest:chat:{from}:{to}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 flipH="1">
            <a:off x="914400" y="3886200"/>
            <a:ext cx="31089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14400" y="35935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 status SENT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9144000" y="4343400"/>
            <a:ext cx="237744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144000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latest:chat:* (polling REST)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144000" y="4754880"/>
            <a:ext cx="23774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9144000" y="4462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SSE  data: {...}\n\n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100" dirty="0"/>
          </a:p>
        </p:txBody>
      </p:sp>
      <p:pic>
        <p:nvPicPr>
          <p:cNvPr id="3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— endpoint /chat/listen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src/app/api/private/chat/listen/route.ts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GET(req: NextRequest) {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38201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userId = await getUserIdFromRequest(req);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52374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(!userId) return new Response('Unauthorized', { status: 401 });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66547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80720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conversationId, type } = parseParams(req.url);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94894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09067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stream = new ReadableStream({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23240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start(controller) {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337413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enc = new TextEncoder();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351586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controller.enqueue(enc.encode('data: {"type":"connected"}\n\n'));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65760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79933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active = true, lastId = '';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394106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(async function poll() {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408279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(active) {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" y="422452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key = `latest:chat:${userId}:${conversationId}`;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436626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data = await redis.get(key);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450799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if (data &amp;&amp; data.id !== lastId) {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464972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lastId = data.id;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" y="479145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controller.enqueue(enc.encode(`data: ${JSON.stringify(data)}\n\n`));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7240" y="493318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}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7240" y="507492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await sleep(1000);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521665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535838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})();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550011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req.signal.addEventListener('abort', () =&gt; { active = false; controller.close(); });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" y="564184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77240" y="578358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7240" y="592531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new Response(stream, { headers: { 'Content-Type': 'text/event-stream' } });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" y="606704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Mécanique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ReadableStream Web standard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Redis 1s (REST)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latest:chat:&lt;from&gt;:&lt;to&gt;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Déduplication par lastId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⊘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→ cleanup poll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injecté par middleware</a:t>
            </a:r>
            <a:endParaRPr lang="en-US" sz="1100" dirty="0"/>
          </a:p>
        </p:txBody>
      </p:sp>
      <p:pic>
        <p:nvPicPr>
          <p:cNvPr id="5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9" name="Text 5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0" name="Text 5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60+ endpoints REST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691640"/>
            <a:ext cx="73152" cy="2240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2588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/api/public/auth/register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/api/public/auth/login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2588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/api/public/auth/logout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/api/public/auth/callback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251960" y="1691640"/>
            <a:ext cx="73152" cy="2240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4805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&amp; Profil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8056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48056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2064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8056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48056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064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/api/private/me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8056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48056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12064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/api/private/friend-requests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056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48056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2064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/api/private/friend-requests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672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046720" y="1691640"/>
            <a:ext cx="73152" cy="2240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27532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27532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27532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91540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/api/private/post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27532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27532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1540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/api/private/post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27532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27532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91540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/api/private/stories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27532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27532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91540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/api/private/stories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720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858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&amp; Temps réel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8580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8580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32588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/api/private/conversations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580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8580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32588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/api/private/chat/send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8580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8580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32588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/api/private/chat/listen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80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68580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32588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/api/private/chat/typing/listen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25196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251960" y="4069080"/>
            <a:ext cx="73152" cy="2240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448056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Communautés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448056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448056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12064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/api/private/groups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48056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48056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12064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/api/private/groups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48056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48056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512064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/api/private/events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48056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448056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12064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/api/private/events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04672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8046720" y="4069080"/>
            <a:ext cx="73152" cy="2240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&amp; Notif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7532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27532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891540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/api/private/search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827532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827532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891540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/api/private/invitations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827532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827532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91540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/api/private/notifications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827532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827532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/api/private/notifications/:id/read</a:t>
            </a:r>
            <a:endParaRPr lang="en-US" sz="900" dirty="0"/>
          </a:p>
        </p:txBody>
      </p:sp>
      <p:pic>
        <p:nvPicPr>
          <p:cNvPr id="9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96" name="Text 9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97" name="Text 9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d'authentification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src/middleware.ts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middleware(req: NextRequest) {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pathname } = req.nextUrl;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609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isPublic = pathname.startsWith('/api/public')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7121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|| ['/login', '/register'].some(r =&gt; pathname.startsWith(r));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815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(isPublic) return NextResponse.next();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29184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50215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= req.cookies.get('authToken')?.value;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71246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(!token) return NextResponse.redirect('/login');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2277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13308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3434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{ userId } = await verifyJwt(token);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55371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headers = new Headers(req.headers);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76402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headers.set('x-user-id', userId);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97433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NextResponse.next({ request: { headers } });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18464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{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39496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NextResponse.redirect('/login');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60527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81558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◉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pour routes publiques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◉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authToken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✓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JWT via jose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↩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/login si invalide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x-user-id header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▣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par défaut</a:t>
            </a:r>
            <a:endParaRPr lang="en-US" sz="1100" dirty="0"/>
          </a:p>
        </p:txBody>
      </p:sp>
      <p:pic>
        <p:nvPicPr>
          <p:cNvPr id="4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 &amp; RGPD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en place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(jose) · cookies HttpOnly · SameSite=Lax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cost 12 sur tous les mots de passe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 systématique des payloads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840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▣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 avec state cookie anti-CSRF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3891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89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bloquée par Prisma (paramétrage)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⌕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937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audité — voir securite-rgpd.md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forcé en production via Vercel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2194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2468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nom, date de naissance, contenus publiés. Aucun traitement marketing ; aucune donnée sensible au sens art. 9.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465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la personne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&amp; consultation profil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058400" y="341071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0" y="3410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4652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Rectification (settings)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377647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37764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Effacement / droit à l'oubli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058400" y="414223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0" y="41422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4652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Portabilité (export JSON)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450799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58400" y="45079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46520" y="4846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Opposition / consentement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058400" y="487375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58400" y="48737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46520" y="53492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durcissement : rate-limit, headers CSP, sanitization markdown (DOMPurify).</a:t>
            </a:r>
            <a:endParaRPr lang="en-US" sz="1000" dirty="0"/>
          </a:p>
        </p:txBody>
      </p:sp>
      <p:pic>
        <p:nvPicPr>
          <p:cNvPr id="4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QUALITÉ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 tests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4000500" y="1828800"/>
            <a:ext cx="1234440" cy="91440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0050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2743200"/>
            <a:ext cx="2468880" cy="128016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7432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60320" y="4023360"/>
            <a:ext cx="4114800" cy="146304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40233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178308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0" y="1874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Pyramide adoptée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331720"/>
            <a:ext cx="91440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(Playwright)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469880" y="23774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69880" y="2377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697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critiques : inscription, post, chat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98080" y="3246120"/>
            <a:ext cx="91440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API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469880" y="32918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6988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8096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ts-jest sur /api/*  (auth, posts, chat)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0" y="4160520"/>
            <a:ext cx="91440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469880" y="42062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69880" y="4206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6809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Helpers, validators Zod, hashing, JWT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98080" y="5074920"/>
            <a:ext cx="91440" cy="8229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&amp; types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469880" y="51206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69880" y="5120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bloquant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80960" y="5440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strict, prisma generate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cible 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sur les modules critiques (auth, chat, persistence). </a:t>
            </a:r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Jeux d'essai documentés dans tests-strategy.md.</a:t>
            </a:r>
            <a:endParaRPr lang="en-US" sz="1100" dirty="0"/>
          </a:p>
        </p:txBody>
      </p:sp>
      <p:pic>
        <p:nvPicPr>
          <p:cNvPr id="3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QUALITÉ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GitHub Actions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43434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0100" y="2423160"/>
            <a:ext cx="640080" cy="6400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01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↗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06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006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· feature-*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0594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5166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17420" y="2423160"/>
            <a:ext cx="640080" cy="640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174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9738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&amp; Setup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9738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actions/checkout · setup-bun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2326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6898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34740" y="2423160"/>
            <a:ext cx="640080" cy="640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347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▤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31470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1470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install --frozen-lockfile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058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68630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52060" y="2423160"/>
            <a:ext cx="640080" cy="640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206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3202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3202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bunx prisma generate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5790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10362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9380" y="2423160"/>
            <a:ext cx="640080" cy="640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93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≡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14934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4934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lint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7522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52094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86700" y="2423160"/>
            <a:ext cx="640080" cy="640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867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✓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56666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6666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test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9254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3826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304020" y="2423160"/>
            <a:ext cx="640080" cy="6400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040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◧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898398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Next.js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98398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build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030986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035558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721340" y="2423160"/>
            <a:ext cx="640080" cy="640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7213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▲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040130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Vercel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40130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ou prod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48640" y="475488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31520" y="5120640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1520" y="5312664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31520" y="5504688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31520" y="5696712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build: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1520" y="5888736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31520" y="6080760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 [checkout, setup-bun, install, prisma:generate, lint, test, build]</a:t>
            </a:r>
            <a:endParaRPr lang="en-US" sz="1000" dirty="0"/>
          </a:p>
        </p:txBody>
      </p:sp>
      <p:pic>
        <p:nvPicPr>
          <p:cNvPr id="6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— image applicative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1 — deps (cache layer)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1401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 AS deps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58775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6148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package.json bun.lock ./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3522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bun install --frozen-lockfile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28269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2 — builder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 AS builder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016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80390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--from=deps /app/node_modules ./node_modules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5137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bunx prisma generate &amp;&amp; bun run build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32511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3 — runner (image légère)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67258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oven/bun:1-slim AS runner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84632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02005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NODE_ENV=production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19379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/app/.next ./.next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36752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/app/node_modules ./node_modules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54126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/app/package.json ./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571500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3000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588873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["bun", "run", "start"]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: cache deps séparé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runtime (build &amp; run)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 avant build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◯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slim finale (~150 Mo)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secret dans l'image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 explicite</a:t>
            </a:r>
            <a:endParaRPr lang="en-US" sz="1100" dirty="0"/>
          </a:p>
        </p:txBody>
      </p:sp>
      <p:pic>
        <p:nvPicPr>
          <p:cNvPr id="5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— env local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1401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58775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6148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3522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"3000:3000"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28269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postgresql://postgres:postgres@db:5432/social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REDIS_URL: Upstash Redis REST (UPSTASH_REDIS_REST_URL)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016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JWT_SECRET: ${JWT_SECRET}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80390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5137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32511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postgres:16-alpine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["5432:5432"]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67258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84632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POSTGRES_DB: social-network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02005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POSTGRES_USER: postgres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19379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POSTGRES_PASSWORD: postgres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36752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54126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571500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588873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["6379:6379"]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compose 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Reproduit prod en local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+ Redis + App orchestrés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depends_on respecté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d'env via .env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▷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= ready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dev (hot reload)</a:t>
            </a:r>
            <a:endParaRPr lang="en-US" sz="1100" dirty="0"/>
          </a:p>
        </p:txBody>
      </p:sp>
      <p:pic>
        <p:nvPicPr>
          <p:cNvPr id="5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Vercel + Neon + Upstash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48006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Text 5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LOCAL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08660" y="2331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866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4874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874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Redis + App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8660" y="3474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866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874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+ hot reload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4874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dev profil dev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8660" y="4617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866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↻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4874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auto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4874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migrate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55948" y="3794760"/>
            <a:ext cx="9144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22910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3" name="Text 21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PRÉ-PROD / CI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57700" y="2331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577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◉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9778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9778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 · Build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57700" y="3474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5770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❀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09778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Vercel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9778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unique par PR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57700" y="4617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5770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⊕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9778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Branching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9778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isolée par PR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04988" y="3794760"/>
            <a:ext cx="9144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97814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06740" y="2331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067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▲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84682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84682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edge functions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206740" y="3474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0674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▤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884682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PostgreSQL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4682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main + prod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206740" y="4617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0674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84682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84682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pay-as-you-go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6035040"/>
            <a:ext cx="11064240" cy="2743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Vercel one-click · Healthcheck applicatif · Secrets via env vars (jamais committés) · SSL automatique.</a:t>
            </a:r>
            <a:endParaRPr lang="en-US" sz="1000" dirty="0"/>
          </a:p>
        </p:txBody>
      </p:sp>
      <p:pic>
        <p:nvPicPr>
          <p:cNvPr id="5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5" name="Text 5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suivies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Blog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514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Next.js, App Router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8803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880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Docs (canary)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3154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Actions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520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Cheat Sheets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794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/ WHATWG specs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44348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HTTP, cookies, fetch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✦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dev community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5074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Theo, Lee Robinson, Dan Abramov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5440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▷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— Theo, Fireship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5715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Synthèses &amp; démos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46520" y="224028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4088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: signal-to-noise élevé, sources primaires d'abord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46520" y="301752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40880" y="3017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408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/ matin, Pocket pour le offline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46520" y="379476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4088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preuve de concept si la techno entre dans le projet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46520" y="457200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46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4088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408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dans Obsidian, lien vers la source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040880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0408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équipe sur les choix structurants</a:t>
            </a:r>
            <a:endParaRPr lang="en-US" sz="1000" dirty="0"/>
          </a:p>
        </p:txBody>
      </p:sp>
      <p:pic>
        <p:nvPicPr>
          <p:cNvPr id="4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21792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5256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features livrées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graphicFrame>
        <p:nvGraphicFramePr>
          <p:cNvPr id="19" name="Chart 0" descr=""/>
          <p:cNvGraphicFramePr/>
          <p:nvPr/>
        </p:nvGraphicFramePr>
        <p:xfrm>
          <a:off x="640080" y="4069080"/>
          <a:ext cx="53492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6263640" y="397764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0" y="40690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travail par phase (jours)</a:t>
            </a:r>
            <a:endParaRPr lang="en-US" sz="11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400800" y="4343400"/>
          <a:ext cx="52120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3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application sécurisée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Concevoir, développer et tester une application en intégrant les principes de sécurité dès la phase de conception.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une application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+ mockups 6 pages principales, design system Konekt dédié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interface utilisateur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Router, React Server Components, Tailwind + shadcn/ui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des composants réutilisables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Button, Avatar, Card, Dialog, Input — bibliothèque cohérente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la sécurité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(jose), bcrypt cost 12, cookies HttpOnly, validation Zod, OWASP Top 10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RGPD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la persistance des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une base de données relationnelle, écrire les requêtes optimisées et garantir l'intégrité.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 besoin et concevoir un MCD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user stories → 18 entités identifiées, cardinalités explicites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une base relationnelle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Neon, migrations versionnées prisma/migrations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des composants d'accès aux données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type-safe, helpers src/lib/server/&lt;domaine&gt;/&lt;entité&gt;.ts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l'intégrité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PK, FK, UNIQUE composées (réactions), ENUM métier, cascades maîtrisées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MLD / MPD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modèles Prisma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relations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enums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une application multicouche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BC03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application répartie front + back avec une logique métier propre, des API et du temps réel.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multicouche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→ Métier → Persistance → Infrastructure, frontières claires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la partie front-end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Components, hooks personnalisés (use-real-time-chat…)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la partie back-end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 REST + SSE, Server Actions, validation Zod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 + Upstash Redis (compatible serverless Vercel)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endpoints API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4 couches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SSE temps réel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le déploiement d'une application sécurisée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BC03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une chaîne CI/CD complète, conteneuriser et déployer en environnement de production sécurisé.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et documenter le déploiement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multi-stage, docker-compose, variables d'env documentées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Contribuer à la mise en production DevOps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: lint + test + build + deploy, secrets cloisonnés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Industrialiser la livraison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(preview par PR + prod), Neon branching pour BDD isolée par PR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l'exploitabilité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Healthcheck, rollback Vercel one-click, logs structurés, monitoring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GitHub Actions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Neon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+ monitoring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 rencontrées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20240"/>
            <a:ext cx="868680" cy="868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↻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78308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sans WebSocket persistant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920240"/>
            <a:ext cx="868680" cy="868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⊕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45236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Prisma de bout en bout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88036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251960"/>
            <a:ext cx="868680" cy="868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◉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78308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custom sans NextAuth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2120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4023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251960"/>
            <a:ext cx="868680" cy="868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▤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452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jury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52120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000" dirty="0"/>
          </a:p>
        </p:txBody>
      </p:sp>
      <p:pic>
        <p:nvPicPr>
          <p:cNvPr id="2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techniques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350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240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strict, génériques, schémas Zod partagés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8072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— App Router, Server Components, Actions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644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— modélisation, migrations, requêtes complexes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7216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relations riches, contraintes, indexation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1788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— cache + buffer SSE serverless-compatible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526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 — OWASP, RGPD, JWT, bcrypt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50932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983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multi-stage, compose, healthcheck, secrets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55504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GitHub Actions — pipeline lint+test+build+deploy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transverses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23500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720840" y="2240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d'un gros projet en sprints + user stories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8072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technique adressée à des développeurs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2644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672084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critique du code des coéquipiers (code review)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92240" y="37216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72084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technique organisée et soutenable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1788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672084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et priorisation pragmatique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6360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6720840" y="4526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de choix d'architecture face à un jury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92240" y="50932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6720840" y="4983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métier ↔ technique (atout de reconversion)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55504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 sur un projet long de plusieurs mois</a:t>
            </a:r>
            <a:endParaRPr lang="en-US" sz="1100" dirty="0"/>
          </a:p>
        </p:txBody>
      </p:sp>
      <p:pic>
        <p:nvPicPr>
          <p:cNvPr id="41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 &amp;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48006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7" name="Text 5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8660" y="246888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 markdown (DOMPurify) — XSS résiduelle ChatMessage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8660" y="342900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/login, /register, /chat/send via @upstash/ratelimit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" y="438912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HTTP de sécurité (CSP, X-Frame, Referrer)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8660" y="534924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5" name="Text 13"/>
          <p:cNvSpPr/>
          <p:nvPr/>
        </p:nvSpPr>
        <p:spPr>
          <a:xfrm>
            <a:off x="98298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alertes prod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2910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57700" y="246888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473202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E2E Playwright sur les parcours critiques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57700" y="34290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2" name="Text 20"/>
          <p:cNvSpPr/>
          <p:nvPr/>
        </p:nvSpPr>
        <p:spPr>
          <a:xfrm>
            <a:off x="473202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RGPD : suppression compte + export JSON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57700" y="438912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473202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push natives (Web Push)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57700" y="534924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73202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Modération &amp; signalement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7814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06740" y="246888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848106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Décomposer en services (chat → ws dédié)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06740" y="342900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848106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contenu personnalisées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06740" y="438912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5" name="Text 33"/>
          <p:cNvSpPr/>
          <p:nvPr/>
        </p:nvSpPr>
        <p:spPr>
          <a:xfrm>
            <a:off x="848106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dédiée (React Native ?)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06740" y="53492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848106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produit + analytics</a:t>
            </a:r>
            <a:endParaRPr lang="en-US" sz="11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91440" cy="16459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la certification, ce projet matérialise ma transition concrète vers le métier de Concepteur Développeur d'Applications.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86200"/>
            <a:ext cx="594360" cy="594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complet maîtrisé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conception à la production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3886200"/>
            <a:ext cx="594360" cy="594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7472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&amp; RGPD pris au sérieux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roadmap durcissement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69480" y="3886200"/>
            <a:ext cx="594360" cy="594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 justifiés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assumés et documentés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5256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04120" y="3886200"/>
            <a:ext cx="594360" cy="594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0412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Recul critique acquis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identifiées, plan d'évolution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pour une alternance · 12 mois · Normandie / télétravail · CDA RNCP 37873</a:t>
            </a:r>
            <a:endParaRPr lang="en-US" sz="1200" dirty="0"/>
          </a:p>
        </p:txBody>
      </p:sp>
      <p:pic>
        <p:nvPicPr>
          <p:cNvPr id="2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200400"/>
            <a:ext cx="7315200" cy="731520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2743200"/>
            <a:ext cx="7315200" cy="73152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4" name="Image 0" descr="/sessions/sweet-funny-newton/mnt/outputs/build/assets/konekt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371600"/>
            <a:ext cx="4114800" cy="1417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108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91440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1732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djlike@hotmail.fr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52044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◌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02336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clecart.fr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2648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62940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06 70 02 80 47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3252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⟨/⟩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23544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github.com/arocchet/social-network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— Concepteur Développeur d'Applications · Zone01 Rouen Normandie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Konekt - Support Visuel RNCP 37873</dc:title>
  <dc:subject>PptxGenJS Presentation</dc:subject>
  <dc:creator>Christophe Lecart</dc:creator>
  <cp:lastModifiedBy>Christophe Lecart</cp:lastModifiedBy>
  <cp:revision>1</cp:revision>
  <dcterms:created xsi:type="dcterms:W3CDTF">2026-05-19T10:21:42Z</dcterms:created>
  <dcterms:modified xsi:type="dcterms:W3CDTF">2026-05-19T10:21:42Z</dcterms:modified>
</cp:coreProperties>
</file>