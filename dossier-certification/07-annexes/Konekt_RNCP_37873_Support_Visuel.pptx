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3" r:id="rId54"/>
    <p:sldId id="304" r:id="rId55"/>
    <p:sldId id="305" r:id="rId56"/>
    <p:sldId id="287" r:id="rId33"/>
    <p:sldId id="288" r:id="rId34"/>
    <p:sldId id="306" r:id="rId57"/>
    <p:sldId id="307" r:id="rId58"/>
    <p:sldId id="308" r:id="rId59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4.xml"/><Relationship Id="rId40" Type="http://schemas.openxmlformats.org/officeDocument/2006/relationships/slide" Target="slides/slide45.xml"/><Relationship Id="rId41" Type="http://schemas.openxmlformats.org/officeDocument/2006/relationships/slide" Target="slides/slide46.xml"/><Relationship Id="rId42" Type="http://schemas.openxmlformats.org/officeDocument/2006/relationships/slide" Target="slides/slide47.xml"/><Relationship Id="rId43" Type="http://schemas.openxmlformats.org/officeDocument/2006/relationships/slide" Target="slides/slide48.xml"/><Relationship Id="rId44" Type="http://schemas.openxmlformats.org/officeDocument/2006/relationships/slide" Target="slides/slide49.xml"/><Relationship Id="rId45" Type="http://schemas.openxmlformats.org/officeDocument/2006/relationships/slide" Target="slides/slide50.xml"/><Relationship Id="rId46" Type="http://schemas.openxmlformats.org/officeDocument/2006/relationships/slide" Target="slides/slide51.xml"/><Relationship Id="rId47" Type="http://schemas.openxmlformats.org/officeDocument/2006/relationships/slide" Target="slides/slide52.xml"/><Relationship Id="rId48" Type="http://schemas.openxmlformats.org/officeDocument/2006/relationships/slide" Target="slides/slide53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56" Type="http://schemas.openxmlformats.org/officeDocument/2006/relationships/slide" Target="slides/slide34.xml"/><Relationship Id="rId57" Type="http://schemas.openxmlformats.org/officeDocument/2006/relationships/slide" Target="slides/slide41.xml"/><Relationship Id="rId58" Type="http://schemas.openxmlformats.org/officeDocument/2006/relationships/slide" Target="slides/slide42.xml"/><Relationship Id="rId59" Type="http://schemas.openxmlformats.org/officeDocument/2006/relationships/slide" Target="slides/slide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Posts &amp; Réactions</c:v>
                </c:pt>
                <c:pt idx="1">
                  <c:v>Messagerie (SSE)</c:v>
                </c:pt>
                <c:pt idx="2">
                  <c:v>Groupes &amp; Events</c:v>
                </c:pt>
                <c:pt idx="3">
                  <c:v>Auth &amp; Profil</c:v>
                </c:pt>
                <c:pt idx="4">
                  <c:v>Recherche &amp; Notif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solidFill>
          <a:srgbClr val="27273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2727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Jours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Conception</c:v>
                  </c:pt>
                  <c:pt idx="1">
                    <c:v>Développement</c:v>
                  </c:pt>
                  <c:pt idx="2">
                    <c:v>Tests</c:v>
                  </c:pt>
                  <c:pt idx="3">
                    <c:v>Déploiement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14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F3F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72730"/>
        </a:solidFill>
        <a:ln>
          <a:noFill/>
        </a:ln>
        <a:effectLst/>
      </c:spPr>
    </c:plotArea>
    <c:plotVisOnly val="1"/>
    <c:dispBlanksAs val="span"/>
  </c:chart>
  <c:spPr>
    <a:solidFill>
      <a:srgbClr val="272730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image" Target="../media/image-3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418320" y="411480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91440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pic>
        <p:nvPicPr>
          <p:cNvPr id="5" name="Image 0" descr="/sessions/sweet-funny-newton/mnt/outputs/build/assets/konekt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320040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246888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1440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  ·  Niveau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soutenance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social Konekt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sociale full-stack temps réel — Next.js 15, Prisma, PostgreSQL, SSE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5212080"/>
            <a:ext cx="109728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14400" y="5349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Lecart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Concepteur Développeur d'Applications  ·  Promotion 2024-2026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Zone01 Rouen Normandie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247120" y="-457200"/>
            <a:ext cx="1645920" cy="164592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54480" y="1828800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73736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candidat &amp; le contexte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Parcours, reconversion, formation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4048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554480" y="2542032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37360" y="24048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Konekt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048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 périmètre, équipe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1181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554480" y="3255264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737360" y="311810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modélisation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1181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MCD, design system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83133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554480" y="3968496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737360" y="38313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développement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38313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API, temps réel, sécurité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4456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5800" y="45445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54480" y="4681728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737360" y="45445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CI/CD &amp; déploiement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45445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Qualité, automatisation, production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5800" y="5257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1554480" y="5394960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73736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compétences RNCP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5257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Apprentissages, mapping des blocs</a:t>
            </a:r>
            <a:endParaRPr lang="en-US" sz="1200" dirty="0"/>
          </a:p>
        </p:txBody>
      </p:sp>
      <p:pic>
        <p:nvPicPr>
          <p:cNvPr id="37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CANDIDAT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Lecart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91640"/>
            <a:ext cx="2926080" cy="2926080"/>
          </a:xfrm>
          <a:prstGeom prst="ellipse">
            <a:avLst/>
          </a:prstGeom>
          <a:solidFill>
            <a:srgbClr val="EC4899">
              <a:alpha val="30000"/>
            </a:srgbClr>
          </a:solidFill>
          <a:ln w="381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916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2926080" cy="365760"/>
          </a:xfrm>
          <a:prstGeom prst="roundRect">
            <a:avLst>
              <a:gd name="adj" fmla="val 375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RECONVERSION DEV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terrain industriel au code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2240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industriel pendant 20 ans (KONE Ascenseurs, SOCOTEC Équipements), j'ai entamé en 2024 une transition complète vers le développement full-stack via la formation Zone01 Rouen Normandie.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480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8076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4672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visée (RNCP)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1268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1268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1268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Appétence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5074920"/>
            <a:ext cx="7680960" cy="1188720"/>
          </a:xfrm>
          <a:prstGeom prst="roundRect">
            <a:avLst>
              <a:gd name="adj" fmla="val 6154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29768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clés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5413248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29768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5413248"/>
            <a:ext cx="502920" cy="5029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7220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2084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46720" y="5413248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4672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59536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Autodidacte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921240" y="5413248"/>
            <a:ext cx="502920" cy="50292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92124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46988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 ↔ Tech</a:t>
            </a:r>
            <a:endParaRPr lang="en-US" sz="1400" dirty="0"/>
          </a:p>
        </p:txBody>
      </p:sp>
      <p:pic>
        <p:nvPicPr>
          <p:cNvPr id="37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PARCOURS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 de terrain, puis le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28800" y="1645920"/>
            <a:ext cx="54864" cy="457200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91640" y="1801368"/>
            <a:ext cx="329184" cy="329184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 MSMA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Systèmes Mécaniques Automatisés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2578608"/>
            <a:ext cx="329184" cy="329184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 et Automatismes Industriels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3355848"/>
            <a:ext cx="329184" cy="329184"/>
          </a:xfrm>
          <a:prstGeom prst="ellipse">
            <a:avLst/>
          </a:prstGeom>
          <a:solidFill>
            <a:srgbClr val="06B6D4"/>
          </a:solidFill>
          <a:ln w="38100">
            <a:solidFill>
              <a:srgbClr val="1A1B2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2004-2010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 Ascenseurs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régleur et mise en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91640" y="4133088"/>
            <a:ext cx="329184" cy="329184"/>
          </a:xfrm>
          <a:prstGeom prst="ellipse">
            <a:avLst/>
          </a:prstGeom>
          <a:solidFill>
            <a:srgbClr val="8B5CF6"/>
          </a:solidFill>
          <a:ln w="38100">
            <a:solidFill>
              <a:srgbClr val="1A1B2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2010-2024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SOCOTEC Équipements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vérifications générales périodiques (14 ans)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91640" y="4910328"/>
            <a:ext cx="329184" cy="329184"/>
          </a:xfrm>
          <a:prstGeom prst="ellipse">
            <a:avLst/>
          </a:prstGeom>
          <a:solidFill>
            <a:srgbClr val="EC4899"/>
          </a:solidFill>
          <a:ln w="38100">
            <a:solidFill>
              <a:srgbClr val="1A1B2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4800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Zone01 Rouen Normandie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8600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CDA — peer learning, projets, stack moderne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5687568"/>
            <a:ext cx="329184" cy="329184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A1B2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RNCP 37873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86000" y="5852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+ Dossier professionnel + alternance visée</a:t>
            </a:r>
            <a:endParaRPr lang="en-US" sz="1100" dirty="0"/>
          </a:p>
        </p:txBody>
      </p:sp>
      <p:pic>
        <p:nvPicPr>
          <p:cNvPr id="30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MÉTHODE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mode agile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développement adopté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44168" y="2240280"/>
            <a:ext cx="548640" cy="54864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4416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priorisées HIGH/MED/LOW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15768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52344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75304" y="224028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7530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43784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43784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GitHub assignées, points estimés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46904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983480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806440" y="2240280"/>
            <a:ext cx="548640" cy="54864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06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avancement, blocages, plan du jour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214616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37576" y="2240280"/>
            <a:ext cx="548640" cy="54864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3757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06056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6056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de fin de sprint en équipe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09176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445752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268712" y="224028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2687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37192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37192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marché / ce qu'on change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rituels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46360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058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461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vivant, labels, milestones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" y="504748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058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(Kanban)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4612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Todo / Doing / Review / Done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7240" y="545896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0584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4612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obligatoire avant merge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7240" y="587044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05840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4612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bloquante : lint + test + build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40233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4652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du projet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4652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17804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(MVP / Features / Polish)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4652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17804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d'environ 10 jours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46520" y="5349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17804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réparties par sprint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5760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178040" y="5760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rétro par sprint</a:t>
            </a:r>
            <a:endParaRPr lang="en-US" sz="1100" dirty="0"/>
          </a:p>
        </p:txBody>
      </p:sp>
      <p:pic>
        <p:nvPicPr>
          <p:cNvPr id="59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LE PROJET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— contexte &amp; 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application sociale moderne, sécurisée et temps réel, comme support de démonstration pour la certification CDA. Le projet doit illustrer l'ensemble du cycle : conception, développement, tests, déploiement.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: posts, stories, reactions, messagerie privée et de groupe, événements, follow &amp; friends, notifications temps réel — déployé en serverless avec une base relationnelle riche et un push SSE.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25880" y="4389120"/>
            <a:ext cx="640080" cy="6400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Réseautage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Stories, Reels, Reactions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98064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575304" y="4389120"/>
            <a:ext cx="640080" cy="6400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7530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89504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89504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DM, Group Chat, SSE temps réel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47488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824728" y="4389120"/>
            <a:ext cx="640080" cy="6400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24728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Groupes, Événements, RSVP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96912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074152" y="4389120"/>
            <a:ext cx="640080" cy="6400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7415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⌕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88352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88352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Trending, Recommandations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46336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323576" y="4389120"/>
            <a:ext cx="640080" cy="6400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323576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637776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37776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Thème, langue, confidentialité</a:t>
            </a:r>
            <a:endParaRPr lang="en-US" sz="1000" dirty="0"/>
          </a:p>
        </p:txBody>
      </p:sp>
      <p:pic>
        <p:nvPicPr>
          <p:cNvPr id="36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CAHIER DES CHARGES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périmètre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98064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98064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98064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principales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47488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47488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047488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Prisma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96912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96912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296912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46336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46336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546336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stories prioritaires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265176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1463040"/>
                <a:gridCol w="5212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 d'acceptation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S'inscrire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validé, compte créé, JWT émis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un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visible immédiatement dans le feed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Envoyer un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persisté + push SSE au destinataire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Réagir / commenter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Compteur incrémenté, doublon impossible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un contenu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retiré, log d'action conservé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</a:tr>
            </a:tbl>
          </a:graphicData>
        </a:graphic>
      </p:graphicFrame>
      <p:pic>
        <p:nvPicPr>
          <p:cNvPr id="22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multicouche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691640"/>
            <a:ext cx="109728" cy="10972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— ce que l'utilisateur voit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Next.js (React Server Components)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121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UI (shadcn/ui, Tailwind)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414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 données (use-api, use-real-time-chat)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788920"/>
            <a:ext cx="0" cy="731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286207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2862072"/>
            <a:ext cx="109728" cy="1097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2953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MÉTIER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319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applicative et règles métier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/api/private/* /api/public/*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(mutations) · Middleware JWT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Zod, schémas partagés client/serveur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959352"/>
            <a:ext cx="0" cy="731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4032504"/>
            <a:ext cx="109728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489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169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(18 modèles, requêtes type-safe)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462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versionnées prisma/migrations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src/lib/server/&lt;domaine&gt;/&lt;entité&gt;.ts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5129784"/>
            <a:ext cx="0" cy="731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48640" y="520293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48640" y="5202936"/>
            <a:ext cx="109728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77240" y="5294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660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et services externes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53400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Neon (DB relationnelle)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5632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(cache + buffer SSE)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5925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(médias) · Vercel (runtime)</a:t>
            </a:r>
            <a:endParaRPr lang="en-US" sz="1100" dirty="0"/>
          </a:p>
        </p:txBody>
      </p:sp>
      <p:pic>
        <p:nvPicPr>
          <p:cNvPr id="36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691640"/>
            <a:ext cx="73152" cy="22402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SSR/CSR hybride · Server Actions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typés, hooks personnalisés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system, dark theme natif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51960" y="1691640"/>
            <a:ext cx="73152" cy="2240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8056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Server-Sent Events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type-safe, migrations, 18 modèles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payloads, schémas partagés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46720" y="1691640"/>
            <a:ext cx="73152" cy="2240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7532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Temps réel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2194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 managée, branches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7532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(REST)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buffer SSE compatible serverless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images / vidéos, transformations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57200" y="4069080"/>
            <a:ext cx="73152" cy="2240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85800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Sécurité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custom (jose)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· SameSite · Secret applicatif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" y="5120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mots de passe, comparison constante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" y="5669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googleapis + state cookie anti-CSRF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5196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251960" y="4069080"/>
            <a:ext cx="73152" cy="2240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480560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48056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8056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légère oven/bun:1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80560" y="5120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8056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Test · Build · Deploy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80560" y="5669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Neon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8056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préview par PR + prod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4672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046720" y="4069080"/>
            <a:ext cx="73152" cy="2240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275320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7532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ts-jest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27532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 API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75320" y="5120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TypeScript strict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7532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 + typage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75320" y="5669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Playwright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7532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parcours critiques</a:t>
            </a:r>
            <a:endParaRPr lang="en-US" sz="900" dirty="0"/>
          </a:p>
        </p:txBody>
      </p:sp>
      <p:pic>
        <p:nvPicPr>
          <p:cNvPr id="59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système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1945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194560"/>
            <a:ext cx="2194560" cy="3657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1965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EventSource (SSE)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forms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authToken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1945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17520" y="219456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175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CDN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74320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HTML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19456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937760" y="2194560"/>
            <a:ext cx="237744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/api/private/...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/api/public/...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17830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80960" y="1783080"/>
            <a:ext cx="91440" cy="10058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638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Neon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relationnelle, 18 modèles Prisma, migrations versionnées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29260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680960" y="2926080"/>
            <a:ext cx="9144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638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(REST)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337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buffer SSE — clés latest:chat:* polling REST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40690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680960" y="4069080"/>
            <a:ext cx="9144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8638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4480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médias, transformations à la volée, CDN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657600"/>
            <a:ext cx="274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274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315200" y="2286000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15200" y="342900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315200" y="4572000"/>
            <a:ext cx="3657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serverless-ready : la stack tourne nativement sur Vercel et reste reproductible en local via docker-compose.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12064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85800" y="5120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bidirectionnel</a:t>
            </a:r>
            <a:endParaRPr lang="en-US" sz="1000" dirty="0"/>
          </a:p>
        </p:txBody>
      </p:sp>
      <p:pic>
        <p:nvPicPr>
          <p:cNvPr id="37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de modélisation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des termes que l'on rencontrera dans MCD / MLD / MPD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/ Table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métier matérialisé en table SQL. Une ligne = une instance.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User, Post, Comment, Reaction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/ Colonne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d'une entité, typée. Devient une colonne en base.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 (varchar) · Post.message (text)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412480" y="228600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0684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primaire (PK)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non-null d'une ligne. Une seule par table.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User.id (uuid) · Post.id (cuid)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étrangère (FK)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la PK d'une autre table. Maintient l'intégrité référentielle.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5623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5806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Post.userId → User.id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42519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72000" y="4434840"/>
            <a:ext cx="502920" cy="50292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6636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d'instances liées : 1-1, 1-N, N-N. Détermine la structure relationnelle.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5623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5806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1—N Post  ·  User N—N User via Friendship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0" y="42519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412480" y="4434840"/>
            <a:ext cx="502920" cy="50292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124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▩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00684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1248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d'accès accélérant les lectures sur certaines colonnes.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5623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5806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@@index([userId, createdAt]) sur Post</a:t>
            </a:r>
            <a:endParaRPr lang="en-US" sz="1000" dirty="0"/>
          </a:p>
        </p:txBody>
      </p:sp>
      <p:pic>
        <p:nvPicPr>
          <p:cNvPr id="4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MCD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abstraite des entités métier et de leurs relations, indépendante de toute technologie. On y identifie les entités, leurs attributs et les cardinalités entre elles. C'est la vue "business" du domaine.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EC4899">
              <a:alpha val="25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456432"/>
            <a:ext cx="2377440" cy="1828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6B6D4">
              <a:alpha val="25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3456432"/>
            <a:ext cx="237744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206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8B5CF6">
              <a:alpha val="25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3456432"/>
            <a:ext cx="2377440" cy="182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354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749040"/>
            <a:ext cx="173736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918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 1,N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3749040"/>
            <a:ext cx="1737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066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1,N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MCD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</a:t>
            </a:r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publie 0..N 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Post a exactement 1 auteur (cardinalité 1,1 côté Post)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contient 0..N </a:t>
            </a:r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chaque Comment référence exactement 1 Post (parent)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MCD n'expose </a:t>
            </a:r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clés étrangères, ni types techniques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uniquement le sens métier</a:t>
            </a:r>
            <a:endParaRPr lang="en-US" sz="1200" dirty="0"/>
          </a:p>
        </p:txBody>
      </p:sp>
      <p:pic>
        <p:nvPicPr>
          <p:cNvPr id="27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MLD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Logique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du MCD en schéma relationnel : on matérialise les relations par des clés étrangères, on choisit les types logiques (string, int, datetime) et on précise les contraintes (NOT NULL, UNIQUE).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288036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288036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43000" y="288036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7160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MLD — extrait (notation Prisma)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(id PK, email UNIQUE, username UNIQUE, password, birthDate, createdAt)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(id PK, userId FK → USER.id, message, image?, visibility, createdAt)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 (id PK, postId FK → POST.id, userId FK → USER.id, message, createdAt)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 (id PK, userId FK → USER.id, postId FK? → POST.id, type, createdAt)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UNIQUE (userId, postId, type)   ← un user ne peut pas dupliquer une réaction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 (id PK, userId FK → USER.id, image, expiresAt, createdAt)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FRIENDSHIP (id PK, requesterId FK → USER.id, addresseeId FK → USER.id, status)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0749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UNIQUE (requesterId, addresseeId)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relation N-1 du MCD devient une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côté "plusieurs". Les relations N-N (ex. Friendship) deviennent une table d'association avec ses propres attributs.</a:t>
            </a:r>
            <a:endParaRPr lang="en-US" sz="1100" dirty="0"/>
          </a:p>
        </p:txBody>
      </p:sp>
      <p:pic>
        <p:nvPicPr>
          <p:cNvPr id="23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MPD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Physique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SQL concrète du MLD pour un SGBD donné — ici PostgreSQL. On y choisit les types techniques (varchar(n), uuid, timestamptz), les contraintes (CHECK, ON DELETE), les index physiques.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3246120"/>
          </a:xfrm>
          <a:prstGeom prst="roundRect">
            <a:avLst>
              <a:gd name="adj" fmla="val 2817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288036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288036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43000" y="288036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7160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MPD — extrait DDL 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"User" 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31927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  TEXT        PRIMARY KEY DEFAULT cuid(),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48386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  VARCHAR(255) NOT NULL UNIQUE,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64845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      VARCHAR(50)  NOT NULL UNIQUE,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8130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     VARCHAR(255) NOT NULL,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visibility    "ProfileVisibility" NOT NULL DEFAULT 'PUBLIC',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14223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    TIMESTAMPTZ  NOT NULL DEFAULT NOW()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30682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47141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6360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"Post" (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TEXT PRIMARY KEY DEFAULT cuid(),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96519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     TEXT NOT NULL REFERENCES "User"(id) ON DELETE CASCADE,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1297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     TEXT NOT NULL CHECK (length(message) &lt;= 5000),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29437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visibility  "Visibility" NOT NULL DEFAULT 'PUBLIC',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45896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  TIMESTAMPTZ NOT NULL DEFAULT NOW()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62356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7881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idx_post_user_created ON "Post"(userId, createdAt DESC);</a:t>
            </a:r>
            <a:endParaRPr lang="en-US" sz="1000" dirty="0"/>
          </a:p>
        </p:txBody>
      </p:sp>
      <p:pic>
        <p:nvPicPr>
          <p:cNvPr id="30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18 entités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pic>
        <p:nvPicPr>
          <p:cNvPr id="5" name="Image 0" descr="/sessions/sweet-funny-newton/mnt/outputs/build/assets/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8638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91640"/>
            <a:ext cx="3017520" cy="4572000"/>
          </a:xfrm>
          <a:prstGeom prst="roundRect">
            <a:avLst>
              <a:gd name="adj" fmla="val 24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saillants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3252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4692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Prisma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32520" y="2651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4692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32520" y="3154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469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métier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73252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646920" y="3657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User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32520" y="4297680"/>
            <a:ext cx="2743200" cy="18288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7325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centrales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3252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732520" y="4919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 Comment / Reaction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732520" y="5175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32520" y="5431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 / Message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732520" y="5687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/ Event / Rsvp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732520" y="5943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</a:t>
            </a:r>
            <a:endParaRPr lang="en-US" sz="1000" dirty="0"/>
          </a:p>
        </p:txBody>
      </p:sp>
      <p:pic>
        <p:nvPicPr>
          <p:cNvPr id="24" name="Image 1" descr="/sessions/sweet-funny-newton/mnt/outputs/build/assets/konek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 cœur du domaine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212080" y="3017520"/>
            <a:ext cx="1737360" cy="1737360"/>
          </a:xfrm>
          <a:prstGeom prst="ellipse">
            <a:avLst/>
          </a:prstGeom>
          <a:solidFill>
            <a:srgbClr val="EC4899">
              <a:alpha val="50000"/>
            </a:srgbClr>
          </a:solidFill>
          <a:ln w="381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21208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1208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entités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relations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V="1">
            <a:off x="6080760" y="2258568"/>
            <a:ext cx="914" cy="740664"/>
          </a:xfrm>
          <a:prstGeom prst="line">
            <a:avLst/>
          </a:prstGeom>
          <a:noFill/>
          <a:ln w="1905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577840" y="123444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57784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77840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011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V="1">
            <a:off x="6707941" y="2735290"/>
            <a:ext cx="523729" cy="523729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097299" y="1863821"/>
            <a:ext cx="1005840" cy="100584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97299" y="1863821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97299" y="2366741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97299" y="264106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67728" y="3886200"/>
            <a:ext cx="740664" cy="914"/>
          </a:xfrm>
          <a:prstGeom prst="line">
            <a:avLst/>
          </a:prstGeom>
          <a:noFill/>
          <a:ln w="190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26680" y="3383280"/>
            <a:ext cx="1005840" cy="1005840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26680" y="3383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26680" y="3886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réagit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7941" y="4513381"/>
            <a:ext cx="523729" cy="523729"/>
          </a:xfrm>
          <a:prstGeom prst="line">
            <a:avLst/>
          </a:prstGeom>
          <a:noFill/>
          <a:ln w="190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097299" y="4902739"/>
            <a:ext cx="1005840" cy="1005840"/>
          </a:xfrm>
          <a:prstGeom prst="ellipse">
            <a:avLst/>
          </a:prstGeom>
          <a:solidFill>
            <a:srgbClr val="10B981">
              <a:alpha val="3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097299" y="4902739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97299" y="540565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97299" y="567997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4773168"/>
            <a:ext cx="914" cy="740664"/>
          </a:xfrm>
          <a:prstGeom prst="line">
            <a:avLst/>
          </a:prstGeom>
          <a:noFill/>
          <a:ln w="19050">
            <a:solidFill>
              <a:srgbClr val="F472B6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577840" y="5532120"/>
            <a:ext cx="1005840" cy="1005840"/>
          </a:xfrm>
          <a:prstGeom prst="ellipse">
            <a:avLst/>
          </a:prstGeom>
          <a:solidFill>
            <a:srgbClr val="F472B6">
              <a:alpha val="30000"/>
            </a:srgbClr>
          </a:solidFill>
          <a:ln w="254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577840" y="5532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6035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6309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flipH="1">
            <a:off x="4929850" y="4513381"/>
            <a:ext cx="523729" cy="523729"/>
          </a:xfrm>
          <a:prstGeom prst="line">
            <a:avLst/>
          </a:prstGeom>
          <a:noFill/>
          <a:ln w="19050">
            <a:solidFill>
              <a:srgbClr val="EF4444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058381" y="4902739"/>
            <a:ext cx="1005840" cy="1005840"/>
          </a:xfrm>
          <a:prstGeom prst="ellipse">
            <a:avLst/>
          </a:prstGeom>
          <a:solidFill>
            <a:srgbClr val="EF4444">
              <a:alpha val="30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058381" y="4902739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058381" y="540565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58381" y="567997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 flipH="1">
            <a:off x="4453128" y="3886200"/>
            <a:ext cx="740664" cy="914"/>
          </a:xfrm>
          <a:prstGeom prst="line">
            <a:avLst/>
          </a:prstGeom>
          <a:noFill/>
          <a:ln w="1905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429000" y="338328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29000" y="3383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3429000" y="3886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2900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 flipH="1" flipV="1">
            <a:off x="4929850" y="2735290"/>
            <a:ext cx="523729" cy="523729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058381" y="1863821"/>
            <a:ext cx="1005840" cy="100584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058381" y="1863821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058381" y="2366741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058381" y="264106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conceptuel simplifié — toutes les entités du domaine gravitent autour de l'utilisateur, avec des cardinalités explicites côté Prisma.</a:t>
            </a:r>
            <a:endParaRPr lang="en-US" sz="1100" dirty="0"/>
          </a:p>
        </p:txBody>
      </p:sp>
      <p:pic>
        <p:nvPicPr>
          <p:cNvPr id="49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Konekt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C4899"/>
          </a:solidFill>
          <a:ln w="6350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#EC4899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A1B23"/>
          </a:solidFill>
          <a:ln w="6350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688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#1A1B23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20116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6350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976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#272730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 w="6350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4688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 w="6350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976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#8B5CF6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01168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6400" dirty="0"/>
          </a:p>
        </p:txBody>
      </p:sp>
      <p:sp>
        <p:nvSpPr>
          <p:cNvPr id="27" name="Text 25"/>
          <p:cNvSpPr/>
          <p:nvPr/>
        </p:nvSpPr>
        <p:spPr>
          <a:xfrm>
            <a:off x="77724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Geist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7724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family — Next.js next/font · variable, optimisée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px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px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px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px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4864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50876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50876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6888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46888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2900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42900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38912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4864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50876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50876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6888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46888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2900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42900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1792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512064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5508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 Mobile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55080" y="5577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640px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18388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Tablet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183880" y="5577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 – 1024px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1268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Desktop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012680" y="5577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1024px</a:t>
            </a:r>
            <a:endParaRPr lang="en-US" sz="1100" dirty="0"/>
          </a:p>
        </p:txBody>
      </p:sp>
      <p:pic>
        <p:nvPicPr>
          <p:cNvPr id="64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AUTHENTIFICATION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Login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sessions/sweet-funny-newton/mnt/outputs/build/assets/Mockups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d'entrée Konekt — design soigné, validation côté client par Zod, lien vers OAuth Google. Pas de fuite d'information sur l'existence d'un compte côté serveur.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+ secret applicatif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· pas d'accès JS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cookie anti-CSRF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partagé client / serveur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VUE PRINCIPALE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Home Feed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sessions/sweet-funny-newton/mnt/outputs/build/assets/Mockups_Home_Fe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PRINCIPALE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feed est le cœur de Konekt : posts amis, stories en haut, suggestions de profils, infinite scroll, image full-width. Tout est servi par /api/private/post avec pagination cursor-based.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scroll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cursor-based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ephemeral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24h, polling SSE pour le statut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inline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 · doublon impossible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optimisée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Next/Image + Cloudinary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IDENTITÉ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Profil utilisateur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sessions/sweet-funny-newton/mnt/outputs/build/assets/Mockups_U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utilisateur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public ou privé selon ProfileVisibility. Compteurs followers / following / posts, gradient personnalisable, tabs Posts / Photos / Vidéos, action Suivre / Modifier.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PUBLIC/PRIVATE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Prisma respecté côté API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/ Following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Friendship 2-way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dynamiques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/ Photos / Vidéos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 + Cloudinary upload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PUBLICATION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Création de post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sessions/sweet-funny-newton/mnt/outputs/build/assets/Mockups_Create_P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post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riche avec preview, upload Cloudinary, choix de visibilité (PUBLIC / FRIENDS / PRIVATE), validation Zod côté serveur, persistance Prisma puis broadcast SSE.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Cloudinary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upload signé côté serveur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granulaire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+ check au fetch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taille, type MIME, longueur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type-safe Next.js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CONTENU ÉPHÉMÈRE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Story Viewer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sessions/sweet-funny-newton/mnt/outputs/build/assets/Mockups_Story_Vie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Viewer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ÉPHÉMÈRE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 plein écran des stories des amis, progression segmentée, swipe navigation, expiration automatique à 24h. Statistique de vues persistée pour l'auteur.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24h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cron · cleanup expirés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segmentée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Multi-stories par utilisateur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uniques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stocké en relation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emoji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reply au créateur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PERSONNALISATION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Paramètres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sessions/sweet-funny-newton/mnt/outputs/build/assets/Mockups_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settings centralisée — profil, sécurité (mot de passe, sessions), notifications, langue (FR/EN), thème, confidentialité. Préférences stockées dans UserSettings (1-to-1 User).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UserSettings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Prisma 1-to-1 dédié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côté serveur · cohérent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EN / FR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next-intl, dictionnaires lazy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controls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ProfileVisibility, notification opt-in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implémentées · 14 routes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7830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691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posts du réseau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55080" y="17830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0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1691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email + OAuth Google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" y="21488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057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vérification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205740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55080" y="21488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/onboarding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2057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2057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du profil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42316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5800" y="251460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2423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/profile/[id]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2423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public/privé, posts, abonnés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42316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355080" y="251460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0" y="2423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2423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messages 1-to-1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278892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85800" y="2880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14400" y="2788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/chat/[id]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2788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2788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privée temps réel (SSE)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278892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355080" y="2880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83680" y="2788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/reels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21040" y="2788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0" y="2788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courtes verticales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15468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85800" y="32461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14400" y="3154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51760" y="3154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31920" y="3154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+ posts avec historique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315468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355080" y="32461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583680" y="3154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1040" y="3154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01200" y="3154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recherche, création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352044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85800" y="36118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914400" y="3520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/groups/[id]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651760" y="3520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931920" y="3520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+ chat + membres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352044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355080" y="36118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583680" y="3520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21040" y="3520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0" y="3520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+ RSVP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" y="388620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85800" y="3977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914400" y="3886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651760" y="3886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931920" y="38862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sécurité, langue, thème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388620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355080" y="3977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583680" y="3886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/invitations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321040" y="3886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601200" y="38862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d'amitié et de groupe</a:t>
            </a:r>
            <a:endParaRPr lang="en-US" sz="900" dirty="0"/>
          </a:p>
        </p:txBody>
      </p:sp>
      <p:pic>
        <p:nvPicPr>
          <p:cNvPr id="75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d'authentification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83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2286000"/>
            <a:ext cx="0" cy="37490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480560" y="1783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8056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286000"/>
            <a:ext cx="0" cy="37490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503920" y="1783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0392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(Prisma)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2286000"/>
            <a:ext cx="0" cy="37490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280160" y="2743200"/>
            <a:ext cx="402336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8016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/api/public/auth/login  { email, password 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3246120"/>
            <a:ext cx="4023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0352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 WHERE email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5303520" y="3749040"/>
            <a:ext cx="40233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0352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row (hashed pwd)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402336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272730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9496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bcrypt.compare(password, user.password)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jose.SignJWT({ userId }) ➜ JWT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1280160" y="5074920"/>
            <a:ext cx="40233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80160" y="4782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 ·  Set-Cookie: authToken HttpOnly SameSite=Lax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avec </a:t>
            </a:r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secret applicatif · Cookie 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 accessible JS) · 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12 · 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state cookie anti-CSRF · Middleware Next.js qui valide le JWT pour chaque route privée.</a:t>
            </a:r>
            <a:endParaRPr lang="en-US" sz="1100" dirty="0"/>
          </a:p>
        </p:txBody>
      </p:sp>
      <p:pic>
        <p:nvPicPr>
          <p:cNvPr id="26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signature JWT (jose)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src/lib/server/user/login.ts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SignJWT } from 'jose';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bcrypt from 'bcrypt';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4261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8437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login(email: string, password: string) 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44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db.user.findUnique({ where: { email } });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(!user) throw new AuthError('INVALID_CREDENTIALS');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44728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6484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ok = await bcrypt.compare(password, user.password);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496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(!ok)  throw new AuthError('INVALID_CREDENTIALS');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2519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secret = new TextEncoder().encode(process.env.JWT_SECRET);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4531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 = await new SignJWT({ userId: user.id })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65429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.setProtectedHeader({ alg: 'HS256' })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85546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.setIssuedAt()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0566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.setExpirationTime('7d')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.sign(secret);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4589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6601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token, user };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86130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 en temps constant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message si user inconnu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HS256 (jose)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explicite 7 jours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env var jamais commité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typées (AuthError)</a:t>
            </a:r>
            <a:endParaRPr lang="en-US" sz="1100" dirty="0"/>
          </a:p>
        </p:txBody>
      </p:sp>
      <p:pic>
        <p:nvPicPr>
          <p:cNvPr id="49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— Server-Sent Events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38328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8328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2648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2648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50392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88136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88136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2144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2651760"/>
            <a:ext cx="310896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/api/private/chat/send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306324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02336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message (Prisma)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0" y="3474720"/>
            <a:ext cx="5120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023360" y="3182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latest:chat:{from}:{to}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H="1">
            <a:off x="914400" y="3886200"/>
            <a:ext cx="31089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status SENT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9144000" y="4343400"/>
            <a:ext cx="2377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0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latest:chat:* (polling REST)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0" y="4754880"/>
            <a:ext cx="23774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144000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SSE  data: {...}\n\n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assumé · Upstash Redis est un service REST (pas de pub/sub TCP) : on poll la clé latest:chat:* depuis l'endpoint SSE, ce qui reste compatible avec Vercel serverless et suffit pour le volume du projet. Roadmap : Redis classique en pub/sub si la charge augmente.</a:t>
            </a:r>
            <a:endParaRPr lang="en-US" sz="1100" dirty="0"/>
          </a:p>
        </p:txBody>
      </p:sp>
      <p:pic>
        <p:nvPicPr>
          <p:cNvPr id="34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— endpoint /chat/listen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src/app/api/private/chat/listen/route.ts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GET(req: NextRequest)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38201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= await getUserIdFromRequest(req);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2374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(!userId) return new Response('Unauthorized', { status: 401 });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6547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conversationId, type } = parseParams(req.url);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94894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09067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stream = new ReadableStream({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23240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start(controller) 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enc = new TextEncoder();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5158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controller.enqueue(enc.encode('data: {"type":"connected"}\n\n'));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79933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active = true, lastId = '';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94106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(async function poll() {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408279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(active) {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22452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key = `latest:chat:${userId}:${conversationId}`;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36626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data = await redis.get(key);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50799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(data &amp;&amp; data.id !== lastId)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64972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lastId = data.id;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79145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controller.enqueue(enc.encode(`data: ${JSON.stringify(data)}\n\n`));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93318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507492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await sleep(1000);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21665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535838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})();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550011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req.signal.addEventListener('abort', () =&gt; { active = false; controller.close(); });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564184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578358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592531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Response(stream, { headers: { 'Content-Type': 'text/event-stream' } });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606704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ReadableStream Web standard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Redis 1s (REST)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latest:chat:&lt;from&gt;:&lt;to&gt;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par lastId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→ cleanup poll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injecté par middleware</a:t>
            </a:r>
            <a:endParaRPr lang="en-US" sz="1100" dirty="0"/>
          </a:p>
        </p:txBody>
      </p:sp>
      <p:pic>
        <p:nvPicPr>
          <p:cNvPr id="5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60+ endpoints REST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691640"/>
            <a:ext cx="73152" cy="22402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194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/api/public/auth/register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606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606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/api/public/auth/login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/api/public/auth/logout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429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/api/public/auth/callback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51960" y="1691640"/>
            <a:ext cx="73152" cy="2240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805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Profil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21945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480560" y="2194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26060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80560" y="2606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606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301752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48056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/api/private/friend-requests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3429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480560" y="3429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/api/private/friend-requests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046720" y="1691640"/>
            <a:ext cx="73152" cy="2240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2753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75320" y="21945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75320" y="2194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15400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/api/private/post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75320" y="26060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275320" y="2606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15400" y="2606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/api/private/post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75320" y="301752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27532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1540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/api/private/stories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75320" y="3429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275320" y="3429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91540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/api/private/stories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57200" y="4069080"/>
            <a:ext cx="73152" cy="2240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858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&amp; Temps réel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85800" y="4572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85800" y="4572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32588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/api/private/conversations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" y="498348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85800" y="49834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325880" y="4983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/api/private/chat/send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5800" y="53949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85800" y="53949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25880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/api/private/chat/listen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5800" y="5806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85800" y="5806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325880" y="5806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/api/private/chat/typing/listen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25196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251960" y="4069080"/>
            <a:ext cx="73152" cy="2240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48056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480560" y="4572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480560" y="4572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2064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/api/private/groups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480560" y="498348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480560" y="49834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20640" y="4983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/api/private/groups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480560" y="53949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480560" y="53949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120640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/api/private/events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480560" y="5806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4480560" y="5806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120640" y="5806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/api/private/events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4672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8046720" y="4069080"/>
            <a:ext cx="73152" cy="2240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827532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Notif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275320" y="4572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8275320" y="4572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91540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/api/private/search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275320" y="498348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8275320" y="49834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915400" y="4983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/api/private/invitations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275320" y="53949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8275320" y="53949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915400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/api/private/notifications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275320" y="5806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8275320" y="5806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915400" y="5806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/api/private/notifications/:id/read</a:t>
            </a:r>
            <a:endParaRPr lang="en-US" sz="900" dirty="0"/>
          </a:p>
        </p:txBody>
      </p:sp>
      <p:pic>
        <p:nvPicPr>
          <p:cNvPr id="95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96" name="Text 9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d'authentification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src/middleware.ts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middleware(req: NextRequest)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505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pathname } = req.nextUrl;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6090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isPublic = pathname.startsWith('/api/public')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87121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['/login', '/register'].some(r =&gt; pathname.startsWith(r));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815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(isPublic) return NextResponse.next();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5021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req.cookies.get('authToken')?.value;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71246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return NextResponse.redirect('/login');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92277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13308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userId } = await verifyJwt(token);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55371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headers = new Headers(req.headers);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7640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headers.set('x-user-id', userId);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974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NextResponse.next({ request: { headers } });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18464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NextResponse.redirect('/login');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60527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8155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pour routes publiques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authToken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JWT via jose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↩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/login si invalide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x-user-id header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▣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par défaut</a:t>
            </a:r>
            <a:endParaRPr lang="en-US" sz="1100" dirty="0"/>
          </a:p>
        </p:txBody>
      </p:sp>
      <p:pic>
        <p:nvPicPr>
          <p:cNvPr id="4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 &amp; RGPD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en place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(jose) · cookies HttpOnly · SameSite=Lax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 sur tous les mots de passe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 systématique des payloads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 avec state cookie anti-CSRF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89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bloquée par Prisma (paramétrage)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audité — voir securite-rgpd.md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486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forcé en production via Vercel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collectées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468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nom, date de naissance, contenus publiés. Aucun traitement marketing ; aucune donnée sensible au sens art. 9.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 la personne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&amp; consultation profil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0" y="341071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058400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Rectification (settings)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0" y="377647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05840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Effacement / droit à l'oubli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0" y="414223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058400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Portabilité (export JSON)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0" y="450799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058400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/ consentement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58400" y="487375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058400" y="4873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5349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durcissement : rate-limit, headers CSP, sanitization markdown (DOMPurify).</a:t>
            </a:r>
            <a:endParaRPr lang="en-US" sz="1000" dirty="0"/>
          </a:p>
        </p:txBody>
      </p:sp>
      <p:pic>
        <p:nvPicPr>
          <p:cNvPr id="42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04 · DÉVELOPPEMENT ·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Cheminement d'une requête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src/app/api/private/post/[id]/route.ts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import { db } from '@/lib/db';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import { getUserIdFromRequest } from '@/lib/server/api/getUserId';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export async function GET(req: NextRequest, ctx)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const userId = await getUserIdFromRequest(req);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  if (!userId) return respondError('Unauthorized', 401);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4845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const { id } = await ctx.params;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962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50791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// 1. Validation entrée — Zod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const params = z.object({ id: z.string().cuid() }).parse({ id });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5312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5429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// 2. Query Prisma type-safe → SQL paramétré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5546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  const post = await db.post.findUnique({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5663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where: { id: params.id },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include: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5896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user:     { select: { id, username, avatar } },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6013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comments: { select: { id, message, datetime } },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6130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reactions: true,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62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636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  });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6480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66597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// 3. Retour structuré + types inférés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86714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return respondSuccess(post);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706831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1691640"/>
            <a:ext cx="3520440" cy="45720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9" y="17830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Pipeline en 5 étapes</a:t>
            </a:r>
          </a:p>
        </p:txBody>
      </p:sp>
      <p:sp>
        <p:nvSpPr>
          <p:cNvPr id="37" name="Oval 36"/>
          <p:cNvSpPr/>
          <p:nvPr/>
        </p:nvSpPr>
        <p:spPr>
          <a:xfrm>
            <a:off x="8275319" y="224028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2240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Middleware → x-user-id</a:t>
            </a:r>
          </a:p>
        </p:txBody>
      </p:sp>
      <p:sp>
        <p:nvSpPr>
          <p:cNvPr id="40" name="Oval 39"/>
          <p:cNvSpPr/>
          <p:nvPr/>
        </p:nvSpPr>
        <p:spPr>
          <a:xfrm>
            <a:off x="8275319" y="28803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28803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8346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Zod valide l'entrée</a:t>
            </a:r>
          </a:p>
        </p:txBody>
      </p:sp>
      <p:sp>
        <p:nvSpPr>
          <p:cNvPr id="43" name="Oval 42"/>
          <p:cNvSpPr/>
          <p:nvPr/>
        </p:nvSpPr>
        <p:spPr>
          <a:xfrm>
            <a:off x="8275319" y="352044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3520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474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Prisma compose le SQL</a:t>
            </a:r>
          </a:p>
        </p:txBody>
      </p:sp>
      <p:sp>
        <p:nvSpPr>
          <p:cNvPr id="46" name="Oval 45"/>
          <p:cNvSpPr/>
          <p:nvPr/>
        </p:nvSpPr>
        <p:spPr>
          <a:xfrm>
            <a:off x="8275319" y="41605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9" y="4160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1148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pg envoie SQL paramétré</a:t>
            </a:r>
          </a:p>
        </p:txBody>
      </p:sp>
      <p:sp>
        <p:nvSpPr>
          <p:cNvPr id="49" name="Oval 48"/>
          <p:cNvSpPr/>
          <p:nvPr/>
        </p:nvSpPr>
        <p:spPr>
          <a:xfrm>
            <a:off x="8275319" y="480060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19" y="4800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7548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Réponse typée TypeScript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32 / 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04 · DÉVELOPPEMENT ·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Requête préparée : pourquoi c'est sûr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34924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34924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❌  Requête naïve —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⚠️ N'EST PAS dans notre code, illustration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const email = req.body.email;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const result = await db.$queryRawUnsafe(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  `SELECT * FROM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   WHERE email = '${email}'`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Si email = "x' OR '1'='1"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// → SELECT * FROM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//   WHERE email = 'x' OR '1'='1'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// → renvoie TOUS les utilisateurs 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91640"/>
            <a:ext cx="534924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691640"/>
            <a:ext cx="53492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75564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✓  Prisma — PROTÉGÉ par défaut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24028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✅ Le pattern utilisé partout dans le projet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5146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889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const email = req.body.email;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06324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33756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const user = await db.user.findUnique({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1188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where: { email 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862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});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605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43484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Prisma envoie au driver pg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70916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  SELECT * FROM users WHERE email = $1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98348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  avec params = ['x' OR ''1''=''1']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25780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5321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PostgreSQL traite $1 comme STRING littérale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80644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→ 0 ligne renvoyée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33 /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04 · DÉVELOPPEMENT ·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Anti-SQLi : défense en profondeur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83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057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Validation type + format avant tout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9456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z.string().email().min(6)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09728" cy="8686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834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C4899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2834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108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Compose un SQL paramétré (jamais de concat)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4612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db.user.findUnique({ where: { email } })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109728" cy="8686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86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886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DRIVER 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160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Sépare query texte + array de 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29768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PREPARE → EXECUTE($1, $2, ...)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09728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937759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49377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5212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Traite chaque param comme littéral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34924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WHERE email = $1   (binding)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691640"/>
            <a:ext cx="3520440" cy="45720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17830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Payload attaque</a:t>
            </a:r>
          </a:p>
        </p:txBody>
      </p:sp>
      <p:sp>
        <p:nvSpPr>
          <p:cNvPr id="31" name="Oval 30"/>
          <p:cNvSpPr/>
          <p:nvPr/>
        </p:nvSpPr>
        <p:spPr>
          <a:xfrm>
            <a:off x="8275319" y="224028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2240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' OR 1=1-- envoyé</a:t>
            </a:r>
          </a:p>
        </p:txBody>
      </p:sp>
      <p:sp>
        <p:nvSpPr>
          <p:cNvPr id="34" name="Oval 33"/>
          <p:cNvSpPr/>
          <p:nvPr/>
        </p:nvSpPr>
        <p:spPr>
          <a:xfrm>
            <a:off x="8275319" y="28803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28803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8346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Zod : pas un email</a:t>
            </a:r>
          </a:p>
        </p:txBody>
      </p:sp>
      <p:sp>
        <p:nvSpPr>
          <p:cNvPr id="37" name="Oval 36"/>
          <p:cNvSpPr/>
          <p:nvPr/>
        </p:nvSpPr>
        <p:spPr>
          <a:xfrm>
            <a:off x="8275319" y="352044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3520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474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Prisma : paramètre</a:t>
            </a:r>
          </a:p>
        </p:txBody>
      </p:sp>
      <p:sp>
        <p:nvSpPr>
          <p:cNvPr id="40" name="Oval 39"/>
          <p:cNvSpPr/>
          <p:nvPr/>
        </p:nvSpPr>
        <p:spPr>
          <a:xfrm>
            <a:off x="8275319" y="416052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4160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41148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Driver : binding</a:t>
            </a:r>
          </a:p>
        </p:txBody>
      </p:sp>
      <p:sp>
        <p:nvSpPr>
          <p:cNvPr id="43" name="Oval 42"/>
          <p:cNvSpPr/>
          <p:nvPr/>
        </p:nvSpPr>
        <p:spPr>
          <a:xfrm>
            <a:off x="8275319" y="48006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4800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7548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PG : 0 résultat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  <a:latin typeface="Calibri"/>
              </a:rPr>
              <a:t>OWASP Top 10 — A03:2021 Injection · neutralisée structurellement par Prisma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34 /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QUALITÉ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tests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000500" y="1828800"/>
            <a:ext cx="1234440" cy="914400"/>
          </a:xfrm>
          <a:prstGeom prst="rect">
            <a:avLst/>
          </a:prstGeom>
          <a:solidFill>
            <a:srgbClr val="EF4444">
              <a:alpha val="4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000500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743200"/>
            <a:ext cx="2468880" cy="1280160"/>
          </a:xfrm>
          <a:prstGeom prst="rect">
            <a:avLst/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83280" y="27432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4023360"/>
            <a:ext cx="4114800" cy="1463040"/>
          </a:xfrm>
          <a:prstGeom prst="rect">
            <a:avLst/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40233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178308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Pyramide adoptée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331720"/>
            <a:ext cx="91440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(Playwright)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469880" y="23774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6988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critiques : inscription, post, chat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3246120"/>
            <a:ext cx="91440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809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469880" y="32918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6988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ts-jest sur /api/*  (auth, posts, chat)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416052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809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2062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46988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Helpers, validators Zod, hashing, JWT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0" y="5074920"/>
            <a:ext cx="91440" cy="8229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809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types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69880" y="51206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469880" y="5120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bloquant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5440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TypeScript strict, prisma generate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cible 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sur les modules critiques (auth, chat, persistence).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d'essai documentés dans tests-strategy.md.</a:t>
            </a:r>
            <a:endParaRPr lang="en-US" sz="1100" dirty="0"/>
          </a:p>
        </p:txBody>
      </p:sp>
      <p:pic>
        <p:nvPicPr>
          <p:cNvPr id="35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QUALITÉ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GitHub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434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0100" y="2423160"/>
            <a:ext cx="640080" cy="64008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01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006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feature-*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0594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85166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217420" y="2423160"/>
            <a:ext cx="640080" cy="6400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2174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9738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Setup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9738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 · setup-bun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2326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6898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34740" y="2423160"/>
            <a:ext cx="640080" cy="6400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347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147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470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install --frozen-lockfile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4058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8630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52060" y="2423160"/>
            <a:ext cx="640080" cy="6400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520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⊕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3202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generate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202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bunx prisma generate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5790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0362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69380" y="2423160"/>
            <a:ext cx="640080" cy="6400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693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4934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934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 lint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7522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52094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886700" y="2423160"/>
            <a:ext cx="640080" cy="64008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8867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6666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6666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 test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89254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93826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304020" y="2423160"/>
            <a:ext cx="640080" cy="640080"/>
          </a:xfrm>
          <a:prstGeom prst="ellipse">
            <a:avLst/>
          </a:prstGeom>
          <a:solidFill>
            <a:srgbClr val="F472B6">
              <a:alpha val="30000"/>
            </a:srgbClr>
          </a:solidFill>
          <a:ln w="1905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3040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◧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98398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Next.js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8398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 build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30986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35558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721340" y="2423160"/>
            <a:ext cx="640080" cy="6400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7213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▲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4013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Vercel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40130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ou prod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47548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315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" y="5120640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5312664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" y="5504688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" y="5696712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" y="5888736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6080760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 [checkout, setup-bun, install, prisma:generate, lint, test, build]</a:t>
            </a:r>
            <a:endParaRPr lang="en-US" sz="1000" dirty="0"/>
          </a:p>
        </p:txBody>
      </p:sp>
      <p:pic>
        <p:nvPicPr>
          <p:cNvPr id="60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image applicative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 — deps (cache layer)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oven/bun:1 AS deps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58775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6148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package.json bun.lock ./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93522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bun install --frozen-lockfile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8269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 — builder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45643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oven/bun:1 AS builder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3016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80390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--from=deps /app/node_modules ./node_modules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15137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bunx prisma generate &amp;&amp; bun run build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49884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3 — runner (image légère)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67258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oven/bun:1-slim AS runner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02005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19379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/app/.next ./.next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36752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/app/node_modules ./node_modules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54126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/app/package.json ./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88873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["bun", "run", "start"]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: cache deps séparé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runtime (build &amp; run)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generate avant build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slim finale (~150 Mo)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secret dans l'image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 explicite</a:t>
            </a:r>
            <a:endParaRPr lang="en-US" sz="1100" dirty="0"/>
          </a:p>
        </p:txBody>
      </p:sp>
      <p:pic>
        <p:nvPicPr>
          <p:cNvPr id="52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env local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58775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6148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93522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"3000:3000"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8269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DATABASE_URL: postgresql://postgres:postgres@db:5432/social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45643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REDIS_URL: Upstash Redis REST (UPSTASH_REDIS_REST_URL)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3016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JWT_SECRET: ${JWT_SECRET}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80390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[db, redis]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15137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postgres:16-alpine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49884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["5432:5432"]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67258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POSTGRES_DB: social-network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02005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POSTGRES_USER: postgres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19379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postgres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36752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54126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redis:7-alpine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88873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["6379:6379"]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compose 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Reproduit prod en local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Redis + App orchestrés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respecté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 via .env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= ready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dev (hot reload)</a:t>
            </a:r>
            <a:endParaRPr lang="en-US" sz="1100" dirty="0"/>
          </a:p>
        </p:txBody>
      </p:sp>
      <p:pic>
        <p:nvPicPr>
          <p:cNvPr id="52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Vercel + Neon + Upstash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0060" y="169164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LOCAL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233172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86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8740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48740" y="2651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Redis + 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8660" y="347472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86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8740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+ hot reload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8740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dev profil dev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" y="461772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86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48740" y="4617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8740" y="4937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migrate dev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55948" y="3794760"/>
            <a:ext cx="914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29100" y="169164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PRÉ-PROD / CI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57700" y="233172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4577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97780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97780" y="2651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Test · Build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57700" y="347472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577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97780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Vercel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97780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unique par PR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57700" y="461772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45770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⊕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97780" y="4617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Branching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97780" y="4937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isolée par PR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04988" y="3794760"/>
            <a:ext cx="914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978140" y="169164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06740" y="2331720"/>
            <a:ext cx="548640" cy="5486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067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▲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846820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46820" y="2651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edge functions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06740" y="3474720"/>
            <a:ext cx="548640" cy="5486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2067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▤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846820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846820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main + prod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06740" y="4617720"/>
            <a:ext cx="548640" cy="5486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2067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846820" y="4617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846820" y="4937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pay-as-you-go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6035040"/>
            <a:ext cx="11064240" cy="274320"/>
          </a:xfrm>
          <a:prstGeom prst="roundRect">
            <a:avLst>
              <a:gd name="adj" fmla="val 26667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Vercel one-click · Healthcheck applicatif · Secrets via env vars (jamais committés) · SSL automatique.</a:t>
            </a:r>
            <a:endParaRPr lang="en-US" sz="1000" dirty="0"/>
          </a:p>
        </p:txBody>
      </p:sp>
      <p:pic>
        <p:nvPicPr>
          <p:cNvPr id="54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suivies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Next.js, App Router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Docs (canary)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Components, 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Cheat Sheets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/ WHATWG specs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cookies, fetch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dev community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Theo, Lee Robinson, Dan Abramov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440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— Theo, Fireship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15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Synthèses &amp; démos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224028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46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: signal-to-noise élevé, sources primaires d'abord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301752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465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/ matin, Pocket pour le offline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379476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46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preuve de concept si la techno entre dans le projet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46520" y="457200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46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dans Obsidian, lien vers la source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6520" y="534924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4652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088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équipe sur les choix structurants</a:t>
            </a:r>
            <a:endParaRPr lang="en-US" sz="1000" dirty="0"/>
          </a:p>
        </p:txBody>
      </p:sp>
      <p:pic>
        <p:nvPicPr>
          <p:cNvPr id="47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05 · DÉPLOIEMENT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Du commit à la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50876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  <a:latin typeface="Calibri"/>
              </a:rPr>
              <a:t>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2011680"/>
            <a:ext cx="1508760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Calibri"/>
              </a:rP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7432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ci.yml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2011680"/>
            <a:ext cx="150876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21945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7432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Lint +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718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Jest passe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2011680"/>
            <a:ext cx="15087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21945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7432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next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0" y="2011680"/>
            <a:ext cx="150876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1945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472B6"/>
                </a:solidFill>
                <a:latin typeface="Calibri"/>
              </a:rPr>
              <a:t>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7432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Vercel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9718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Edge runtime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7" y="25146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011680"/>
            <a:ext cx="1508760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21945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C4899"/>
                </a:solidFill>
                <a:latin typeface="Calibri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7432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9718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URL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49039"/>
            <a:ext cx="6858000" cy="24688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" y="393192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0120" y="393192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3000" y="393192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3840479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.github/workflows/ci.yml — déclencheurs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297679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name: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498847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70001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901183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push: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102351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branches: [main]              # auto-deploy sur main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303519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pull_request:                   # check sur PR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50468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branches: [main, develop]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705855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workflow_dispatch:              # bouton manuel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749039"/>
            <a:ext cx="3520440" cy="246888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19" y="3840479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Chiffres clés</a:t>
            </a:r>
          </a:p>
        </p:txBody>
      </p:sp>
      <p:sp>
        <p:nvSpPr>
          <p:cNvPr id="55" name="Oval 54"/>
          <p:cNvSpPr/>
          <p:nvPr/>
        </p:nvSpPr>
        <p:spPr>
          <a:xfrm>
            <a:off x="8275319" y="4297679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19" y="429767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425195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~2 min commit → preview</a:t>
            </a:r>
          </a:p>
        </p:txBody>
      </p:sp>
      <p:sp>
        <p:nvSpPr>
          <p:cNvPr id="58" name="Oval 57"/>
          <p:cNvSpPr/>
          <p:nvPr/>
        </p:nvSpPr>
        <p:spPr>
          <a:xfrm>
            <a:off x="8275319" y="4937759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5319" y="49377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48920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Lint + Test bloquants</a:t>
            </a:r>
          </a:p>
        </p:txBody>
      </p:sp>
      <p:sp>
        <p:nvSpPr>
          <p:cNvPr id="61" name="Oval 60"/>
          <p:cNvSpPr/>
          <p:nvPr/>
        </p:nvSpPr>
        <p:spPr>
          <a:xfrm>
            <a:off x="8275319" y="557784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19" y="55778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alibri"/>
              </a:rPr>
              <a:t>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5321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Vercel preview par PR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37 /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05 · DÉPLOIEMENT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Workflow GitHub Actions — détail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.github/workflows/ci.yml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name: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push:        { branches: [main]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pull_request: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jobs: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4845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build: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962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runs-on: ubuntu-latest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50791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timeout-minutes: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5312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  steps: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5429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      - uses: actions/checkout@v4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5546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5663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      - uses: oven-sh/setup-bun@v1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  with: { bun-version: '1'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5896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6013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Install deps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6130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install --frozen-lockfile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62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636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Prisma 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6480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bunx prisma 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66597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86714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Lint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706831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run lint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72694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747064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Tests d'intégration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767181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run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7872983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807415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Build Next.js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8275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run build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1691640"/>
            <a:ext cx="3520440" cy="45720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17830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Que fait chaque étape ?</a:t>
            </a:r>
          </a:p>
        </p:txBody>
      </p:sp>
      <p:sp>
        <p:nvSpPr>
          <p:cNvPr id="43" name="Oval 42"/>
          <p:cNvSpPr/>
          <p:nvPr/>
        </p:nvSpPr>
        <p:spPr>
          <a:xfrm>
            <a:off x="8275319" y="224028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2240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checkout : clone le repo</a:t>
            </a:r>
          </a:p>
        </p:txBody>
      </p:sp>
      <p:sp>
        <p:nvSpPr>
          <p:cNvPr id="46" name="Oval 45"/>
          <p:cNvSpPr/>
          <p:nvPr/>
        </p:nvSpPr>
        <p:spPr>
          <a:xfrm>
            <a:off x="8275319" y="288036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9" y="28803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28346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setup-bun : runtime CI</a:t>
            </a:r>
          </a:p>
        </p:txBody>
      </p:sp>
      <p:sp>
        <p:nvSpPr>
          <p:cNvPr id="49" name="Oval 48"/>
          <p:cNvSpPr/>
          <p:nvPr/>
        </p:nvSpPr>
        <p:spPr>
          <a:xfrm>
            <a:off x="8275319" y="35204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19" y="3520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474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bun install : deps lockées</a:t>
            </a:r>
          </a:p>
        </p:txBody>
      </p:sp>
      <p:sp>
        <p:nvSpPr>
          <p:cNvPr id="52" name="Oval 51"/>
          <p:cNvSpPr/>
          <p:nvPr/>
        </p:nvSpPr>
        <p:spPr>
          <a:xfrm>
            <a:off x="8275319" y="416052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19" y="4160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1148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prisma generate : types</a:t>
            </a:r>
          </a:p>
        </p:txBody>
      </p:sp>
      <p:sp>
        <p:nvSpPr>
          <p:cNvPr id="55" name="Oval 54"/>
          <p:cNvSpPr/>
          <p:nvPr/>
        </p:nvSpPr>
        <p:spPr>
          <a:xfrm>
            <a:off x="8275319" y="48006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19" y="4800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47548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lint + test : qualité</a:t>
            </a:r>
          </a:p>
        </p:txBody>
      </p:sp>
      <p:sp>
        <p:nvSpPr>
          <p:cNvPr id="58" name="Oval 57"/>
          <p:cNvSpPr/>
          <p:nvPr/>
        </p:nvSpPr>
        <p:spPr>
          <a:xfrm>
            <a:off x="8275319" y="544068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5319" y="5440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alibri"/>
              </a:rPr>
              <a:t>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53949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build : artefact .next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38 / 53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05 · DÉPLOIEMENT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Triggers : 3 façons de déclencher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6576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657600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Calibri"/>
              </a:rPr>
              <a:t>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6596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push sur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Merge d'une PR sur 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291840" cy="4572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8529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CI complet + auto-deploy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76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push: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3250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branches: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8853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-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  <a:latin typeface="Calibri"/>
              </a:rPr>
              <a:t>Status check obligatoire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  <a:latin typeface="Calibri"/>
              </a:rPr>
              <a:t>avant merge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691640"/>
            <a:ext cx="36576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691640"/>
            <a:ext cx="36576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965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96596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pull_request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3317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Ouverture / update d'une PR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788920"/>
            <a:ext cx="3291840" cy="4572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8529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CI + Preview Vercel + Neon branch isolée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204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76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pull_request: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3250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branches: [main, develop]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8853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types: [opened, synchronize]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  <a:latin typeface="Calibri"/>
              </a:rPr>
              <a:t>Status check obligatoire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623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  <a:latin typeface="Calibri"/>
              </a:rPr>
              <a:t>avant merge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691640"/>
            <a:ext cx="36576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691640"/>
            <a:ext cx="3657600" cy="914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965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72B6"/>
                </a:solidFill>
                <a:latin typeface="Calibri"/>
              </a:rPr>
              <a:t>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196596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workflow_dispatch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3317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Bouton manuel dans GitHub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2788920"/>
            <a:ext cx="3291840" cy="4572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28529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Rejeu d'un déploiement, debug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5204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776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workflow_dispatch: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03250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inputs: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28853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env: { type: choice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472B6"/>
                </a:solidFill>
                <a:latin typeface="Calibri"/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  <a:latin typeface="Calibri"/>
              </a:rPr>
              <a:t>Status check obligatoire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623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  <a:latin typeface="Calibri"/>
              </a:rPr>
              <a:t>avant merge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39 / 53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8328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5256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05256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features livrées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graphicFrame>
        <p:nvGraphicFramePr>
          <p:cNvPr id="19" name="Chart 0" descr=""/>
          <p:cNvGraphicFramePr/>
          <p:nvPr/>
        </p:nvGraphicFramePr>
        <p:xfrm>
          <a:off x="640080" y="4069080"/>
          <a:ext cx="53492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397764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0" y="40690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travail par phase (jours)</a:t>
            </a:r>
            <a:endParaRPr lang="en-US" sz="11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6400800" y="4343400"/>
          <a:ext cx="52120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23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application sécurisée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EC4899">
              <a:alpha val="35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Concevoir, développer et tester une application en intégrant les principes de sécurité dès la phase de conception.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Maquetter une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+ mockups 6 pages principales, design system Konekt dédié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interface utilisateur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Router, React Server Components, Tailwind + shadcn/ui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des composants réutilisables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Button, Avatar, Card, Dialog, Input — bibliothèque cohérente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la sécurité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(jose), bcrypt cost 12, cookies HttpOnly, validation Zod, OWASP Top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RGPD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la persistance des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06B6D4">
              <a:alpha val="35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une base de données relationnelle, écrire les requêtes optimisées et garantir l'intégrité.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besoin et concevoir un MCD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user stories → 18 entités identifiées, cardinalités explicites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base relationnelle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Neon, migrations versionnées prisma/migrations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des composants d'accès aux données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type-safe, helpers src/lib/server/&lt;domaine&gt;/&lt;entité&gt;.ts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l'intégrité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 composées (réactions), ENUM métier, cascades maîtrisées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/ MLD / MPD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modèles Prisma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relations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enums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53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une application multicouche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8B5CF6">
              <a:alpha val="35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application répartie front + back avec une logique métier propre, des API et du temps réel.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multicouche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→ Métier → Persistance → Infrastructure, frontières claires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la partie front-end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Components, hooks personnalisés (use-real-time-chat…)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la partie back-end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REST + SSE, Server Actions, validation Zod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+ Upstash Redis (compatible serverless Vercel)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endpoints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4 couches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SSE temps réel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53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 déploiement d'une application sécurisée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10B981">
              <a:alpha val="35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chaîne CI/CD complète, conteneuriser et déployer en environnement de production sécurisé.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et documenter le déploiement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multi-stage, docker-compose, variables d'env documentées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à la mise en production DevOps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lint + test + build + deploy, secrets cloisonnés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la livraison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(preview par PR + prod), Neon branching pour BDD isolée par PR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l'exploitabilité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Healthcheck, rollback Vercel one-click, logs structurés, monitoring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GitHub Actions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Neon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+ monitoring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53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920240"/>
            <a:ext cx="868680" cy="8686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830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sans WebSocket persistant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+ Upstash Redis REST = pas de pub/sub TCP. J'ai construit un mécanisme SSE + polling Redis qui reste compatible serverless tout en garantissant l'ordre d'arrivée et la persistance Prisma avant push.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46520" y="1920240"/>
            <a:ext cx="868680" cy="8686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⊕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5236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Prisma de bout en bout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modèles avec des contraintes d'unicité, des cascades à choisir avec soin et des enums métier. J'ai itéré sur le MCD plusieurs fois avant d'arriver à un schéma équilibré.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4251960"/>
            <a:ext cx="868680" cy="8686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251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◉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custom sans NextAuth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assumé pour comprendre le fonctionnement du JWT. Il a fallu gérer le middleware, le state OAuth, l'injection de headers et l'éventuelle révocation — toujours en roadmap.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46520" y="4251960"/>
            <a:ext cx="868680" cy="8686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46520" y="4251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▤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5236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jury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52120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le dossier de certification pour qu'il reste lisible par un jury non technique tout en étant suffisamment précis pour la partie technique. Beaucoup d'allers-retours sur la table des matières.</a:t>
            </a:r>
            <a:endParaRPr lang="en-US" sz="1000" dirty="0"/>
          </a:p>
        </p:txBody>
      </p:sp>
      <p:pic>
        <p:nvPicPr>
          <p:cNvPr id="25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53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appris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techniques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500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strict, génériques, schémas Zod partagés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8072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— App Router, Server Components, 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644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— modélisation, migrations, requêtes complexes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7216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relations riches, contraintes, indexation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1788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cache + buffer SSE serverless-compatible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6360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 — OWASP, RGPD, JWT, bcrypt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50932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584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multi-stage, compose, healthcheck, secrets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5504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GitHub Actions — pipeline lint+test+build+deploy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transverses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3500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2084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d'un gros projet en sprints + user stories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8072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2084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 adressée à des développeurs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2644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2084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critique du code des coéquipiers (code review)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37216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208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technique organisée et soutenable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41788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2084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et priorisation pragmatique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6360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72084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 choix d'architecture face à un jury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50932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2084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métier ↔ technique (atout de reconversion)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55504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72084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sur un projet long de plusieurs mois</a:t>
            </a:r>
            <a:endParaRPr lang="en-US" sz="1100" dirty="0"/>
          </a:p>
        </p:txBody>
      </p:sp>
      <p:pic>
        <p:nvPicPr>
          <p:cNvPr id="41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53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0060" y="169164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" y="246888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298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 markdown (DOMPurify) — XSS résiduelle ChatMessage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342900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298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/login, /register, /chat/send via @upstash/ratelimit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" y="438912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298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HTTP de sécurité (CSP, X-Frame, Referrer)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" y="534924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8298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alertes prod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29100" y="169164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57700" y="246888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3202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Playwright sur les parcours critiques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57700" y="342900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3202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RGPD : suppression compte + export 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57700" y="438912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3202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 natives (Web Push)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57700" y="534924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3202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&amp; signalement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78140" y="169164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06740" y="246888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8106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Décomposer en services (chat → ws dédié)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06740" y="34290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8106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contenu personnalisées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06740" y="438912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8106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dédiée (React Native ?)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06740" y="53492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48106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produit + analytics</a:t>
            </a:r>
            <a:endParaRPr lang="en-US" sz="1100" dirty="0"/>
          </a:p>
        </p:txBody>
      </p:sp>
      <p:pic>
        <p:nvPicPr>
          <p:cNvPr id="38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53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28800"/>
            <a:ext cx="91440" cy="16459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m'a permis de mettre en pratique l'ensemble du cycle de développement d'une application moderne — de la modélisation à la mise en production — tout en faisant des choix techniques justifiés et documentés.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la certification, ce projet matérialise ma transition concrète vers le métier de Concepteur Développeur d'Applications.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600200" y="3886200"/>
            <a:ext cx="594360" cy="59436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002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complet maîtrisé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conception à la production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34840" y="3886200"/>
            <a:ext cx="594360" cy="59436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3484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RGPD pris au sérieux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roadmap durcissement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269480" y="3886200"/>
            <a:ext cx="594360" cy="59436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6948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justifiés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assumés et documentés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104120" y="3886200"/>
            <a:ext cx="594360" cy="59436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10412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Recul critique acquis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identifiées, plan d'évolution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pour une alternance · 12 mois · Normandie / télétravail · CDA RNCP 37873</a:t>
            </a:r>
            <a:endParaRPr lang="en-US" sz="1200" dirty="0"/>
          </a:p>
        </p:txBody>
      </p:sp>
      <p:pic>
        <p:nvPicPr>
          <p:cNvPr id="29" name="Image 0" descr="/sessions/sweet-funny-newton/mnt/outputs/build/assets/konek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7315200" cy="731520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589520" y="-2743200"/>
            <a:ext cx="7315200" cy="7315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p/>
        </p:txBody>
      </p:sp>
      <p:pic>
        <p:nvPicPr>
          <p:cNvPr id="4" name="Image 0" descr="/sessions/sweet-funny-newton/mnt/outputs/build/assets/konekt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411480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108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aux questions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91440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djlike@hotmail.fr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2044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760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clecart.fr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6364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06 70 02 80 47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3252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86968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⟨/⟩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3544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github.com/arocchet/social-network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— Concepteur Développeur d'Applications · Zone01 Rouen Normandie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Konekt - Support Visuel RNCP 37873</dc:title>
  <dc:subject>PptxGenJS Presentation</dc:subject>
  <dc:creator>Christophe Lecart</dc:creator>
  <cp:lastModifiedBy>Christophe Lecart</cp:lastModifiedBy>
  <cp:revision>1</cp:revision>
  <dcterms:created xsi:type="dcterms:W3CDTF">2026-05-19T10:21:42Z</dcterms:created>
  <dcterms:modified xsi:type="dcterms:W3CDTF">2026-05-19T10:21:42Z</dcterms:modified>
</cp:coreProperties>
</file>