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8"/>
  </p:notesMasterIdLst>
  <p:sldIdLst>
    <p:sldId id="256" r:id="rId2"/>
    <p:sldId id="257" r:id="rId3"/>
    <p:sldId id="258" r:id="rId4"/>
    <p:sldId id="259" r:id="rId5"/>
    <p:sldId id="260" r:id="rId6"/>
    <p:sldId id="309" r:id="rId7"/>
    <p:sldId id="31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311" r:id="rId29"/>
    <p:sldId id="281" r:id="rId30"/>
    <p:sldId id="282" r:id="rId31"/>
    <p:sldId id="283" r:id="rId32"/>
    <p:sldId id="284" r:id="rId33"/>
    <p:sldId id="285" r:id="rId34"/>
    <p:sldId id="286" r:id="rId35"/>
    <p:sldId id="303" r:id="rId36"/>
    <p:sldId id="304" r:id="rId37"/>
    <p:sldId id="305" r:id="rId38"/>
    <p:sldId id="287" r:id="rId39"/>
    <p:sldId id="288" r:id="rId40"/>
    <p:sldId id="306" r:id="rId41"/>
    <p:sldId id="307" r:id="rId42"/>
    <p:sldId id="308" r:id="rId43"/>
    <p:sldId id="289" r:id="rId44"/>
    <p:sldId id="290" r:id="rId45"/>
    <p:sldId id="291" r:id="rId46"/>
    <p:sldId id="292" r:id="rId47"/>
    <p:sldId id="293" r:id="rId48"/>
    <p:sldId id="294" r:id="rId49"/>
    <p:sldId id="295" r:id="rId50"/>
    <p:sldId id="296" r:id="rId51"/>
    <p:sldId id="297" r:id="rId52"/>
    <p:sldId id="298" r:id="rId53"/>
    <p:sldId id="299" r:id="rId54"/>
    <p:sldId id="300" r:id="rId55"/>
    <p:sldId id="301" r:id="rId56"/>
    <p:sldId id="302" r:id="rId5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81E7F5-C831-4F4A-B7E4-441387955799}" v="1157" dt="2026-05-20T19:36:50.0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mien Prouet" userId="a710c8ba9f9564fe" providerId="Windows Live" clId="Web-{9D81E7F5-C831-4F4A-B7E4-441387955799}"/>
    <pc:docChg chg="modSld">
      <pc:chgData name="Damien Prouet" userId="a710c8ba9f9564fe" providerId="Windows Live" clId="Web-{9D81E7F5-C831-4F4A-B7E4-441387955799}" dt="2026-05-20T19:36:50.033" v="1073" actId="1076"/>
      <pc:docMkLst>
        <pc:docMk/>
      </pc:docMkLst>
      <pc:sldChg chg="modSp">
        <pc:chgData name="Damien Prouet" userId="a710c8ba9f9564fe" providerId="Windows Live" clId="Web-{9D81E7F5-C831-4F4A-B7E4-441387955799}" dt="2026-05-20T19:11:27.691" v="224" actId="1076"/>
        <pc:sldMkLst>
          <pc:docMk/>
          <pc:sldMk cId="0" sldId="271"/>
        </pc:sldMkLst>
        <pc:spChg chg="mod">
          <ac:chgData name="Damien Prouet" userId="a710c8ba9f9564fe" providerId="Windows Live" clId="Web-{9D81E7F5-C831-4F4A-B7E4-441387955799}" dt="2026-05-20T19:11:26.722" v="182" actId="1076"/>
          <ac:spMkLst>
            <pc:docMk/>
            <pc:sldMk cId="0" sldId="271"/>
            <ac:spMk id="5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11:26.754" v="183" actId="1076"/>
          <ac:spMkLst>
            <pc:docMk/>
            <pc:sldMk cId="0" sldId="271"/>
            <ac:spMk id="6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11:26.769" v="184" actId="1076"/>
          <ac:spMkLst>
            <pc:docMk/>
            <pc:sldMk cId="0" sldId="271"/>
            <ac:spMk id="7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11:26.785" v="185" actId="1076"/>
          <ac:spMkLst>
            <pc:docMk/>
            <pc:sldMk cId="0" sldId="271"/>
            <ac:spMk id="8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11:26.816" v="186" actId="1076"/>
          <ac:spMkLst>
            <pc:docMk/>
            <pc:sldMk cId="0" sldId="271"/>
            <ac:spMk id="9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11:26.832" v="187" actId="1076"/>
          <ac:spMkLst>
            <pc:docMk/>
            <pc:sldMk cId="0" sldId="271"/>
            <ac:spMk id="10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11:26.847" v="188" actId="1076"/>
          <ac:spMkLst>
            <pc:docMk/>
            <pc:sldMk cId="0" sldId="271"/>
            <ac:spMk id="11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11:26.879" v="189" actId="1076"/>
          <ac:spMkLst>
            <pc:docMk/>
            <pc:sldMk cId="0" sldId="271"/>
            <ac:spMk id="12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11:26.894" v="190" actId="1076"/>
          <ac:spMkLst>
            <pc:docMk/>
            <pc:sldMk cId="0" sldId="271"/>
            <ac:spMk id="13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11:26.925" v="191" actId="1076"/>
          <ac:spMkLst>
            <pc:docMk/>
            <pc:sldMk cId="0" sldId="271"/>
            <ac:spMk id="14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11:26.988" v="192" actId="1076"/>
          <ac:spMkLst>
            <pc:docMk/>
            <pc:sldMk cId="0" sldId="271"/>
            <ac:spMk id="15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11:27.019" v="193" actId="1076"/>
          <ac:spMkLst>
            <pc:docMk/>
            <pc:sldMk cId="0" sldId="271"/>
            <ac:spMk id="16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11:27.035" v="194" actId="1076"/>
          <ac:spMkLst>
            <pc:docMk/>
            <pc:sldMk cId="0" sldId="271"/>
            <ac:spMk id="17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11:27.066" v="195" actId="1076"/>
          <ac:spMkLst>
            <pc:docMk/>
            <pc:sldMk cId="0" sldId="271"/>
            <ac:spMk id="18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11:27.082" v="196" actId="1076"/>
          <ac:spMkLst>
            <pc:docMk/>
            <pc:sldMk cId="0" sldId="271"/>
            <ac:spMk id="19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11:27.113" v="197" actId="1076"/>
          <ac:spMkLst>
            <pc:docMk/>
            <pc:sldMk cId="0" sldId="271"/>
            <ac:spMk id="20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11:27.129" v="198" actId="1076"/>
          <ac:spMkLst>
            <pc:docMk/>
            <pc:sldMk cId="0" sldId="271"/>
            <ac:spMk id="21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11:27.144" v="199" actId="1076"/>
          <ac:spMkLst>
            <pc:docMk/>
            <pc:sldMk cId="0" sldId="271"/>
            <ac:spMk id="22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11:27.160" v="200" actId="1076"/>
          <ac:spMkLst>
            <pc:docMk/>
            <pc:sldMk cId="0" sldId="271"/>
            <ac:spMk id="23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11:27.191" v="201" actId="1076"/>
          <ac:spMkLst>
            <pc:docMk/>
            <pc:sldMk cId="0" sldId="271"/>
            <ac:spMk id="24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11:27.207" v="202" actId="1076"/>
          <ac:spMkLst>
            <pc:docMk/>
            <pc:sldMk cId="0" sldId="271"/>
            <ac:spMk id="25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11:27.238" v="203" actId="1076"/>
          <ac:spMkLst>
            <pc:docMk/>
            <pc:sldMk cId="0" sldId="271"/>
            <ac:spMk id="26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11:27.254" v="204" actId="1076"/>
          <ac:spMkLst>
            <pc:docMk/>
            <pc:sldMk cId="0" sldId="271"/>
            <ac:spMk id="27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11:27.269" v="205" actId="1076"/>
          <ac:spMkLst>
            <pc:docMk/>
            <pc:sldMk cId="0" sldId="271"/>
            <ac:spMk id="28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11:27.300" v="206" actId="1076"/>
          <ac:spMkLst>
            <pc:docMk/>
            <pc:sldMk cId="0" sldId="271"/>
            <ac:spMk id="29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11:27.316" v="207" actId="1076"/>
          <ac:spMkLst>
            <pc:docMk/>
            <pc:sldMk cId="0" sldId="271"/>
            <ac:spMk id="30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11:27.332" v="208" actId="1076"/>
          <ac:spMkLst>
            <pc:docMk/>
            <pc:sldMk cId="0" sldId="271"/>
            <ac:spMk id="31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11:27.363" v="209" actId="1076"/>
          <ac:spMkLst>
            <pc:docMk/>
            <pc:sldMk cId="0" sldId="271"/>
            <ac:spMk id="32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11:27.382" v="210" actId="1076"/>
          <ac:spMkLst>
            <pc:docMk/>
            <pc:sldMk cId="0" sldId="271"/>
            <ac:spMk id="33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11:27.394" v="211" actId="1076"/>
          <ac:spMkLst>
            <pc:docMk/>
            <pc:sldMk cId="0" sldId="271"/>
            <ac:spMk id="34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11:27.425" v="212" actId="1076"/>
          <ac:spMkLst>
            <pc:docMk/>
            <pc:sldMk cId="0" sldId="271"/>
            <ac:spMk id="35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11:27.441" v="213" actId="1076"/>
          <ac:spMkLst>
            <pc:docMk/>
            <pc:sldMk cId="0" sldId="271"/>
            <ac:spMk id="36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11:27.472" v="214" actId="1076"/>
          <ac:spMkLst>
            <pc:docMk/>
            <pc:sldMk cId="0" sldId="271"/>
            <ac:spMk id="37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11:27.488" v="215" actId="1076"/>
          <ac:spMkLst>
            <pc:docMk/>
            <pc:sldMk cId="0" sldId="271"/>
            <ac:spMk id="38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11:27.504" v="216" actId="1076"/>
          <ac:spMkLst>
            <pc:docMk/>
            <pc:sldMk cId="0" sldId="271"/>
            <ac:spMk id="39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11:27.535" v="217" actId="1076"/>
          <ac:spMkLst>
            <pc:docMk/>
            <pc:sldMk cId="0" sldId="271"/>
            <ac:spMk id="40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11:27.550" v="218" actId="1076"/>
          <ac:spMkLst>
            <pc:docMk/>
            <pc:sldMk cId="0" sldId="271"/>
            <ac:spMk id="41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11:27.582" v="219" actId="1076"/>
          <ac:spMkLst>
            <pc:docMk/>
            <pc:sldMk cId="0" sldId="271"/>
            <ac:spMk id="42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11:27.597" v="220" actId="1076"/>
          <ac:spMkLst>
            <pc:docMk/>
            <pc:sldMk cId="0" sldId="271"/>
            <ac:spMk id="43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11:27.629" v="221" actId="1076"/>
          <ac:spMkLst>
            <pc:docMk/>
            <pc:sldMk cId="0" sldId="271"/>
            <ac:spMk id="44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11:27.660" v="222" actId="1076"/>
          <ac:spMkLst>
            <pc:docMk/>
            <pc:sldMk cId="0" sldId="271"/>
            <ac:spMk id="45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11:27.675" v="223" actId="1076"/>
          <ac:spMkLst>
            <pc:docMk/>
            <pc:sldMk cId="0" sldId="271"/>
            <ac:spMk id="46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11:27.691" v="224" actId="1076"/>
          <ac:spMkLst>
            <pc:docMk/>
            <pc:sldMk cId="0" sldId="271"/>
            <ac:spMk id="47" creationId="{00000000-0000-0000-0000-000000000000}"/>
          </ac:spMkLst>
        </pc:spChg>
      </pc:sldChg>
      <pc:sldChg chg="modSp">
        <pc:chgData name="Damien Prouet" userId="a710c8ba9f9564fe" providerId="Windows Live" clId="Web-{9D81E7F5-C831-4F4A-B7E4-441387955799}" dt="2026-05-20T19:17:25.484" v="441" actId="1076"/>
        <pc:sldMkLst>
          <pc:docMk/>
          <pc:sldMk cId="0" sldId="273"/>
        </pc:sldMkLst>
        <pc:spChg chg="mod">
          <ac:chgData name="Damien Prouet" userId="a710c8ba9f9564fe" providerId="Windows Live" clId="Web-{9D81E7F5-C831-4F4A-B7E4-441387955799}" dt="2026-05-20T19:11:47.926" v="226" actId="14100"/>
          <ac:spMkLst>
            <pc:docMk/>
            <pc:sldMk cId="0" sldId="273"/>
            <ac:spMk id="5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12:25.443" v="235" actId="1076"/>
          <ac:spMkLst>
            <pc:docMk/>
            <pc:sldMk cId="0" sldId="273"/>
            <ac:spMk id="7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15:45.574" v="393" actId="1076"/>
          <ac:spMkLst>
            <pc:docMk/>
            <pc:sldMk cId="0" sldId="273"/>
            <ac:spMk id="8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15:53.199" v="394" actId="1076"/>
          <ac:spMkLst>
            <pc:docMk/>
            <pc:sldMk cId="0" sldId="273"/>
            <ac:spMk id="9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12:32.881" v="239" actId="20577"/>
          <ac:spMkLst>
            <pc:docMk/>
            <pc:sldMk cId="0" sldId="273"/>
            <ac:spMk id="10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17:25.139" v="425" actId="1076"/>
          <ac:spMkLst>
            <pc:docMk/>
            <pc:sldMk cId="0" sldId="273"/>
            <ac:spMk id="11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17:25.155" v="426" actId="1076"/>
          <ac:spMkLst>
            <pc:docMk/>
            <pc:sldMk cId="0" sldId="273"/>
            <ac:spMk id="12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17:25.170" v="427" actId="1076"/>
          <ac:spMkLst>
            <pc:docMk/>
            <pc:sldMk cId="0" sldId="273"/>
            <ac:spMk id="13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17:25.202" v="428" actId="1076"/>
          <ac:spMkLst>
            <pc:docMk/>
            <pc:sldMk cId="0" sldId="273"/>
            <ac:spMk id="14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17:25.217" v="429" actId="1076"/>
          <ac:spMkLst>
            <pc:docMk/>
            <pc:sldMk cId="0" sldId="273"/>
            <ac:spMk id="15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17:25.249" v="430" actId="1076"/>
          <ac:spMkLst>
            <pc:docMk/>
            <pc:sldMk cId="0" sldId="273"/>
            <ac:spMk id="16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17:25.264" v="431" actId="1076"/>
          <ac:spMkLst>
            <pc:docMk/>
            <pc:sldMk cId="0" sldId="273"/>
            <ac:spMk id="17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17:25.295" v="432" actId="1076"/>
          <ac:spMkLst>
            <pc:docMk/>
            <pc:sldMk cId="0" sldId="273"/>
            <ac:spMk id="18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17:25.311" v="433" actId="1076"/>
          <ac:spMkLst>
            <pc:docMk/>
            <pc:sldMk cId="0" sldId="273"/>
            <ac:spMk id="19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17:25.342" v="434" actId="1076"/>
          <ac:spMkLst>
            <pc:docMk/>
            <pc:sldMk cId="0" sldId="273"/>
            <ac:spMk id="20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17:25.358" v="435" actId="1076"/>
          <ac:spMkLst>
            <pc:docMk/>
            <pc:sldMk cId="0" sldId="273"/>
            <ac:spMk id="21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17:25.374" v="436" actId="1076"/>
          <ac:spMkLst>
            <pc:docMk/>
            <pc:sldMk cId="0" sldId="273"/>
            <ac:spMk id="22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17:25.389" v="437" actId="1076"/>
          <ac:spMkLst>
            <pc:docMk/>
            <pc:sldMk cId="0" sldId="273"/>
            <ac:spMk id="23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17:25.420" v="438" actId="1076"/>
          <ac:spMkLst>
            <pc:docMk/>
            <pc:sldMk cId="0" sldId="273"/>
            <ac:spMk id="24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17:25.436" v="439" actId="1076"/>
          <ac:spMkLst>
            <pc:docMk/>
            <pc:sldMk cId="0" sldId="273"/>
            <ac:spMk id="25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17:25.452" v="440" actId="1076"/>
          <ac:spMkLst>
            <pc:docMk/>
            <pc:sldMk cId="0" sldId="273"/>
            <ac:spMk id="26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17:25.484" v="441" actId="1076"/>
          <ac:spMkLst>
            <pc:docMk/>
            <pc:sldMk cId="0" sldId="273"/>
            <ac:spMk id="27" creationId="{00000000-0000-0000-0000-000000000000}"/>
          </ac:spMkLst>
        </pc:spChg>
        <pc:picChg chg="mod">
          <ac:chgData name="Damien Prouet" userId="a710c8ba9f9564fe" providerId="Windows Live" clId="Web-{9D81E7F5-C831-4F4A-B7E4-441387955799}" dt="2026-05-20T19:11:43.410" v="225" actId="14100"/>
          <ac:picMkLst>
            <pc:docMk/>
            <pc:sldMk cId="0" sldId="273"/>
            <ac:picMk id="6" creationId="{00000000-0000-0000-0000-000000000000}"/>
          </ac:picMkLst>
        </pc:picChg>
      </pc:sldChg>
      <pc:sldChg chg="addSp delSp modSp">
        <pc:chgData name="Damien Prouet" userId="a710c8ba9f9564fe" providerId="Windows Live" clId="Web-{9D81E7F5-C831-4F4A-B7E4-441387955799}" dt="2026-05-20T19:23:15.087" v="588" actId="1076"/>
        <pc:sldMkLst>
          <pc:docMk/>
          <pc:sldMk cId="0" sldId="274"/>
        </pc:sldMkLst>
        <pc:spChg chg="mod">
          <ac:chgData name="Damien Prouet" userId="a710c8ba9f9564fe" providerId="Windows Live" clId="Web-{9D81E7F5-C831-4F4A-B7E4-441387955799}" dt="2026-05-20T19:23:06.618" v="583" actId="14100"/>
          <ac:spMkLst>
            <pc:docMk/>
            <pc:sldMk cId="0" sldId="274"/>
            <ac:spMk id="5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23:15.040" v="585" actId="1076"/>
          <ac:spMkLst>
            <pc:docMk/>
            <pc:sldMk cId="0" sldId="274"/>
            <ac:spMk id="7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23:15.056" v="586" actId="1076"/>
          <ac:spMkLst>
            <pc:docMk/>
            <pc:sldMk cId="0" sldId="274"/>
            <ac:spMk id="8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23:15.071" v="587" actId="1076"/>
          <ac:spMkLst>
            <pc:docMk/>
            <pc:sldMk cId="0" sldId="274"/>
            <ac:spMk id="9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23:15.087" v="588" actId="1076"/>
          <ac:spMkLst>
            <pc:docMk/>
            <pc:sldMk cId="0" sldId="274"/>
            <ac:spMk id="10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21:48.772" v="565" actId="1076"/>
          <ac:spMkLst>
            <pc:docMk/>
            <pc:sldMk cId="0" sldId="274"/>
            <ac:spMk id="11" creationId="{00000000-0000-0000-0000-000000000000}"/>
          </ac:spMkLst>
        </pc:spChg>
        <pc:spChg chg="del mod">
          <ac:chgData name="Damien Prouet" userId="a710c8ba9f9564fe" providerId="Windows Live" clId="Web-{9D81E7F5-C831-4F4A-B7E4-441387955799}" dt="2026-05-20T19:20:05.019" v="506"/>
          <ac:spMkLst>
            <pc:docMk/>
            <pc:sldMk cId="0" sldId="274"/>
            <ac:spMk id="12" creationId="{00000000-0000-0000-0000-000000000000}"/>
          </ac:spMkLst>
        </pc:spChg>
        <pc:spChg chg="del mod">
          <ac:chgData name="Damien Prouet" userId="a710c8ba9f9564fe" providerId="Windows Live" clId="Web-{9D81E7F5-C831-4F4A-B7E4-441387955799}" dt="2026-05-20T19:20:05.019" v="505"/>
          <ac:spMkLst>
            <pc:docMk/>
            <pc:sldMk cId="0" sldId="274"/>
            <ac:spMk id="13" creationId="{00000000-0000-0000-0000-000000000000}"/>
          </ac:spMkLst>
        </pc:spChg>
        <pc:spChg chg="mod ord">
          <ac:chgData name="Damien Prouet" userId="a710c8ba9f9564fe" providerId="Windows Live" clId="Web-{9D81E7F5-C831-4F4A-B7E4-441387955799}" dt="2026-05-20T19:21:36.631" v="557" actId="1076"/>
          <ac:spMkLst>
            <pc:docMk/>
            <pc:sldMk cId="0" sldId="274"/>
            <ac:spMk id="14" creationId="{00000000-0000-0000-0000-000000000000}"/>
          </ac:spMkLst>
        </pc:spChg>
        <pc:spChg chg="mod ord">
          <ac:chgData name="Damien Prouet" userId="a710c8ba9f9564fe" providerId="Windows Live" clId="Web-{9D81E7F5-C831-4F4A-B7E4-441387955799}" dt="2026-05-20T19:21:36.648" v="558" actId="1076"/>
          <ac:spMkLst>
            <pc:docMk/>
            <pc:sldMk cId="0" sldId="274"/>
            <ac:spMk id="15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18:47.032" v="477" actId="14100"/>
          <ac:spMkLst>
            <pc:docMk/>
            <pc:sldMk cId="0" sldId="274"/>
            <ac:spMk id="16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19:42.643" v="497" actId="1076"/>
          <ac:spMkLst>
            <pc:docMk/>
            <pc:sldMk cId="0" sldId="274"/>
            <ac:spMk id="17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19:55.066" v="502" actId="20577"/>
          <ac:spMkLst>
            <pc:docMk/>
            <pc:sldMk cId="0" sldId="274"/>
            <ac:spMk id="18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19:28.174" v="494" actId="20577"/>
          <ac:spMkLst>
            <pc:docMk/>
            <pc:sldMk cId="0" sldId="274"/>
            <ac:spMk id="19" creationId="{00000000-0000-0000-0000-000000000000}"/>
          </ac:spMkLst>
        </pc:spChg>
        <pc:spChg chg="del mod">
          <ac:chgData name="Damien Prouet" userId="a710c8ba9f9564fe" providerId="Windows Live" clId="Web-{9D81E7F5-C831-4F4A-B7E4-441387955799}" dt="2026-05-20T19:20:05.019" v="504"/>
          <ac:spMkLst>
            <pc:docMk/>
            <pc:sldMk cId="0" sldId="274"/>
            <ac:spMk id="20" creationId="{00000000-0000-0000-0000-000000000000}"/>
          </ac:spMkLst>
        </pc:spChg>
        <pc:spChg chg="del mod">
          <ac:chgData name="Damien Prouet" userId="a710c8ba9f9564fe" providerId="Windows Live" clId="Web-{9D81E7F5-C831-4F4A-B7E4-441387955799}" dt="2026-05-20T19:20:05.019" v="503"/>
          <ac:spMkLst>
            <pc:docMk/>
            <pc:sldMk cId="0" sldId="274"/>
            <ac:spMk id="21" creationId="{00000000-0000-0000-0000-000000000000}"/>
          </ac:spMkLst>
        </pc:spChg>
        <pc:spChg chg="mod ord">
          <ac:chgData name="Damien Prouet" userId="a710c8ba9f9564fe" providerId="Windows Live" clId="Web-{9D81E7F5-C831-4F4A-B7E4-441387955799}" dt="2026-05-20T19:21:36.678" v="559" actId="1076"/>
          <ac:spMkLst>
            <pc:docMk/>
            <pc:sldMk cId="0" sldId="274"/>
            <ac:spMk id="22" creationId="{00000000-0000-0000-0000-000000000000}"/>
          </ac:spMkLst>
        </pc:spChg>
        <pc:spChg chg="mod ord">
          <ac:chgData name="Damien Prouet" userId="a710c8ba9f9564fe" providerId="Windows Live" clId="Web-{9D81E7F5-C831-4F4A-B7E4-441387955799}" dt="2026-05-20T19:21:27.959" v="556" actId="1076"/>
          <ac:spMkLst>
            <pc:docMk/>
            <pc:sldMk cId="0" sldId="274"/>
            <ac:spMk id="23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18:47.048" v="478" actId="14100"/>
          <ac:spMkLst>
            <pc:docMk/>
            <pc:sldMk cId="0" sldId="274"/>
            <ac:spMk id="24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19:42.659" v="498" actId="1076"/>
          <ac:spMkLst>
            <pc:docMk/>
            <pc:sldMk cId="0" sldId="274"/>
            <ac:spMk id="25" creationId="{00000000-0000-0000-0000-000000000000}"/>
          </ac:spMkLst>
        </pc:spChg>
        <pc:spChg chg="mod ord">
          <ac:chgData name="Damien Prouet" userId="a710c8ba9f9564fe" providerId="Windows Live" clId="Web-{9D81E7F5-C831-4F4A-B7E4-441387955799}" dt="2026-05-20T19:20:44.567" v="531"/>
          <ac:spMkLst>
            <pc:docMk/>
            <pc:sldMk cId="0" sldId="274"/>
            <ac:spMk id="26" creationId="{00000000-0000-0000-0000-000000000000}"/>
          </ac:spMkLst>
        </pc:spChg>
        <pc:spChg chg="mod ord">
          <ac:chgData name="Damien Prouet" userId="a710c8ba9f9564fe" providerId="Windows Live" clId="Web-{9D81E7F5-C831-4F4A-B7E4-441387955799}" dt="2026-05-20T19:20:42.692" v="527"/>
          <ac:spMkLst>
            <pc:docMk/>
            <pc:sldMk cId="0" sldId="274"/>
            <ac:spMk id="27" creationId="{00000000-0000-0000-0000-000000000000}"/>
          </ac:spMkLst>
        </pc:spChg>
        <pc:spChg chg="ord">
          <ac:chgData name="Damien Prouet" userId="a710c8ba9f9564fe" providerId="Windows Live" clId="Web-{9D81E7F5-C831-4F4A-B7E4-441387955799}" dt="2026-05-20T19:20:38.614" v="519"/>
          <ac:spMkLst>
            <pc:docMk/>
            <pc:sldMk cId="0" sldId="274"/>
            <ac:spMk id="29" creationId="{00000000-0000-0000-0000-000000000000}"/>
          </ac:spMkLst>
        </pc:spChg>
        <pc:spChg chg="ord">
          <ac:chgData name="Damien Prouet" userId="a710c8ba9f9564fe" providerId="Windows Live" clId="Web-{9D81E7F5-C831-4F4A-B7E4-441387955799}" dt="2026-05-20T19:20:36.520" v="515"/>
          <ac:spMkLst>
            <pc:docMk/>
            <pc:sldMk cId="0" sldId="274"/>
            <ac:spMk id="30" creationId="{00000000-0000-0000-0000-000000000000}"/>
          </ac:spMkLst>
        </pc:spChg>
        <pc:spChg chg="add mod">
          <ac:chgData name="Damien Prouet" userId="a710c8ba9f9564fe" providerId="Windows Live" clId="Web-{9D81E7F5-C831-4F4A-B7E4-441387955799}" dt="2026-05-20T19:20:26.238" v="511" actId="1076"/>
          <ac:spMkLst>
            <pc:docMk/>
            <pc:sldMk cId="0" sldId="274"/>
            <ac:spMk id="31" creationId="{02A82318-6CFD-0C46-C29F-5D5351954A0E}"/>
          </ac:spMkLst>
        </pc:spChg>
        <pc:spChg chg="add mod">
          <ac:chgData name="Damien Prouet" userId="a710c8ba9f9564fe" providerId="Windows Live" clId="Web-{9D81E7F5-C831-4F4A-B7E4-441387955799}" dt="2026-05-20T19:20:26.254" v="512" actId="1076"/>
          <ac:spMkLst>
            <pc:docMk/>
            <pc:sldMk cId="0" sldId="274"/>
            <ac:spMk id="32" creationId="{FD024F16-45BB-8751-B66A-F2B86D21012A}"/>
          </ac:spMkLst>
        </pc:spChg>
        <pc:spChg chg="add mod">
          <ac:chgData name="Damien Prouet" userId="a710c8ba9f9564fe" providerId="Windows Live" clId="Web-{9D81E7F5-C831-4F4A-B7E4-441387955799}" dt="2026-05-20T19:20:26.270" v="513" actId="1076"/>
          <ac:spMkLst>
            <pc:docMk/>
            <pc:sldMk cId="0" sldId="274"/>
            <ac:spMk id="33" creationId="{47943AD7-AC2D-0629-A2FE-83FA989C2B68}"/>
          </ac:spMkLst>
        </pc:spChg>
        <pc:spChg chg="add mod">
          <ac:chgData name="Damien Prouet" userId="a710c8ba9f9564fe" providerId="Windows Live" clId="Web-{9D81E7F5-C831-4F4A-B7E4-441387955799}" dt="2026-05-20T19:20:26.285" v="514" actId="1076"/>
          <ac:spMkLst>
            <pc:docMk/>
            <pc:sldMk cId="0" sldId="274"/>
            <ac:spMk id="34" creationId="{04F6A046-B76B-B165-189B-B87E9C6D9B00}"/>
          </ac:spMkLst>
        </pc:spChg>
        <pc:picChg chg="mod">
          <ac:chgData name="Damien Prouet" userId="a710c8ba9f9564fe" providerId="Windows Live" clId="Web-{9D81E7F5-C831-4F4A-B7E4-441387955799}" dt="2026-05-20T19:23:07.431" v="584" actId="1076"/>
          <ac:picMkLst>
            <pc:docMk/>
            <pc:sldMk cId="0" sldId="274"/>
            <ac:picMk id="6" creationId="{00000000-0000-0000-0000-000000000000}"/>
          </ac:picMkLst>
        </pc:picChg>
        <pc:picChg chg="ord">
          <ac:chgData name="Damien Prouet" userId="a710c8ba9f9564fe" providerId="Windows Live" clId="Web-{9D81E7F5-C831-4F4A-B7E4-441387955799}" dt="2026-05-20T19:20:40.833" v="523"/>
          <ac:picMkLst>
            <pc:docMk/>
            <pc:sldMk cId="0" sldId="274"/>
            <ac:picMk id="28" creationId="{00000000-0000-0000-0000-000000000000}"/>
          </ac:picMkLst>
        </pc:picChg>
      </pc:sldChg>
      <pc:sldChg chg="modSp">
        <pc:chgData name="Damien Prouet" userId="a710c8ba9f9564fe" providerId="Windows Live" clId="Web-{9D81E7F5-C831-4F4A-B7E4-441387955799}" dt="2026-05-20T19:30:09.725" v="798" actId="20577"/>
        <pc:sldMkLst>
          <pc:docMk/>
          <pc:sldMk cId="0" sldId="287"/>
        </pc:sldMkLst>
        <pc:spChg chg="mod">
          <ac:chgData name="Damien Prouet" userId="a710c8ba9f9564fe" providerId="Windows Live" clId="Web-{9D81E7F5-C831-4F4A-B7E4-441387955799}" dt="2026-05-20T19:29:19.098" v="757" actId="14100"/>
          <ac:spMkLst>
            <pc:docMk/>
            <pc:sldMk cId="0" sldId="287"/>
            <ac:spMk id="5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29:19.098" v="756" actId="14100"/>
          <ac:spMkLst>
            <pc:docMk/>
            <pc:sldMk cId="0" sldId="287"/>
            <ac:spMk id="6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29:19.098" v="755" actId="14100"/>
          <ac:spMkLst>
            <pc:docMk/>
            <pc:sldMk cId="0" sldId="287"/>
            <ac:spMk id="7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29:19.098" v="754" actId="14100"/>
          <ac:spMkLst>
            <pc:docMk/>
            <pc:sldMk cId="0" sldId="287"/>
            <ac:spMk id="8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29:19.098" v="753" actId="14100"/>
          <ac:spMkLst>
            <pc:docMk/>
            <pc:sldMk cId="0" sldId="287"/>
            <ac:spMk id="9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29:19.098" v="752" actId="14100"/>
          <ac:spMkLst>
            <pc:docMk/>
            <pc:sldMk cId="0" sldId="287"/>
            <ac:spMk id="10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29:31.239" v="758" actId="1076"/>
          <ac:spMkLst>
            <pc:docMk/>
            <pc:sldMk cId="0" sldId="287"/>
            <ac:spMk id="11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29:47.536" v="786" actId="20577"/>
          <ac:spMkLst>
            <pc:docMk/>
            <pc:sldMk cId="0" sldId="287"/>
            <ac:spMk id="12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29:31.286" v="760" actId="1076"/>
          <ac:spMkLst>
            <pc:docMk/>
            <pc:sldMk cId="0" sldId="287"/>
            <ac:spMk id="13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29:43.911" v="784" actId="20577"/>
          <ac:spMkLst>
            <pc:docMk/>
            <pc:sldMk cId="0" sldId="287"/>
            <ac:spMk id="14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29:31.348" v="762" actId="1076"/>
          <ac:spMkLst>
            <pc:docMk/>
            <pc:sldMk cId="0" sldId="287"/>
            <ac:spMk id="15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29:31.364" v="763" actId="1076"/>
          <ac:spMkLst>
            <pc:docMk/>
            <pc:sldMk cId="0" sldId="287"/>
            <ac:spMk id="16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29:36.427" v="782" actId="20577"/>
          <ac:spMkLst>
            <pc:docMk/>
            <pc:sldMk cId="0" sldId="287"/>
            <ac:spMk id="17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29:31.411" v="765" actId="1076"/>
          <ac:spMkLst>
            <pc:docMk/>
            <pc:sldMk cId="0" sldId="287"/>
            <ac:spMk id="18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29:52.958" v="788" actId="20577"/>
          <ac:spMkLst>
            <pc:docMk/>
            <pc:sldMk cId="0" sldId="287"/>
            <ac:spMk id="19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29:31.458" v="767" actId="1076"/>
          <ac:spMkLst>
            <pc:docMk/>
            <pc:sldMk cId="0" sldId="287"/>
            <ac:spMk id="20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29:31.489" v="768" actId="1076"/>
          <ac:spMkLst>
            <pc:docMk/>
            <pc:sldMk cId="0" sldId="287"/>
            <ac:spMk id="21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30:09.725" v="798" actId="20577"/>
          <ac:spMkLst>
            <pc:docMk/>
            <pc:sldMk cId="0" sldId="287"/>
            <ac:spMk id="22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29:31.536" v="770" actId="1076"/>
          <ac:spMkLst>
            <pc:docMk/>
            <pc:sldMk cId="0" sldId="287"/>
            <ac:spMk id="23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29:55.865" v="790" actId="20577"/>
          <ac:spMkLst>
            <pc:docMk/>
            <pc:sldMk cId="0" sldId="287"/>
            <ac:spMk id="24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29:31.567" v="772" actId="1076"/>
          <ac:spMkLst>
            <pc:docMk/>
            <pc:sldMk cId="0" sldId="287"/>
            <ac:spMk id="25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29:31.614" v="773" actId="1076"/>
          <ac:spMkLst>
            <pc:docMk/>
            <pc:sldMk cId="0" sldId="287"/>
            <ac:spMk id="26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30:06.943" v="795" actId="20577"/>
          <ac:spMkLst>
            <pc:docMk/>
            <pc:sldMk cId="0" sldId="287"/>
            <ac:spMk id="27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29:31.661" v="775" actId="1076"/>
          <ac:spMkLst>
            <pc:docMk/>
            <pc:sldMk cId="0" sldId="287"/>
            <ac:spMk id="28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29:59.474" v="792" actId="20577"/>
          <ac:spMkLst>
            <pc:docMk/>
            <pc:sldMk cId="0" sldId="287"/>
            <ac:spMk id="29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29:31.708" v="777" actId="1076"/>
          <ac:spMkLst>
            <pc:docMk/>
            <pc:sldMk cId="0" sldId="287"/>
            <ac:spMk id="30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29:31.723" v="778" actId="1076"/>
          <ac:spMkLst>
            <pc:docMk/>
            <pc:sldMk cId="0" sldId="287"/>
            <ac:spMk id="31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29:31.755" v="779" actId="1076"/>
          <ac:spMkLst>
            <pc:docMk/>
            <pc:sldMk cId="0" sldId="287"/>
            <ac:spMk id="32" creationId="{00000000-0000-0000-0000-000000000000}"/>
          </ac:spMkLst>
        </pc:spChg>
      </pc:sldChg>
      <pc:sldChg chg="modSp">
        <pc:chgData name="Damien Prouet" userId="a710c8ba9f9564fe" providerId="Windows Live" clId="Web-{9D81E7F5-C831-4F4A-B7E4-441387955799}" dt="2026-05-20T19:36:50.033" v="1073" actId="1076"/>
        <pc:sldMkLst>
          <pc:docMk/>
          <pc:sldMk cId="0" sldId="291"/>
        </pc:sldMkLst>
        <pc:spChg chg="mod">
          <ac:chgData name="Damien Prouet" userId="a710c8ba9f9564fe" providerId="Windows Live" clId="Web-{9D81E7F5-C831-4F4A-B7E4-441387955799}" dt="2026-05-20T19:36:49.565" v="1056" actId="1076"/>
          <ac:spMkLst>
            <pc:docMk/>
            <pc:sldMk cId="0" sldId="291"/>
            <ac:spMk id="10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36:49.596" v="1057" actId="1076"/>
          <ac:spMkLst>
            <pc:docMk/>
            <pc:sldMk cId="0" sldId="291"/>
            <ac:spMk id="11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36:49.627" v="1058" actId="1076"/>
          <ac:spMkLst>
            <pc:docMk/>
            <pc:sldMk cId="0" sldId="291"/>
            <ac:spMk id="14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36:49.643" v="1059" actId="1076"/>
          <ac:spMkLst>
            <pc:docMk/>
            <pc:sldMk cId="0" sldId="291"/>
            <ac:spMk id="15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36:49.674" v="1060" actId="1076"/>
          <ac:spMkLst>
            <pc:docMk/>
            <pc:sldMk cId="0" sldId="291"/>
            <ac:spMk id="18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36:49.705" v="1061" actId="1076"/>
          <ac:spMkLst>
            <pc:docMk/>
            <pc:sldMk cId="0" sldId="291"/>
            <ac:spMk id="19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36:49.737" v="1062" actId="1076"/>
          <ac:spMkLst>
            <pc:docMk/>
            <pc:sldMk cId="0" sldId="291"/>
            <ac:spMk id="26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36:49.768" v="1063" actId="1076"/>
          <ac:spMkLst>
            <pc:docMk/>
            <pc:sldMk cId="0" sldId="291"/>
            <ac:spMk id="27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36:49.783" v="1064" actId="1076"/>
          <ac:spMkLst>
            <pc:docMk/>
            <pc:sldMk cId="0" sldId="291"/>
            <ac:spMk id="30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36:49.815" v="1065" actId="1076"/>
          <ac:spMkLst>
            <pc:docMk/>
            <pc:sldMk cId="0" sldId="291"/>
            <ac:spMk id="31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36:49.846" v="1066" actId="1076"/>
          <ac:spMkLst>
            <pc:docMk/>
            <pc:sldMk cId="0" sldId="291"/>
            <ac:spMk id="34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36:49.862" v="1067" actId="1076"/>
          <ac:spMkLst>
            <pc:docMk/>
            <pc:sldMk cId="0" sldId="291"/>
            <ac:spMk id="35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36:49.893" v="1068" actId="1076"/>
          <ac:spMkLst>
            <pc:docMk/>
            <pc:sldMk cId="0" sldId="291"/>
            <ac:spMk id="42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36:49.924" v="1069" actId="1076"/>
          <ac:spMkLst>
            <pc:docMk/>
            <pc:sldMk cId="0" sldId="291"/>
            <ac:spMk id="43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36:49.955" v="1070" actId="1076"/>
          <ac:spMkLst>
            <pc:docMk/>
            <pc:sldMk cId="0" sldId="291"/>
            <ac:spMk id="46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36:49.987" v="1071" actId="1076"/>
          <ac:spMkLst>
            <pc:docMk/>
            <pc:sldMk cId="0" sldId="291"/>
            <ac:spMk id="47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36:50.018" v="1072" actId="1076"/>
          <ac:spMkLst>
            <pc:docMk/>
            <pc:sldMk cId="0" sldId="291"/>
            <ac:spMk id="50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36:50.033" v="1073" actId="1076"/>
          <ac:spMkLst>
            <pc:docMk/>
            <pc:sldMk cId="0" sldId="291"/>
            <ac:spMk id="51" creationId="{00000000-0000-0000-0000-000000000000}"/>
          </ac:spMkLst>
        </pc:spChg>
      </pc:sldChg>
      <pc:sldChg chg="modSp">
        <pc:chgData name="Damien Prouet" userId="a710c8ba9f9564fe" providerId="Windows Live" clId="Web-{9D81E7F5-C831-4F4A-B7E4-441387955799}" dt="2026-05-20T19:24:59.043" v="598"/>
        <pc:sldMkLst>
          <pc:docMk/>
          <pc:sldMk cId="0" sldId="304"/>
        </pc:sldMkLst>
        <pc:spChg chg="mod">
          <ac:chgData name="Damien Prouet" userId="a710c8ba9f9564fe" providerId="Windows Live" clId="Web-{9D81E7F5-C831-4F4A-B7E4-441387955799}" dt="2026-05-20T19:24:59.043" v="598"/>
          <ac:spMkLst>
            <pc:docMk/>
            <pc:sldMk cId="0" sldId="304"/>
            <ac:spMk id="7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24:35.199" v="594" actId="1076"/>
          <ac:spMkLst>
            <pc:docMk/>
            <pc:sldMk cId="0" sldId="304"/>
            <ac:spMk id="23" creationId="{00000000-0000-0000-0000-000000000000}"/>
          </ac:spMkLst>
        </pc:spChg>
      </pc:sldChg>
      <pc:sldChg chg="modSp">
        <pc:chgData name="Damien Prouet" userId="a710c8ba9f9564fe" providerId="Windows Live" clId="Web-{9D81E7F5-C831-4F4A-B7E4-441387955799}" dt="2026-05-20T19:28:43.410" v="735" actId="20577"/>
        <pc:sldMkLst>
          <pc:docMk/>
          <pc:sldMk cId="0" sldId="305"/>
        </pc:sldMkLst>
        <pc:spChg chg="mod">
          <ac:chgData name="Damien Prouet" userId="a710c8ba9f9564fe" providerId="Windows Live" clId="Web-{9D81E7F5-C831-4F4A-B7E4-441387955799}" dt="2026-05-20T19:26:52.203" v="635" actId="1076"/>
          <ac:spMkLst>
            <pc:docMk/>
            <pc:sldMk cId="0" sldId="305"/>
            <ac:spMk id="7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27:37.673" v="672" actId="20577"/>
          <ac:spMkLst>
            <pc:docMk/>
            <pc:sldMk cId="0" sldId="305"/>
            <ac:spMk id="8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27:35.720" v="670" actId="20577"/>
          <ac:spMkLst>
            <pc:docMk/>
            <pc:sldMk cId="0" sldId="305"/>
            <ac:spMk id="9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26:34.624" v="628" actId="1076"/>
          <ac:spMkLst>
            <pc:docMk/>
            <pc:sldMk cId="0" sldId="305"/>
            <ac:spMk id="10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26:52.234" v="636" actId="1076"/>
          <ac:spMkLst>
            <pc:docMk/>
            <pc:sldMk cId="0" sldId="305"/>
            <ac:spMk id="13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27:42.220" v="674" actId="20577"/>
          <ac:spMkLst>
            <pc:docMk/>
            <pc:sldMk cId="0" sldId="305"/>
            <ac:spMk id="14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27:32.564" v="666" actId="20577"/>
          <ac:spMkLst>
            <pc:docMk/>
            <pc:sldMk cId="0" sldId="305"/>
            <ac:spMk id="15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26:34.656" v="629" actId="1076"/>
          <ac:spMkLst>
            <pc:docMk/>
            <pc:sldMk cId="0" sldId="305"/>
            <ac:spMk id="16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26:52.265" v="637" actId="1076"/>
          <ac:spMkLst>
            <pc:docMk/>
            <pc:sldMk cId="0" sldId="305"/>
            <ac:spMk id="19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27:45.767" v="676" actId="20577"/>
          <ac:spMkLst>
            <pc:docMk/>
            <pc:sldMk cId="0" sldId="305"/>
            <ac:spMk id="20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27:29.251" v="662" actId="20577"/>
          <ac:spMkLst>
            <pc:docMk/>
            <pc:sldMk cId="0" sldId="305"/>
            <ac:spMk id="21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26:34.687" v="630" actId="1076"/>
          <ac:spMkLst>
            <pc:docMk/>
            <pc:sldMk cId="0" sldId="305"/>
            <ac:spMk id="22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26:52.281" v="638" actId="1076"/>
          <ac:spMkLst>
            <pc:docMk/>
            <pc:sldMk cId="0" sldId="305"/>
            <ac:spMk id="25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27:48.908" v="678" actId="20577"/>
          <ac:spMkLst>
            <pc:docMk/>
            <pc:sldMk cId="0" sldId="305"/>
            <ac:spMk id="26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27:24.891" v="656" actId="20577"/>
          <ac:spMkLst>
            <pc:docMk/>
            <pc:sldMk cId="0" sldId="305"/>
            <ac:spMk id="27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26:10.030" v="607" actId="1076"/>
          <ac:spMkLst>
            <pc:docMk/>
            <pc:sldMk cId="0" sldId="305"/>
            <ac:spMk id="28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28:28.956" v="723" actId="1076"/>
          <ac:spMkLst>
            <pc:docMk/>
            <pc:sldMk cId="0" sldId="305"/>
            <ac:spMk id="30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28:23.034" v="708" actId="1076"/>
          <ac:spMkLst>
            <pc:docMk/>
            <pc:sldMk cId="0" sldId="305"/>
            <ac:spMk id="31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28:23.065" v="709" actId="1076"/>
          <ac:spMkLst>
            <pc:docMk/>
            <pc:sldMk cId="0" sldId="305"/>
            <ac:spMk id="32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28:31.253" v="725" actId="20577"/>
          <ac:spMkLst>
            <pc:docMk/>
            <pc:sldMk cId="0" sldId="305"/>
            <ac:spMk id="33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28:23.112" v="711" actId="1076"/>
          <ac:spMkLst>
            <pc:docMk/>
            <pc:sldMk cId="0" sldId="305"/>
            <ac:spMk id="34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28:23.143" v="712" actId="1076"/>
          <ac:spMkLst>
            <pc:docMk/>
            <pc:sldMk cId="0" sldId="305"/>
            <ac:spMk id="35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28:34.925" v="727" actId="20577"/>
          <ac:spMkLst>
            <pc:docMk/>
            <pc:sldMk cId="0" sldId="305"/>
            <ac:spMk id="36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28:23.190" v="714" actId="1076"/>
          <ac:spMkLst>
            <pc:docMk/>
            <pc:sldMk cId="0" sldId="305"/>
            <ac:spMk id="37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28:23.221" v="715" actId="1076"/>
          <ac:spMkLst>
            <pc:docMk/>
            <pc:sldMk cId="0" sldId="305"/>
            <ac:spMk id="38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28:36.784" v="730" actId="20577"/>
          <ac:spMkLst>
            <pc:docMk/>
            <pc:sldMk cId="0" sldId="305"/>
            <ac:spMk id="39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28:23.284" v="717" actId="1076"/>
          <ac:spMkLst>
            <pc:docMk/>
            <pc:sldMk cId="0" sldId="305"/>
            <ac:spMk id="40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28:23.299" v="718" actId="1076"/>
          <ac:spMkLst>
            <pc:docMk/>
            <pc:sldMk cId="0" sldId="305"/>
            <ac:spMk id="41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28:41.253" v="732" actId="20577"/>
          <ac:spMkLst>
            <pc:docMk/>
            <pc:sldMk cId="0" sldId="305"/>
            <ac:spMk id="42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28:23.362" v="720" actId="1076"/>
          <ac:spMkLst>
            <pc:docMk/>
            <pc:sldMk cId="0" sldId="305"/>
            <ac:spMk id="43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28:23.393" v="721" actId="1076"/>
          <ac:spMkLst>
            <pc:docMk/>
            <pc:sldMk cId="0" sldId="305"/>
            <ac:spMk id="44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28:43.410" v="735" actId="20577"/>
          <ac:spMkLst>
            <pc:docMk/>
            <pc:sldMk cId="0" sldId="305"/>
            <ac:spMk id="45" creationId="{00000000-0000-0000-0000-000000000000}"/>
          </ac:spMkLst>
        </pc:spChg>
      </pc:sldChg>
      <pc:sldChg chg="delSp modSp">
        <pc:chgData name="Damien Prouet" userId="a710c8ba9f9564fe" providerId="Windows Live" clId="Web-{9D81E7F5-C831-4F4A-B7E4-441387955799}" dt="2026-05-20T19:31:18.774" v="839"/>
        <pc:sldMkLst>
          <pc:docMk/>
          <pc:sldMk cId="0" sldId="307"/>
        </pc:sldMkLst>
        <pc:spChg chg="mod">
          <ac:chgData name="Damien Prouet" userId="a710c8ba9f9564fe" providerId="Windows Live" clId="Web-{9D81E7F5-C831-4F4A-B7E4-441387955799}" dt="2026-05-20T19:30:47.163" v="809" actId="1076"/>
          <ac:spMkLst>
            <pc:docMk/>
            <pc:sldMk cId="0" sldId="307"/>
            <ac:spMk id="42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30:59.961" v="810" actId="1076"/>
          <ac:spMkLst>
            <pc:docMk/>
            <pc:sldMk cId="0" sldId="307"/>
            <ac:spMk id="43" creationId="{00000000-0000-0000-0000-000000000000}"/>
          </ac:spMkLst>
        </pc:spChg>
        <pc:spChg chg="del">
          <ac:chgData name="Damien Prouet" userId="a710c8ba9f9564fe" providerId="Windows Live" clId="Web-{9D81E7F5-C831-4F4A-B7E4-441387955799}" dt="2026-05-20T19:31:18.774" v="839"/>
          <ac:spMkLst>
            <pc:docMk/>
            <pc:sldMk cId="0" sldId="307"/>
            <ac:spMk id="44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31:00.523" v="828" actId="20577"/>
          <ac:spMkLst>
            <pc:docMk/>
            <pc:sldMk cId="0" sldId="307"/>
            <ac:spMk id="45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31:00.023" v="812" actId="1076"/>
          <ac:spMkLst>
            <pc:docMk/>
            <pc:sldMk cId="0" sldId="307"/>
            <ac:spMk id="46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31:00.039" v="813" actId="1076"/>
          <ac:spMkLst>
            <pc:docMk/>
            <pc:sldMk cId="0" sldId="307"/>
            <ac:spMk id="47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31:02.461" v="830" actId="20577"/>
          <ac:spMkLst>
            <pc:docMk/>
            <pc:sldMk cId="0" sldId="307"/>
            <ac:spMk id="48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31:00.101" v="815" actId="1076"/>
          <ac:spMkLst>
            <pc:docMk/>
            <pc:sldMk cId="0" sldId="307"/>
            <ac:spMk id="49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31:00.132" v="816" actId="1076"/>
          <ac:spMkLst>
            <pc:docMk/>
            <pc:sldMk cId="0" sldId="307"/>
            <ac:spMk id="50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31:05.539" v="832" actId="20577"/>
          <ac:spMkLst>
            <pc:docMk/>
            <pc:sldMk cId="0" sldId="307"/>
            <ac:spMk id="51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31:00.195" v="818" actId="1076"/>
          <ac:spMkLst>
            <pc:docMk/>
            <pc:sldMk cId="0" sldId="307"/>
            <ac:spMk id="52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31:00.211" v="819" actId="1076"/>
          <ac:spMkLst>
            <pc:docMk/>
            <pc:sldMk cId="0" sldId="307"/>
            <ac:spMk id="53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31:08.476" v="834" actId="20577"/>
          <ac:spMkLst>
            <pc:docMk/>
            <pc:sldMk cId="0" sldId="307"/>
            <ac:spMk id="54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31:00.273" v="821" actId="1076"/>
          <ac:spMkLst>
            <pc:docMk/>
            <pc:sldMk cId="0" sldId="307"/>
            <ac:spMk id="55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31:00.289" v="822" actId="1076"/>
          <ac:spMkLst>
            <pc:docMk/>
            <pc:sldMk cId="0" sldId="307"/>
            <ac:spMk id="56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31:11.226" v="836" actId="20577"/>
          <ac:spMkLst>
            <pc:docMk/>
            <pc:sldMk cId="0" sldId="307"/>
            <ac:spMk id="57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31:00.351" v="824" actId="1076"/>
          <ac:spMkLst>
            <pc:docMk/>
            <pc:sldMk cId="0" sldId="307"/>
            <ac:spMk id="58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31:00.382" v="825" actId="1076"/>
          <ac:spMkLst>
            <pc:docMk/>
            <pc:sldMk cId="0" sldId="307"/>
            <ac:spMk id="59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31:14.211" v="838" actId="20577"/>
          <ac:spMkLst>
            <pc:docMk/>
            <pc:sldMk cId="0" sldId="307"/>
            <ac:spMk id="60" creationId="{00000000-0000-0000-0000-000000000000}"/>
          </ac:spMkLst>
        </pc:spChg>
      </pc:sldChg>
      <pc:sldChg chg="modSp">
        <pc:chgData name="Damien Prouet" userId="a710c8ba9f9564fe" providerId="Windows Live" clId="Web-{9D81E7F5-C831-4F4A-B7E4-441387955799}" dt="2026-05-20T19:34:51.233" v="1005" actId="20577"/>
        <pc:sldMkLst>
          <pc:docMk/>
          <pc:sldMk cId="0" sldId="308"/>
        </pc:sldMkLst>
        <pc:spChg chg="mod">
          <ac:chgData name="Damien Prouet" userId="a710c8ba9f9564fe" providerId="Windows Live" clId="Web-{9D81E7F5-C831-4F4A-B7E4-441387955799}" dt="2026-05-20T19:32:50.401" v="888" actId="1076"/>
          <ac:spMkLst>
            <pc:docMk/>
            <pc:sldMk cId="0" sldId="308"/>
            <ac:spMk id="8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33:14.480" v="906" actId="20577"/>
          <ac:spMkLst>
            <pc:docMk/>
            <pc:sldMk cId="0" sldId="308"/>
            <ac:spMk id="9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33:56.778" v="941" actId="1076"/>
          <ac:spMkLst>
            <pc:docMk/>
            <pc:sldMk cId="0" sldId="308"/>
            <ac:spMk id="11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34:16.373" v="963" actId="20577"/>
          <ac:spMkLst>
            <pc:docMk/>
            <pc:sldMk cId="0" sldId="308"/>
            <ac:spMk id="12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34:13.169" v="959" actId="20577"/>
          <ac:spMkLst>
            <pc:docMk/>
            <pc:sldMk cId="0" sldId="308"/>
            <ac:spMk id="13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34:09.888" v="955" actId="20577"/>
          <ac:spMkLst>
            <pc:docMk/>
            <pc:sldMk cId="0" sldId="308"/>
            <ac:spMk id="14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34:06.419" v="949" actId="20577"/>
          <ac:spMkLst>
            <pc:docMk/>
            <pc:sldMk cId="0" sldId="308"/>
            <ac:spMk id="15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31:47.931" v="866" actId="20577"/>
          <ac:spMkLst>
            <pc:docMk/>
            <pc:sldMk cId="0" sldId="308"/>
            <ac:spMk id="17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31:50.915" v="870" actId="20577"/>
          <ac:spMkLst>
            <pc:docMk/>
            <pc:sldMk cId="0" sldId="308"/>
            <ac:spMk id="18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32:50.464" v="890" actId="1076"/>
          <ac:spMkLst>
            <pc:docMk/>
            <pc:sldMk cId="0" sldId="308"/>
            <ac:spMk id="22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33:20.762" v="916" actId="20577"/>
          <ac:spMkLst>
            <pc:docMk/>
            <pc:sldMk cId="0" sldId="308"/>
            <ac:spMk id="23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33:56.794" v="942" actId="1076"/>
          <ac:spMkLst>
            <pc:docMk/>
            <pc:sldMk cId="0" sldId="308"/>
            <ac:spMk id="25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34:23.342" v="969" actId="20577"/>
          <ac:spMkLst>
            <pc:docMk/>
            <pc:sldMk cId="0" sldId="308"/>
            <ac:spMk id="26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34:28.232" v="975" actId="20577"/>
          <ac:spMkLst>
            <pc:docMk/>
            <pc:sldMk cId="0" sldId="308"/>
            <ac:spMk id="27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34:31.904" v="981" actId="20577"/>
          <ac:spMkLst>
            <pc:docMk/>
            <pc:sldMk cId="0" sldId="308"/>
            <ac:spMk id="28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34:35.108" v="985" actId="20577"/>
          <ac:spMkLst>
            <pc:docMk/>
            <pc:sldMk cId="0" sldId="308"/>
            <ac:spMk id="29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31:40.493" v="856" actId="20577"/>
          <ac:spMkLst>
            <pc:docMk/>
            <pc:sldMk cId="0" sldId="308"/>
            <ac:spMk id="31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31:44.477" v="862" actId="20577"/>
          <ac:spMkLst>
            <pc:docMk/>
            <pc:sldMk cId="0" sldId="308"/>
            <ac:spMk id="32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33:08.402" v="900" actId="1076"/>
          <ac:spMkLst>
            <pc:docMk/>
            <pc:sldMk cId="0" sldId="308"/>
            <ac:spMk id="35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32:50.526" v="892" actId="1076"/>
          <ac:spMkLst>
            <pc:docMk/>
            <pc:sldMk cId="0" sldId="308"/>
            <ac:spMk id="36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33:29.262" v="922" actId="20577"/>
          <ac:spMkLst>
            <pc:docMk/>
            <pc:sldMk cId="0" sldId="308"/>
            <ac:spMk id="37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33:56.825" v="943" actId="1076"/>
          <ac:spMkLst>
            <pc:docMk/>
            <pc:sldMk cId="0" sldId="308"/>
            <ac:spMk id="39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34:51.233" v="1005" actId="20577"/>
          <ac:spMkLst>
            <pc:docMk/>
            <pc:sldMk cId="0" sldId="308"/>
            <ac:spMk id="40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34:46.389" v="1001" actId="20577"/>
          <ac:spMkLst>
            <pc:docMk/>
            <pc:sldMk cId="0" sldId="308"/>
            <ac:spMk id="41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34:41.905" v="995" actId="20577"/>
          <ac:spMkLst>
            <pc:docMk/>
            <pc:sldMk cId="0" sldId="308"/>
            <ac:spMk id="42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34:38.248" v="989" actId="20577"/>
          <ac:spMkLst>
            <pc:docMk/>
            <pc:sldMk cId="0" sldId="308"/>
            <ac:spMk id="43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31:33.774" v="850" actId="20577"/>
          <ac:spMkLst>
            <pc:docMk/>
            <pc:sldMk cId="0" sldId="308"/>
            <ac:spMk id="45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31:29.586" v="845" actId="20577"/>
          <ac:spMkLst>
            <pc:docMk/>
            <pc:sldMk cId="0" sldId="308"/>
            <ac:spMk id="46" creationId="{00000000-0000-0000-0000-000000000000}"/>
          </ac:spMkLst>
        </pc:spChg>
      </pc:sldChg>
      <pc:sldChg chg="modSp">
        <pc:chgData name="Damien Prouet" userId="a710c8ba9f9564fe" providerId="Windows Live" clId="Web-{9D81E7F5-C831-4F4A-B7E4-441387955799}" dt="2026-05-20T19:05:08.445" v="4" actId="1076"/>
        <pc:sldMkLst>
          <pc:docMk/>
          <pc:sldMk cId="0" sldId="309"/>
        </pc:sldMkLst>
        <pc:spChg chg="mod">
          <ac:chgData name="Damien Prouet" userId="a710c8ba9f9564fe" providerId="Windows Live" clId="Web-{9D81E7F5-C831-4F4A-B7E4-441387955799}" dt="2026-05-20T19:05:03.992" v="3" actId="1076"/>
          <ac:spMkLst>
            <pc:docMk/>
            <pc:sldMk cId="0" sldId="309"/>
            <ac:spMk id="30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05:08.445" v="4" actId="1076"/>
          <ac:spMkLst>
            <pc:docMk/>
            <pc:sldMk cId="0" sldId="309"/>
            <ac:spMk id="33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04:52.429" v="2" actId="1076"/>
          <ac:spMkLst>
            <pc:docMk/>
            <pc:sldMk cId="0" sldId="309"/>
            <ac:spMk id="36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04:36.054" v="0"/>
          <ac:spMkLst>
            <pc:docMk/>
            <pc:sldMk cId="0" sldId="309"/>
            <ac:spMk id="37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04:42.069" v="1"/>
          <ac:spMkLst>
            <pc:docMk/>
            <pc:sldMk cId="0" sldId="309"/>
            <ac:spMk id="38" creationId="{00000000-0000-0000-0000-000000000000}"/>
          </ac:spMkLst>
        </pc:spChg>
      </pc:sldChg>
      <pc:sldChg chg="modSp">
        <pc:chgData name="Damien Prouet" userId="a710c8ba9f9564fe" providerId="Windows Live" clId="Web-{9D81E7F5-C831-4F4A-B7E4-441387955799}" dt="2026-05-20T19:11:10.503" v="181" actId="1076"/>
        <pc:sldMkLst>
          <pc:docMk/>
          <pc:sldMk cId="0" sldId="310"/>
        </pc:sldMkLst>
        <pc:spChg chg="mod">
          <ac:chgData name="Damien Prouet" userId="a710c8ba9f9564fe" providerId="Windows Live" clId="Web-{9D81E7F5-C831-4F4A-B7E4-441387955799}" dt="2026-05-20T19:08:20.248" v="67" actId="1076"/>
          <ac:spMkLst>
            <pc:docMk/>
            <pc:sldMk cId="0" sldId="310"/>
            <ac:spMk id="3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08:20.529" v="68" actId="1076"/>
          <ac:spMkLst>
            <pc:docMk/>
            <pc:sldMk cId="0" sldId="310"/>
            <ac:spMk id="4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08:41.170" v="77" actId="1076"/>
          <ac:spMkLst>
            <pc:docMk/>
            <pc:sldMk cId="0" sldId="310"/>
            <ac:spMk id="7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11:10.503" v="181" actId="1076"/>
          <ac:spMkLst>
            <pc:docMk/>
            <pc:sldMk cId="0" sldId="310"/>
            <ac:spMk id="8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05:40.040" v="10" actId="1076"/>
          <ac:spMkLst>
            <pc:docMk/>
            <pc:sldMk cId="0" sldId="310"/>
            <ac:spMk id="42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06:51.089" v="41" actId="20577"/>
          <ac:spMkLst>
            <pc:docMk/>
            <pc:sldMk cId="0" sldId="310"/>
            <ac:spMk id="45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07:14.746" v="42" actId="1076"/>
          <ac:spMkLst>
            <pc:docMk/>
            <pc:sldMk cId="0" sldId="310"/>
            <ac:spMk id="46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07:14.761" v="43" actId="1076"/>
          <ac:spMkLst>
            <pc:docMk/>
            <pc:sldMk cId="0" sldId="310"/>
            <ac:spMk id="47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11:03.175" v="180" actId="1076"/>
          <ac:spMkLst>
            <pc:docMk/>
            <pc:sldMk cId="0" sldId="310"/>
            <ac:spMk id="48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07:14.808" v="45" actId="1076"/>
          <ac:spMkLst>
            <pc:docMk/>
            <pc:sldMk cId="0" sldId="310"/>
            <ac:spMk id="49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07:14.840" v="46" actId="1076"/>
          <ac:spMkLst>
            <pc:docMk/>
            <pc:sldMk cId="0" sldId="310"/>
            <ac:spMk id="50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11:03.175" v="179" actId="1076"/>
          <ac:spMkLst>
            <pc:docMk/>
            <pc:sldMk cId="0" sldId="310"/>
            <ac:spMk id="51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07:14.871" v="48" actId="1076"/>
          <ac:spMkLst>
            <pc:docMk/>
            <pc:sldMk cId="0" sldId="310"/>
            <ac:spMk id="52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07:14.902" v="49" actId="1076"/>
          <ac:spMkLst>
            <pc:docMk/>
            <pc:sldMk cId="0" sldId="310"/>
            <ac:spMk id="53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11:03.175" v="178" actId="1076"/>
          <ac:spMkLst>
            <pc:docMk/>
            <pc:sldMk cId="0" sldId="310"/>
            <ac:spMk id="54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07:14.949" v="51" actId="1076"/>
          <ac:spMkLst>
            <pc:docMk/>
            <pc:sldMk cId="0" sldId="310"/>
            <ac:spMk id="55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07:14.965" v="52" actId="1076"/>
          <ac:spMkLst>
            <pc:docMk/>
            <pc:sldMk cId="0" sldId="310"/>
            <ac:spMk id="56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11:03.175" v="177" actId="1076"/>
          <ac:spMkLst>
            <pc:docMk/>
            <pc:sldMk cId="0" sldId="310"/>
            <ac:spMk id="57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07:15.011" v="54" actId="1076"/>
          <ac:spMkLst>
            <pc:docMk/>
            <pc:sldMk cId="0" sldId="310"/>
            <ac:spMk id="58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07:15.027" v="55" actId="1076"/>
          <ac:spMkLst>
            <pc:docMk/>
            <pc:sldMk cId="0" sldId="310"/>
            <ac:spMk id="59" creationId="{00000000-0000-0000-0000-000000000000}"/>
          </ac:spMkLst>
        </pc:spChg>
        <pc:spChg chg="mod">
          <ac:chgData name="Damien Prouet" userId="a710c8ba9f9564fe" providerId="Windows Live" clId="Web-{9D81E7F5-C831-4F4A-B7E4-441387955799}" dt="2026-05-20T19:11:03.175" v="176" actId="1076"/>
          <ac:spMkLst>
            <pc:docMk/>
            <pc:sldMk cId="0" sldId="310"/>
            <ac:spMk id="60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Features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C489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6B4-4D54-B8FF-79C483809D13}"/>
              </c:ext>
            </c:extLst>
          </c:dPt>
          <c:dPt>
            <c:idx val="1"/>
            <c:bubble3D val="0"/>
            <c:spPr>
              <a:solidFill>
                <a:srgbClr val="06B6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6B4-4D54-B8FF-79C483809D13}"/>
              </c:ext>
            </c:extLst>
          </c:dPt>
          <c:dPt>
            <c:idx val="2"/>
            <c:bubble3D val="0"/>
            <c:spPr>
              <a:solidFill>
                <a:srgbClr val="8B5C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6B4-4D54-B8FF-79C483809D13}"/>
              </c:ext>
            </c:extLst>
          </c:dPt>
          <c:dPt>
            <c:idx val="3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6B4-4D54-B8FF-79C483809D13}"/>
              </c:ext>
            </c:extLst>
          </c:dPt>
          <c:dPt>
            <c:idx val="4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6B4-4D54-B8FF-79C483809D13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6B4-4D54-B8FF-79C483809D13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6B4-4D54-B8FF-79C483809D13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6B4-4D54-B8FF-79C483809D13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6B4-4D54-B8FF-79C483809D13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66B4-4D54-B8FF-79C483809D13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Posts &amp; Réactions</c:v>
                </c:pt>
                <c:pt idx="1">
                  <c:v>Messagerie (SSE)</c:v>
                </c:pt>
                <c:pt idx="2">
                  <c:v>Groupes &amp; Events</c:v>
                </c:pt>
                <c:pt idx="3">
                  <c:v>Auth &amp; Profil</c:v>
                </c:pt>
                <c:pt idx="4">
                  <c:v>Recherche &amp; Notif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</c:v>
                </c:pt>
                <c:pt idx="1">
                  <c:v>25</c:v>
                </c:pt>
                <c:pt idx="2">
                  <c:v>20</c:v>
                </c:pt>
                <c:pt idx="3">
                  <c:v>15</c:v>
                </c:pt>
                <c:pt idx="4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66B4-4D54-B8FF-79C483809D1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solidFill>
          <a:srgbClr val="272730"/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FFFFFF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272730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Jours</c:v>
                </c:pt>
              </c:strCache>
            </c:strRef>
          </c:tx>
          <c:spPr>
            <a:solidFill>
              <a:srgbClr val="EC489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Conception</c:v>
                </c:pt>
                <c:pt idx="1">
                  <c:v>Développement</c:v>
                </c:pt>
                <c:pt idx="2">
                  <c:v>Tests</c:v>
                </c:pt>
                <c:pt idx="3">
                  <c:v>Déploiement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</c:v>
                </c:pt>
                <c:pt idx="1">
                  <c:v>14</c:v>
                </c:pt>
                <c:pt idx="2">
                  <c:v>7</c:v>
                </c:pt>
                <c:pt idx="3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2B1-44E5-831E-7EE31611A4E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1A1A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3F3F4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1A1A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272730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27273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C85571-27E6-4885-81B9-4E768D59BDA3}" type="datetimeFigureOut">
              <a:t>20/05/2026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6F565-DB58-4F6C-A939-EF60F3ED8672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5653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chart" Target="../charts/char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B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EC4899">
              <a:alpha val="1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9418320" y="4114800"/>
            <a:ext cx="6400800" cy="640080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7315200" y="914400"/>
            <a:ext cx="2743200" cy="2743200"/>
          </a:xfrm>
          <a:prstGeom prst="ellipse">
            <a:avLst/>
          </a:prstGeom>
          <a:solidFill>
            <a:srgbClr val="06B6D4">
              <a:alpha val="8000"/>
            </a:srgbClr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5" name="Image 0" descr="/sessions/sweet-funny-newton/mnt/outputs/build/assets/konekt-logo-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097280"/>
            <a:ext cx="3200400" cy="1097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14400" y="2468880"/>
            <a:ext cx="2377440" cy="411480"/>
          </a:xfrm>
          <a:prstGeom prst="roundRect">
            <a:avLst>
              <a:gd name="adj" fmla="val 48889"/>
            </a:avLst>
          </a:prstGeom>
          <a:solidFill>
            <a:srgbClr val="EC4899">
              <a:alpha val="25000"/>
            </a:srgbClr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914400" y="2468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RNCP 37873  ·  CDA  ·  Niveau 6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14400" y="31089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de soutenance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14400" y="36118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social Konekt</a:t>
            </a:r>
            <a:endParaRPr lang="en-US" sz="5600" dirty="0"/>
          </a:p>
        </p:txBody>
      </p:sp>
      <p:sp>
        <p:nvSpPr>
          <p:cNvPr id="10" name="Text 7"/>
          <p:cNvSpPr/>
          <p:nvPr/>
        </p:nvSpPr>
        <p:spPr>
          <a:xfrm>
            <a:off x="914400" y="4526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plateforme sociale full-stack temps réel — Next.js 15, Prisma, PostgreSQL, SSE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914400" y="5212080"/>
            <a:ext cx="1097280" cy="36576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914400" y="53492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 Lecart</a:t>
            </a:r>
            <a:endParaRPr lang="en-US" sz="1800" dirty="0"/>
          </a:p>
          <a:p>
            <a:pPr marL="0" indent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Concepteur Développeur d'Applications  ·  Promotion 2024-2026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046720" y="6217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Zone01 Rouen Normandie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04672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Soutenance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B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371600"/>
            <a:ext cx="3657600" cy="3657600"/>
          </a:xfrm>
          <a:prstGeom prst="ellipse">
            <a:avLst/>
          </a:prstGeom>
          <a:solidFill>
            <a:srgbClr val="EC4899">
              <a:alpha val="1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1247120" y="-457200"/>
            <a:ext cx="1645920" cy="1645920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PRÉSENTATION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65760" y="457200"/>
            <a:ext cx="73152" cy="7772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85800" y="16916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1554480" y="1828800"/>
            <a:ext cx="18288" cy="365760"/>
          </a:xfrm>
          <a:prstGeom prst="rect">
            <a:avLst/>
          </a:prstGeom>
          <a:solidFill>
            <a:srgbClr val="3F3F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737360" y="16916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candidat &amp; le contexte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0" y="16916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Parcours, reconversion, formation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404872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85800" y="2404872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1554480" y="2542032"/>
            <a:ext cx="18288" cy="365760"/>
          </a:xfrm>
          <a:prstGeom prst="rect">
            <a:avLst/>
          </a:prstGeom>
          <a:solidFill>
            <a:srgbClr val="3F3F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1737360" y="2404872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 Konekt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0" y="2404872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Problématique, périmètre, équipe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118104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85800" y="3118104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1554480" y="3255264"/>
            <a:ext cx="18288" cy="365760"/>
          </a:xfrm>
          <a:prstGeom prst="rect">
            <a:avLst/>
          </a:prstGeom>
          <a:solidFill>
            <a:srgbClr val="3F3F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1737360" y="3118104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&amp; modélisation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0" y="3118104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stories, MCD, design system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3831336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85800" y="3831336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24" name="Shape 22"/>
          <p:cNvSpPr/>
          <p:nvPr/>
        </p:nvSpPr>
        <p:spPr>
          <a:xfrm>
            <a:off x="1554480" y="3968496"/>
            <a:ext cx="18288" cy="365760"/>
          </a:xfrm>
          <a:prstGeom prst="rect">
            <a:avLst/>
          </a:prstGeom>
          <a:solidFill>
            <a:srgbClr val="3F3F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1737360" y="3831336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développement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00800" y="3831336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Stack, API, temps réel, sécurité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4544568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685800" y="454456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800" dirty="0"/>
          </a:p>
        </p:txBody>
      </p:sp>
      <p:sp>
        <p:nvSpPr>
          <p:cNvPr id="29" name="Shape 27"/>
          <p:cNvSpPr/>
          <p:nvPr/>
        </p:nvSpPr>
        <p:spPr>
          <a:xfrm>
            <a:off x="1554480" y="4681728"/>
            <a:ext cx="18288" cy="365760"/>
          </a:xfrm>
          <a:prstGeom prst="rect">
            <a:avLst/>
          </a:prstGeom>
          <a:solidFill>
            <a:srgbClr val="3F3F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1737360" y="4544568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Tests, CI/CD &amp; déploiement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00800" y="4544568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Qualité, automatisation, production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525780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685800" y="52578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800" dirty="0"/>
          </a:p>
        </p:txBody>
      </p:sp>
      <p:sp>
        <p:nvSpPr>
          <p:cNvPr id="34" name="Shape 32"/>
          <p:cNvSpPr/>
          <p:nvPr/>
        </p:nvSpPr>
        <p:spPr>
          <a:xfrm>
            <a:off x="1554480" y="5394960"/>
            <a:ext cx="18288" cy="365760"/>
          </a:xfrm>
          <a:prstGeom prst="rect">
            <a:avLst/>
          </a:prstGeom>
          <a:solidFill>
            <a:srgbClr val="3F3F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1737360" y="52578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&amp; compétences RNCP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400800" y="52578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Apprentissages, mapping des blocs</a:t>
            </a:r>
            <a:endParaRPr lang="en-US" sz="1200" dirty="0"/>
          </a:p>
        </p:txBody>
      </p:sp>
      <p:pic>
        <p:nvPicPr>
          <p:cNvPr id="37" name="Image 0" descr="/sessions/sweet-funny-newton/mnt/outputs/build/assets/konekt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446520"/>
            <a:ext cx="274320" cy="274320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Konekt  ·  RNCP 37873 - CDA  ·  Christophe Lecart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B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LE CANDIDAT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 Lecart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73152" cy="7772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2926080" cy="2926080"/>
          </a:xfrm>
          <a:prstGeom prst="ellipse">
            <a:avLst/>
          </a:prstGeom>
          <a:solidFill>
            <a:srgbClr val="EC4899">
              <a:alpha val="30000"/>
            </a:srgbClr>
          </a:solidFill>
          <a:ln w="38100">
            <a:solidFill>
              <a:srgbClr val="EC48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2926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</a:t>
            </a:r>
            <a:endParaRPr lang="en-US" sz="9000" dirty="0"/>
          </a:p>
        </p:txBody>
      </p:sp>
      <p:sp>
        <p:nvSpPr>
          <p:cNvPr id="7" name="Shape 5"/>
          <p:cNvSpPr/>
          <p:nvPr/>
        </p:nvSpPr>
        <p:spPr>
          <a:xfrm>
            <a:off x="731520" y="4846320"/>
            <a:ext cx="2926080" cy="365760"/>
          </a:xfrm>
          <a:prstGeom prst="roundRect">
            <a:avLst>
              <a:gd name="adj" fmla="val 37500"/>
            </a:avLst>
          </a:prstGeom>
          <a:solidFill>
            <a:srgbClr val="EC4899">
              <a:alpha val="25000"/>
            </a:srgbClr>
          </a:solidFill>
          <a:ln w="9525">
            <a:solidFill>
              <a:srgbClr val="EC48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31520" y="4846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RECONVERSION DEV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0" y="16916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terrain industriel au code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114800" y="224028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Technicien industriel pendant 20 ans (KONE Ascenseurs, SOCOTEC Équipements), j'ai entamé en 2024 une transition complète vers le développement full-stack via la formation Zone01 Rouen Normandie.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0" y="3611880"/>
            <a:ext cx="1828800" cy="1280160"/>
          </a:xfrm>
          <a:prstGeom prst="roundRect">
            <a:avLst>
              <a:gd name="adj" fmla="val 5714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4114800" y="37033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ans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114800" y="42976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Expérience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industrielle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80760" y="3611880"/>
            <a:ext cx="1828800" cy="1280160"/>
          </a:xfrm>
          <a:prstGeom prst="roundRect">
            <a:avLst>
              <a:gd name="adj" fmla="val 5714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080760" y="37033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080760" y="42976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Entrée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Zone01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046720" y="3611880"/>
            <a:ext cx="1828800" cy="1280160"/>
          </a:xfrm>
          <a:prstGeom prst="roundRect">
            <a:avLst>
              <a:gd name="adj" fmla="val 5714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8046720" y="37033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6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046720" y="42976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visée (RNCP)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0012680" y="3611880"/>
            <a:ext cx="1828800" cy="1280160"/>
          </a:xfrm>
          <a:prstGeom prst="roundRect">
            <a:avLst>
              <a:gd name="adj" fmla="val 5714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10012680" y="37033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0012680" y="42976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Appétence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0" y="5074920"/>
            <a:ext cx="7680960" cy="1188720"/>
          </a:xfrm>
          <a:prstGeom prst="roundRect">
            <a:avLst>
              <a:gd name="adj" fmla="val 6154"/>
            </a:avLst>
          </a:prstGeom>
          <a:solidFill>
            <a:srgbClr val="1F2028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4297680" y="5120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clés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297680" y="5413248"/>
            <a:ext cx="502920" cy="502920"/>
          </a:xfrm>
          <a:prstGeom prst="ellipse">
            <a:avLst/>
          </a:prstGeom>
          <a:solidFill>
            <a:srgbClr val="EC4899">
              <a:alpha val="30000"/>
            </a:srgbClr>
          </a:solidFill>
          <a:ln w="19050">
            <a:solidFill>
              <a:srgbClr val="EC48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4297680" y="5413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846320" y="5413248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Rigueur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172200" y="5413248"/>
            <a:ext cx="502920" cy="502920"/>
          </a:xfrm>
          <a:prstGeom prst="ellipse">
            <a:avLst/>
          </a:prstGeom>
          <a:solidFill>
            <a:srgbClr val="06B6D4">
              <a:alpha val="30000"/>
            </a:srgbClr>
          </a:solidFill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6172200" y="5413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720840" y="5413248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Pragmatisme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046720" y="5413248"/>
            <a:ext cx="502920" cy="502920"/>
          </a:xfrm>
          <a:prstGeom prst="ellipse">
            <a:avLst/>
          </a:prstGeom>
          <a:solidFill>
            <a:srgbClr val="8B5CF6">
              <a:alpha val="30000"/>
            </a:srgbClr>
          </a:solidFill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8046720" y="5413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8595360" y="5413248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Autodidacte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9921240" y="5413248"/>
            <a:ext cx="502920" cy="502920"/>
          </a:xfrm>
          <a:prstGeom prst="ellipse">
            <a:avLst/>
          </a:prstGeom>
          <a:solidFill>
            <a:srgbClr val="10B981">
              <a:alpha val="30000"/>
            </a:srgbClr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9921240" y="5413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10469880" y="5413248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Métier ↔ Tech</a:t>
            </a:r>
            <a:endParaRPr lang="en-US" sz="1400" dirty="0"/>
          </a:p>
        </p:txBody>
      </p:sp>
      <p:pic>
        <p:nvPicPr>
          <p:cNvPr id="37" name="Image 0" descr="/sessions/sweet-funny-newton/mnt/outputs/build/assets/konekt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446520"/>
            <a:ext cx="274320" cy="274320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Konekt  ·  RNCP 37873 - CDA  ·  Christophe Lecart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B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PARCOURS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ans de terrain, puis le code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73152" cy="7772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828800" y="1645920"/>
            <a:ext cx="54864" cy="4572000"/>
          </a:xfrm>
          <a:prstGeom prst="rect">
            <a:avLst/>
          </a:prstGeom>
          <a:solidFill>
            <a:srgbClr val="3F3F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691640" y="1801368"/>
            <a:ext cx="329184" cy="329184"/>
          </a:xfrm>
          <a:prstGeom prst="ellipse">
            <a:avLst/>
          </a:prstGeom>
          <a:solidFill>
            <a:srgbClr val="71717A"/>
          </a:solidFill>
          <a:ln w="38100">
            <a:solidFill>
              <a:srgbClr val="1A1B2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286000" y="1645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 PRO MSMA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286000" y="1965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Systèmes Mécaniques Automatisés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691640" y="2578608"/>
            <a:ext cx="329184" cy="329184"/>
          </a:xfrm>
          <a:prstGeom prst="ellipse">
            <a:avLst/>
          </a:prstGeom>
          <a:solidFill>
            <a:srgbClr val="71717A"/>
          </a:solidFill>
          <a:ln w="38100">
            <a:solidFill>
              <a:srgbClr val="1A1B2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48640" y="24688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286000" y="2423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BTS MAI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286000" y="2743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Mécanique et Automatismes Industriels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691640" y="3355848"/>
            <a:ext cx="329184" cy="329184"/>
          </a:xfrm>
          <a:prstGeom prst="ellipse">
            <a:avLst/>
          </a:prstGeom>
          <a:solidFill>
            <a:srgbClr val="06B6D4"/>
          </a:solidFill>
          <a:ln w="38100">
            <a:solidFill>
              <a:srgbClr val="1A1B2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548640" y="32461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2004-2010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28600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 Ascenseurs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286000" y="35204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Technicien régleur et mise en service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691640" y="4133088"/>
            <a:ext cx="329184" cy="329184"/>
          </a:xfrm>
          <a:prstGeom prst="ellipse">
            <a:avLst/>
          </a:prstGeom>
          <a:solidFill>
            <a:srgbClr val="8B5CF6"/>
          </a:solidFill>
          <a:ln w="38100">
            <a:solidFill>
              <a:srgbClr val="1A1B2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548640" y="40233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2010-2024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86000" y="3977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SOCOTEC Équipements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286000" y="42976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vérifications générales périodiques (14 ans)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691640" y="4910328"/>
            <a:ext cx="329184" cy="329184"/>
          </a:xfrm>
          <a:prstGeom prst="ellipse">
            <a:avLst/>
          </a:prstGeom>
          <a:solidFill>
            <a:srgbClr val="EC4899"/>
          </a:solidFill>
          <a:ln w="38100">
            <a:solidFill>
              <a:srgbClr val="1A1B2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548640" y="48006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→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286000" y="4754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Zone01 Rouen Normandie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2286000" y="5074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CDA — peer learning, projets, stack moderne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691640" y="5687568"/>
            <a:ext cx="329184" cy="329184"/>
          </a:xfrm>
          <a:prstGeom prst="ellipse">
            <a:avLst/>
          </a:prstGeom>
          <a:solidFill>
            <a:srgbClr val="10B981"/>
          </a:solidFill>
          <a:ln w="38100">
            <a:solidFill>
              <a:srgbClr val="1A1B2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548640" y="55778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286000" y="5532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Soutenance RNCP 37873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2286000" y="58521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Konekt + Dossier professionnel + alternance visée</a:t>
            </a:r>
            <a:endParaRPr lang="en-US" sz="1100" dirty="0"/>
          </a:p>
        </p:txBody>
      </p:sp>
      <p:pic>
        <p:nvPicPr>
          <p:cNvPr id="30" name="Image 0" descr="/sessions/sweet-funny-newton/mnt/outputs/build/assets/konekt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446520"/>
            <a:ext cx="274320" cy="27432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Konekt  ·  RNCP 37873 - CDA  ·  Christophe Lecart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B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MÉTHODE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Travail en mode agile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73152" cy="7772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de développement adopté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21208" y="2103120"/>
            <a:ext cx="2194560" cy="1691640"/>
          </a:xfrm>
          <a:prstGeom prst="roundRect">
            <a:avLst>
              <a:gd name="adj" fmla="val 4324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344168" y="2240280"/>
            <a:ext cx="548640" cy="548640"/>
          </a:xfrm>
          <a:prstGeom prst="ellipse">
            <a:avLst/>
          </a:prstGeom>
          <a:solidFill>
            <a:srgbClr val="A1A1AA">
              <a:alpha val="30000"/>
            </a:srgbClr>
          </a:solidFill>
          <a:ln w="19050">
            <a:solidFill>
              <a:srgbClr val="A1A1A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344168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12648" y="28346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12648" y="31546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 priorisées HIGH/MED/LOW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15768" y="2926080"/>
            <a:ext cx="36576" cy="0"/>
          </a:xfrm>
          <a:prstGeom prst="line">
            <a:avLst/>
          </a:prstGeom>
          <a:noFill/>
          <a:ln w="19050">
            <a:solidFill>
              <a:srgbClr val="EC4899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2752344" y="2103120"/>
            <a:ext cx="2194560" cy="1691640"/>
          </a:xfrm>
          <a:prstGeom prst="roundRect">
            <a:avLst>
              <a:gd name="adj" fmla="val 4324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3575304" y="2240280"/>
            <a:ext cx="548640" cy="548640"/>
          </a:xfrm>
          <a:prstGeom prst="ellipse">
            <a:avLst/>
          </a:prstGeom>
          <a:solidFill>
            <a:srgbClr val="06B6D4">
              <a:alpha val="30000"/>
            </a:srgbClr>
          </a:solidFill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3575304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843784" y="28346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planning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843784" y="31546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GitHub assignées, points estimés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946904" y="2926080"/>
            <a:ext cx="36576" cy="0"/>
          </a:xfrm>
          <a:prstGeom prst="line">
            <a:avLst/>
          </a:prstGeom>
          <a:noFill/>
          <a:ln w="19050">
            <a:solidFill>
              <a:srgbClr val="EC4899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4983480" y="2103120"/>
            <a:ext cx="2194560" cy="1691640"/>
          </a:xfrm>
          <a:prstGeom prst="roundRect">
            <a:avLst>
              <a:gd name="adj" fmla="val 4324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5806440" y="2240280"/>
            <a:ext cx="548640" cy="548640"/>
          </a:xfrm>
          <a:prstGeom prst="ellipse">
            <a:avLst/>
          </a:prstGeom>
          <a:solidFill>
            <a:srgbClr val="8B5CF6">
              <a:alpha val="30000"/>
            </a:srgbClr>
          </a:solidFill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580644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◯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074920" y="28346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standup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74920" y="31546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 — avancement, blocages, plan du jour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178040" y="2926080"/>
            <a:ext cx="36576" cy="0"/>
          </a:xfrm>
          <a:prstGeom prst="line">
            <a:avLst/>
          </a:prstGeom>
          <a:noFill/>
          <a:ln w="19050">
            <a:solidFill>
              <a:srgbClr val="EC4899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7214616" y="2103120"/>
            <a:ext cx="2194560" cy="1691640"/>
          </a:xfrm>
          <a:prstGeom prst="roundRect">
            <a:avLst>
              <a:gd name="adj" fmla="val 4324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8037576" y="2240280"/>
            <a:ext cx="548640" cy="548640"/>
          </a:xfrm>
          <a:prstGeom prst="ellipse">
            <a:avLst/>
          </a:prstGeom>
          <a:solidFill>
            <a:srgbClr val="F59E0B">
              <a:alpha val="30000"/>
            </a:srgbClr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8037576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▷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306056" y="28346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demo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306056" y="31546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 de fin de sprint en équipe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9409176" y="2926080"/>
            <a:ext cx="36576" cy="0"/>
          </a:xfrm>
          <a:prstGeom prst="line">
            <a:avLst/>
          </a:prstGeom>
          <a:noFill/>
          <a:ln w="19050">
            <a:solidFill>
              <a:srgbClr val="EC4899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9445752" y="2103120"/>
            <a:ext cx="2194560" cy="1691640"/>
          </a:xfrm>
          <a:prstGeom prst="roundRect">
            <a:avLst>
              <a:gd name="adj" fmla="val 4324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10268712" y="2240280"/>
            <a:ext cx="548640" cy="548640"/>
          </a:xfrm>
          <a:prstGeom prst="ellipse">
            <a:avLst/>
          </a:prstGeom>
          <a:solidFill>
            <a:srgbClr val="EC4899">
              <a:alpha val="30000"/>
            </a:srgbClr>
          </a:solidFill>
          <a:ln w="19050">
            <a:solidFill>
              <a:srgbClr val="EC48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10268712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537192" y="28346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Rétrospective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537192" y="31546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a marché / ce qu'on change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48640" y="4023360"/>
            <a:ext cx="5532120" cy="2240280"/>
          </a:xfrm>
          <a:prstGeom prst="roundRect">
            <a:avLst>
              <a:gd name="adj" fmla="val 3265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731520" y="41148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 &amp; rituels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77240" y="4636008"/>
            <a:ext cx="146304" cy="146304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1005840" y="4526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Issues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246120" y="4526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vivant, labels, milestones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77240" y="5047488"/>
            <a:ext cx="146304" cy="146304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1005840" y="4937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Projects (Kanban)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246120" y="4937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Colonnes Todo / Doing / Review / Done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77240" y="5458968"/>
            <a:ext cx="146304" cy="146304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1005840" y="5349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246120" y="5349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obligatoire avant merge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77240" y="5870448"/>
            <a:ext cx="146304" cy="146304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7" name="Text 45"/>
          <p:cNvSpPr/>
          <p:nvPr/>
        </p:nvSpPr>
        <p:spPr>
          <a:xfrm>
            <a:off x="1005840" y="5760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246120" y="5760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bloquante : lint + test + build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263640" y="4023360"/>
            <a:ext cx="5532120" cy="2240280"/>
          </a:xfrm>
          <a:prstGeom prst="roundRect">
            <a:avLst>
              <a:gd name="adj" fmla="val 3265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8"/>
          <p:cNvSpPr/>
          <p:nvPr/>
        </p:nvSpPr>
        <p:spPr>
          <a:xfrm>
            <a:off x="6446520" y="41148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Découpe du projet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446520" y="45262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7178040" y="45262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(MVP / Features / Polish)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446520" y="49377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7178040" y="49377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d'environ 10 jours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446520" y="53492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7178040" y="53492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 réparties par sprint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446520" y="57607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7178040" y="57607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+ rétro par sprint</a:t>
            </a:r>
            <a:endParaRPr lang="en-US" sz="1100" dirty="0"/>
          </a:p>
        </p:txBody>
      </p:sp>
      <p:pic>
        <p:nvPicPr>
          <p:cNvPr id="59" name="Image 0" descr="/sessions/sweet-funny-newton/mnt/outputs/build/assets/konekt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446520"/>
            <a:ext cx="274320" cy="274320"/>
          </a:xfrm>
          <a:prstGeom prst="rect">
            <a:avLst/>
          </a:prstGeom>
        </p:spPr>
      </p:pic>
      <p:sp>
        <p:nvSpPr>
          <p:cNvPr id="60" name="Text 57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Konekt  ·  RNCP 37873 - CDA  ·  Christophe Lecart</a:t>
            </a:r>
            <a:endParaRPr lang="en-US" sz="900" dirty="0"/>
          </a:p>
        </p:txBody>
      </p:sp>
      <p:sp>
        <p:nvSpPr>
          <p:cNvPr id="61" name="Text 58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B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457200"/>
            <a:ext cx="73152" cy="77724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C4899"/>
                </a:solidFill>
                <a:latin typeface="Calibri"/>
              </a:rPr>
              <a:t>01 · MÉTHODE · GIT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Workflow Git en équipe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7223760" cy="4297680"/>
          </a:xfrm>
          <a:prstGeom prst="rect">
            <a:avLst/>
          </a:prstGeom>
          <a:solidFill>
            <a:srgbClr val="0D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984248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C4899"/>
                </a:solidFill>
                <a:latin typeface="Consolas"/>
              </a:rPr>
              <a:t>main</a:t>
            </a:r>
          </a:p>
        </p:txBody>
      </p:sp>
      <p:sp>
        <p:nvSpPr>
          <p:cNvPr id="7" name="Rectangle 6"/>
          <p:cNvSpPr/>
          <p:nvPr/>
        </p:nvSpPr>
        <p:spPr>
          <a:xfrm>
            <a:off x="1965960" y="2103120"/>
            <a:ext cx="5577840" cy="36576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2350008" y="2048255"/>
            <a:ext cx="146304" cy="146304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681728" y="2048255"/>
            <a:ext cx="146304" cy="146304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013448" y="2048255"/>
            <a:ext cx="146304" cy="146304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3127248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  <a:latin typeface="Consolas"/>
              </a:rPr>
              <a:t>develop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65960" y="3246120"/>
            <a:ext cx="5577840" cy="3657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2350008" y="3191256"/>
            <a:ext cx="146304" cy="146304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515868" y="3191256"/>
            <a:ext cx="146304" cy="146304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681728" y="3191256"/>
            <a:ext cx="146304" cy="146304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847588" y="3191256"/>
            <a:ext cx="146304" cy="146304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013448" y="3191256"/>
            <a:ext cx="146304" cy="146304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4270248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onsolas"/>
              </a:rPr>
              <a:t>feature/auth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65960" y="4389120"/>
            <a:ext cx="5577840" cy="365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2350008" y="4334256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3904488" y="4334256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458968" y="4334256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013448" y="4334256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5321808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onsolas"/>
              </a:rPr>
              <a:t>feature/likes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965960" y="5440680"/>
            <a:ext cx="5577840" cy="365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2350008" y="5385816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3904488" y="5385816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5458968" y="5385816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7013448" y="5385816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02924" y="3840480"/>
            <a:ext cx="7315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A1A1AA"/>
                </a:solidFill>
                <a:latin typeface="Consolas"/>
              </a:rPr>
              <a:t>PR ←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03520" y="3337560"/>
            <a:ext cx="36576" cy="10515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5248656" y="3246120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269945" y="3840480"/>
            <a:ext cx="7315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A1A1AA"/>
                </a:solidFill>
                <a:latin typeface="Consolas"/>
              </a:rPr>
              <a:t>PR ←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79" y="3337560"/>
            <a:ext cx="36576" cy="21031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6528816" y="3246120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024936" y="251460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A1A1AA"/>
                </a:solidFill>
                <a:latin typeface="Consolas"/>
              </a:rPr>
              <a:t>release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931920" y="2194560"/>
            <a:ext cx="36576" cy="1051560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3877056" y="2103120"/>
            <a:ext cx="146304" cy="146304"/>
          </a:xfrm>
          <a:prstGeom prst="ellips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31520" y="5669280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A1A1AA"/>
                </a:solidFill>
                <a:latin typeface="Calibri"/>
              </a:rPr>
              <a:t>● commit  ↑ Pull Request validée  →  merge  ←  vers branche parente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92440" y="1691640"/>
            <a:ext cx="3520440" cy="4297680"/>
          </a:xfrm>
          <a:prstGeom prst="rect">
            <a:avLst/>
          </a:prstGeom>
          <a:solidFill>
            <a:srgbClr val="272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275319" y="1783080"/>
            <a:ext cx="3154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EC4899"/>
                </a:solidFill>
                <a:latin typeface="Calibri"/>
              </a:rPr>
              <a:t>Règles d'équipe</a:t>
            </a:r>
          </a:p>
        </p:txBody>
      </p:sp>
      <p:sp>
        <p:nvSpPr>
          <p:cNvPr id="42" name="Oval 41"/>
          <p:cNvSpPr/>
          <p:nvPr/>
        </p:nvSpPr>
        <p:spPr>
          <a:xfrm>
            <a:off x="8275319" y="2194560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275319" y="219456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i="0">
                <a:solidFill>
                  <a:srgbClr val="F59E0B"/>
                </a:solidFill>
                <a:latin typeface="Calibri"/>
              </a:rPr>
              <a:t>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78240" y="2148840"/>
            <a:ext cx="265176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1 feature = 1 branche</a:t>
            </a:r>
          </a:p>
        </p:txBody>
      </p:sp>
      <p:sp>
        <p:nvSpPr>
          <p:cNvPr id="45" name="Oval 44"/>
          <p:cNvSpPr/>
          <p:nvPr/>
        </p:nvSpPr>
        <p:spPr>
          <a:xfrm>
            <a:off x="8275319" y="2971800"/>
            <a:ext cx="411480" cy="41148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275319" y="297180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i="0">
                <a:solidFill>
                  <a:srgbClr val="06B6D4"/>
                </a:solidFill>
                <a:latin typeface="Calibri"/>
              </a:rPr>
              <a:t>◐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78240" y="2926080"/>
            <a:ext cx="265176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PR obligatoire vers develop</a:t>
            </a:r>
          </a:p>
        </p:txBody>
      </p:sp>
      <p:sp>
        <p:nvSpPr>
          <p:cNvPr id="48" name="Oval 47"/>
          <p:cNvSpPr/>
          <p:nvPr/>
        </p:nvSpPr>
        <p:spPr>
          <a:xfrm>
            <a:off x="8275319" y="3749040"/>
            <a:ext cx="411480" cy="41148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275319" y="374904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78240" y="3703320"/>
            <a:ext cx="265176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CI verte avant merge</a:t>
            </a:r>
          </a:p>
        </p:txBody>
      </p:sp>
      <p:sp>
        <p:nvSpPr>
          <p:cNvPr id="51" name="Oval 50"/>
          <p:cNvSpPr/>
          <p:nvPr/>
        </p:nvSpPr>
        <p:spPr>
          <a:xfrm>
            <a:off x="8275319" y="4526280"/>
            <a:ext cx="411480" cy="411480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275319" y="452628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i="0">
                <a:solidFill>
                  <a:srgbClr val="EC4899"/>
                </a:solidFill>
                <a:latin typeface="Calibri"/>
              </a:rPr>
              <a:t>▣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78240" y="4480560"/>
            <a:ext cx="265176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develop → main = release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608076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1">
                <a:solidFill>
                  <a:srgbClr val="A1A1AA"/>
                </a:solidFill>
                <a:latin typeface="Calibri"/>
              </a:rPr>
              <a:t>6 contributeurs · 12+ issues majeures · PR #118 stabilisation Docker/Neon/Prisma/Redis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71717A"/>
                </a:solidFill>
                <a:latin typeface="Calibri"/>
              </a:rPr>
              <a:t>Konekt  ·  RNCP 37873 - CDA  ·  Christophe Lecart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71717A"/>
                </a:solidFill>
                <a:latin typeface="Calibri"/>
              </a:rPr>
              <a:t>6 / 56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B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457200"/>
            <a:ext cx="73152" cy="77724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C4899"/>
                </a:solidFill>
                <a:latin typeface="Calibri"/>
              </a:rPr>
              <a:t>01 · MÉTHODE · GIT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Anatomie d'une Pull Request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7315200" cy="4572000"/>
          </a:xfrm>
          <a:prstGeom prst="rect">
            <a:avLst/>
          </a:prstGeom>
          <a:solidFill>
            <a:srgbClr val="0D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7315200" cy="411480"/>
          </a:xfrm>
          <a:prstGeom prst="rect">
            <a:avLst/>
          </a:prstGeom>
          <a:solidFill>
            <a:srgbClr val="272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783080"/>
            <a:ext cx="685800" cy="228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807270"/>
            <a:ext cx="685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OPEN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783080"/>
            <a:ext cx="6217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#118  Stabilisation Docker/Neon/Prisma/Redis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69494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Consolas"/>
              </a:rPr>
              <a:t>arocchet  wants to merge  18 commits  into  main  ← from  fix/docker-stabilisation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60320"/>
            <a:ext cx="6949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EC4899"/>
                </a:solidFill>
                <a:latin typeface="Calibri"/>
              </a:rPr>
              <a:t>Commits (Conventional Commits)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2926079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2880360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F472B6"/>
                </a:solidFill>
                <a:latin typeface="Consolas"/>
              </a:rPr>
              <a:t>feat(docker):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2880360"/>
            <a:ext cx="5120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Consolas"/>
              </a:rPr>
              <a:t>multi-stage build avec image Bun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3200399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3154679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06B6D4"/>
                </a:solidFill>
                <a:latin typeface="Consolas"/>
              </a:rPr>
              <a:t>fix(prisma):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3154679"/>
            <a:ext cx="5120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Consolas"/>
              </a:rPr>
              <a:t>openssl + migrate deploy au boot</a:t>
            </a:r>
          </a:p>
        </p:txBody>
      </p:sp>
      <p:sp>
        <p:nvSpPr>
          <p:cNvPr id="18" name="Oval 17"/>
          <p:cNvSpPr/>
          <p:nvPr/>
        </p:nvSpPr>
        <p:spPr>
          <a:xfrm>
            <a:off x="777240" y="3474720"/>
            <a:ext cx="109728" cy="109728"/>
          </a:xfrm>
          <a:prstGeom prst="ellipse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3429000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EC4899"/>
                </a:solidFill>
                <a:latin typeface="Consolas"/>
              </a:rPr>
              <a:t>chore(deps):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3429000"/>
            <a:ext cx="5120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Consolas"/>
              </a:rPr>
              <a:t>bump @upstash/redis to 1.35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3749039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0120" y="3703320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8B5CF6"/>
                </a:solidFill>
                <a:latin typeface="Consolas"/>
              </a:rPr>
              <a:t>test(auth):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3703320"/>
            <a:ext cx="5120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Consolas"/>
              </a:rPr>
              <a:t>add register integration test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251960"/>
            <a:ext cx="6949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EC4899"/>
                </a:solidFill>
                <a:latin typeface="Calibri"/>
              </a:rPr>
              <a:t>Checks CI · GitHub Actions</a:t>
            </a:r>
          </a:p>
        </p:txBody>
      </p:sp>
      <p:sp>
        <p:nvSpPr>
          <p:cNvPr id="25" name="Oval 24"/>
          <p:cNvSpPr/>
          <p:nvPr/>
        </p:nvSpPr>
        <p:spPr>
          <a:xfrm>
            <a:off x="777240" y="4572000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" y="4572000"/>
            <a:ext cx="1828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4553712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nsolas"/>
              </a:rPr>
              <a:t>lint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455371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  <a:latin typeface="Consolas"/>
              </a:rPr>
              <a:t>passed in 22s</a:t>
            </a:r>
          </a:p>
        </p:txBody>
      </p:sp>
      <p:sp>
        <p:nvSpPr>
          <p:cNvPr id="29" name="Oval 28"/>
          <p:cNvSpPr/>
          <p:nvPr/>
        </p:nvSpPr>
        <p:spPr>
          <a:xfrm>
            <a:off x="777240" y="4846320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77240" y="4846320"/>
            <a:ext cx="1828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4828032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nsolas"/>
              </a:rPr>
              <a:t>test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0" y="482803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  <a:latin typeface="Consolas"/>
              </a:rPr>
              <a:t>passed in 1m 14s</a:t>
            </a:r>
          </a:p>
        </p:txBody>
      </p:sp>
      <p:sp>
        <p:nvSpPr>
          <p:cNvPr id="33" name="Oval 32"/>
          <p:cNvSpPr/>
          <p:nvPr/>
        </p:nvSpPr>
        <p:spPr>
          <a:xfrm>
            <a:off x="777240" y="5120640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77240" y="5120640"/>
            <a:ext cx="1828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5102352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nsolas"/>
              </a:rPr>
              <a:t>build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0" y="510235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  <a:latin typeface="Consolas"/>
              </a:rPr>
              <a:t>passed in 2m 03s</a:t>
            </a:r>
          </a:p>
        </p:txBody>
      </p:sp>
      <p:sp>
        <p:nvSpPr>
          <p:cNvPr id="37" name="Oval 36"/>
          <p:cNvSpPr/>
          <p:nvPr/>
        </p:nvSpPr>
        <p:spPr>
          <a:xfrm>
            <a:off x="777240" y="5394960"/>
            <a:ext cx="182880" cy="18288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77240" y="5394960"/>
            <a:ext cx="1828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" y="5376672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nsolas"/>
              </a:rPr>
              <a:t>vercel preview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0" y="537667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06B6D4"/>
                </a:solidFill>
                <a:latin typeface="Consolas"/>
              </a:rPr>
              <a:t>deployed · pr-118.konekt.vercel.app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5760720"/>
            <a:ext cx="1645920" cy="365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31520" y="5857482"/>
            <a:ext cx="16459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Calibri"/>
              </a:rPr>
              <a:t>✓ Merge pull </a:t>
            </a:r>
            <a:r>
              <a:rPr sz="1100" b="1" i="0" dirty="0" err="1">
                <a:solidFill>
                  <a:srgbClr val="FFFFFF"/>
                </a:solidFill>
                <a:latin typeface="Calibri"/>
              </a:rPr>
              <a:t>request</a:t>
            </a:r>
            <a:endParaRPr lang="fr-FR" dirty="0" err="1">
              <a:ea typeface="Calibri"/>
              <a:cs typeface="Calibri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560320" y="580644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A1A1AA"/>
                </a:solidFill>
                <a:latin typeface="Calibri"/>
              </a:rPr>
              <a:t>2 reviewers ✓ approved · all checks passed · no conflicts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92440" y="1691640"/>
            <a:ext cx="3520440" cy="4572000"/>
          </a:xfrm>
          <a:prstGeom prst="rect">
            <a:avLst/>
          </a:prstGeom>
          <a:solidFill>
            <a:srgbClr val="272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275319" y="1783080"/>
            <a:ext cx="31546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 u="sng">
                <a:solidFill>
                  <a:srgbClr val="EC4899"/>
                </a:solidFill>
                <a:latin typeface="Calibri"/>
              </a:rPr>
              <a:t>Pratiques équipe</a:t>
            </a:r>
            <a:endParaRPr lang="fr-FR" sz="1600" b="1" i="0" u="sng">
              <a:solidFill>
                <a:srgbClr val="EC4899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6" name="Oval 45"/>
          <p:cNvSpPr/>
          <p:nvPr/>
        </p:nvSpPr>
        <p:spPr>
          <a:xfrm>
            <a:off x="8456747" y="2291322"/>
            <a:ext cx="411480" cy="41148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456747" y="2291322"/>
            <a:ext cx="411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i="0">
                <a:solidFill>
                  <a:srgbClr val="06B6D4"/>
                </a:solidFill>
                <a:latin typeface="Calibri"/>
              </a:rPr>
              <a:t>▤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59668" y="2414935"/>
            <a:ext cx="265176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Conventional Commits</a:t>
            </a:r>
          </a:p>
        </p:txBody>
      </p:sp>
      <p:sp>
        <p:nvSpPr>
          <p:cNvPr id="49" name="Oval 48"/>
          <p:cNvSpPr/>
          <p:nvPr/>
        </p:nvSpPr>
        <p:spPr>
          <a:xfrm>
            <a:off x="8456747" y="3068562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456747" y="3068562"/>
            <a:ext cx="411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i="0">
                <a:solidFill>
                  <a:srgbClr val="F59E0B"/>
                </a:solidFill>
                <a:latin typeface="Calibri"/>
              </a:rPr>
              <a:t>◐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59668" y="3167985"/>
            <a:ext cx="265176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1 PR = 1 feature ou fix</a:t>
            </a:r>
          </a:p>
        </p:txBody>
      </p:sp>
      <p:sp>
        <p:nvSpPr>
          <p:cNvPr id="52" name="Oval 51"/>
          <p:cNvSpPr/>
          <p:nvPr/>
        </p:nvSpPr>
        <p:spPr>
          <a:xfrm>
            <a:off x="8456747" y="3845802"/>
            <a:ext cx="411480" cy="41148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456747" y="3845802"/>
            <a:ext cx="411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959668" y="3957320"/>
            <a:ext cx="265176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CI verte = pré-requis</a:t>
            </a:r>
          </a:p>
        </p:txBody>
      </p:sp>
      <p:sp>
        <p:nvSpPr>
          <p:cNvPr id="55" name="Oval 54"/>
          <p:cNvSpPr/>
          <p:nvPr/>
        </p:nvSpPr>
        <p:spPr>
          <a:xfrm>
            <a:off x="8456747" y="4623042"/>
            <a:ext cx="411480" cy="411480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456747" y="4623042"/>
            <a:ext cx="411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i="0">
                <a:solidFill>
                  <a:srgbClr val="EC4899"/>
                </a:solidFill>
                <a:latin typeface="Calibri"/>
              </a:rPr>
              <a:t>●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959668" y="4734560"/>
            <a:ext cx="265176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Review par ≥ 1 pair</a:t>
            </a:r>
          </a:p>
        </p:txBody>
      </p:sp>
      <p:sp>
        <p:nvSpPr>
          <p:cNvPr id="58" name="Oval 57"/>
          <p:cNvSpPr/>
          <p:nvPr/>
        </p:nvSpPr>
        <p:spPr>
          <a:xfrm>
            <a:off x="8456747" y="5400282"/>
            <a:ext cx="411480" cy="411480"/>
          </a:xfrm>
          <a:prstGeom prst="ellipse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456747" y="5400282"/>
            <a:ext cx="411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i="0">
                <a:solidFill>
                  <a:srgbClr val="F472B6"/>
                </a:solidFill>
                <a:latin typeface="Calibri"/>
              </a:rPr>
              <a:t>▲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959668" y="5523895"/>
            <a:ext cx="265176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Squash &amp; merge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71717A"/>
                </a:solidFill>
                <a:latin typeface="Calibri"/>
              </a:rPr>
              <a:t>Konekt  ·  RNCP 37873 - CDA  ·  Christophe Lecart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71717A"/>
                </a:solidFill>
                <a:latin typeface="Calibri"/>
              </a:rPr>
              <a:t>7 / 56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B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LE PROJET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Konekt — contexte &amp; vision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73152" cy="7772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532120" cy="2194560"/>
          </a:xfrm>
          <a:prstGeom prst="roundRect">
            <a:avLst>
              <a:gd name="adj" fmla="val 3333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194560"/>
            <a:ext cx="5074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Concevoir une application sociale moderne, sécurisée et temps réel, comme support de démonstration pour la certification CDA. Le projet doit illustrer l'ensemble du cycle : conception, développement, tests, déploiement.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691640"/>
            <a:ext cx="5532120" cy="2194560"/>
          </a:xfrm>
          <a:prstGeom prst="roundRect">
            <a:avLst>
              <a:gd name="adj" fmla="val 3333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49224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proposée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92240" y="2194560"/>
            <a:ext cx="5074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Konekt : posts, stories, reactions, messagerie privée et de groupe, événements, follow &amp; friends, notifications temps réel — déployé en serverless avec une base relationnelle riche et un push SSE.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206240"/>
            <a:ext cx="2157984" cy="1828800"/>
          </a:xfrm>
          <a:prstGeom prst="roundRect">
            <a:avLst>
              <a:gd name="adj" fmla="val 4000"/>
            </a:avLst>
          </a:prstGeom>
          <a:solidFill>
            <a:srgbClr val="1F2028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1325880" y="4389120"/>
            <a:ext cx="640080" cy="640080"/>
          </a:xfrm>
          <a:prstGeom prst="ellipse">
            <a:avLst/>
          </a:prstGeom>
          <a:solidFill>
            <a:srgbClr val="EC4899">
              <a:alpha val="30000"/>
            </a:srgbClr>
          </a:solidFill>
          <a:ln w="19050">
            <a:solidFill>
              <a:srgbClr val="EC48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1325880" y="4389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✦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0080" y="5166360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Réseautage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5486400"/>
            <a:ext cx="1975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Posts, Stories, Reels, Reactions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98064" y="4206240"/>
            <a:ext cx="2157984" cy="1828800"/>
          </a:xfrm>
          <a:prstGeom prst="roundRect">
            <a:avLst>
              <a:gd name="adj" fmla="val 4000"/>
            </a:avLst>
          </a:prstGeom>
          <a:solidFill>
            <a:srgbClr val="1F2028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3575304" y="4389120"/>
            <a:ext cx="640080" cy="640080"/>
          </a:xfrm>
          <a:prstGeom prst="ellipse">
            <a:avLst/>
          </a:prstGeom>
          <a:solidFill>
            <a:srgbClr val="06B6D4">
              <a:alpha val="30000"/>
            </a:srgbClr>
          </a:solidFill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3575304" y="4389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◐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889504" y="5166360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Messagerie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889504" y="5486400"/>
            <a:ext cx="1975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DM, Group Chat, SSE temps réel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47488" y="4206240"/>
            <a:ext cx="2157984" cy="1828800"/>
          </a:xfrm>
          <a:prstGeom prst="roundRect">
            <a:avLst>
              <a:gd name="adj" fmla="val 4000"/>
            </a:avLst>
          </a:prstGeom>
          <a:solidFill>
            <a:srgbClr val="1F2028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5824728" y="4389120"/>
            <a:ext cx="640080" cy="640080"/>
          </a:xfrm>
          <a:prstGeom prst="ellipse">
            <a:avLst/>
          </a:prstGeom>
          <a:solidFill>
            <a:srgbClr val="8B5CF6">
              <a:alpha val="30000"/>
            </a:srgbClr>
          </a:solidFill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5824728" y="4389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❖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138928" y="5166360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Communautés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138928" y="5486400"/>
            <a:ext cx="1975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Groupes, Événements, RSVP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296912" y="4206240"/>
            <a:ext cx="2157984" cy="1828800"/>
          </a:xfrm>
          <a:prstGeom prst="roundRect">
            <a:avLst>
              <a:gd name="adj" fmla="val 4000"/>
            </a:avLst>
          </a:prstGeom>
          <a:solidFill>
            <a:srgbClr val="1F2028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8074152" y="4389120"/>
            <a:ext cx="640080" cy="640080"/>
          </a:xfrm>
          <a:prstGeom prst="ellipse">
            <a:avLst/>
          </a:prstGeom>
          <a:solidFill>
            <a:srgbClr val="F59E0B">
              <a:alpha val="30000"/>
            </a:srgbClr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8074152" y="4389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⌕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388352" y="5166360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Découverte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388352" y="5486400"/>
            <a:ext cx="1975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Trending, Recommandations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546336" y="4206240"/>
            <a:ext cx="2157984" cy="1828800"/>
          </a:xfrm>
          <a:prstGeom prst="roundRect">
            <a:avLst>
              <a:gd name="adj" fmla="val 4000"/>
            </a:avLst>
          </a:prstGeom>
          <a:solidFill>
            <a:srgbClr val="1F2028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10323576" y="4389120"/>
            <a:ext cx="640080" cy="640080"/>
          </a:xfrm>
          <a:prstGeom prst="ellipse">
            <a:avLst/>
          </a:prstGeom>
          <a:solidFill>
            <a:srgbClr val="10B981">
              <a:alpha val="30000"/>
            </a:srgbClr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10323576" y="4389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⚙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9637776" y="5166360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Personnalisation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637776" y="5486400"/>
            <a:ext cx="1975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Thème, langue, confidentialité</a:t>
            </a:r>
            <a:endParaRPr lang="en-US" sz="1000" dirty="0"/>
          </a:p>
        </p:txBody>
      </p:sp>
      <p:pic>
        <p:nvPicPr>
          <p:cNvPr id="36" name="Image 0" descr="/sessions/sweet-funny-newton/mnt/outputs/build/assets/konekt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446520"/>
            <a:ext cx="274320" cy="274320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Konekt  ·  RNCP 37873 - CDA  ·  Christophe Lecart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56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B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CAHIER DES CHARGES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 &amp; périmètre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73152" cy="7772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157984" cy="1371600"/>
          </a:xfrm>
          <a:prstGeom prst="roundRect">
            <a:avLst>
              <a:gd name="adj" fmla="val 5333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98064" y="1691640"/>
            <a:ext cx="2157984" cy="1371600"/>
          </a:xfrm>
          <a:prstGeom prst="roundRect">
            <a:avLst>
              <a:gd name="adj" fmla="val 5333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2798064" y="1783080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12+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2798064" y="256032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principales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47488" y="1691640"/>
            <a:ext cx="2157984" cy="1371600"/>
          </a:xfrm>
          <a:prstGeom prst="roundRect">
            <a:avLst>
              <a:gd name="adj" fmla="val 5333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5047488" y="1783080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5047488" y="256032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 Prisma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296912" y="1691640"/>
            <a:ext cx="2157984" cy="1371600"/>
          </a:xfrm>
          <a:prstGeom prst="roundRect">
            <a:avLst>
              <a:gd name="adj" fmla="val 5333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7296912" y="1783080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7296912" y="256032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API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546336" y="1691640"/>
            <a:ext cx="2157984" cy="1371600"/>
          </a:xfrm>
          <a:prstGeom prst="roundRect">
            <a:avLst>
              <a:gd name="adj" fmla="val 5333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9546336" y="1783080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9546336" y="256032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CSS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3337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stories prioritaires</a:t>
            </a:r>
            <a:endParaRPr lang="en-US" sz="13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657600"/>
          <a:ext cx="11064240" cy="246888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C48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Acteur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0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C48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0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C48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0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C48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Critère d'acceptation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0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Visiteur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727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S'inscrire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727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C48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727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A1A1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validé, compte créé, JWT émis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72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Utilisateur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727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Créer un post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727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C48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727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A1A1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visible immédiatement dans le feed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72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Utilisateur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727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Envoyer un message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727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C48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727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A1A1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 persisté + push SSE au destinataire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72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Utilisateur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727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Réagir / commenter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727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727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A1A1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Compteur incrémenté, doublon impossible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72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Modérateur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727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Supprimer un contenu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727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727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A1A1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Contenu retiré, log d'action conservé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72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22" name="Image 0" descr="/sessions/sweet-funny-newton/mnt/outputs/build/assets/konekt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446520"/>
            <a:ext cx="274320" cy="27432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Konekt  ·  RNCP 37873 - CDA  ·  Christophe Lecart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56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B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CONCEPTION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multicouche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73152" cy="7772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09728" cy="109728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77240" y="1783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148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/ UX — ce que l'utilisateur voit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0" y="1828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Next.js (React Server Components)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0" y="21214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Composants UI (shadcn/ui, Tailwind)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0" y="241401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de données (use-api, use-real-time-chat)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0760" y="2788920"/>
            <a:ext cx="0" cy="73152"/>
          </a:xfrm>
          <a:prstGeom prst="line">
            <a:avLst/>
          </a:prstGeom>
          <a:noFill/>
          <a:ln w="19050">
            <a:solidFill>
              <a:srgbClr val="EC4899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548640" y="2862072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548640" y="2862072"/>
            <a:ext cx="109728" cy="109728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777240" y="29535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/ MÉTIER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33192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Logique applicative et règles métier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0" y="29992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Handlers /api/private/* /api/public/*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0" y="32918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Actions (mutations) · Middleware JWT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0" y="35844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Zod, schémas partagés client/serveur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80760" y="3959352"/>
            <a:ext cx="0" cy="73152"/>
          </a:xfrm>
          <a:prstGeom prst="line">
            <a:avLst/>
          </a:prstGeom>
          <a:noFill/>
          <a:ln w="19050">
            <a:solidFill>
              <a:srgbClr val="EC4899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548640" y="4032504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548640" y="4032504"/>
            <a:ext cx="109728" cy="109728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777240" y="412394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PERSISTANCE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77240" y="448970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aux données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0" y="4169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ORM (18 modèles, requêtes type-safe)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0" y="44622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Migrations versionnées prisma/migrations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0" y="47548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Helpers src/lib/server/&lt;domaine&gt;/&lt;entité&gt;.ts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080760" y="5129784"/>
            <a:ext cx="0" cy="73152"/>
          </a:xfrm>
          <a:prstGeom prst="line">
            <a:avLst/>
          </a:prstGeom>
          <a:noFill/>
          <a:ln w="19050">
            <a:solidFill>
              <a:srgbClr val="EC4899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548640" y="5202936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548640" y="5202936"/>
            <a:ext cx="109728" cy="10972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777240" y="529437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77240" y="566013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 et services externes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657600" y="534009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Neon (DB relationnelle)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657600" y="563270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Upstash Redis (cache + buffer SSE)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657600" y="592531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Cloudinary (médias) · Vercel (runtime)</a:t>
            </a:r>
            <a:endParaRPr lang="en-US" sz="1100" dirty="0"/>
          </a:p>
        </p:txBody>
      </p:sp>
      <p:pic>
        <p:nvPicPr>
          <p:cNvPr id="36" name="Image 0" descr="/sessions/sweet-funny-newton/mnt/outputs/build/assets/konekt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446520"/>
            <a:ext cx="274320" cy="274320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Konekt  ·  RNCP 37873 - CDA  ·  Christophe Lecart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56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B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CONCEPTION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technique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73152" cy="7772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3657600" cy="2240280"/>
          </a:xfrm>
          <a:prstGeom prst="roundRect">
            <a:avLst>
              <a:gd name="adj" fmla="val 3265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73152" cy="224028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85800" y="18013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19456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2423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Router · SSR/CSR hybride · Server Actions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27432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TypeScript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2971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Composants typés, hooks personnalisés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5800" y="32918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+ shadcn/ui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3520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system, dark theme natif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251960" y="1691640"/>
            <a:ext cx="3657600" cy="2240280"/>
          </a:xfrm>
          <a:prstGeom prst="roundRect">
            <a:avLst>
              <a:gd name="adj" fmla="val 3265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4251960" y="1691640"/>
            <a:ext cx="73152" cy="224028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480560" y="18013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API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480560" y="219456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Route Handlers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480560" y="2423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+ Server-Sent Events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480560" y="27432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480560" y="2971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type-safe, migrations, 18 modèles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480560" y="32918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480560" y="3520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des payloads, schémas partagés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046720" y="1691640"/>
            <a:ext cx="3657600" cy="2240280"/>
          </a:xfrm>
          <a:prstGeom prst="roundRect">
            <a:avLst>
              <a:gd name="adj" fmla="val 3265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8046720" y="1691640"/>
            <a:ext cx="73152" cy="224028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8275320" y="18013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&amp; Temps réel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275320" y="219456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(Neon)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75320" y="2423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relationnelle managée, branches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275320" y="27432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Upstash Redis (REST)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75320" y="2971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+ buffer SSE compatible serverless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75320" y="32918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Cloudinary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275320" y="3520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 images / vidéos, transformations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4069080"/>
            <a:ext cx="3657600" cy="2240280"/>
          </a:xfrm>
          <a:prstGeom prst="roundRect">
            <a:avLst>
              <a:gd name="adj" fmla="val 3265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457200" y="4069080"/>
            <a:ext cx="73152" cy="22402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685800" y="417880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Sécurité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85800" y="45720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custom (jose)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85800" y="4800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 HttpOnly · SameSite · Secret applicatif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85800" y="51206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cost 12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85800" y="5349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mots de passe, comparison constante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85800" y="56692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Google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85800" y="5897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googleapis + state cookie anti-CSRF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251960" y="4069080"/>
            <a:ext cx="3657600" cy="2240280"/>
          </a:xfrm>
          <a:prstGeom prst="roundRect">
            <a:avLst>
              <a:gd name="adj" fmla="val 3265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Shape 40"/>
          <p:cNvSpPr/>
          <p:nvPr/>
        </p:nvSpPr>
        <p:spPr>
          <a:xfrm>
            <a:off x="4251960" y="4069080"/>
            <a:ext cx="73152" cy="22402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4480560" y="417880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&amp; CI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4480560" y="45720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multi-stage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480560" y="4800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légère oven/bun:1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480560" y="51206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480560" y="5349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 · Test · Build · Deploy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480560" y="56692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+ Neon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480560" y="5897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préview par PR + prod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8046720" y="4069080"/>
            <a:ext cx="3657600" cy="2240280"/>
          </a:xfrm>
          <a:prstGeom prst="roundRect">
            <a:avLst>
              <a:gd name="adj" fmla="val 3265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Shape 49"/>
          <p:cNvSpPr/>
          <p:nvPr/>
        </p:nvSpPr>
        <p:spPr>
          <a:xfrm>
            <a:off x="8046720" y="4069080"/>
            <a:ext cx="73152" cy="224028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2" name="Text 50"/>
          <p:cNvSpPr/>
          <p:nvPr/>
        </p:nvSpPr>
        <p:spPr>
          <a:xfrm>
            <a:off x="8275320" y="417880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8275320" y="45720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 + ts-jest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8275320" y="4800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d'intégration API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8275320" y="51206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ESLint + TypeScript strict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8275320" y="5349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style + typage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8275320" y="56692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Playwright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8275320" y="5897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parcours critiques</a:t>
            </a:r>
            <a:endParaRPr lang="en-US" sz="900" dirty="0"/>
          </a:p>
        </p:txBody>
      </p:sp>
      <p:pic>
        <p:nvPicPr>
          <p:cNvPr id="59" name="Image 0" descr="/sessions/sweet-funny-newton/mnt/outputs/build/assets/konekt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446520"/>
            <a:ext cx="274320" cy="274320"/>
          </a:xfrm>
          <a:prstGeom prst="rect">
            <a:avLst/>
          </a:prstGeom>
        </p:spPr>
      </p:pic>
      <p:sp>
        <p:nvSpPr>
          <p:cNvPr id="60" name="Text 57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Konekt  ·  RNCP 37873 - CDA  ·  Christophe Lecart</a:t>
            </a:r>
            <a:endParaRPr lang="en-US" sz="900" dirty="0"/>
          </a:p>
        </p:txBody>
      </p:sp>
      <p:sp>
        <p:nvSpPr>
          <p:cNvPr id="61" name="Text 58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56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B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CONCEPTION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système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73152" cy="7772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2194560" cy="2743200"/>
          </a:xfrm>
          <a:prstGeom prst="roundRect">
            <a:avLst>
              <a:gd name="adj" fmla="val 3333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2194560" cy="36576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2743200"/>
            <a:ext cx="1965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Navigateur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App Router</a:t>
            </a:r>
            <a:endParaRPr lang="en-US" sz="13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EventSource (SSE)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/ forms</a:t>
            </a:r>
            <a:endParaRPr lang="en-US" sz="13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Cookies authToken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017520" y="2194560"/>
            <a:ext cx="1645920" cy="2743200"/>
          </a:xfrm>
          <a:prstGeom prst="roundRect">
            <a:avLst>
              <a:gd name="adj" fmla="val 4444"/>
            </a:avLst>
          </a:prstGeom>
          <a:solidFill>
            <a:srgbClr val="1F2028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3017520" y="2194560"/>
            <a:ext cx="1645920" cy="36576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3017520" y="21945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56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108960" y="2743200"/>
            <a:ext cx="1463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4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HTML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937760" y="2194560"/>
            <a:ext cx="2377440" cy="2743200"/>
          </a:xfrm>
          <a:prstGeom prst="roundRect">
            <a:avLst>
              <a:gd name="adj" fmla="val 3077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4937760" y="2194560"/>
            <a:ext cx="2377440" cy="36576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937760" y="2194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74920" y="274320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Route Handlers</a:t>
            </a:r>
            <a:endParaRPr lang="en-US" sz="12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JWT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Actions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/api/private/...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/api/public/...</a:t>
            </a:r>
            <a:endParaRPr lang="en-US" sz="12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Client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680960" y="178308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1F2028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7680960" y="1783080"/>
            <a:ext cx="91440" cy="100584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786384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Neon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863840" y="21945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relationnelle, 18 modèles Prisma, migrations versionnées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680960" y="292608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1F2028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7680960" y="2926080"/>
            <a:ext cx="91440" cy="10058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7863840" y="3017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Upstash Redis (REST)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863840" y="33375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+ buffer SSE — clés latest:chat:* polling REST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680960" y="406908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1F2028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7680960" y="4069080"/>
            <a:ext cx="91440" cy="10058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7863840" y="4160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Cloudinary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863840" y="44805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 médias, transformations à la volée, CDN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0" y="3657600"/>
            <a:ext cx="274320" cy="0"/>
          </a:xfrm>
          <a:prstGeom prst="line">
            <a:avLst/>
          </a:prstGeom>
          <a:noFill/>
          <a:ln w="25400">
            <a:solidFill>
              <a:srgbClr val="EC4899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4663440" y="3657600"/>
            <a:ext cx="274320" cy="0"/>
          </a:xfrm>
          <a:prstGeom prst="line">
            <a:avLst/>
          </a:prstGeom>
          <a:noFill/>
          <a:ln w="25400">
            <a:solidFill>
              <a:srgbClr val="EC4899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7315200" y="2286000"/>
            <a:ext cx="36576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7315200" y="3429000"/>
            <a:ext cx="36576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7315200" y="4572000"/>
            <a:ext cx="36576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est serverless-ready : la stack tourne nativement sur Vercel et reste reproductible en local via docker-compose.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85800" y="5120640"/>
            <a:ext cx="1920240" cy="320040"/>
          </a:xfrm>
          <a:prstGeom prst="roundRect">
            <a:avLst>
              <a:gd name="adj" fmla="val 42857"/>
            </a:avLst>
          </a:prstGeom>
          <a:solidFill>
            <a:srgbClr val="EC4899">
              <a:alpha val="25000"/>
            </a:srgbClr>
          </a:solidFill>
          <a:ln w="9525">
            <a:solidFill>
              <a:srgbClr val="EC48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685800" y="5120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bidirectionnel</a:t>
            </a:r>
            <a:endParaRPr lang="en-US" sz="1000" dirty="0"/>
          </a:p>
        </p:txBody>
      </p:sp>
      <p:pic>
        <p:nvPicPr>
          <p:cNvPr id="37" name="Image 0" descr="/sessions/sweet-funny-newton/mnt/outputs/build/assets/konekt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446520"/>
            <a:ext cx="274320" cy="274320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Konekt  ·  RNCP 37873 - CDA  ·  Christophe Lecart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56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B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CONCEPTION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de modélisation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73152" cy="7772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 des termes que l'on rencontrera dans MCD / MLD / MPD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3657600" cy="1965960"/>
          </a:xfrm>
          <a:prstGeom prst="roundRect">
            <a:avLst>
              <a:gd name="adj" fmla="val 3721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731520" y="2286000"/>
            <a:ext cx="502920" cy="502920"/>
          </a:xfrm>
          <a:prstGeom prst="ellipse">
            <a:avLst/>
          </a:prstGeom>
          <a:solidFill>
            <a:srgbClr val="EC4899">
              <a:alpha val="30000"/>
            </a:srgbClr>
          </a:solidFill>
          <a:ln w="19050">
            <a:solidFill>
              <a:srgbClr val="EC48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22860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56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8803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 métier matérialisé en table SQL. Une ligne = une instance.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347472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Konekt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31520" y="3657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User, Post, Comment, Reaction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89120" y="2103120"/>
            <a:ext cx="3657600" cy="1965960"/>
          </a:xfrm>
          <a:prstGeom prst="roundRect">
            <a:avLst>
              <a:gd name="adj" fmla="val 3721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4572000" y="2286000"/>
            <a:ext cx="502920" cy="502920"/>
          </a:xfrm>
          <a:prstGeom prst="ellipse">
            <a:avLst/>
          </a:prstGeom>
          <a:solidFill>
            <a:srgbClr val="06B6D4">
              <a:alpha val="30000"/>
            </a:srgbClr>
          </a:solidFill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57200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166360" y="22860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 / Colonne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0" y="28803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Caractéristique d'une entité, typée. Devient une colonne en base.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0" y="347472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Konekt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572000" y="3657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User.email (varchar) · Post.message (text)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229600" y="2103120"/>
            <a:ext cx="3657600" cy="1965960"/>
          </a:xfrm>
          <a:prstGeom prst="roundRect">
            <a:avLst>
              <a:gd name="adj" fmla="val 3721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8412480" y="2286000"/>
            <a:ext cx="502920" cy="502920"/>
          </a:xfrm>
          <a:prstGeom prst="ellipse">
            <a:avLst/>
          </a:prstGeom>
          <a:solidFill>
            <a:srgbClr val="8B5CF6">
              <a:alpha val="30000"/>
            </a:srgbClr>
          </a:solidFill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841248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006840" y="22860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 primaire (PK)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412480" y="28803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Identifiant unique non-null d'une ligne. Une seule par table.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412480" y="347472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Konekt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412480" y="3657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User.id (uuid) · Post.id (cuid)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4251960"/>
            <a:ext cx="3657600" cy="1965960"/>
          </a:xfrm>
          <a:prstGeom prst="roundRect">
            <a:avLst>
              <a:gd name="adj" fmla="val 3721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731520" y="4434840"/>
            <a:ext cx="502920" cy="502920"/>
          </a:xfrm>
          <a:prstGeom prst="ellipse">
            <a:avLst/>
          </a:prstGeom>
          <a:solidFill>
            <a:srgbClr val="F59E0B">
              <a:alpha val="30000"/>
            </a:srgbClr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731520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⌬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325880" y="4434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 étrangère (FK)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31520" y="502920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 la PK d'une autre table. Maintient l'intégrité référentielle.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31520" y="562356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Konekt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31520" y="5806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Post.userId → User.id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389120" y="4251960"/>
            <a:ext cx="3657600" cy="1965960"/>
          </a:xfrm>
          <a:prstGeom prst="roundRect">
            <a:avLst>
              <a:gd name="adj" fmla="val 3721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4572000" y="4434840"/>
            <a:ext cx="502920" cy="502920"/>
          </a:xfrm>
          <a:prstGeom prst="ellipse">
            <a:avLst/>
          </a:prstGeom>
          <a:solidFill>
            <a:srgbClr val="10B981">
              <a:alpha val="30000"/>
            </a:srgbClr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4572000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166360" y="4434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Cardinalité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572000" y="502920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d'instances liées : 1-1, 1-N, N-N. Détermine la structure relationnelle.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0" y="562356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Konekt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572000" y="5806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1—N Post  ·  User N—N User via Friendship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229600" y="4251960"/>
            <a:ext cx="3657600" cy="1965960"/>
          </a:xfrm>
          <a:prstGeom prst="roundRect">
            <a:avLst>
              <a:gd name="adj" fmla="val 3721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Shape 40"/>
          <p:cNvSpPr/>
          <p:nvPr/>
        </p:nvSpPr>
        <p:spPr>
          <a:xfrm>
            <a:off x="8412480" y="4434840"/>
            <a:ext cx="502920" cy="502920"/>
          </a:xfrm>
          <a:prstGeom prst="ellipse">
            <a:avLst/>
          </a:prstGeom>
          <a:solidFill>
            <a:srgbClr val="EF4444">
              <a:alpha val="30000"/>
            </a:srgbClr>
          </a:solidFill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8412480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▩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9006840" y="4434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8412480" y="502920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d'accès accélérant les lectures sur certaines colonnes.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412480" y="562356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Konekt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8412480" y="5806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@@index([userId, createdAt]) sur Post</a:t>
            </a:r>
            <a:endParaRPr lang="en-US" sz="1000" dirty="0"/>
          </a:p>
        </p:txBody>
      </p:sp>
      <p:pic>
        <p:nvPicPr>
          <p:cNvPr id="48" name="Image 0" descr="/sessions/sweet-funny-newton/mnt/outputs/build/assets/konekt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446520"/>
            <a:ext cx="274320" cy="274320"/>
          </a:xfrm>
          <a:prstGeom prst="rect">
            <a:avLst/>
          </a:prstGeom>
        </p:spPr>
      </p:pic>
      <p:sp>
        <p:nvSpPr>
          <p:cNvPr id="49" name="Text 46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Konekt  ·  RNCP 37873 - CDA  ·  Christophe Lecart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56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B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CONCEPTION · MERISE · MCD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Conceptuel de Données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73152" cy="7772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1F2028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77240" y="1737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0116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Représentation abstraite des entités métier et de leurs relations, indépendante de toute technologie. On y identifie les entités, leurs attributs et les cardinalités entre elles. C'est la vue "business" du domaine.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3017520"/>
            <a:ext cx="2377440" cy="1463040"/>
          </a:xfrm>
          <a:prstGeom prst="roundRect">
            <a:avLst>
              <a:gd name="adj" fmla="val 5000"/>
            </a:avLst>
          </a:prstGeom>
          <a:solidFill>
            <a:srgbClr val="EC4899">
              <a:alpha val="25000"/>
            </a:srgbClr>
          </a:solidFill>
          <a:ln w="25400">
            <a:solidFill>
              <a:srgbClr val="EC48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14400" y="3108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3456432"/>
            <a:ext cx="2377440" cy="18288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005840" y="35204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birthDate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0" y="3017520"/>
            <a:ext cx="2377440" cy="1463040"/>
          </a:xfrm>
          <a:prstGeom prst="roundRect">
            <a:avLst>
              <a:gd name="adj" fmla="val 5000"/>
            </a:avLst>
          </a:prstGeom>
          <a:solidFill>
            <a:srgbClr val="06B6D4">
              <a:alpha val="25000"/>
            </a:srgbClr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029200" y="3108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0" y="3456432"/>
            <a:ext cx="2377440" cy="18288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5120640" y="35204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44000" y="3017520"/>
            <a:ext cx="2377440" cy="1463040"/>
          </a:xfrm>
          <a:prstGeom prst="roundRect">
            <a:avLst>
              <a:gd name="adj" fmla="val 5000"/>
            </a:avLst>
          </a:prstGeom>
          <a:solidFill>
            <a:srgbClr val="8B5CF6">
              <a:alpha val="25000"/>
            </a:srgbClr>
          </a:solidFill>
          <a:ln w="25400">
            <a:solidFill>
              <a:srgbClr val="8B5C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9144000" y="3108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144000" y="3456432"/>
            <a:ext cx="2377440" cy="18288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9235440" y="35204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createdAt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91840" y="3749040"/>
            <a:ext cx="1737360" cy="0"/>
          </a:xfrm>
          <a:prstGeom prst="line">
            <a:avLst/>
          </a:prstGeom>
          <a:noFill/>
          <a:ln w="25400">
            <a:solidFill>
              <a:srgbClr val="EC4899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3291840" y="3429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publie 1,N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406640" y="3749040"/>
            <a:ext cx="173736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7406640" y="3429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contient 1,N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484632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1F2028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777240" y="4937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du MCD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7240" y="525780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 </a:t>
            </a:r>
            <a:r>
              <a:rPr lang="en-US" sz="12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publie 0..N </a:t>
            </a: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un Post a exactement 1 auteur (cardinalité 1,1 côté Post)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 </a:t>
            </a: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contient 0..N </a:t>
            </a: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chaque Comment référence exactement 1 Post (parent)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 MCD n'expose </a:t>
            </a:r>
            <a:r>
              <a:rPr lang="en-US" sz="12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clés étrangères, ni types techniques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uniquement le sens métier</a:t>
            </a:r>
            <a:endParaRPr lang="en-US" sz="1200" dirty="0"/>
          </a:p>
        </p:txBody>
      </p:sp>
      <p:pic>
        <p:nvPicPr>
          <p:cNvPr id="27" name="Image 0" descr="/sessions/sweet-funny-newton/mnt/outputs/build/assets/konekt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446520"/>
            <a:ext cx="274320" cy="27432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Konekt  ·  RNCP 37873 - CDA  ·  Christophe Lecart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56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B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CONCEPTION · MERISE · MLD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Logique de Données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73152" cy="7772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1F2028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77240" y="1737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0116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Traduction du MCD en schéma relationnel : on matérialise les relations par des clés étrangères, on choisit les types logiques (string, int, datetime) et on précise les contraintes (NOT NULL, UNIQUE).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11064240" cy="2743200"/>
          </a:xfrm>
          <a:prstGeom prst="roundRect">
            <a:avLst>
              <a:gd name="adj" fmla="val 3333"/>
            </a:avLst>
          </a:prstGeom>
          <a:solidFill>
            <a:srgbClr val="0D0E14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777240" y="2880360"/>
            <a:ext cx="137160" cy="137160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960120" y="2880360"/>
            <a:ext cx="137160" cy="137160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1143000" y="2880360"/>
            <a:ext cx="137160" cy="137160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1371600" y="2788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MLD — extrait (notation Prisma)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315468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 (id PK, email UNIQUE, username UNIQUE, password, birthDate, createdAt)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342900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(id PK, userId FK → USER.id, message, image?, visibility, createdAt)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370332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COMMENT (id PK, postId FK → POST.id, userId FK → USER.id, message, createdAt)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39776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REACTION (id PK, userId FK → USER.id, postId FK? → POST.id, type, createdAt)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425196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UNIQUE (userId, postId, type)   ← un user ne peut pas dupliquer une réaction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452628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STORY (id PK, userId FK → USER.id, image, expiresAt, createdAt)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480060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FRIENDSHIP (id PK, requesterId FK → USER.id, addresseeId FK → USER.id, status)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" y="507492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UNIQUE (requesterId, addresseeId)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5577840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1F2028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777240" y="562356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retenir :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relation N-1 du MCD devient une </a:t>
            </a: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côté "plusieurs". Les relations N-N (ex. Friendship) deviennent une table d'association avec ses propres attributs.</a:t>
            </a:r>
            <a:endParaRPr lang="en-US" sz="1100" dirty="0"/>
          </a:p>
        </p:txBody>
      </p:sp>
      <p:pic>
        <p:nvPicPr>
          <p:cNvPr id="23" name="Image 0" descr="/sessions/sweet-funny-newton/mnt/outputs/build/assets/konekt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446520"/>
            <a:ext cx="274320" cy="27432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Konekt  ·  RNCP 37873 - CDA  ·  Christophe Lecart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56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B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CONCEPTION · MERISE · MPD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Physique de Données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73152" cy="7772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1F2028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77240" y="1737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0116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Implémentation SQL concrète du MLD pour un SGBD donné — ici PostgreSQL. On y choisit les types techniques (varchar(n), uuid, timestamptz), les contraintes (CHECK, ON DELETE), les index physiques.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11064240" cy="3246120"/>
          </a:xfrm>
          <a:prstGeom prst="roundRect">
            <a:avLst>
              <a:gd name="adj" fmla="val 2817"/>
            </a:avLst>
          </a:prstGeom>
          <a:solidFill>
            <a:srgbClr val="0D0E14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777240" y="2880360"/>
            <a:ext cx="137160" cy="137160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960120" y="2880360"/>
            <a:ext cx="137160" cy="137160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1143000" y="2880360"/>
            <a:ext cx="137160" cy="137160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1371600" y="2788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MPD — extrait DDL PostgreSQL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3154680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"User" (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3319272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            TEXT        PRIMARY KEY DEFAULT cuid(),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3483864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email         VARCHAR(255) NOT NULL UNIQUE,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" y="3648456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username      VARCHAR(50)  NOT NULL UNIQUE,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" y="381304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password      VARCHAR(255) NOT NULL,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3977640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visibility    "ProfileVisibility" NOT NULL DEFAULT 'PUBLIC',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7240" y="4142232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createdAt     TIMESTAMPTZ  NOT NULL DEFAULT NOW()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4306824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" y="4471416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" y="463600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"Post" (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77240" y="4800600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          TEXT PRIMARY KEY DEFAULT cuid(),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" y="4965192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userId      TEXT NOT NULL REFERENCES "User"(id) ON DELETE CASCADE,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77240" y="5129784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message     TEXT NOT NULL CHECK (length(message) &lt;= 5000),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7240" y="5294376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visibility  "Visibility" NOT NULL DEFAULT 'PUBLIC',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77240" y="545896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createdAt   TIMESTAMPTZ NOT NULL DEFAULT NOW()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77240" y="5623560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77240" y="5788152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INDEX idx_post_user_created ON "Post"(userId, createdAt DESC);</a:t>
            </a:r>
            <a:endParaRPr lang="en-US" sz="1000" dirty="0"/>
          </a:p>
        </p:txBody>
      </p:sp>
      <p:pic>
        <p:nvPicPr>
          <p:cNvPr id="30" name="Image 0" descr="/sessions/sweet-funny-newton/mnt/outputs/build/assets/konekt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446520"/>
            <a:ext cx="274320" cy="27432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Konekt  ·  RNCP 37873 - CDA  ·  Christophe Lecart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56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B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CONCEPTION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de données — 18 entités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73152" cy="7772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5" name="Image 0" descr="/sessions/sweet-funny-newton/mnt/outputs/build/assets/er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691640"/>
            <a:ext cx="7863840" cy="4572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595360" y="1691640"/>
            <a:ext cx="3017520" cy="4572000"/>
          </a:xfrm>
          <a:prstGeom prst="roundRect">
            <a:avLst>
              <a:gd name="adj" fmla="val 2424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8732520" y="1783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Faits saillants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732520" y="21488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646920" y="21488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 Prisma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732520" y="26517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9646920" y="26517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732520" y="31546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9646920" y="31546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Enums métier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732520" y="36576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35+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9646920" y="36576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Attributs User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732520" y="4297680"/>
            <a:ext cx="2743200" cy="18288"/>
          </a:xfrm>
          <a:prstGeom prst="rect">
            <a:avLst/>
          </a:prstGeom>
          <a:solidFill>
            <a:srgbClr val="3F3F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8732520" y="4389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Entités centrales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732520" y="4663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732520" y="4919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 / Comment / Reaction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8732520" y="517550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Story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8732520" y="543153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Conversation / Message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8732520" y="56875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Group / Event / Rsvp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8732520" y="5943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Notification</a:t>
            </a:r>
            <a:endParaRPr lang="en-US" sz="1000" dirty="0"/>
          </a:p>
        </p:txBody>
      </p:sp>
      <p:pic>
        <p:nvPicPr>
          <p:cNvPr id="24" name="Image 1" descr="/sessions/sweet-funny-newton/mnt/outputs/build/assets/konekt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6446520"/>
            <a:ext cx="274320" cy="27432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Konekt  ·  RNCP 37873 - CDA  ·  Christophe Lecart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56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B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CONCEPTION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 cœur du domaine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73152" cy="7772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212080" y="2533710"/>
            <a:ext cx="1737360" cy="1737360"/>
          </a:xfrm>
          <a:prstGeom prst="ellipse">
            <a:avLst/>
          </a:prstGeom>
          <a:solidFill>
            <a:srgbClr val="EC4899">
              <a:alpha val="50000"/>
            </a:srgbClr>
          </a:solidFill>
          <a:ln w="38100">
            <a:solidFill>
              <a:srgbClr val="EC48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212080" y="253371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212080" y="358527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entités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 relations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 flipV="1">
            <a:off x="6080760" y="1774758"/>
            <a:ext cx="914" cy="740664"/>
          </a:xfrm>
          <a:prstGeom prst="line">
            <a:avLst/>
          </a:prstGeom>
          <a:noFill/>
          <a:ln w="19050">
            <a:solidFill>
              <a:srgbClr val="06B6D4">
                <a:alpha val="7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5577840" y="750630"/>
            <a:ext cx="1005840" cy="1005840"/>
          </a:xfrm>
          <a:prstGeom prst="ellipse">
            <a:avLst/>
          </a:prstGeom>
          <a:solidFill>
            <a:srgbClr val="06B6D4">
              <a:alpha val="30000"/>
            </a:srgbClr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5577840" y="75063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577840" y="125355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577840" y="152787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 flipV="1">
            <a:off x="6707941" y="2251480"/>
            <a:ext cx="523729" cy="523729"/>
          </a:xfrm>
          <a:prstGeom prst="line">
            <a:avLst/>
          </a:prstGeom>
          <a:noFill/>
          <a:ln w="19050">
            <a:solidFill>
              <a:srgbClr val="8B5CF6">
                <a:alpha val="7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7097299" y="1380011"/>
            <a:ext cx="1005840" cy="1005840"/>
          </a:xfrm>
          <a:prstGeom prst="ellipse">
            <a:avLst/>
          </a:prstGeom>
          <a:solidFill>
            <a:srgbClr val="8B5CF6">
              <a:alpha val="30000"/>
            </a:srgbClr>
          </a:solidFill>
          <a:ln w="25400">
            <a:solidFill>
              <a:srgbClr val="8B5C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7097299" y="1380011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097299" y="1882931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097299" y="2157251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écrit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967728" y="3402390"/>
            <a:ext cx="740664" cy="914"/>
          </a:xfrm>
          <a:prstGeom prst="line">
            <a:avLst/>
          </a:prstGeom>
          <a:noFill/>
          <a:ln w="19050">
            <a:solidFill>
              <a:srgbClr val="F59E0B">
                <a:alpha val="7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7726680" y="2899470"/>
            <a:ext cx="1005840" cy="1005840"/>
          </a:xfrm>
          <a:prstGeom prst="ellipse">
            <a:avLst/>
          </a:prstGeom>
          <a:solidFill>
            <a:srgbClr val="F59E0B">
              <a:alpha val="30000"/>
            </a:srgbClr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7726680" y="289947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♥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726680" y="340239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26680" y="367671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réagit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707941" y="4029571"/>
            <a:ext cx="523729" cy="523729"/>
          </a:xfrm>
          <a:prstGeom prst="line">
            <a:avLst/>
          </a:prstGeom>
          <a:noFill/>
          <a:ln w="19050">
            <a:solidFill>
              <a:srgbClr val="10B981">
                <a:alpha val="7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7097299" y="4418930"/>
            <a:ext cx="1005840" cy="1005840"/>
          </a:xfrm>
          <a:prstGeom prst="ellipse">
            <a:avLst/>
          </a:prstGeom>
          <a:solidFill>
            <a:srgbClr val="10B981">
              <a:alpha val="30000"/>
            </a:srgbClr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7097299" y="441893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097299" y="492185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097299" y="519617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envoie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080760" y="4289358"/>
            <a:ext cx="914" cy="740664"/>
          </a:xfrm>
          <a:prstGeom prst="line">
            <a:avLst/>
          </a:prstGeom>
          <a:noFill/>
          <a:ln w="19050">
            <a:solidFill>
              <a:srgbClr val="F472B6">
                <a:alpha val="7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5577840" y="5048310"/>
            <a:ext cx="1005840" cy="1005840"/>
          </a:xfrm>
          <a:prstGeom prst="ellipse">
            <a:avLst/>
          </a:prstGeom>
          <a:solidFill>
            <a:srgbClr val="F472B6">
              <a:alpha val="30000"/>
            </a:srgbClr>
          </a:solidFill>
          <a:ln w="25400">
            <a:solidFill>
              <a:srgbClr val="F472B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5577840" y="504831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❖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577840" y="555123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577840" y="582555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rejoint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 flipH="1">
            <a:off x="4929850" y="4029571"/>
            <a:ext cx="523729" cy="523729"/>
          </a:xfrm>
          <a:prstGeom prst="line">
            <a:avLst/>
          </a:prstGeom>
          <a:noFill/>
          <a:ln w="19050">
            <a:solidFill>
              <a:srgbClr val="EF4444">
                <a:alpha val="7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4058381" y="4418930"/>
            <a:ext cx="1005840" cy="1005840"/>
          </a:xfrm>
          <a:prstGeom prst="ellipse">
            <a:avLst/>
          </a:prstGeom>
          <a:solidFill>
            <a:srgbClr val="EF4444">
              <a:alpha val="30000"/>
            </a:srgbClr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4058381" y="441893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◷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4058381" y="492185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058381" y="519617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 flipH="1">
            <a:off x="4453128" y="3402390"/>
            <a:ext cx="740664" cy="914"/>
          </a:xfrm>
          <a:prstGeom prst="line">
            <a:avLst/>
          </a:prstGeom>
          <a:noFill/>
          <a:ln w="19050">
            <a:solidFill>
              <a:srgbClr val="06B6D4">
                <a:alpha val="7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37"/>
          <p:cNvSpPr/>
          <p:nvPr/>
        </p:nvSpPr>
        <p:spPr>
          <a:xfrm>
            <a:off x="3429000" y="2899470"/>
            <a:ext cx="1005840" cy="1005840"/>
          </a:xfrm>
          <a:prstGeom prst="ellipse">
            <a:avLst/>
          </a:prstGeom>
          <a:solidFill>
            <a:srgbClr val="06B6D4">
              <a:alpha val="30000"/>
            </a:srgbClr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3429000" y="289947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3429000" y="340239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429000" y="367671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publie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 flipH="1" flipV="1">
            <a:off x="4929850" y="2251480"/>
            <a:ext cx="523729" cy="523729"/>
          </a:xfrm>
          <a:prstGeom prst="line">
            <a:avLst/>
          </a:prstGeom>
          <a:noFill/>
          <a:ln w="19050">
            <a:solidFill>
              <a:srgbClr val="8B5CF6">
                <a:alpha val="7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Shape 42"/>
          <p:cNvSpPr/>
          <p:nvPr/>
        </p:nvSpPr>
        <p:spPr>
          <a:xfrm>
            <a:off x="4058381" y="1380011"/>
            <a:ext cx="1005840" cy="1005840"/>
          </a:xfrm>
          <a:prstGeom prst="ellipse">
            <a:avLst/>
          </a:prstGeom>
          <a:solidFill>
            <a:srgbClr val="8B5CF6">
              <a:alpha val="30000"/>
            </a:srgbClr>
          </a:solidFill>
          <a:ln w="25400">
            <a:solidFill>
              <a:srgbClr val="8B5C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4058381" y="1380011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4058381" y="1882931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058381" y="2157251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reçoit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914400" y="6126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 conceptuel simplifié — toutes les entités du domaine gravitent autour de l'utilisateur, avec des cardinalités explicites côté Prisma.</a:t>
            </a:r>
            <a:endParaRPr lang="en-US" sz="1100" dirty="0"/>
          </a:p>
        </p:txBody>
      </p:sp>
      <p:pic>
        <p:nvPicPr>
          <p:cNvPr id="49" name="Image 0" descr="/sessions/sweet-funny-newton/mnt/outputs/build/assets/konekt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446520"/>
            <a:ext cx="274320" cy="274320"/>
          </a:xfrm>
          <a:prstGeom prst="rect">
            <a:avLst/>
          </a:prstGeom>
        </p:spPr>
      </p:pic>
      <p:sp>
        <p:nvSpPr>
          <p:cNvPr id="50" name="Text 47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Konekt  ·  RNCP 37873 - CDA  ·  Christophe Lecart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56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B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CONCEPTION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 Konekt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73152" cy="7772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Palette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1645920" cy="1005840"/>
          </a:xfrm>
          <a:prstGeom prst="roundRect">
            <a:avLst>
              <a:gd name="adj" fmla="val 7273"/>
            </a:avLst>
          </a:prstGeom>
          <a:solidFill>
            <a:srgbClr val="EC4899"/>
          </a:solidFill>
          <a:ln w="6350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697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#EC4899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377440" y="2011680"/>
            <a:ext cx="1645920" cy="1005840"/>
          </a:xfrm>
          <a:prstGeom prst="roundRect">
            <a:avLst>
              <a:gd name="adj" fmla="val 7273"/>
            </a:avLst>
          </a:prstGeom>
          <a:solidFill>
            <a:srgbClr val="1A1B23"/>
          </a:solidFill>
          <a:ln w="6350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2468880" y="2468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68880" y="2697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#1A1B23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206240" y="2011680"/>
            <a:ext cx="1645920" cy="1005840"/>
          </a:xfrm>
          <a:prstGeom prst="roundRect">
            <a:avLst>
              <a:gd name="adj" fmla="val 7273"/>
            </a:avLst>
          </a:prstGeom>
          <a:solidFill>
            <a:srgbClr val="272730"/>
          </a:solidFill>
          <a:ln w="6350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297680" y="2468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97680" y="2697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#272730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3291840"/>
            <a:ext cx="16459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640080" y="3749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39776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B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#FFFFFF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377440" y="3291840"/>
            <a:ext cx="1645920" cy="1005840"/>
          </a:xfrm>
          <a:prstGeom prst="roundRect">
            <a:avLst>
              <a:gd name="adj" fmla="val 7273"/>
            </a:avLst>
          </a:prstGeom>
          <a:solidFill>
            <a:srgbClr val="10B981"/>
          </a:solidFill>
          <a:ln w="6350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2468880" y="3749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468880" y="39776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#10B981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206240" y="3291840"/>
            <a:ext cx="1645920" cy="1005840"/>
          </a:xfrm>
          <a:prstGeom prst="roundRect">
            <a:avLst>
              <a:gd name="adj" fmla="val 7273"/>
            </a:avLst>
          </a:prstGeom>
          <a:solidFill>
            <a:srgbClr val="8B5CF6"/>
          </a:solidFill>
          <a:ln w="6350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4297680" y="3749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297680" y="39776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#8B5CF6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17920" y="1691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Typographie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17920" y="2011680"/>
            <a:ext cx="5577840" cy="2651760"/>
          </a:xfrm>
          <a:prstGeom prst="roundRect">
            <a:avLst>
              <a:gd name="adj" fmla="val 2759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6355080" y="210312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</a:t>
            </a:r>
            <a:endParaRPr lang="en-US" sz="6400" dirty="0"/>
          </a:p>
        </p:txBody>
      </p:sp>
      <p:sp>
        <p:nvSpPr>
          <p:cNvPr id="27" name="Text 25"/>
          <p:cNvSpPr/>
          <p:nvPr/>
        </p:nvSpPr>
        <p:spPr>
          <a:xfrm>
            <a:off x="7772400" y="2194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Geist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772400" y="2606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 family — Next.js next/font · variable, optimisée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55080" y="3246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229600" y="3246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 px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55080" y="3566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229600" y="3566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px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55080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229600" y="3886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px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355080" y="4206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229600" y="4206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px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48640" y="4800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48640" y="5166360"/>
            <a:ext cx="868680" cy="292608"/>
          </a:xfrm>
          <a:prstGeom prst="roundRect">
            <a:avLst>
              <a:gd name="adj" fmla="val 25000"/>
            </a:avLst>
          </a:prstGeom>
          <a:solidFill>
            <a:srgbClr val="1F2028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548640" y="516636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508760" y="5166360"/>
            <a:ext cx="868680" cy="292608"/>
          </a:xfrm>
          <a:prstGeom prst="roundRect">
            <a:avLst>
              <a:gd name="adj" fmla="val 25000"/>
            </a:avLst>
          </a:prstGeom>
          <a:solidFill>
            <a:srgbClr val="1F2028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1508760" y="516636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Avatar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468880" y="5166360"/>
            <a:ext cx="868680" cy="292608"/>
          </a:xfrm>
          <a:prstGeom prst="roundRect">
            <a:avLst>
              <a:gd name="adj" fmla="val 25000"/>
            </a:avLst>
          </a:prstGeom>
          <a:solidFill>
            <a:srgbClr val="1F2028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2468880" y="516636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429000" y="5166360"/>
            <a:ext cx="868680" cy="292608"/>
          </a:xfrm>
          <a:prstGeom prst="roundRect">
            <a:avLst>
              <a:gd name="adj" fmla="val 25000"/>
            </a:avLst>
          </a:prstGeom>
          <a:solidFill>
            <a:srgbClr val="1F2028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3429000" y="516636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389120" y="5166360"/>
            <a:ext cx="868680" cy="292608"/>
          </a:xfrm>
          <a:prstGeom prst="roundRect">
            <a:avLst>
              <a:gd name="adj" fmla="val 25000"/>
            </a:avLst>
          </a:prstGeom>
          <a:solidFill>
            <a:srgbClr val="1F2028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/>
          <p:nvPr/>
        </p:nvSpPr>
        <p:spPr>
          <a:xfrm>
            <a:off x="4389120" y="516636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8640" y="5550408"/>
            <a:ext cx="868680" cy="292608"/>
          </a:xfrm>
          <a:prstGeom prst="roundRect">
            <a:avLst>
              <a:gd name="adj" fmla="val 25000"/>
            </a:avLst>
          </a:prstGeom>
          <a:solidFill>
            <a:srgbClr val="1F2028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7"/>
          <p:cNvSpPr/>
          <p:nvPr/>
        </p:nvSpPr>
        <p:spPr>
          <a:xfrm>
            <a:off x="548640" y="555040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1508760" y="5550408"/>
            <a:ext cx="868680" cy="292608"/>
          </a:xfrm>
          <a:prstGeom prst="roundRect">
            <a:avLst>
              <a:gd name="adj" fmla="val 25000"/>
            </a:avLst>
          </a:prstGeom>
          <a:solidFill>
            <a:srgbClr val="1F2028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9"/>
          <p:cNvSpPr/>
          <p:nvPr/>
        </p:nvSpPr>
        <p:spPr>
          <a:xfrm>
            <a:off x="1508760" y="555040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468880" y="5550408"/>
            <a:ext cx="868680" cy="292608"/>
          </a:xfrm>
          <a:prstGeom prst="roundRect">
            <a:avLst>
              <a:gd name="adj" fmla="val 25000"/>
            </a:avLst>
          </a:prstGeom>
          <a:solidFill>
            <a:srgbClr val="1F2028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51"/>
          <p:cNvSpPr/>
          <p:nvPr/>
        </p:nvSpPr>
        <p:spPr>
          <a:xfrm>
            <a:off x="2468880" y="555040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429000" y="5550408"/>
            <a:ext cx="868680" cy="292608"/>
          </a:xfrm>
          <a:prstGeom prst="roundRect">
            <a:avLst>
              <a:gd name="adj" fmla="val 25000"/>
            </a:avLst>
          </a:prstGeom>
          <a:solidFill>
            <a:srgbClr val="1F2028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53"/>
          <p:cNvSpPr/>
          <p:nvPr/>
        </p:nvSpPr>
        <p:spPr>
          <a:xfrm>
            <a:off x="3429000" y="555040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217920" y="4800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Breakpoints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6217920" y="5120640"/>
            <a:ext cx="5577840" cy="1005840"/>
          </a:xfrm>
          <a:prstGeom prst="roundRect">
            <a:avLst>
              <a:gd name="adj" fmla="val 7273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Text 56"/>
          <p:cNvSpPr/>
          <p:nvPr/>
        </p:nvSpPr>
        <p:spPr>
          <a:xfrm>
            <a:off x="6355080" y="52578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▢ Mobile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355080" y="55778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640px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8183880" y="52578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 Tablet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8183880" y="55778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640 – 1024px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10012680" y="52578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 Desktop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10012680" y="55778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1024px</a:t>
            </a:r>
            <a:endParaRPr lang="en-US" sz="1100" dirty="0"/>
          </a:p>
        </p:txBody>
      </p:sp>
      <p:pic>
        <p:nvPicPr>
          <p:cNvPr id="64" name="Image 0" descr="/sessions/sweet-funny-newton/mnt/outputs/build/assets/konekt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446520"/>
            <a:ext cx="274320" cy="274320"/>
          </a:xfrm>
          <a:prstGeom prst="rect">
            <a:avLst/>
          </a:prstGeom>
        </p:spPr>
      </p:pic>
      <p:sp>
        <p:nvSpPr>
          <p:cNvPr id="65" name="Text 62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Konekt  ·  RNCP 37873 - CDA  ·  Christophe Lecart</a:t>
            </a:r>
            <a:endParaRPr lang="en-US" sz="900" dirty="0"/>
          </a:p>
        </p:txBody>
      </p:sp>
      <p:sp>
        <p:nvSpPr>
          <p:cNvPr id="66" name="Text 63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56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B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CONCEPTION · AUTHENTIFICATION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Maquette — Login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73152" cy="7772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48640" y="1703735"/>
            <a:ext cx="4073677" cy="4559905"/>
          </a:xfrm>
          <a:prstGeom prst="roundRect">
            <a:avLst>
              <a:gd name="adj" fmla="val 1600"/>
            </a:avLst>
          </a:prstGeom>
          <a:solidFill>
            <a:srgbClr val="1F2028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0" descr="/sessions/sweet-funny-newton/mnt/outputs/build/assets/Mockups_Logi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53050" y="1898710"/>
            <a:ext cx="3616476" cy="422777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811970" y="169164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4811970" y="2194560"/>
            <a:ext cx="2286000" cy="320040"/>
          </a:xfrm>
          <a:prstGeom prst="roundRect">
            <a:avLst>
              <a:gd name="adj" fmla="val 42857"/>
            </a:avLst>
          </a:prstGeom>
          <a:solidFill>
            <a:srgbClr val="EC4899">
              <a:alpha val="25000"/>
            </a:srgbClr>
          </a:solidFill>
          <a:ln w="9525">
            <a:solidFill>
              <a:srgbClr val="EC48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4811970" y="2194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811970" y="2651760"/>
            <a:ext cx="6964196" cy="1365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Page </a:t>
            </a:r>
            <a:r>
              <a:rPr lang="en-US" sz="1600" dirty="0" err="1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d'entrée</a:t>
            </a:r>
            <a:r>
              <a:rPr lang="en-US" sz="1600" dirty="0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Konekt</a:t>
            </a:r>
            <a:r>
              <a:rPr lang="en-US" sz="1600" dirty="0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 — design soigné, validation </a:t>
            </a:r>
            <a:r>
              <a:rPr lang="en-US" sz="1600" dirty="0" err="1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côté</a:t>
            </a:r>
            <a:r>
              <a:rPr lang="en-US" sz="1600" dirty="0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 client par Zod, lien vers OAuth Google. Pas de </a:t>
            </a:r>
            <a:r>
              <a:rPr lang="en-US" sz="1600" dirty="0" err="1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fuite</a:t>
            </a:r>
            <a:r>
              <a:rPr lang="en-US" sz="1600" dirty="0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d'information</a:t>
            </a:r>
            <a:r>
              <a:rPr lang="en-US" sz="1600" dirty="0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 sur </a:t>
            </a:r>
            <a:r>
              <a:rPr lang="en-US" sz="1600" dirty="0" err="1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l'existence</a:t>
            </a:r>
            <a:r>
              <a:rPr lang="en-US" sz="1600" dirty="0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 d'un compte </a:t>
            </a:r>
            <a:r>
              <a:rPr lang="en-US" sz="1600" dirty="0" err="1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côté</a:t>
            </a:r>
            <a:r>
              <a:rPr lang="en-US" sz="1600" dirty="0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dirty="0" err="1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serveur</a:t>
            </a:r>
            <a:r>
              <a:rPr lang="en-US" sz="1600" dirty="0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811970" y="4048276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u="sng" kern="0" spc="200" dirty="0">
                <a:solidFill>
                  <a:srgbClr val="EC4899"/>
                </a:solidFill>
                <a:latin typeface="Calibri"/>
                <a:ea typeface="Calibri"/>
                <a:cs typeface="Calibri"/>
              </a:rPr>
              <a:t>Points techniques </a:t>
            </a:r>
            <a:r>
              <a:rPr lang="en-US" sz="1600" b="1" u="sng" kern="0" spc="200" dirty="0" err="1">
                <a:solidFill>
                  <a:srgbClr val="EC4899"/>
                </a:solidFill>
                <a:latin typeface="Calibri"/>
                <a:ea typeface="Calibri"/>
                <a:cs typeface="Calibri"/>
              </a:rPr>
              <a:t>clés</a:t>
            </a:r>
            <a:endParaRPr lang="en-US" sz="1600" u="sng">
              <a:latin typeface="Calibri"/>
              <a:ea typeface="Calibri"/>
              <a:cs typeface="Calibri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4824065" y="4434840"/>
            <a:ext cx="3233057" cy="856585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0"/>
          <p:cNvSpPr/>
          <p:nvPr/>
        </p:nvSpPr>
        <p:spPr>
          <a:xfrm>
            <a:off x="4811970" y="4434840"/>
            <a:ext cx="54864" cy="86868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4976562" y="45262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JWT </a:t>
            </a:r>
            <a:r>
              <a:rPr lang="en-US" sz="1400" b="1" u="sng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signé</a:t>
            </a:r>
            <a:endParaRPr lang="en-US" sz="1400" u="sng">
              <a:latin typeface="Calibri"/>
              <a:ea typeface="Calibri"/>
              <a:cs typeface="Calibri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4976562" y="481888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jose</a:t>
            </a:r>
            <a:r>
              <a:rPr lang="en-US" sz="1400" dirty="0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 + secret </a:t>
            </a:r>
            <a:r>
              <a:rPr lang="en-US" sz="1400" dirty="0" err="1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applicatif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8258145" y="4434840"/>
            <a:ext cx="3390295" cy="850538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4"/>
          <p:cNvSpPr/>
          <p:nvPr/>
        </p:nvSpPr>
        <p:spPr>
          <a:xfrm>
            <a:off x="8246050" y="4434840"/>
            <a:ext cx="54864" cy="86868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8410642" y="45262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Cookie </a:t>
            </a:r>
            <a:r>
              <a:rPr lang="en-US" sz="1400" b="1" u="sng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HttpOnly</a:t>
            </a:r>
            <a:endParaRPr lang="en-US" sz="1400" u="sng">
              <a:latin typeface="Calibri"/>
              <a:ea typeface="Calibri"/>
              <a:cs typeface="Calibri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8410642" y="481888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SameSite</a:t>
            </a:r>
            <a:r>
              <a:rPr lang="en-US" sz="1400" dirty="0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=Lax · pas </a:t>
            </a:r>
            <a:r>
              <a:rPr lang="en-US" sz="1400" dirty="0" err="1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d'accès</a:t>
            </a:r>
            <a:r>
              <a:rPr lang="en-US" sz="1400" dirty="0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 JS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4830112" y="5394960"/>
            <a:ext cx="3227010" cy="856585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8"/>
          <p:cNvSpPr/>
          <p:nvPr/>
        </p:nvSpPr>
        <p:spPr>
          <a:xfrm>
            <a:off x="4811970" y="5394960"/>
            <a:ext cx="54864" cy="86868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19"/>
          <p:cNvSpPr/>
          <p:nvPr/>
        </p:nvSpPr>
        <p:spPr>
          <a:xfrm>
            <a:off x="4976562" y="5486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OAuth Google</a:t>
            </a:r>
            <a:endParaRPr lang="en-US" sz="1400" u="sng">
              <a:latin typeface="Calibri"/>
              <a:ea typeface="Calibri"/>
              <a:cs typeface="Calibri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4976562" y="57790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state cookie anti-CSRF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8264192" y="5394960"/>
            <a:ext cx="3402391" cy="850538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2"/>
          <p:cNvSpPr/>
          <p:nvPr/>
        </p:nvSpPr>
        <p:spPr>
          <a:xfrm>
            <a:off x="8246050" y="5394960"/>
            <a:ext cx="54864" cy="86868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3"/>
          <p:cNvSpPr/>
          <p:nvPr/>
        </p:nvSpPr>
        <p:spPr>
          <a:xfrm>
            <a:off x="8410642" y="5486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Validation Zod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8410642" y="57790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schéma</a:t>
            </a:r>
            <a:r>
              <a:rPr lang="en-US" sz="1400" dirty="0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dirty="0" err="1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partagé</a:t>
            </a:r>
            <a:r>
              <a:rPr lang="en-US" sz="1400" dirty="0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 client / </a:t>
            </a:r>
            <a:r>
              <a:rPr lang="en-US" sz="1400" dirty="0" err="1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serveur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pic>
        <p:nvPicPr>
          <p:cNvPr id="28" name="Image 1" descr="/sessions/sweet-funny-newton/mnt/outputs/build/assets/konekt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6446520"/>
            <a:ext cx="274320" cy="27432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Konekt  ·  RNCP 37873 - CDA  ·  Christophe Lecart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56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B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CONCEPTION · VUE PRINCIPALE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Maquette — Home Feed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73152" cy="7772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48640" y="2012163"/>
            <a:ext cx="6250819" cy="4251477"/>
          </a:xfrm>
          <a:prstGeom prst="roundRect">
            <a:avLst>
              <a:gd name="adj" fmla="val 1600"/>
            </a:avLst>
          </a:prstGeom>
          <a:solidFill>
            <a:srgbClr val="1F2028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0" descr="/sessions/sweet-funny-newton/mnt/outputs/build/assets/Mockups_Home_Fe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74431" y="2140613"/>
            <a:ext cx="6011333" cy="39132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970970" y="2018211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Feed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6970970" y="2515084"/>
            <a:ext cx="2286000" cy="320040"/>
          </a:xfrm>
          <a:prstGeom prst="roundRect">
            <a:avLst>
              <a:gd name="adj" fmla="val 42857"/>
            </a:avLst>
          </a:prstGeom>
          <a:solidFill>
            <a:srgbClr val="EC4899">
              <a:alpha val="25000"/>
            </a:srgbClr>
          </a:solidFill>
          <a:ln w="9525">
            <a:solidFill>
              <a:srgbClr val="EC48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6970970" y="251508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PRINCIPALE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977016" y="2954141"/>
            <a:ext cx="4635864" cy="1347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feed est le cœur de Konekt : posts amis, stories en haut, suggestions de profils, infinite scroll, image full-width. Tout est servi par /api/private/post avec pagination cursor-based.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977017" y="411480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u="sng" kern="0" spc="200" dirty="0">
                <a:solidFill>
                  <a:srgbClr val="EC4899"/>
                </a:solidFill>
                <a:latin typeface="Calibri"/>
                <a:ea typeface="Calibri"/>
                <a:cs typeface="Calibri"/>
              </a:rPr>
              <a:t>Points techniques </a:t>
            </a:r>
            <a:r>
              <a:rPr lang="en-US" sz="1400" b="1" u="sng" kern="0" spc="200" dirty="0" err="1">
                <a:solidFill>
                  <a:srgbClr val="EC4899"/>
                </a:solidFill>
                <a:latin typeface="Calibri"/>
                <a:ea typeface="Calibri"/>
                <a:cs typeface="Calibri"/>
              </a:rPr>
              <a:t>clés</a:t>
            </a:r>
            <a:endParaRPr lang="en-US" sz="1400" u="sng">
              <a:latin typeface="Calibri"/>
              <a:ea typeface="Calibri"/>
              <a:cs typeface="Calibri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9425335" y="4434840"/>
            <a:ext cx="2301724" cy="86868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4"/>
          <p:cNvSpPr/>
          <p:nvPr/>
        </p:nvSpPr>
        <p:spPr>
          <a:xfrm>
            <a:off x="9419287" y="4434840"/>
            <a:ext cx="54864" cy="86868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9547594" y="45262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Stories ephemeral</a:t>
            </a:r>
            <a:endParaRPr lang="en-US" sz="1400" u="sng">
              <a:latin typeface="Calibri"/>
              <a:ea typeface="Calibri"/>
              <a:cs typeface="Calibri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9571784" y="481888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24h, polling SSE pour le </a:t>
            </a:r>
            <a:r>
              <a:rPr lang="en-US" sz="1200" dirty="0" err="1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statut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9425335" y="5394960"/>
            <a:ext cx="2301724" cy="86868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2"/>
          <p:cNvSpPr/>
          <p:nvPr/>
        </p:nvSpPr>
        <p:spPr>
          <a:xfrm>
            <a:off x="9419287" y="5394960"/>
            <a:ext cx="54864" cy="86868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Shape 13">
            <a:extLst>
              <a:ext uri="{FF2B5EF4-FFF2-40B4-BE49-F238E27FC236}">
                <a16:creationId xmlns:a16="http://schemas.microsoft.com/office/drawing/2014/main" id="{02A82318-6CFD-0C46-C29F-5D5351954A0E}"/>
              </a:ext>
            </a:extLst>
          </p:cNvPr>
          <p:cNvSpPr/>
          <p:nvPr/>
        </p:nvSpPr>
        <p:spPr>
          <a:xfrm>
            <a:off x="6982096" y="4434839"/>
            <a:ext cx="2301724" cy="86868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14">
            <a:extLst>
              <a:ext uri="{FF2B5EF4-FFF2-40B4-BE49-F238E27FC236}">
                <a16:creationId xmlns:a16="http://schemas.microsoft.com/office/drawing/2014/main" id="{FD024F16-45BB-8751-B66A-F2B86D21012A}"/>
              </a:ext>
            </a:extLst>
          </p:cNvPr>
          <p:cNvSpPr/>
          <p:nvPr/>
        </p:nvSpPr>
        <p:spPr>
          <a:xfrm>
            <a:off x="6976048" y="4434839"/>
            <a:ext cx="54864" cy="86868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Shape 21">
            <a:extLst>
              <a:ext uri="{FF2B5EF4-FFF2-40B4-BE49-F238E27FC236}">
                <a16:creationId xmlns:a16="http://schemas.microsoft.com/office/drawing/2014/main" id="{47943AD7-AC2D-0629-A2FE-83FA989C2B68}"/>
              </a:ext>
            </a:extLst>
          </p:cNvPr>
          <p:cNvSpPr/>
          <p:nvPr/>
        </p:nvSpPr>
        <p:spPr>
          <a:xfrm>
            <a:off x="6982096" y="5394959"/>
            <a:ext cx="2301724" cy="86868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22">
            <a:extLst>
              <a:ext uri="{FF2B5EF4-FFF2-40B4-BE49-F238E27FC236}">
                <a16:creationId xmlns:a16="http://schemas.microsoft.com/office/drawing/2014/main" id="{04F6A046-B76B-B165-189B-B87E9C6D9B00}"/>
              </a:ext>
            </a:extLst>
          </p:cNvPr>
          <p:cNvSpPr/>
          <p:nvPr/>
        </p:nvSpPr>
        <p:spPr>
          <a:xfrm>
            <a:off x="6976048" y="5394959"/>
            <a:ext cx="54864" cy="86868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3"/>
          <p:cNvSpPr/>
          <p:nvPr/>
        </p:nvSpPr>
        <p:spPr>
          <a:xfrm>
            <a:off x="9547594" y="5486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Image </a:t>
            </a:r>
            <a:r>
              <a:rPr lang="en-US" sz="1400" b="1" u="sng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optimisée</a:t>
            </a:r>
            <a:endParaRPr lang="en-US" sz="1400" u="sng">
              <a:latin typeface="Calibri"/>
              <a:ea typeface="Calibri"/>
              <a:cs typeface="Calibri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9571784" y="57790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Next/Image + </a:t>
            </a:r>
            <a:r>
              <a:rPr lang="en-US" sz="1200" dirty="0" err="1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Cloudinary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pic>
        <p:nvPicPr>
          <p:cNvPr id="28" name="Image 1" descr="/sessions/sweet-funny-newton/mnt/outputs/build/assets/konekt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6446520"/>
            <a:ext cx="274320" cy="27432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Konekt  ·  RNCP 37873 - CDA  ·  Christophe Lecart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56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129514" y="45262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Infinite scroll</a:t>
            </a:r>
            <a:endParaRPr lang="en-US" sz="1400" u="sng">
              <a:latin typeface="Calibri"/>
              <a:ea typeface="Calibri"/>
              <a:cs typeface="Calibri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7129514" y="481888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Pagination cursor-based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7129514" y="5486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Reactions inline</a:t>
            </a:r>
            <a:endParaRPr lang="en-US" sz="1400" u="sng">
              <a:latin typeface="Calibri"/>
              <a:ea typeface="Calibri"/>
              <a:cs typeface="Calibri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7117418" y="57790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Optimistic UI · </a:t>
            </a:r>
            <a:r>
              <a:rPr lang="en-US" sz="1200" dirty="0" err="1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doublon</a:t>
            </a:r>
            <a:r>
              <a:rPr lang="en-US" sz="1200" dirty="0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 impossible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B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CONCEPTION · IDENTITÉ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Maquette — Profil utilisateur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73152" cy="7772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029200" cy="4572000"/>
          </a:xfrm>
          <a:prstGeom prst="roundRect">
            <a:avLst>
              <a:gd name="adj" fmla="val 1600"/>
            </a:avLst>
          </a:prstGeom>
          <a:solidFill>
            <a:srgbClr val="1F2028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0" descr="/sessions/sweet-funny-newton/mnt/outputs/build/assets/Mockups_Use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77240" y="1874520"/>
            <a:ext cx="4572000" cy="4251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852160" y="169164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utilisateur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5852160" y="2194560"/>
            <a:ext cx="2286000" cy="320040"/>
          </a:xfrm>
          <a:prstGeom prst="roundRect">
            <a:avLst>
              <a:gd name="adj" fmla="val 42857"/>
            </a:avLst>
          </a:prstGeom>
          <a:solidFill>
            <a:srgbClr val="EC4899">
              <a:alpha val="25000"/>
            </a:srgbClr>
          </a:solidFill>
          <a:ln w="9525">
            <a:solidFill>
              <a:srgbClr val="EC48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5852160" y="2194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IDENTITÉ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852160" y="265176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public ou privé selon ProfileVisibility. Compteurs followers / following / posts, gradient personnalisable, tabs Posts / Photos / Vidéos, action Suivre / Modifier.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852160" y="411480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techniques clés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852160" y="443484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0"/>
          <p:cNvSpPr/>
          <p:nvPr/>
        </p:nvSpPr>
        <p:spPr>
          <a:xfrm>
            <a:off x="5852160" y="4434840"/>
            <a:ext cx="54864" cy="86868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6016752" y="45262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Visibilité PUBLIC/PRIVATE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016752" y="481888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 Prisma respecté côté API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8778240" y="443484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4"/>
          <p:cNvSpPr/>
          <p:nvPr/>
        </p:nvSpPr>
        <p:spPr>
          <a:xfrm>
            <a:off x="8778240" y="4434840"/>
            <a:ext cx="54864" cy="86868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8942832" y="45262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Followers / Following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942832" y="481888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Friendship 2-way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852160" y="539496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8"/>
          <p:cNvSpPr/>
          <p:nvPr/>
        </p:nvSpPr>
        <p:spPr>
          <a:xfrm>
            <a:off x="5852160" y="5394960"/>
            <a:ext cx="54864" cy="86868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19"/>
          <p:cNvSpPr/>
          <p:nvPr/>
        </p:nvSpPr>
        <p:spPr>
          <a:xfrm>
            <a:off x="6016752" y="5486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Tabs dynamiques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016752" y="57790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/ Photos / Vidéos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8778240" y="539496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2"/>
          <p:cNvSpPr/>
          <p:nvPr/>
        </p:nvSpPr>
        <p:spPr>
          <a:xfrm>
            <a:off x="8778240" y="5394960"/>
            <a:ext cx="54864" cy="86868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3"/>
          <p:cNvSpPr/>
          <p:nvPr/>
        </p:nvSpPr>
        <p:spPr>
          <a:xfrm>
            <a:off x="8942832" y="5486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profile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8942832" y="57790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Action + Cloudinary upload</a:t>
            </a:r>
            <a:endParaRPr lang="en-US" sz="900" dirty="0"/>
          </a:p>
        </p:txBody>
      </p:sp>
      <p:pic>
        <p:nvPicPr>
          <p:cNvPr id="28" name="Image 1" descr="/sessions/sweet-funny-newton/mnt/outputs/build/assets/konekt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6446520"/>
            <a:ext cx="274320" cy="27432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Konekt  ·  RNCP 37873 - CDA  ·  Christophe Lecart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56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B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CONCEPTION · PUBLICATION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Maquette — Création de post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73152" cy="7772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029200" cy="4572000"/>
          </a:xfrm>
          <a:prstGeom prst="roundRect">
            <a:avLst>
              <a:gd name="adj" fmla="val 1600"/>
            </a:avLst>
          </a:prstGeom>
          <a:solidFill>
            <a:srgbClr val="1F2028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0" descr="/sessions/sweet-funny-newton/mnt/outputs/build/assets/Mockups_Create_Pos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77240" y="1874520"/>
            <a:ext cx="4572000" cy="4251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852160" y="169164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de post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5852160" y="2194560"/>
            <a:ext cx="2286000" cy="320040"/>
          </a:xfrm>
          <a:prstGeom prst="roundRect">
            <a:avLst>
              <a:gd name="adj" fmla="val 42857"/>
            </a:avLst>
          </a:prstGeom>
          <a:solidFill>
            <a:srgbClr val="EC4899">
              <a:alpha val="25000"/>
            </a:srgbClr>
          </a:solidFill>
          <a:ln w="9525">
            <a:solidFill>
              <a:srgbClr val="EC48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5852160" y="2194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852160" y="265176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Composer riche avec preview, upload Cloudinary, choix de visibilité (PUBLIC / FRIENDS / PRIVATE), validation Zod côté serveur, persistance Prisma puis broadcast SSE.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852160" y="411480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techniques clés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852160" y="443484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0"/>
          <p:cNvSpPr/>
          <p:nvPr/>
        </p:nvSpPr>
        <p:spPr>
          <a:xfrm>
            <a:off x="5852160" y="4434840"/>
            <a:ext cx="54864" cy="86868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6016752" y="45262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Cloudinary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016752" y="481888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upload signé côté serveur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8778240" y="443484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4"/>
          <p:cNvSpPr/>
          <p:nvPr/>
        </p:nvSpPr>
        <p:spPr>
          <a:xfrm>
            <a:off x="8778240" y="4434840"/>
            <a:ext cx="54864" cy="86868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8942832" y="45262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Visibilité granulaire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942832" y="481888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niveaux + check au fetch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852160" y="539496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8"/>
          <p:cNvSpPr/>
          <p:nvPr/>
        </p:nvSpPr>
        <p:spPr>
          <a:xfrm>
            <a:off x="5852160" y="5394960"/>
            <a:ext cx="54864" cy="86868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19"/>
          <p:cNvSpPr/>
          <p:nvPr/>
        </p:nvSpPr>
        <p:spPr>
          <a:xfrm>
            <a:off x="6016752" y="5486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Zod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016752" y="57790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taille, type MIME, longueur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8778240" y="539496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2"/>
          <p:cNvSpPr/>
          <p:nvPr/>
        </p:nvSpPr>
        <p:spPr>
          <a:xfrm>
            <a:off x="8778240" y="5394960"/>
            <a:ext cx="54864" cy="86868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3"/>
          <p:cNvSpPr/>
          <p:nvPr/>
        </p:nvSpPr>
        <p:spPr>
          <a:xfrm>
            <a:off x="8942832" y="5486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Action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8942832" y="57790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type-safe Next.js</a:t>
            </a:r>
            <a:endParaRPr lang="en-US" sz="900" dirty="0"/>
          </a:p>
        </p:txBody>
      </p:sp>
      <p:pic>
        <p:nvPicPr>
          <p:cNvPr id="28" name="Image 1" descr="/sessions/sweet-funny-newton/mnt/outputs/build/assets/konekt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6446520"/>
            <a:ext cx="274320" cy="27432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Konekt  ·  RNCP 37873 - CDA  ·  Christophe Lecart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56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B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CONCEPTION · CONTENU ÉPHÉMÈRE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Maquette — Story Viewer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73152" cy="7772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029200" cy="4572000"/>
          </a:xfrm>
          <a:prstGeom prst="roundRect">
            <a:avLst>
              <a:gd name="adj" fmla="val 1600"/>
            </a:avLst>
          </a:prstGeom>
          <a:solidFill>
            <a:srgbClr val="1F2028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0" descr="/sessions/sweet-funny-newton/mnt/outputs/build/assets/Mockups_Story_Viewe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77240" y="1874520"/>
            <a:ext cx="4572000" cy="4251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852160" y="169164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Viewer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5852160" y="2194560"/>
            <a:ext cx="2286000" cy="320040"/>
          </a:xfrm>
          <a:prstGeom prst="roundRect">
            <a:avLst>
              <a:gd name="adj" fmla="val 42857"/>
            </a:avLst>
          </a:prstGeom>
          <a:solidFill>
            <a:srgbClr val="EC4899">
              <a:alpha val="25000"/>
            </a:srgbClr>
          </a:solidFill>
          <a:ln w="9525">
            <a:solidFill>
              <a:srgbClr val="EC48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5852160" y="2194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CONTENU ÉPHÉMÈRE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852160" y="265176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Lecteur plein écran des stories des amis, progression segmentée, swipe navigation, expiration automatique à 24h. Statistique de vues persistée pour l'auteur.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852160" y="411480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techniques clés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852160" y="443484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0"/>
          <p:cNvSpPr/>
          <p:nvPr/>
        </p:nvSpPr>
        <p:spPr>
          <a:xfrm>
            <a:off x="5852160" y="4434840"/>
            <a:ext cx="54864" cy="86868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6016752" y="45262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Stories 24h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016752" y="481888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cron · cleanup expirés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8778240" y="443484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4"/>
          <p:cNvSpPr/>
          <p:nvPr/>
        </p:nvSpPr>
        <p:spPr>
          <a:xfrm>
            <a:off x="8778240" y="4434840"/>
            <a:ext cx="54864" cy="86868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8942832" y="45262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segmentée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942832" y="481888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Multi-stories par utilisateur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852160" y="539496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8"/>
          <p:cNvSpPr/>
          <p:nvPr/>
        </p:nvSpPr>
        <p:spPr>
          <a:xfrm>
            <a:off x="5852160" y="5394960"/>
            <a:ext cx="54864" cy="86868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19"/>
          <p:cNvSpPr/>
          <p:nvPr/>
        </p:nvSpPr>
        <p:spPr>
          <a:xfrm>
            <a:off x="6016752" y="5486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Vues uniques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016752" y="57790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Compteur stocké en relation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8778240" y="539496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2"/>
          <p:cNvSpPr/>
          <p:nvPr/>
        </p:nvSpPr>
        <p:spPr>
          <a:xfrm>
            <a:off x="8778240" y="5394960"/>
            <a:ext cx="54864" cy="86868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3"/>
          <p:cNvSpPr/>
          <p:nvPr/>
        </p:nvSpPr>
        <p:spPr>
          <a:xfrm>
            <a:off x="8942832" y="5486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Reactions emoji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8942832" y="57790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reply au créateur</a:t>
            </a:r>
            <a:endParaRPr lang="en-US" sz="900" dirty="0"/>
          </a:p>
        </p:txBody>
      </p:sp>
      <p:pic>
        <p:nvPicPr>
          <p:cNvPr id="28" name="Image 1" descr="/sessions/sweet-funny-newton/mnt/outputs/build/assets/konekt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6446520"/>
            <a:ext cx="274320" cy="27432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Konekt  ·  RNCP 37873 - CDA  ·  Christophe Lecart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56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B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CONCEPTION · PERSONNALISATION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Maquette — Paramètres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73152" cy="7772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029200" cy="4572000"/>
          </a:xfrm>
          <a:prstGeom prst="roundRect">
            <a:avLst>
              <a:gd name="adj" fmla="val 1600"/>
            </a:avLst>
          </a:prstGeom>
          <a:solidFill>
            <a:srgbClr val="1F2028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0" descr="/sessions/sweet-funny-newton/mnt/outputs/build/assets/Mockups_Setting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77240" y="1874520"/>
            <a:ext cx="4572000" cy="4251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852160" y="169164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5852160" y="2194560"/>
            <a:ext cx="2286000" cy="320040"/>
          </a:xfrm>
          <a:prstGeom prst="roundRect">
            <a:avLst>
              <a:gd name="adj" fmla="val 42857"/>
            </a:avLst>
          </a:prstGeom>
          <a:solidFill>
            <a:srgbClr val="EC4899">
              <a:alpha val="25000"/>
            </a:srgbClr>
          </a:solidFill>
          <a:ln w="9525">
            <a:solidFill>
              <a:srgbClr val="EC48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5852160" y="2194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PERSONNALISATION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852160" y="265176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settings centralisée — profil, sécurité (mot de passe, sessions), notifications, langue (FR/EN), thème, confidentialité. Préférences stockées dans UserSettings (1-to-1 User).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852160" y="411480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techniques clés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852160" y="443484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0"/>
          <p:cNvSpPr/>
          <p:nvPr/>
        </p:nvSpPr>
        <p:spPr>
          <a:xfrm>
            <a:off x="5852160" y="4434840"/>
            <a:ext cx="54864" cy="86868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6016752" y="45262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UserSettings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016752" y="481888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Prisma 1-to-1 dédié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8778240" y="443484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4"/>
          <p:cNvSpPr/>
          <p:nvPr/>
        </p:nvSpPr>
        <p:spPr>
          <a:xfrm>
            <a:off x="8778240" y="4434840"/>
            <a:ext cx="54864" cy="86868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8942832" y="45262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toggle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942832" y="481888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Stocké côté serveur · cohérent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852160" y="539496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8"/>
          <p:cNvSpPr/>
          <p:nvPr/>
        </p:nvSpPr>
        <p:spPr>
          <a:xfrm>
            <a:off x="5852160" y="5394960"/>
            <a:ext cx="54864" cy="86868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19"/>
          <p:cNvSpPr/>
          <p:nvPr/>
        </p:nvSpPr>
        <p:spPr>
          <a:xfrm>
            <a:off x="6016752" y="5486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56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016752" y="57790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next-intl, dictionnaires lazy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8778240" y="539496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2"/>
          <p:cNvSpPr/>
          <p:nvPr/>
        </p:nvSpPr>
        <p:spPr>
          <a:xfrm>
            <a:off x="8778240" y="5394960"/>
            <a:ext cx="54864" cy="86868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3"/>
          <p:cNvSpPr/>
          <p:nvPr/>
        </p:nvSpPr>
        <p:spPr>
          <a:xfrm>
            <a:off x="8942832" y="5486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controls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8942832" y="57790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ProfileVisibility, notification opt-in</a:t>
            </a:r>
            <a:endParaRPr lang="en-US" sz="900" dirty="0"/>
          </a:p>
        </p:txBody>
      </p:sp>
      <p:pic>
        <p:nvPicPr>
          <p:cNvPr id="28" name="Image 1" descr="/sessions/sweet-funny-newton/mnt/outputs/build/assets/konekt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6446520"/>
            <a:ext cx="274320" cy="27432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Konekt  ·  RNCP 37873 - CDA  ·  Christophe Lecart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56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1B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CONCEPTION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implémentées · 14 routes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73152" cy="7772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0" cy="329184"/>
          </a:xfrm>
          <a:prstGeom prst="rect">
            <a:avLst/>
          </a:prstGeom>
          <a:solidFill>
            <a:srgbClr val="27273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685800" y="1783080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914400" y="169164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651760" y="169164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931920" y="169164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Affichage des posts du réseau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217920" y="1691640"/>
            <a:ext cx="5486400" cy="329184"/>
          </a:xfrm>
          <a:prstGeom prst="rect">
            <a:avLst/>
          </a:prstGeom>
          <a:solidFill>
            <a:srgbClr val="27273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6355080" y="1783080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583680" y="169164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/login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321040" y="169164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0" y="169164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email + OAuth Google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2057400"/>
            <a:ext cx="5486400" cy="329184"/>
          </a:xfrm>
          <a:prstGeom prst="rect">
            <a:avLst/>
          </a:prstGeom>
          <a:solidFill>
            <a:srgbClr val="1F202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685800" y="2148840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914400" y="205740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/register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51760" y="205740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931920" y="205740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 avec vérification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217920" y="2057400"/>
            <a:ext cx="5486400" cy="329184"/>
          </a:xfrm>
          <a:prstGeom prst="rect">
            <a:avLst/>
          </a:prstGeom>
          <a:solidFill>
            <a:srgbClr val="1F202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6355080" y="2148840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6583680" y="205740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/onboarding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321040" y="205740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01200" y="205740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Complétion du profil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8640" y="2423160"/>
            <a:ext cx="5486400" cy="329184"/>
          </a:xfrm>
          <a:prstGeom prst="rect">
            <a:avLst/>
          </a:prstGeom>
          <a:solidFill>
            <a:srgbClr val="27273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685800" y="2514600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914400" y="242316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/profile/[id]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651760" y="242316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931920" y="242316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public/privé, posts, abonnés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217920" y="2423160"/>
            <a:ext cx="5486400" cy="329184"/>
          </a:xfrm>
          <a:prstGeom prst="rect">
            <a:avLst/>
          </a:prstGeom>
          <a:solidFill>
            <a:srgbClr val="27273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6355080" y="2514600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6583680" y="242316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/chat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321040" y="242316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601200" y="242316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des messages 1-to-1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48640" y="2788920"/>
            <a:ext cx="5486400" cy="329184"/>
          </a:xfrm>
          <a:prstGeom prst="rect">
            <a:avLst/>
          </a:prstGeom>
          <a:solidFill>
            <a:srgbClr val="1F202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685800" y="2880360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914400" y="278892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/chat/[id]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651760" y="278892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DM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931920" y="278892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Messagerie privée temps réel (SSE)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217920" y="2788920"/>
            <a:ext cx="5486400" cy="329184"/>
          </a:xfrm>
          <a:prstGeom prst="rect">
            <a:avLst/>
          </a:prstGeom>
          <a:solidFill>
            <a:srgbClr val="1F202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6355080" y="2880360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6583680" y="278892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/reels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321040" y="278892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9601200" y="278892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Vidéos courtes verticales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8640" y="3154680"/>
            <a:ext cx="5486400" cy="329184"/>
          </a:xfrm>
          <a:prstGeom prst="rect">
            <a:avLst/>
          </a:prstGeom>
          <a:solidFill>
            <a:srgbClr val="27273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6" name="Shape 44"/>
          <p:cNvSpPr/>
          <p:nvPr/>
        </p:nvSpPr>
        <p:spPr>
          <a:xfrm>
            <a:off x="685800" y="3246120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7" name="Text 45"/>
          <p:cNvSpPr/>
          <p:nvPr/>
        </p:nvSpPr>
        <p:spPr>
          <a:xfrm>
            <a:off x="914400" y="315468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/search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2651760" y="315468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3931920" y="315468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+ posts avec historique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217920" y="3154680"/>
            <a:ext cx="5486400" cy="329184"/>
          </a:xfrm>
          <a:prstGeom prst="rect">
            <a:avLst/>
          </a:prstGeom>
          <a:solidFill>
            <a:srgbClr val="27273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1" name="Shape 49"/>
          <p:cNvSpPr/>
          <p:nvPr/>
        </p:nvSpPr>
        <p:spPr>
          <a:xfrm>
            <a:off x="6355080" y="3246120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2" name="Text 50"/>
          <p:cNvSpPr/>
          <p:nvPr/>
        </p:nvSpPr>
        <p:spPr>
          <a:xfrm>
            <a:off x="6583680" y="315468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/groups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8321040" y="315468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Groupes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9601200" y="315468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Liste, recherche, création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48640" y="3520440"/>
            <a:ext cx="5486400" cy="329184"/>
          </a:xfrm>
          <a:prstGeom prst="rect">
            <a:avLst/>
          </a:prstGeom>
          <a:solidFill>
            <a:srgbClr val="1F202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6" name="Shape 54"/>
          <p:cNvSpPr/>
          <p:nvPr/>
        </p:nvSpPr>
        <p:spPr>
          <a:xfrm>
            <a:off x="685800" y="3611880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7" name="Text 55"/>
          <p:cNvSpPr/>
          <p:nvPr/>
        </p:nvSpPr>
        <p:spPr>
          <a:xfrm>
            <a:off x="914400" y="352044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/groups/[id]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2651760" y="352044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3931920" y="352044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+ chat + membres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217920" y="3520440"/>
            <a:ext cx="5486400" cy="329184"/>
          </a:xfrm>
          <a:prstGeom prst="rect">
            <a:avLst/>
          </a:prstGeom>
          <a:solidFill>
            <a:srgbClr val="1F202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1" name="Shape 59"/>
          <p:cNvSpPr/>
          <p:nvPr/>
        </p:nvSpPr>
        <p:spPr>
          <a:xfrm>
            <a:off x="6355080" y="3611880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2" name="Text 60"/>
          <p:cNvSpPr/>
          <p:nvPr/>
        </p:nvSpPr>
        <p:spPr>
          <a:xfrm>
            <a:off x="6583680" y="352044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/events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8321040" y="352044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Événements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9601200" y="352044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Calendrier + RSVP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548640" y="3886200"/>
            <a:ext cx="5486400" cy="329184"/>
          </a:xfrm>
          <a:prstGeom prst="rect">
            <a:avLst/>
          </a:prstGeom>
          <a:solidFill>
            <a:srgbClr val="27273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6" name="Shape 64"/>
          <p:cNvSpPr/>
          <p:nvPr/>
        </p:nvSpPr>
        <p:spPr>
          <a:xfrm>
            <a:off x="685800" y="3977640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7" name="Text 65"/>
          <p:cNvSpPr/>
          <p:nvPr/>
        </p:nvSpPr>
        <p:spPr>
          <a:xfrm>
            <a:off x="914400" y="388620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/settings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2651760" y="388620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3931920" y="388620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Profil, sécurité, langue, thème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6217920" y="3886200"/>
            <a:ext cx="5486400" cy="329184"/>
          </a:xfrm>
          <a:prstGeom prst="rect">
            <a:avLst/>
          </a:prstGeom>
          <a:solidFill>
            <a:srgbClr val="27273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1" name="Shape 69"/>
          <p:cNvSpPr/>
          <p:nvPr/>
        </p:nvSpPr>
        <p:spPr>
          <a:xfrm>
            <a:off x="6355080" y="3977640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2" name="Text 70"/>
          <p:cNvSpPr/>
          <p:nvPr/>
        </p:nvSpPr>
        <p:spPr>
          <a:xfrm>
            <a:off x="6583680" y="388620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/invitations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8321040" y="388620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Invitations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9601200" y="388620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Demandes d'amitié et de groupe</a:t>
            </a:r>
            <a:endParaRPr lang="en-US" sz="900" dirty="0"/>
          </a:p>
        </p:txBody>
      </p:sp>
      <p:pic>
        <p:nvPicPr>
          <p:cNvPr id="75" name="Image 0" descr="/sessions/sweet-funny-newton/mnt/outputs/build/assets/konekt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446520"/>
            <a:ext cx="274320" cy="274320"/>
          </a:xfrm>
          <a:prstGeom prst="rect">
            <a:avLst/>
          </a:prstGeom>
        </p:spPr>
      </p:pic>
      <p:sp>
        <p:nvSpPr>
          <p:cNvPr id="76" name="Text 73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Konekt  ·  RNCP 37873 - CDA  ·  Christophe Lecart</a:t>
            </a:r>
            <a:endParaRPr lang="en-US" sz="900" dirty="0"/>
          </a:p>
        </p:txBody>
      </p:sp>
      <p:sp>
        <p:nvSpPr>
          <p:cNvPr id="77" name="Text 74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56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1B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DÉVELOPPEMENT · DIAGRAMME DE SÉQUENCE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d'authentification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73152" cy="7772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EC4899">
              <a:alpha val="40000"/>
            </a:srgbClr>
          </a:solidFill>
          <a:ln w="19050">
            <a:solidFill>
              <a:srgbClr val="EC48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Navigateur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280160" y="2286000"/>
            <a:ext cx="0" cy="3749040"/>
          </a:xfrm>
          <a:prstGeom prst="line">
            <a:avLst/>
          </a:prstGeom>
          <a:noFill/>
          <a:ln w="12700">
            <a:solidFill>
              <a:srgbClr val="3F3F46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480560" y="178308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06B6D4">
              <a:alpha val="40000"/>
            </a:srgbClr>
          </a:solidFill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480560" y="17830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API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303520" y="2286000"/>
            <a:ext cx="0" cy="3749040"/>
          </a:xfrm>
          <a:prstGeom prst="line">
            <a:avLst/>
          </a:prstGeom>
          <a:noFill/>
          <a:ln w="12700">
            <a:solidFill>
              <a:srgbClr val="3F3F46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8503920" y="178308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8B5CF6">
              <a:alpha val="40000"/>
            </a:srgbClr>
          </a:solidFill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8503920" y="17830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(Prisma)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326880" y="2286000"/>
            <a:ext cx="0" cy="3749040"/>
          </a:xfrm>
          <a:prstGeom prst="line">
            <a:avLst/>
          </a:prstGeom>
          <a:noFill/>
          <a:ln w="12700">
            <a:solidFill>
              <a:srgbClr val="3F3F46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1280160" y="2743200"/>
            <a:ext cx="4023360" cy="0"/>
          </a:xfrm>
          <a:prstGeom prst="line">
            <a:avLst/>
          </a:prstGeom>
          <a:noFill/>
          <a:ln w="25400">
            <a:solidFill>
              <a:srgbClr val="EC4899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1280160" y="24505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/api/public/auth/login  { email, password }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303520" y="3246120"/>
            <a:ext cx="402336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5303520" y="295351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user WHERE email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 flipH="1">
            <a:off x="5303520" y="3749040"/>
            <a:ext cx="4023360" cy="0"/>
          </a:xfrm>
          <a:prstGeom prst="line">
            <a:avLst/>
          </a:prstGeom>
          <a:noFill/>
          <a:ln w="25400">
            <a:solidFill>
              <a:srgbClr val="8B5CF6"/>
            </a:solidFill>
            <a:prstDash val="dash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5303520" y="34564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row (hashed pwd)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349240" y="4023360"/>
            <a:ext cx="3657600" cy="777240"/>
          </a:xfrm>
          <a:prstGeom prst="roundRect">
            <a:avLst>
              <a:gd name="adj" fmla="val 9412"/>
            </a:avLst>
          </a:prstGeom>
          <a:solidFill>
            <a:srgbClr val="272730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5394960" y="406908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bcrypt.compare(password, user.password)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jose.SignJWT({ userId }) ➜ JWT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 flipH="1">
            <a:off x="1280160" y="5074920"/>
            <a:ext cx="402336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dash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1280160" y="478231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 OK  ·  Set-Cookie: authToken HttpOnly SameSite=Lax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54864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1F2028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777240" y="553212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—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signé avec </a:t>
            </a:r>
            <a:r>
              <a:rPr lang="en-US" sz="11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jose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secret applicatif · Cookie </a:t>
            </a: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HttpOnly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(pas accessible JS) · </a:t>
            </a: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cost 12 · </a:t>
            </a: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Google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via state cookie anti-CSRF · Middleware Next.js qui valide le JWT pour chaque route privée.</a:t>
            </a:r>
            <a:endParaRPr lang="en-US" sz="1100" dirty="0"/>
          </a:p>
        </p:txBody>
      </p:sp>
      <p:pic>
        <p:nvPicPr>
          <p:cNvPr id="26" name="Image 0" descr="/sessions/sweet-funny-newton/mnt/outputs/build/assets/konekt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446520"/>
            <a:ext cx="274320" cy="27432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Konekt  ·  RNCP 37873 - CDA  ·  Christophe Lecart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56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B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457200"/>
            <a:ext cx="73152" cy="77724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C4899"/>
                </a:solidFill>
                <a:latin typeface="Calibri"/>
              </a:rPr>
              <a:t>04 · DÉVELOPPEMENT · DIAGRAMME DE SÉQUENCE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Temps réel — envoi message en SSE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" y="1691640"/>
            <a:ext cx="1554480" cy="50292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" y="1737360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Client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" y="1947672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onsolas"/>
              </a:rPr>
              <a:t>Browser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" y="2194560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04672" y="2359152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04672" y="2523744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04672" y="2688336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4672" y="2852928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4672" y="3017520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" y="3182112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" y="3346704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" y="3511296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2" y="3675888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4672" y="3840480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4672" y="4005072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4672" y="4169664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04672" y="4334256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4672" y="4498848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4672" y="4663440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04672" y="4828032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04672" y="4992624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04672" y="5157216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04672" y="5321808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04672" y="5486400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04672" y="5650992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423160" y="1691640"/>
            <a:ext cx="1554480" cy="5029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423160" y="1737360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API send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23160" y="1947672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onsolas"/>
              </a:rPr>
              <a:t>/chat/send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82112" y="2194560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182112" y="2359152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182112" y="2523744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182112" y="2688336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182112" y="2852928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3182112" y="3017520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3182112" y="3182112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182112" y="3346704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3182112" y="3511296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3182112" y="3675888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3182112" y="3840480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3182112" y="4005072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3182112" y="4169664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3182112" y="4334256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3182112" y="4498848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3182112" y="4663440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3182112" y="4828032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3182112" y="4992624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3182112" y="5157216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3182112" y="5321808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3182112" y="5486400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3182112" y="5650992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4800600" y="1691640"/>
            <a:ext cx="1554480" cy="5029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800600" y="1737360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PostgreSQL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800600" y="1947672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onsolas"/>
              </a:rPr>
              <a:t>Prisma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559552" y="2194560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5559552" y="2359152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5559552" y="2523744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5559552" y="2688336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5559552" y="2852928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5559552" y="3017520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5559552" y="3182112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5559552" y="3346704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5559552" y="3511296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5559552" y="3675888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5559552" y="3840480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5559552" y="4005072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5559552" y="4169664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5559552" y="4334256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5559552" y="4498848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5559552" y="4663440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5559552" y="4828032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5559552" y="4992624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5559552" y="5157216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5559552" y="5321808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5559552" y="5486400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5559552" y="5650992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7178040" y="1691640"/>
            <a:ext cx="1554480" cy="5029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7178040" y="1737360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Upstash Redis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178040" y="1947672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onsolas"/>
              </a:rPr>
              <a:t>REST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936992" y="2194560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7936992" y="2359152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7936992" y="2523744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7936992" y="2688336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7936992" y="2852928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7936992" y="3017520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7936992" y="3182112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7936992" y="3346704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7936992" y="3511296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7936992" y="3675888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7936992" y="3840480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7936992" y="4005072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7936992" y="4169664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7936992" y="4334256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7936992" y="4498848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7936992" y="4663440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7936992" y="4828032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7936992" y="4992624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7936992" y="5157216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7936992" y="5321808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7936992" y="5486400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7936992" y="5650992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ectangle 104"/>
          <p:cNvSpPr/>
          <p:nvPr/>
        </p:nvSpPr>
        <p:spPr>
          <a:xfrm>
            <a:off x="9555480" y="1691640"/>
            <a:ext cx="1554480" cy="5029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9555480" y="1737360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Client B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555480" y="1947672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onsolas"/>
              </a:rPr>
              <a:t>SSE listener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0314432" y="2194560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10314432" y="2359152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10314432" y="2523744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ectangle 110"/>
          <p:cNvSpPr/>
          <p:nvPr/>
        </p:nvSpPr>
        <p:spPr>
          <a:xfrm>
            <a:off x="10314432" y="2688336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ectangle 111"/>
          <p:cNvSpPr/>
          <p:nvPr/>
        </p:nvSpPr>
        <p:spPr>
          <a:xfrm>
            <a:off x="10314432" y="2852928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Rectangle 112"/>
          <p:cNvSpPr/>
          <p:nvPr/>
        </p:nvSpPr>
        <p:spPr>
          <a:xfrm>
            <a:off x="10314432" y="3017520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ectangle 113"/>
          <p:cNvSpPr/>
          <p:nvPr/>
        </p:nvSpPr>
        <p:spPr>
          <a:xfrm>
            <a:off x="10314432" y="3182112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ectangle 114"/>
          <p:cNvSpPr/>
          <p:nvPr/>
        </p:nvSpPr>
        <p:spPr>
          <a:xfrm>
            <a:off x="10314432" y="3346704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Rectangle 115"/>
          <p:cNvSpPr/>
          <p:nvPr/>
        </p:nvSpPr>
        <p:spPr>
          <a:xfrm>
            <a:off x="10314432" y="3511296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10314432" y="3675888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ectangle 117"/>
          <p:cNvSpPr/>
          <p:nvPr/>
        </p:nvSpPr>
        <p:spPr>
          <a:xfrm>
            <a:off x="10314432" y="3840480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ectangle 118"/>
          <p:cNvSpPr/>
          <p:nvPr/>
        </p:nvSpPr>
        <p:spPr>
          <a:xfrm>
            <a:off x="10314432" y="4005072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Rectangle 119"/>
          <p:cNvSpPr/>
          <p:nvPr/>
        </p:nvSpPr>
        <p:spPr>
          <a:xfrm>
            <a:off x="10314432" y="4169664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Rectangle 120"/>
          <p:cNvSpPr/>
          <p:nvPr/>
        </p:nvSpPr>
        <p:spPr>
          <a:xfrm>
            <a:off x="10314432" y="4334256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Rectangle 121"/>
          <p:cNvSpPr/>
          <p:nvPr/>
        </p:nvSpPr>
        <p:spPr>
          <a:xfrm>
            <a:off x="10314432" y="4498848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Rectangle 122"/>
          <p:cNvSpPr/>
          <p:nvPr/>
        </p:nvSpPr>
        <p:spPr>
          <a:xfrm>
            <a:off x="10314432" y="4663440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10314432" y="4828032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Rectangle 124"/>
          <p:cNvSpPr/>
          <p:nvPr/>
        </p:nvSpPr>
        <p:spPr>
          <a:xfrm>
            <a:off x="10314432" y="4992624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Rectangle 125"/>
          <p:cNvSpPr/>
          <p:nvPr/>
        </p:nvSpPr>
        <p:spPr>
          <a:xfrm>
            <a:off x="10314432" y="5157216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Rectangle 126"/>
          <p:cNvSpPr/>
          <p:nvPr/>
        </p:nvSpPr>
        <p:spPr>
          <a:xfrm>
            <a:off x="10314432" y="5321808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Rectangle 127"/>
          <p:cNvSpPr/>
          <p:nvPr/>
        </p:nvSpPr>
        <p:spPr>
          <a:xfrm>
            <a:off x="10314432" y="5486400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Rectangle 128"/>
          <p:cNvSpPr/>
          <p:nvPr/>
        </p:nvSpPr>
        <p:spPr>
          <a:xfrm>
            <a:off x="10314432" y="5650992"/>
            <a:ext cx="36576" cy="91440"/>
          </a:xfrm>
          <a:prstGeom prst="rect">
            <a:avLst/>
          </a:prstGeom>
          <a:solidFill>
            <a:srgbClr val="A1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Rectangle 129"/>
          <p:cNvSpPr/>
          <p:nvPr/>
        </p:nvSpPr>
        <p:spPr>
          <a:xfrm>
            <a:off x="822960" y="2606040"/>
            <a:ext cx="2377440" cy="2286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Oval 130"/>
          <p:cNvSpPr/>
          <p:nvPr/>
        </p:nvSpPr>
        <p:spPr>
          <a:xfrm>
            <a:off x="3108960" y="2571292"/>
            <a:ext cx="91440" cy="91440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914400" y="2313432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 i="0">
                <a:solidFill>
                  <a:srgbClr val="EC4899"/>
                </a:solidFill>
                <a:latin typeface="Consolas"/>
              </a:rPr>
              <a:t>POST /chat/send  { to, message }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3200400" y="3063240"/>
            <a:ext cx="2377439" cy="2286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Oval 133"/>
          <p:cNvSpPr/>
          <p:nvPr/>
        </p:nvSpPr>
        <p:spPr>
          <a:xfrm>
            <a:off x="5486400" y="3028492"/>
            <a:ext cx="91440" cy="9144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3291840" y="2770632"/>
            <a:ext cx="2285999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 i="0">
                <a:solidFill>
                  <a:srgbClr val="06B6D4"/>
                </a:solidFill>
                <a:latin typeface="Consolas"/>
              </a:rPr>
              <a:t>INSERT INTO Message (via Prisma)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3200400" y="3520440"/>
            <a:ext cx="91440" cy="2286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Rectangle 136"/>
          <p:cNvSpPr/>
          <p:nvPr/>
        </p:nvSpPr>
        <p:spPr>
          <a:xfrm>
            <a:off x="3364992" y="3520440"/>
            <a:ext cx="91440" cy="2286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Rectangle 137"/>
          <p:cNvSpPr/>
          <p:nvPr/>
        </p:nvSpPr>
        <p:spPr>
          <a:xfrm>
            <a:off x="3529584" y="3520440"/>
            <a:ext cx="91440" cy="2286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Rectangle 138"/>
          <p:cNvSpPr/>
          <p:nvPr/>
        </p:nvSpPr>
        <p:spPr>
          <a:xfrm>
            <a:off x="3694176" y="3520440"/>
            <a:ext cx="91440" cy="2286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Rectangle 139"/>
          <p:cNvSpPr/>
          <p:nvPr/>
        </p:nvSpPr>
        <p:spPr>
          <a:xfrm>
            <a:off x="3858768" y="3520440"/>
            <a:ext cx="91440" cy="2286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Rectangle 140"/>
          <p:cNvSpPr/>
          <p:nvPr/>
        </p:nvSpPr>
        <p:spPr>
          <a:xfrm>
            <a:off x="4023359" y="3520440"/>
            <a:ext cx="91440" cy="2286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Rectangle 141"/>
          <p:cNvSpPr/>
          <p:nvPr/>
        </p:nvSpPr>
        <p:spPr>
          <a:xfrm>
            <a:off x="4187951" y="3520440"/>
            <a:ext cx="91440" cy="2286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Rectangle 142"/>
          <p:cNvSpPr/>
          <p:nvPr/>
        </p:nvSpPr>
        <p:spPr>
          <a:xfrm>
            <a:off x="4352543" y="3520440"/>
            <a:ext cx="91440" cy="2286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Rectangle 143"/>
          <p:cNvSpPr/>
          <p:nvPr/>
        </p:nvSpPr>
        <p:spPr>
          <a:xfrm>
            <a:off x="4517135" y="3520440"/>
            <a:ext cx="91440" cy="2286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Rectangle 144"/>
          <p:cNvSpPr/>
          <p:nvPr/>
        </p:nvSpPr>
        <p:spPr>
          <a:xfrm>
            <a:off x="4681727" y="3520440"/>
            <a:ext cx="91440" cy="2286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Rectangle 145"/>
          <p:cNvSpPr/>
          <p:nvPr/>
        </p:nvSpPr>
        <p:spPr>
          <a:xfrm>
            <a:off x="4846319" y="3520440"/>
            <a:ext cx="91440" cy="2286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Rectangle 146"/>
          <p:cNvSpPr/>
          <p:nvPr/>
        </p:nvSpPr>
        <p:spPr>
          <a:xfrm>
            <a:off x="5010911" y="3520440"/>
            <a:ext cx="91440" cy="2286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Rectangle 147"/>
          <p:cNvSpPr/>
          <p:nvPr/>
        </p:nvSpPr>
        <p:spPr>
          <a:xfrm>
            <a:off x="5175503" y="3520440"/>
            <a:ext cx="91440" cy="2286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Rectangle 148"/>
          <p:cNvSpPr/>
          <p:nvPr/>
        </p:nvSpPr>
        <p:spPr>
          <a:xfrm>
            <a:off x="5340095" y="3520440"/>
            <a:ext cx="91440" cy="2286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Rectangle 149"/>
          <p:cNvSpPr/>
          <p:nvPr/>
        </p:nvSpPr>
        <p:spPr>
          <a:xfrm>
            <a:off x="5504687" y="3520440"/>
            <a:ext cx="73152" cy="2286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Oval 150"/>
          <p:cNvSpPr/>
          <p:nvPr/>
        </p:nvSpPr>
        <p:spPr>
          <a:xfrm>
            <a:off x="3200400" y="3485692"/>
            <a:ext cx="91440" cy="9144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3291840" y="3227832"/>
            <a:ext cx="2285999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 i="0">
                <a:solidFill>
                  <a:srgbClr val="8B5CF6"/>
                </a:solidFill>
                <a:latin typeface="Consolas"/>
              </a:rPr>
              <a:t>saved message  { id }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3200400" y="3977639"/>
            <a:ext cx="4754879" cy="2286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Oval 153"/>
          <p:cNvSpPr/>
          <p:nvPr/>
        </p:nvSpPr>
        <p:spPr>
          <a:xfrm>
            <a:off x="7863840" y="3942892"/>
            <a:ext cx="91440" cy="9144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3291840" y="3685031"/>
            <a:ext cx="46634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 i="0">
                <a:solidFill>
                  <a:srgbClr val="06B6D4"/>
                </a:solidFill>
                <a:latin typeface="Consolas"/>
              </a:rPr>
              <a:t>SET latest:chat:&lt;from&gt;:&lt;to&gt; = msg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822960" y="4434840"/>
            <a:ext cx="91440" cy="228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Rectangle 156"/>
          <p:cNvSpPr/>
          <p:nvPr/>
        </p:nvSpPr>
        <p:spPr>
          <a:xfrm>
            <a:off x="987552" y="4434840"/>
            <a:ext cx="91440" cy="228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Rectangle 157"/>
          <p:cNvSpPr/>
          <p:nvPr/>
        </p:nvSpPr>
        <p:spPr>
          <a:xfrm>
            <a:off x="1152144" y="4434840"/>
            <a:ext cx="91440" cy="228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Rectangle 158"/>
          <p:cNvSpPr/>
          <p:nvPr/>
        </p:nvSpPr>
        <p:spPr>
          <a:xfrm>
            <a:off x="1316736" y="4434840"/>
            <a:ext cx="91440" cy="228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Rectangle 159"/>
          <p:cNvSpPr/>
          <p:nvPr/>
        </p:nvSpPr>
        <p:spPr>
          <a:xfrm>
            <a:off x="1481328" y="4434840"/>
            <a:ext cx="91440" cy="228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Rectangle 160"/>
          <p:cNvSpPr/>
          <p:nvPr/>
        </p:nvSpPr>
        <p:spPr>
          <a:xfrm>
            <a:off x="1645919" y="4434840"/>
            <a:ext cx="91440" cy="228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Rectangle 161"/>
          <p:cNvSpPr/>
          <p:nvPr/>
        </p:nvSpPr>
        <p:spPr>
          <a:xfrm>
            <a:off x="1810511" y="4434840"/>
            <a:ext cx="91440" cy="228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Rectangle 162"/>
          <p:cNvSpPr/>
          <p:nvPr/>
        </p:nvSpPr>
        <p:spPr>
          <a:xfrm>
            <a:off x="1975103" y="4434840"/>
            <a:ext cx="91440" cy="228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Rectangle 163"/>
          <p:cNvSpPr/>
          <p:nvPr/>
        </p:nvSpPr>
        <p:spPr>
          <a:xfrm>
            <a:off x="2139696" y="4434840"/>
            <a:ext cx="91440" cy="228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Rectangle 164"/>
          <p:cNvSpPr/>
          <p:nvPr/>
        </p:nvSpPr>
        <p:spPr>
          <a:xfrm>
            <a:off x="2304288" y="4434840"/>
            <a:ext cx="91440" cy="228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Rectangle 165"/>
          <p:cNvSpPr/>
          <p:nvPr/>
        </p:nvSpPr>
        <p:spPr>
          <a:xfrm>
            <a:off x="2468880" y="4434840"/>
            <a:ext cx="91440" cy="228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Rectangle 166"/>
          <p:cNvSpPr/>
          <p:nvPr/>
        </p:nvSpPr>
        <p:spPr>
          <a:xfrm>
            <a:off x="2633472" y="4434840"/>
            <a:ext cx="91440" cy="228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Rectangle 167"/>
          <p:cNvSpPr/>
          <p:nvPr/>
        </p:nvSpPr>
        <p:spPr>
          <a:xfrm>
            <a:off x="2798064" y="4434840"/>
            <a:ext cx="91440" cy="228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Rectangle 168"/>
          <p:cNvSpPr/>
          <p:nvPr/>
        </p:nvSpPr>
        <p:spPr>
          <a:xfrm>
            <a:off x="2962656" y="4434840"/>
            <a:ext cx="91440" cy="228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Rectangle 169"/>
          <p:cNvSpPr/>
          <p:nvPr/>
        </p:nvSpPr>
        <p:spPr>
          <a:xfrm>
            <a:off x="3127248" y="4434840"/>
            <a:ext cx="73151" cy="228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Oval 170"/>
          <p:cNvSpPr/>
          <p:nvPr/>
        </p:nvSpPr>
        <p:spPr>
          <a:xfrm>
            <a:off x="822960" y="4400092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TextBox 171"/>
          <p:cNvSpPr txBox="1"/>
          <p:nvPr/>
        </p:nvSpPr>
        <p:spPr>
          <a:xfrm>
            <a:off x="914400" y="4480559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 i="0">
                <a:solidFill>
                  <a:srgbClr val="10B981"/>
                </a:solidFill>
                <a:latin typeface="Consolas"/>
              </a:rPr>
              <a:t>200 OK { status: SENT }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7498079" y="4754879"/>
            <a:ext cx="3291840" cy="868680"/>
          </a:xfrm>
          <a:prstGeom prst="rect">
            <a:avLst/>
          </a:prstGeom>
          <a:noFill/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Rectangle 173"/>
          <p:cNvSpPr/>
          <p:nvPr/>
        </p:nvSpPr>
        <p:spPr>
          <a:xfrm>
            <a:off x="7498079" y="4754879"/>
            <a:ext cx="594360" cy="228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TextBox 174"/>
          <p:cNvSpPr txBox="1"/>
          <p:nvPr/>
        </p:nvSpPr>
        <p:spPr>
          <a:xfrm>
            <a:off x="7498079" y="4754879"/>
            <a:ext cx="5943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loop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8138159" y="4754879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1">
                <a:solidFill>
                  <a:srgbClr val="F59E0B"/>
                </a:solidFill>
                <a:latin typeface="Calibri"/>
              </a:rPr>
              <a:t>[polling 1s]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7955279" y="5120640"/>
            <a:ext cx="2377440" cy="228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Oval 177"/>
          <p:cNvSpPr/>
          <p:nvPr/>
        </p:nvSpPr>
        <p:spPr>
          <a:xfrm>
            <a:off x="7955279" y="5085892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TextBox 178"/>
          <p:cNvSpPr txBox="1"/>
          <p:nvPr/>
        </p:nvSpPr>
        <p:spPr>
          <a:xfrm>
            <a:off x="8046719" y="4828031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 i="0">
                <a:solidFill>
                  <a:srgbClr val="10B981"/>
                </a:solidFill>
                <a:latin typeface="Consolas"/>
              </a:rPr>
              <a:t>GET latest:chat:*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7955279" y="5440679"/>
            <a:ext cx="91440" cy="228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Rectangle 180"/>
          <p:cNvSpPr/>
          <p:nvPr/>
        </p:nvSpPr>
        <p:spPr>
          <a:xfrm>
            <a:off x="8119871" y="5440679"/>
            <a:ext cx="91440" cy="228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Rectangle 181"/>
          <p:cNvSpPr/>
          <p:nvPr/>
        </p:nvSpPr>
        <p:spPr>
          <a:xfrm>
            <a:off x="8284463" y="5440679"/>
            <a:ext cx="91440" cy="228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Rectangle 182"/>
          <p:cNvSpPr/>
          <p:nvPr/>
        </p:nvSpPr>
        <p:spPr>
          <a:xfrm>
            <a:off x="8449055" y="5440679"/>
            <a:ext cx="91440" cy="228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Rectangle 183"/>
          <p:cNvSpPr/>
          <p:nvPr/>
        </p:nvSpPr>
        <p:spPr>
          <a:xfrm>
            <a:off x="8613647" y="5440679"/>
            <a:ext cx="91440" cy="228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Rectangle 184"/>
          <p:cNvSpPr/>
          <p:nvPr/>
        </p:nvSpPr>
        <p:spPr>
          <a:xfrm>
            <a:off x="8778239" y="5440679"/>
            <a:ext cx="91440" cy="228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Rectangle 185"/>
          <p:cNvSpPr/>
          <p:nvPr/>
        </p:nvSpPr>
        <p:spPr>
          <a:xfrm>
            <a:off x="8942831" y="5440679"/>
            <a:ext cx="91440" cy="228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Rectangle 186"/>
          <p:cNvSpPr/>
          <p:nvPr/>
        </p:nvSpPr>
        <p:spPr>
          <a:xfrm>
            <a:off x="9107423" y="5440679"/>
            <a:ext cx="91440" cy="228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Rectangle 187"/>
          <p:cNvSpPr/>
          <p:nvPr/>
        </p:nvSpPr>
        <p:spPr>
          <a:xfrm>
            <a:off x="9272015" y="5440679"/>
            <a:ext cx="91440" cy="228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Rectangle 188"/>
          <p:cNvSpPr/>
          <p:nvPr/>
        </p:nvSpPr>
        <p:spPr>
          <a:xfrm>
            <a:off x="9436607" y="5440679"/>
            <a:ext cx="91440" cy="228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Rectangle 189"/>
          <p:cNvSpPr/>
          <p:nvPr/>
        </p:nvSpPr>
        <p:spPr>
          <a:xfrm>
            <a:off x="9601199" y="5440679"/>
            <a:ext cx="91440" cy="228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Rectangle 190"/>
          <p:cNvSpPr/>
          <p:nvPr/>
        </p:nvSpPr>
        <p:spPr>
          <a:xfrm>
            <a:off x="9765791" y="5440679"/>
            <a:ext cx="91440" cy="228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Rectangle 191"/>
          <p:cNvSpPr/>
          <p:nvPr/>
        </p:nvSpPr>
        <p:spPr>
          <a:xfrm>
            <a:off x="9930383" y="5440679"/>
            <a:ext cx="91440" cy="228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Rectangle 192"/>
          <p:cNvSpPr/>
          <p:nvPr/>
        </p:nvSpPr>
        <p:spPr>
          <a:xfrm>
            <a:off x="10094975" y="5440679"/>
            <a:ext cx="91440" cy="228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Rectangle 193"/>
          <p:cNvSpPr/>
          <p:nvPr/>
        </p:nvSpPr>
        <p:spPr>
          <a:xfrm>
            <a:off x="10259567" y="5440679"/>
            <a:ext cx="73152" cy="228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Oval 194"/>
          <p:cNvSpPr/>
          <p:nvPr/>
        </p:nvSpPr>
        <p:spPr>
          <a:xfrm>
            <a:off x="10241280" y="5405932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TextBox 195"/>
          <p:cNvSpPr txBox="1"/>
          <p:nvPr/>
        </p:nvSpPr>
        <p:spPr>
          <a:xfrm>
            <a:off x="8046719" y="5148071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 i="0">
                <a:solidFill>
                  <a:srgbClr val="F59E0B"/>
                </a:solidFill>
                <a:latin typeface="Consolas"/>
              </a:rPr>
              <a:t>data { id, message }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71717A"/>
                </a:solidFill>
                <a:latin typeface="Calibri"/>
              </a:rPr>
              <a:t>Konekt  ·  RNCP 37873 - CDA  ·  Christophe Lecart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71717A"/>
                </a:solidFill>
                <a:latin typeface="Calibri"/>
              </a:rPr>
              <a:t>28 / 56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A1B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DÉVELOPPEMENT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— signature JWT (jose)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73152" cy="7772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7315200" cy="4572000"/>
          </a:xfrm>
          <a:prstGeom prst="roundRect">
            <a:avLst>
              <a:gd name="adj" fmla="val 2000"/>
            </a:avLst>
          </a:prstGeom>
          <a:solidFill>
            <a:srgbClr val="0D0E14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777240" y="1874520"/>
            <a:ext cx="137160" cy="137160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960120" y="1874520"/>
            <a:ext cx="137160" cy="137160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43000" y="1874520"/>
            <a:ext cx="137160" cy="137160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371600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src/lib/server/user/login.ts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240280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SignJWT } from 'jose';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441448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bcrypt from 'bcrypt';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2642616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2843784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async function login(email: string, password: string) {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3044952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user = await db.user.findUnique({ where: { email } });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3246120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(!user) throw new AuthError('INVALID_CREDENTIALS');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" y="3447288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" y="3648456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ok = await bcrypt.compare(password, user.password);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3849624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(!ok)  throw new AuthError('INVALID_CREDENTIALS');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7240" y="4050792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4251960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secret = new TextEncoder().encode(process.env.JWT_SECRET);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" y="4453128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token  = await new SignJWT({ userId: user.id })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" y="4654296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.setProtectedHeader({ alg: 'HS256' })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77240" y="4855464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.setIssuedAt()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" y="5056632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.setExpirationTime('7d')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77240" y="5257800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.sign(secret);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7240" y="5458968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77240" y="5660136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{ token, user };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77240" y="5861304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092440" y="1691640"/>
            <a:ext cx="3520440" cy="4572000"/>
          </a:xfrm>
          <a:prstGeom prst="roundRect">
            <a:avLst>
              <a:gd name="adj" fmla="val 2078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8275320" y="1783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clés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275320" y="2240280"/>
            <a:ext cx="411480" cy="411480"/>
          </a:xfrm>
          <a:prstGeom prst="ellipse">
            <a:avLst/>
          </a:prstGeom>
          <a:solidFill>
            <a:srgbClr val="10B981">
              <a:alpha val="3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8275320" y="2240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778240" y="21945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bcrypt.compare en temps constant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275320" y="2880360"/>
            <a:ext cx="411480" cy="411480"/>
          </a:xfrm>
          <a:prstGeom prst="ellipse">
            <a:avLst/>
          </a:prstGeom>
          <a:solidFill>
            <a:srgbClr val="EC4899">
              <a:alpha val="30000"/>
            </a:srgbClr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8275320" y="2880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778240" y="28346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message si user inconnu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275320" y="3520440"/>
            <a:ext cx="411480" cy="411480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8275320" y="3520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⊕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778240" y="34747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signé HS256 (jose)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275320" y="4160520"/>
            <a:ext cx="411480" cy="411480"/>
          </a:xfrm>
          <a:prstGeom prst="ellipse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8275320" y="4160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◷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778240" y="41148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Expiration explicite 7 jours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275320" y="4800600"/>
            <a:ext cx="411480" cy="411480"/>
          </a:xfrm>
          <a:prstGeom prst="ellipse">
            <a:avLst/>
          </a:prstGeom>
          <a:solidFill>
            <a:srgbClr val="8B5CF6">
              <a:alpha val="30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8275320" y="4800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8778240" y="47548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env var jamais commité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275320" y="5440680"/>
            <a:ext cx="411480" cy="411480"/>
          </a:xfrm>
          <a:prstGeom prst="ellipse">
            <a:avLst/>
          </a:prstGeom>
          <a:solidFill>
            <a:srgbClr val="EF4444">
              <a:alpha val="30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/>
          <p:nvPr/>
        </p:nvSpPr>
        <p:spPr>
          <a:xfrm>
            <a:off x="8275320" y="5440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8778240" y="53949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Erreurs typées (AuthError)</a:t>
            </a:r>
            <a:endParaRPr lang="en-US" sz="1100" dirty="0"/>
          </a:p>
        </p:txBody>
      </p:sp>
      <p:pic>
        <p:nvPicPr>
          <p:cNvPr id="49" name="Image 0" descr="/sessions/sweet-funny-newton/mnt/outputs/build/assets/konekt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446520"/>
            <a:ext cx="274320" cy="274320"/>
          </a:xfrm>
          <a:prstGeom prst="rect">
            <a:avLst/>
          </a:prstGeom>
        </p:spPr>
      </p:pic>
      <p:sp>
        <p:nvSpPr>
          <p:cNvPr id="50" name="Text 47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Konekt  ·  RNCP 37873 - CDA  ·  Christophe Lecart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56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A1B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DÉVELOPPEMENT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réel — Server-Sent Events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73152" cy="7772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274320" y="169164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EC4899">
              <a:alpha val="40000"/>
            </a:srgbClr>
          </a:solidFill>
          <a:ln w="19050">
            <a:solidFill>
              <a:srgbClr val="EC48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274320" y="16916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14400" y="2194560"/>
            <a:ext cx="0" cy="2834640"/>
          </a:xfrm>
          <a:prstGeom prst="line">
            <a:avLst/>
          </a:prstGeom>
          <a:noFill/>
          <a:ln w="12700">
            <a:solidFill>
              <a:srgbClr val="3F3F46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3383280" y="169164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06B6D4">
              <a:alpha val="40000"/>
            </a:srgbClr>
          </a:solidFill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3383280" y="16916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023360" y="2194560"/>
            <a:ext cx="0" cy="2834640"/>
          </a:xfrm>
          <a:prstGeom prst="line">
            <a:avLst/>
          </a:prstGeom>
          <a:noFill/>
          <a:ln w="12700">
            <a:solidFill>
              <a:srgbClr val="3F3F46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6126480" y="169164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8B5CF6">
              <a:alpha val="40000"/>
            </a:srgbClr>
          </a:solidFill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126480" y="16916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66560" y="2194560"/>
            <a:ext cx="0" cy="2834640"/>
          </a:xfrm>
          <a:prstGeom prst="line">
            <a:avLst/>
          </a:prstGeom>
          <a:noFill/>
          <a:ln w="12700">
            <a:solidFill>
              <a:srgbClr val="3F3F46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8503920" y="169164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F59E0B">
              <a:alpha val="40000"/>
            </a:srgbClr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503920" y="16916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Upstash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44000" y="2194560"/>
            <a:ext cx="0" cy="2834640"/>
          </a:xfrm>
          <a:prstGeom prst="line">
            <a:avLst/>
          </a:prstGeom>
          <a:noFill/>
          <a:ln w="12700">
            <a:solidFill>
              <a:srgbClr val="3F3F46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10881360" y="169164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10B981">
              <a:alpha val="40000"/>
            </a:srgbClr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10881360" y="16916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B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(SSE)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1521440" y="2194560"/>
            <a:ext cx="0" cy="2834640"/>
          </a:xfrm>
          <a:prstGeom prst="line">
            <a:avLst/>
          </a:prstGeom>
          <a:noFill/>
          <a:ln w="12700">
            <a:solidFill>
              <a:srgbClr val="3F3F46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914400" y="2651760"/>
            <a:ext cx="3108960" cy="0"/>
          </a:xfrm>
          <a:prstGeom prst="line">
            <a:avLst/>
          </a:prstGeom>
          <a:noFill/>
          <a:ln w="25400">
            <a:solidFill>
              <a:srgbClr val="EC4899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914400" y="23591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/api/private/chat/send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023360" y="3063240"/>
            <a:ext cx="274320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4023360" y="27706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message (Prisma)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023360" y="3474720"/>
            <a:ext cx="512064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4023360" y="31821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latest:chat:{from}:{to}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 flipH="1">
            <a:off x="914400" y="3886200"/>
            <a:ext cx="310896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dash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914400" y="35935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 OK status SENT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 flipH="1">
            <a:off x="9144000" y="4343400"/>
            <a:ext cx="237744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dash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9144000" y="40507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latest:chat:* (polling REST)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144000" y="4754880"/>
            <a:ext cx="237744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9144000" y="44622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payload SSE  data: {...}\n\n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48640" y="534924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1F2028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777240" y="544068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 assumé · Upstash Redis est un service REST (pas de pub/sub TCP) : on poll la clé latest:chat:* depuis l'endpoint SSE, ce qui reste compatible avec Vercel serverless et suffit pour le volume du projet. Roadmap : Redis classique en pub/sub si la charge augmente.</a:t>
            </a:r>
            <a:endParaRPr lang="en-US" sz="1100" dirty="0"/>
          </a:p>
        </p:txBody>
      </p:sp>
      <p:pic>
        <p:nvPicPr>
          <p:cNvPr id="34" name="Image 0" descr="/sessions/sweet-funny-newton/mnt/outputs/build/assets/konekt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446520"/>
            <a:ext cx="274320" cy="274320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Konekt  ·  RNCP 37873 - CDA  ·  Christophe Lecart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56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A1B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DÉVELOPPEMENT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— endpoint /chat/listen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73152" cy="7772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7315200" cy="4572000"/>
          </a:xfrm>
          <a:prstGeom prst="roundRect">
            <a:avLst>
              <a:gd name="adj" fmla="val 2000"/>
            </a:avLst>
          </a:prstGeom>
          <a:solidFill>
            <a:srgbClr val="0D0E14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777240" y="1874520"/>
            <a:ext cx="137160" cy="137160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960120" y="1874520"/>
            <a:ext cx="137160" cy="137160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43000" y="1874520"/>
            <a:ext cx="137160" cy="137160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371600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src/app/api/private/chat/listen/route.ts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240280"/>
            <a:ext cx="6949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async function GET(req: NextRequest) {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2382012"/>
            <a:ext cx="6949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userId = await getUserIdFromRequest(req);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" y="2523744"/>
            <a:ext cx="6949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(!userId) return new Response('Unauthorized', { status: 401 });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7240" y="2665476"/>
            <a:ext cx="6949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" y="2807208"/>
            <a:ext cx="6949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{ conversationId, type } = parseParams(req.url);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77240" y="2948940"/>
            <a:ext cx="6949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77240" y="3090672"/>
            <a:ext cx="6949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stream = new ReadableStream({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7240" y="3232404"/>
            <a:ext cx="6949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start(controller) {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77240" y="3374136"/>
            <a:ext cx="6949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const enc = new TextEncoder();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77240" y="3515868"/>
            <a:ext cx="6949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controller.enqueue(enc.encode('data: {"type":"connected"}\n\n'));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77240" y="3657600"/>
            <a:ext cx="6949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77240" y="3799332"/>
            <a:ext cx="6949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let active = true, lastId = '';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77240" y="3941064"/>
            <a:ext cx="6949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(async function poll() {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77240" y="4082796"/>
            <a:ext cx="6949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while (active) {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7240" y="4224528"/>
            <a:ext cx="6949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const key = `latest:chat:${userId}:${conversationId}`;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7240" y="4366260"/>
            <a:ext cx="6949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const data = await redis.get(key);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77240" y="4507992"/>
            <a:ext cx="6949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if (data &amp;&amp; data.id !== lastId) {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77240" y="4649724"/>
            <a:ext cx="6949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lastId = data.id;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77240" y="4791456"/>
            <a:ext cx="6949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controller.enqueue(enc.encode(`data: ${JSON.stringify(data)}\n\n`));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77240" y="4933188"/>
            <a:ext cx="6949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}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77240" y="5074920"/>
            <a:ext cx="6949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await sleep(1000);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77240" y="5216652"/>
            <a:ext cx="6949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77240" y="5358384"/>
            <a:ext cx="6949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})();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77240" y="5500116"/>
            <a:ext cx="6949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req.signal.addEventListener('abort', () =&gt; { active = false; controller.close(); });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77240" y="5641848"/>
            <a:ext cx="6949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77240" y="5783580"/>
            <a:ext cx="6949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77240" y="5925312"/>
            <a:ext cx="6949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new Response(stream, { headers: { 'Content-Type': 'text/event-stream' } });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77240" y="6067044"/>
            <a:ext cx="6949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092440" y="1691640"/>
            <a:ext cx="3520440" cy="4572000"/>
          </a:xfrm>
          <a:prstGeom prst="roundRect">
            <a:avLst>
              <a:gd name="adj" fmla="val 2078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8275320" y="1783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Mécanique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275320" y="2240280"/>
            <a:ext cx="411480" cy="411480"/>
          </a:xfrm>
          <a:prstGeom prst="ellipse">
            <a:avLst/>
          </a:prstGeom>
          <a:solidFill>
            <a:srgbClr val="10B981">
              <a:alpha val="3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8275320" y="2240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778240" y="21945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ReadableStream Web standard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275320" y="2880360"/>
            <a:ext cx="411480" cy="411480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8275320" y="2880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8778240" y="28346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Polling Redis 1s (REST)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275320" y="3520440"/>
            <a:ext cx="411480" cy="411480"/>
          </a:xfrm>
          <a:prstGeom prst="ellipse">
            <a:avLst/>
          </a:prstGeom>
          <a:solidFill>
            <a:srgbClr val="8B5CF6">
              <a:alpha val="30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/>
          <p:nvPr/>
        </p:nvSpPr>
        <p:spPr>
          <a:xfrm>
            <a:off x="8275320" y="3520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8778240" y="34747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 latest:chat:&lt;from&gt;:&lt;to&gt;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8275320" y="4160520"/>
            <a:ext cx="411480" cy="411480"/>
          </a:xfrm>
          <a:prstGeom prst="ellipse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8"/>
          <p:cNvSpPr/>
          <p:nvPr/>
        </p:nvSpPr>
        <p:spPr>
          <a:xfrm>
            <a:off x="8275320" y="4160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⊕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8778240" y="41148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Déduplication par lastId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8275320" y="4800600"/>
            <a:ext cx="411480" cy="411480"/>
          </a:xfrm>
          <a:prstGeom prst="ellipse">
            <a:avLst/>
          </a:prstGeom>
          <a:solidFill>
            <a:srgbClr val="EF4444">
              <a:alpha val="30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51"/>
          <p:cNvSpPr/>
          <p:nvPr/>
        </p:nvSpPr>
        <p:spPr>
          <a:xfrm>
            <a:off x="8275320" y="4800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⊘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8778240" y="47548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abort → cleanup poll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8275320" y="5440680"/>
            <a:ext cx="411480" cy="411480"/>
          </a:xfrm>
          <a:prstGeom prst="ellipse">
            <a:avLst/>
          </a:prstGeom>
          <a:solidFill>
            <a:srgbClr val="EC4899">
              <a:alpha val="30000"/>
            </a:srgbClr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Text 54"/>
          <p:cNvSpPr/>
          <p:nvPr/>
        </p:nvSpPr>
        <p:spPr>
          <a:xfrm>
            <a:off x="8275320" y="5440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8778240" y="53949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userId injecté par middleware</a:t>
            </a:r>
            <a:endParaRPr lang="en-US" sz="1100" dirty="0"/>
          </a:p>
        </p:txBody>
      </p:sp>
      <p:pic>
        <p:nvPicPr>
          <p:cNvPr id="58" name="Image 0" descr="/sessions/sweet-funny-newton/mnt/outputs/build/assets/konekt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446520"/>
            <a:ext cx="274320" cy="274320"/>
          </a:xfrm>
          <a:prstGeom prst="rect">
            <a:avLst/>
          </a:prstGeom>
        </p:spPr>
      </p:pic>
      <p:sp>
        <p:nvSpPr>
          <p:cNvPr id="59" name="Text 56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Konekt  ·  RNCP 37873 - CDA  ·  Christophe Lecart</a:t>
            </a:r>
            <a:endParaRPr lang="en-US" sz="900" dirty="0"/>
          </a:p>
        </p:txBody>
      </p:sp>
      <p:sp>
        <p:nvSpPr>
          <p:cNvPr id="60" name="Text 57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56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A1B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DÉVELOPPEMENT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· 60+ endpoints REST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73152" cy="7772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3657600" cy="2240280"/>
          </a:xfrm>
          <a:prstGeom prst="roundRect">
            <a:avLst>
              <a:gd name="adj" fmla="val 3265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73152" cy="224028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85800" y="1783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2194560"/>
            <a:ext cx="594360" cy="292608"/>
          </a:xfrm>
          <a:prstGeom prst="roundRect">
            <a:avLst>
              <a:gd name="adj" fmla="val 18750"/>
            </a:avLst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85800" y="2194560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325880" y="21945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/api/public/auth/register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2606040"/>
            <a:ext cx="594360" cy="292608"/>
          </a:xfrm>
          <a:prstGeom prst="roundRect">
            <a:avLst>
              <a:gd name="adj" fmla="val 18750"/>
            </a:avLst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85800" y="2606040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325880" y="26060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/api/public/auth/login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85800" y="3017520"/>
            <a:ext cx="594360" cy="292608"/>
          </a:xfrm>
          <a:prstGeom prst="roundRect">
            <a:avLst>
              <a:gd name="adj" fmla="val 18750"/>
            </a:avLst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85800" y="3017520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325880" y="30175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/api/public/auth/logout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5800" y="3429000"/>
            <a:ext cx="594360" cy="292608"/>
          </a:xfrm>
          <a:prstGeom prst="roundRect">
            <a:avLst>
              <a:gd name="adj" fmla="val 18750"/>
            </a:avLst>
          </a:prstGeom>
          <a:solidFill>
            <a:srgbClr val="10B981">
              <a:alpha val="3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85800" y="3429000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325880" y="34290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/api/public/auth/callback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251960" y="1691640"/>
            <a:ext cx="3657600" cy="2240280"/>
          </a:xfrm>
          <a:prstGeom prst="roundRect">
            <a:avLst>
              <a:gd name="adj" fmla="val 3265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4251960" y="1691640"/>
            <a:ext cx="73152" cy="224028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4480560" y="1783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&amp; Profil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480560" y="2194560"/>
            <a:ext cx="594360" cy="292608"/>
          </a:xfrm>
          <a:prstGeom prst="roundRect">
            <a:avLst>
              <a:gd name="adj" fmla="val 18750"/>
            </a:avLst>
          </a:prstGeom>
          <a:solidFill>
            <a:srgbClr val="10B981">
              <a:alpha val="3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4480560" y="2194560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120640" y="21945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/api/private/me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480560" y="2606040"/>
            <a:ext cx="594360" cy="292608"/>
          </a:xfrm>
          <a:prstGeom prst="roundRect">
            <a:avLst>
              <a:gd name="adj" fmla="val 18750"/>
            </a:avLst>
          </a:prstGeom>
          <a:solidFill>
            <a:srgbClr val="F59E0B">
              <a:alpha val="3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4480560" y="2606040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120640" y="26060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/api/private/me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480560" y="3017520"/>
            <a:ext cx="594360" cy="292608"/>
          </a:xfrm>
          <a:prstGeom prst="roundRect">
            <a:avLst>
              <a:gd name="adj" fmla="val 18750"/>
            </a:avLst>
          </a:prstGeom>
          <a:solidFill>
            <a:srgbClr val="10B981">
              <a:alpha val="3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4480560" y="3017520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120640" y="30175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/api/private/friend-requests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480560" y="3429000"/>
            <a:ext cx="594360" cy="292608"/>
          </a:xfrm>
          <a:prstGeom prst="roundRect">
            <a:avLst>
              <a:gd name="adj" fmla="val 18750"/>
            </a:avLst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4480560" y="3429000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120640" y="34290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/api/private/friend-requests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046720" y="1691640"/>
            <a:ext cx="3657600" cy="2240280"/>
          </a:xfrm>
          <a:prstGeom prst="roundRect">
            <a:avLst>
              <a:gd name="adj" fmla="val 3265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8046720" y="1691640"/>
            <a:ext cx="73152" cy="224028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8275320" y="1783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Contenu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8275320" y="2194560"/>
            <a:ext cx="594360" cy="292608"/>
          </a:xfrm>
          <a:prstGeom prst="roundRect">
            <a:avLst>
              <a:gd name="adj" fmla="val 18750"/>
            </a:avLst>
          </a:prstGeom>
          <a:solidFill>
            <a:srgbClr val="10B981">
              <a:alpha val="3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8275320" y="2194560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915400" y="21945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/api/private/post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275320" y="2606040"/>
            <a:ext cx="594360" cy="292608"/>
          </a:xfrm>
          <a:prstGeom prst="roundRect">
            <a:avLst>
              <a:gd name="adj" fmla="val 18750"/>
            </a:avLst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8275320" y="2606040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915400" y="26060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/api/private/post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8275320" y="3017520"/>
            <a:ext cx="594360" cy="292608"/>
          </a:xfrm>
          <a:prstGeom prst="roundRect">
            <a:avLst>
              <a:gd name="adj" fmla="val 18750"/>
            </a:avLst>
          </a:prstGeom>
          <a:solidFill>
            <a:srgbClr val="10B981">
              <a:alpha val="3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8275320" y="3017520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915400" y="30175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/api/private/stories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8275320" y="3429000"/>
            <a:ext cx="594360" cy="292608"/>
          </a:xfrm>
          <a:prstGeom prst="roundRect">
            <a:avLst>
              <a:gd name="adj" fmla="val 18750"/>
            </a:avLst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6"/>
          <p:cNvSpPr/>
          <p:nvPr/>
        </p:nvSpPr>
        <p:spPr>
          <a:xfrm>
            <a:off x="8275320" y="3429000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915400" y="34290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/api/private/stories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57200" y="4069080"/>
            <a:ext cx="3657600" cy="2240280"/>
          </a:xfrm>
          <a:prstGeom prst="roundRect">
            <a:avLst>
              <a:gd name="adj" fmla="val 3265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Shape 49"/>
          <p:cNvSpPr/>
          <p:nvPr/>
        </p:nvSpPr>
        <p:spPr>
          <a:xfrm>
            <a:off x="457200" y="4069080"/>
            <a:ext cx="73152" cy="22402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2" name="Text 50"/>
          <p:cNvSpPr/>
          <p:nvPr/>
        </p:nvSpPr>
        <p:spPr>
          <a:xfrm>
            <a:off x="685800" y="4160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Messagerie &amp; Temps réel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685800" y="4572000"/>
            <a:ext cx="594360" cy="292608"/>
          </a:xfrm>
          <a:prstGeom prst="roundRect">
            <a:avLst>
              <a:gd name="adj" fmla="val 18750"/>
            </a:avLst>
          </a:prstGeom>
          <a:solidFill>
            <a:srgbClr val="10B981">
              <a:alpha val="3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Text 52"/>
          <p:cNvSpPr/>
          <p:nvPr/>
        </p:nvSpPr>
        <p:spPr>
          <a:xfrm>
            <a:off x="685800" y="4572000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325880" y="45720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/api/private/conversations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85800" y="4983480"/>
            <a:ext cx="594360" cy="292608"/>
          </a:xfrm>
          <a:prstGeom prst="roundRect">
            <a:avLst>
              <a:gd name="adj" fmla="val 18750"/>
            </a:avLst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ext 55"/>
          <p:cNvSpPr/>
          <p:nvPr/>
        </p:nvSpPr>
        <p:spPr>
          <a:xfrm>
            <a:off x="685800" y="4983480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325880" y="49834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/api/private/chat/send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85800" y="5394960"/>
            <a:ext cx="594360" cy="292608"/>
          </a:xfrm>
          <a:prstGeom prst="roundRect">
            <a:avLst>
              <a:gd name="adj" fmla="val 18750"/>
            </a:avLst>
          </a:prstGeom>
          <a:solidFill>
            <a:srgbClr val="EC4899">
              <a:alpha val="30000"/>
            </a:srgbClr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Text 58"/>
          <p:cNvSpPr/>
          <p:nvPr/>
        </p:nvSpPr>
        <p:spPr>
          <a:xfrm>
            <a:off x="685800" y="5394960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1325880" y="53949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/api/private/chat/listen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85800" y="5806440"/>
            <a:ext cx="594360" cy="292608"/>
          </a:xfrm>
          <a:prstGeom prst="roundRect">
            <a:avLst>
              <a:gd name="adj" fmla="val 18750"/>
            </a:avLst>
          </a:prstGeom>
          <a:solidFill>
            <a:srgbClr val="EC4899">
              <a:alpha val="30000"/>
            </a:srgbClr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Text 61"/>
          <p:cNvSpPr/>
          <p:nvPr/>
        </p:nvSpPr>
        <p:spPr>
          <a:xfrm>
            <a:off x="685800" y="5806440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1325880" y="58064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/api/private/chat/typing/listen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251960" y="4069080"/>
            <a:ext cx="3657600" cy="2240280"/>
          </a:xfrm>
          <a:prstGeom prst="roundRect">
            <a:avLst>
              <a:gd name="adj" fmla="val 3265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6" name="Shape 64"/>
          <p:cNvSpPr/>
          <p:nvPr/>
        </p:nvSpPr>
        <p:spPr>
          <a:xfrm>
            <a:off x="4251960" y="4069080"/>
            <a:ext cx="73152" cy="22402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7" name="Text 65"/>
          <p:cNvSpPr/>
          <p:nvPr/>
        </p:nvSpPr>
        <p:spPr>
          <a:xfrm>
            <a:off x="4480560" y="4160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Communautés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4480560" y="4572000"/>
            <a:ext cx="594360" cy="292608"/>
          </a:xfrm>
          <a:prstGeom prst="roundRect">
            <a:avLst>
              <a:gd name="adj" fmla="val 18750"/>
            </a:avLst>
          </a:prstGeom>
          <a:solidFill>
            <a:srgbClr val="10B981">
              <a:alpha val="3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9" name="Text 67"/>
          <p:cNvSpPr/>
          <p:nvPr/>
        </p:nvSpPr>
        <p:spPr>
          <a:xfrm>
            <a:off x="4480560" y="4572000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5120640" y="45720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/api/private/groups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480560" y="4983480"/>
            <a:ext cx="594360" cy="292608"/>
          </a:xfrm>
          <a:prstGeom prst="roundRect">
            <a:avLst>
              <a:gd name="adj" fmla="val 18750"/>
            </a:avLst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2" name="Text 70"/>
          <p:cNvSpPr/>
          <p:nvPr/>
        </p:nvSpPr>
        <p:spPr>
          <a:xfrm>
            <a:off x="4480560" y="4983480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5120640" y="49834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/api/private/groups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480560" y="5394960"/>
            <a:ext cx="594360" cy="292608"/>
          </a:xfrm>
          <a:prstGeom prst="roundRect">
            <a:avLst>
              <a:gd name="adj" fmla="val 18750"/>
            </a:avLst>
          </a:prstGeom>
          <a:solidFill>
            <a:srgbClr val="10B981">
              <a:alpha val="3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5" name="Text 73"/>
          <p:cNvSpPr/>
          <p:nvPr/>
        </p:nvSpPr>
        <p:spPr>
          <a:xfrm>
            <a:off x="4480560" y="5394960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5120640" y="53949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/api/private/events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4480560" y="5806440"/>
            <a:ext cx="594360" cy="292608"/>
          </a:xfrm>
          <a:prstGeom prst="roundRect">
            <a:avLst>
              <a:gd name="adj" fmla="val 18750"/>
            </a:avLst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8" name="Text 76"/>
          <p:cNvSpPr/>
          <p:nvPr/>
        </p:nvSpPr>
        <p:spPr>
          <a:xfrm>
            <a:off x="4480560" y="5806440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5120640" y="58064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/api/private/events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8046720" y="4069080"/>
            <a:ext cx="3657600" cy="2240280"/>
          </a:xfrm>
          <a:prstGeom prst="roundRect">
            <a:avLst>
              <a:gd name="adj" fmla="val 3265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1" name="Shape 79"/>
          <p:cNvSpPr/>
          <p:nvPr/>
        </p:nvSpPr>
        <p:spPr>
          <a:xfrm>
            <a:off x="8046720" y="4069080"/>
            <a:ext cx="73152" cy="224028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2" name="Text 80"/>
          <p:cNvSpPr/>
          <p:nvPr/>
        </p:nvSpPr>
        <p:spPr>
          <a:xfrm>
            <a:off x="8275320" y="4160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&amp; Notif</a:t>
            </a:r>
            <a:endParaRPr lang="en-US" sz="1300" dirty="0"/>
          </a:p>
        </p:txBody>
      </p:sp>
      <p:sp>
        <p:nvSpPr>
          <p:cNvPr id="83" name="Shape 81"/>
          <p:cNvSpPr/>
          <p:nvPr/>
        </p:nvSpPr>
        <p:spPr>
          <a:xfrm>
            <a:off x="8275320" y="4572000"/>
            <a:ext cx="594360" cy="292608"/>
          </a:xfrm>
          <a:prstGeom prst="roundRect">
            <a:avLst>
              <a:gd name="adj" fmla="val 18750"/>
            </a:avLst>
          </a:prstGeom>
          <a:solidFill>
            <a:srgbClr val="10B981">
              <a:alpha val="3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4" name="Text 82"/>
          <p:cNvSpPr/>
          <p:nvPr/>
        </p:nvSpPr>
        <p:spPr>
          <a:xfrm>
            <a:off x="8275320" y="4572000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8915400" y="45720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/api/private/search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8275320" y="4983480"/>
            <a:ext cx="594360" cy="292608"/>
          </a:xfrm>
          <a:prstGeom prst="roundRect">
            <a:avLst>
              <a:gd name="adj" fmla="val 18750"/>
            </a:avLst>
          </a:prstGeom>
          <a:solidFill>
            <a:srgbClr val="10B981">
              <a:alpha val="3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7" name="Text 85"/>
          <p:cNvSpPr/>
          <p:nvPr/>
        </p:nvSpPr>
        <p:spPr>
          <a:xfrm>
            <a:off x="8275320" y="4983480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8915400" y="49834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/api/private/invitations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8275320" y="5394960"/>
            <a:ext cx="594360" cy="292608"/>
          </a:xfrm>
          <a:prstGeom prst="roundRect">
            <a:avLst>
              <a:gd name="adj" fmla="val 18750"/>
            </a:avLst>
          </a:prstGeom>
          <a:solidFill>
            <a:srgbClr val="10B981">
              <a:alpha val="3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0" name="Text 88"/>
          <p:cNvSpPr/>
          <p:nvPr/>
        </p:nvSpPr>
        <p:spPr>
          <a:xfrm>
            <a:off x="8275320" y="5394960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8915400" y="53949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/api/private/notifications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8275320" y="5806440"/>
            <a:ext cx="594360" cy="292608"/>
          </a:xfrm>
          <a:prstGeom prst="roundRect">
            <a:avLst>
              <a:gd name="adj" fmla="val 18750"/>
            </a:avLst>
          </a:prstGeom>
          <a:solidFill>
            <a:srgbClr val="8B5CF6">
              <a:alpha val="30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3" name="Text 91"/>
          <p:cNvSpPr/>
          <p:nvPr/>
        </p:nvSpPr>
        <p:spPr>
          <a:xfrm>
            <a:off x="8275320" y="5806440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8915400" y="58064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/api/private/notifications/:id/read</a:t>
            </a:r>
            <a:endParaRPr lang="en-US" sz="900" dirty="0"/>
          </a:p>
        </p:txBody>
      </p:sp>
      <p:pic>
        <p:nvPicPr>
          <p:cNvPr id="95" name="Image 0" descr="/sessions/sweet-funny-newton/mnt/outputs/build/assets/konekt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446520"/>
            <a:ext cx="274320" cy="274320"/>
          </a:xfrm>
          <a:prstGeom prst="rect">
            <a:avLst/>
          </a:prstGeom>
        </p:spPr>
      </p:pic>
      <p:sp>
        <p:nvSpPr>
          <p:cNvPr id="96" name="Text 93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Konekt  ·  RNCP 37873 - CDA  ·  Christophe Lecart</a:t>
            </a:r>
            <a:endParaRPr lang="en-US" sz="900" dirty="0"/>
          </a:p>
        </p:txBody>
      </p:sp>
      <p:sp>
        <p:nvSpPr>
          <p:cNvPr id="97" name="Text 94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56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A1B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DÉVELOPPEMENT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d'authentification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73152" cy="7772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7315200" cy="4572000"/>
          </a:xfrm>
          <a:prstGeom prst="roundRect">
            <a:avLst>
              <a:gd name="adj" fmla="val 2000"/>
            </a:avLst>
          </a:prstGeom>
          <a:solidFill>
            <a:srgbClr val="0D0E14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777240" y="1874520"/>
            <a:ext cx="137160" cy="137160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960120" y="1874520"/>
            <a:ext cx="137160" cy="137160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43000" y="1874520"/>
            <a:ext cx="137160" cy="137160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371600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src/middleware.ts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240280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async function middleware(req: NextRequest) {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450592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{ pathname } = req.nextUrl;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2660904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isPublic = pathname.startsWith('/api/public')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2871216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|| ['/login', '/register'].some(r =&gt; pathname.startsWith(r));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3081528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(isPublic) return NextResponse.next();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3291840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" y="3502152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token = req.cookies.get('authToken')?.value;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" y="3712464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(!token) return NextResponse.redirect('/login');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3922776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7240" y="4133088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try {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4343400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{ userId } = await verifyJwt(token);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" y="4553712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headers = new Headers(req.headers);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" y="4764024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headers.set('x-user-id', userId);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77240" y="4974336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NextResponse.next({ request: { headers } });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" y="5184648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catch {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77240" y="5394960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NextResponse.redirect('/login');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7240" y="5605272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77240" y="5815584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092440" y="1691640"/>
            <a:ext cx="3520440" cy="4572000"/>
          </a:xfrm>
          <a:prstGeom prst="roundRect">
            <a:avLst>
              <a:gd name="adj" fmla="val 2078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8275320" y="1783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clés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275320" y="2240280"/>
            <a:ext cx="411480" cy="411480"/>
          </a:xfrm>
          <a:prstGeom prst="ellipse">
            <a:avLst/>
          </a:prstGeom>
          <a:solidFill>
            <a:srgbClr val="10B981">
              <a:alpha val="3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8275320" y="2240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◉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778240" y="21945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Allow-list pour routes publiques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275320" y="2880360"/>
            <a:ext cx="411480" cy="411480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8275320" y="2880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◉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778240" y="28346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 HttpOnly authToken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275320" y="3520440"/>
            <a:ext cx="411480" cy="411480"/>
          </a:xfrm>
          <a:prstGeom prst="ellipse">
            <a:avLst/>
          </a:prstGeom>
          <a:solidFill>
            <a:srgbClr val="8B5CF6">
              <a:alpha val="30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8275320" y="3520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✓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778240" y="34747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JWT via jose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275320" y="4160520"/>
            <a:ext cx="411480" cy="411480"/>
          </a:xfrm>
          <a:prstGeom prst="ellipse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8275320" y="4160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↩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8778240" y="41148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 /login si invalide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275320" y="4800600"/>
            <a:ext cx="411480" cy="411480"/>
          </a:xfrm>
          <a:prstGeom prst="ellipse">
            <a:avLst/>
          </a:prstGeom>
          <a:solidFill>
            <a:srgbClr val="EC4899">
              <a:alpha val="30000"/>
            </a:srgbClr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8275320" y="4800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✉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8778240" y="47548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x-user-id header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275320" y="5440680"/>
            <a:ext cx="411480" cy="411480"/>
          </a:xfrm>
          <a:prstGeom prst="ellipse">
            <a:avLst/>
          </a:prstGeom>
          <a:solidFill>
            <a:srgbClr val="EF4444">
              <a:alpha val="30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8275320" y="5440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▣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8778240" y="53949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par défaut</a:t>
            </a:r>
            <a:endParaRPr lang="en-US" sz="1100" dirty="0"/>
          </a:p>
        </p:txBody>
      </p:sp>
      <p:pic>
        <p:nvPicPr>
          <p:cNvPr id="48" name="Image 0" descr="/sessions/sweet-funny-newton/mnt/outputs/build/assets/konekt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446520"/>
            <a:ext cx="274320" cy="274320"/>
          </a:xfrm>
          <a:prstGeom prst="rect">
            <a:avLst/>
          </a:prstGeom>
        </p:spPr>
      </p:pic>
      <p:sp>
        <p:nvSpPr>
          <p:cNvPr id="49" name="Text 46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Konekt  ·  RNCP 37873 - CDA  ·  Christophe Lecart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56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A1B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DÉVELOPPEMENT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applicative &amp; RGPD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73152" cy="7772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532120" cy="4572000"/>
          </a:xfrm>
          <a:prstGeom prst="roundRect">
            <a:avLst>
              <a:gd name="adj" fmla="val 1600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Mesures en place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19456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21945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signé (jose) · cookies HttpOnly · SameSite=Lax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74320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✦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27432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cost 12 sur tous les mots de passe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329184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⊕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32918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Zod systématique des payloads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384048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▣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38404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Google avec state cookie anti-CSRF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43891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⊘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8720" y="43891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bloquée par Prisma (paramétrage)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493776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⌕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49377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 audité — voir securite-rgpd.md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548640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◌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88720" y="54864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forcé en production via Vercel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63640" y="1691640"/>
            <a:ext cx="5532120" cy="4572000"/>
          </a:xfrm>
          <a:prstGeom prst="roundRect">
            <a:avLst>
              <a:gd name="adj" fmla="val 1600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6446520" y="1783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RGPD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46520" y="21945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collectées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46520" y="246888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nom, date de naissance, contenus publiés. Aucun traitement marketing ; aucune donnée sensible au sens art. 9.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46520" y="3108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Droits de la personne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46520" y="3383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&amp; consultation profil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0058400" y="3410712"/>
            <a:ext cx="1371600" cy="256032"/>
          </a:xfrm>
          <a:prstGeom prst="roundRect">
            <a:avLst>
              <a:gd name="adj" fmla="val 53571"/>
            </a:avLst>
          </a:prstGeom>
          <a:solidFill>
            <a:srgbClr val="10B981">
              <a:alpha val="25000"/>
            </a:srgbClr>
          </a:solidFill>
          <a:ln w="9525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10058400" y="34107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46520" y="3749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Rectification (settings)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0058400" y="3776472"/>
            <a:ext cx="1371600" cy="256032"/>
          </a:xfrm>
          <a:prstGeom prst="roundRect">
            <a:avLst>
              <a:gd name="adj" fmla="val 53571"/>
            </a:avLst>
          </a:prstGeom>
          <a:solidFill>
            <a:srgbClr val="10B981">
              <a:alpha val="25000"/>
            </a:srgbClr>
          </a:solidFill>
          <a:ln w="9525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10058400" y="37764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46520" y="4114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Effacement / droit à l'oubli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058400" y="4142232"/>
            <a:ext cx="1371600" cy="256032"/>
          </a:xfrm>
          <a:prstGeom prst="roundRect">
            <a:avLst>
              <a:gd name="adj" fmla="val 53571"/>
            </a:avLst>
          </a:prstGeom>
          <a:solidFill>
            <a:srgbClr val="F59E0B">
              <a:alpha val="25000"/>
            </a:srgbClr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10058400" y="41422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46520" y="4480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Portabilité (export JSON)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0058400" y="4507992"/>
            <a:ext cx="1371600" cy="256032"/>
          </a:xfrm>
          <a:prstGeom prst="roundRect">
            <a:avLst>
              <a:gd name="adj" fmla="val 53571"/>
            </a:avLst>
          </a:prstGeom>
          <a:solidFill>
            <a:srgbClr val="F59E0B">
              <a:alpha val="25000"/>
            </a:srgbClr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10058400" y="45079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46520" y="4846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Opposition / consentement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0058400" y="4873752"/>
            <a:ext cx="1371600" cy="256032"/>
          </a:xfrm>
          <a:prstGeom prst="roundRect">
            <a:avLst>
              <a:gd name="adj" fmla="val 53571"/>
            </a:avLst>
          </a:prstGeom>
          <a:solidFill>
            <a:srgbClr val="10B981">
              <a:alpha val="25000"/>
            </a:srgbClr>
          </a:solidFill>
          <a:ln w="9525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10058400" y="48737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446520" y="534924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durcissement : rate-limit, headers CSP, sanitization markdown (DOMPurify).</a:t>
            </a:r>
            <a:endParaRPr lang="en-US" sz="1000" dirty="0"/>
          </a:p>
        </p:txBody>
      </p:sp>
      <p:pic>
        <p:nvPicPr>
          <p:cNvPr id="42" name="Image 0" descr="/sessions/sweet-funny-newton/mnt/outputs/build/assets/konekt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446520"/>
            <a:ext cx="274320" cy="274320"/>
          </a:xfrm>
          <a:prstGeom prst="rect">
            <a:avLst/>
          </a:prstGeom>
        </p:spPr>
      </p:pic>
      <p:sp>
        <p:nvSpPr>
          <p:cNvPr id="43" name="Text 40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Konekt  ·  RNCP 37873 - CDA  ·  Christophe Lecart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56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B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457200"/>
            <a:ext cx="73152" cy="77724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C4899"/>
                </a:solidFill>
                <a:latin typeface="Calibri"/>
              </a:rPr>
              <a:t>04 · DÉVELOPPEMENT ·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Cheminement d'une requête SQL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7315200" cy="4572000"/>
          </a:xfrm>
          <a:prstGeom prst="rect">
            <a:avLst/>
          </a:prstGeom>
          <a:solidFill>
            <a:srgbClr val="0D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77240" y="1874520"/>
            <a:ext cx="137160" cy="137160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60120" y="1874520"/>
            <a:ext cx="137160" cy="137160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43000" y="1874520"/>
            <a:ext cx="137160" cy="137160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71600" y="1783080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Consolas"/>
              </a:rPr>
              <a:t>src/app/api/private/post/[id]/route.ts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40280"/>
            <a:ext cx="6858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06B6D4"/>
                </a:solidFill>
                <a:latin typeface="Consolas"/>
              </a:rPr>
              <a:t>import { db } from '@/lib/db';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41448"/>
            <a:ext cx="6858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06B6D4"/>
                </a:solidFill>
                <a:latin typeface="Consolas"/>
              </a:rPr>
              <a:t>import { getUserIdFromRequest } from '@/lib/server/api/getUserId';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42616"/>
            <a:ext cx="6858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F472B6"/>
                </a:solidFill>
                <a:latin typeface="Consolas"/>
              </a:rPr>
              <a:t>export async function GET(req: NextRequest, ctx) {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843784"/>
            <a:ext cx="6858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Consolas"/>
              </a:rPr>
              <a:t>  const userId = await getUserIdFromRequest(req);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044952"/>
            <a:ext cx="6858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EF4444"/>
                </a:solidFill>
                <a:latin typeface="Consolas"/>
              </a:rPr>
              <a:t>  if (!userId) return respondError('Unauthorized', 401);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246120"/>
            <a:ext cx="6858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Consolas"/>
              </a:rPr>
              <a:t>  const { id } = await ctx.params;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447288"/>
            <a:ext cx="6858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Consolas"/>
              </a:rPr>
              <a:t>  // 1. Validation entrée — Zod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648456"/>
            <a:ext cx="6858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F59E0B"/>
                </a:solidFill>
                <a:latin typeface="Consolas"/>
              </a:rPr>
              <a:t>  const params = z.object({ id: z.string().cuid() }).parse({ id });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849624"/>
            <a:ext cx="6858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Consolas"/>
              </a:rPr>
              <a:t>  // 2. Query Prisma type-safe → SQL paramétré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050791"/>
            <a:ext cx="6858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EC4899"/>
                </a:solidFill>
                <a:latin typeface="Consolas"/>
              </a:rPr>
              <a:t>  const post = await db.post.findUnique({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251960"/>
            <a:ext cx="6858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Consolas"/>
              </a:rPr>
              <a:t>    where: { id: params.id },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453128"/>
            <a:ext cx="6858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Consolas"/>
              </a:rPr>
              <a:t>    include: {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654296"/>
            <a:ext cx="6858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Consolas"/>
              </a:rPr>
              <a:t>      user:     { select: { id, username, avatar } },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855464"/>
            <a:ext cx="6858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Consolas"/>
              </a:rPr>
              <a:t>      comments: { select: { id, message, datetime } },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056632"/>
            <a:ext cx="6858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Consolas"/>
              </a:rPr>
              <a:t>      reactions: true,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257800"/>
            <a:ext cx="6858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Consolas"/>
              </a:rPr>
              <a:t>    },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458968"/>
            <a:ext cx="6858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EC4899"/>
                </a:solidFill>
                <a:latin typeface="Consolas"/>
              </a:rPr>
              <a:t>  });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660136"/>
            <a:ext cx="6858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Consolas"/>
              </a:rPr>
              <a:t>  // 3. Retour structuré + types inférés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861304"/>
            <a:ext cx="6858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  <a:latin typeface="Consolas"/>
              </a:rPr>
              <a:t>  return respondSuccess(post);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6062472"/>
            <a:ext cx="6858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F472B6"/>
                </a:solidFill>
                <a:latin typeface="Consolas"/>
              </a:rPr>
              <a:t>}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92440" y="1691640"/>
            <a:ext cx="3520440" cy="4572000"/>
          </a:xfrm>
          <a:prstGeom prst="rect">
            <a:avLst/>
          </a:prstGeom>
          <a:solidFill>
            <a:srgbClr val="272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75319" y="1783080"/>
            <a:ext cx="3154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EC4899"/>
                </a:solidFill>
                <a:latin typeface="Calibri"/>
              </a:rPr>
              <a:t>Pipeline en 5 étapes</a:t>
            </a:r>
          </a:p>
        </p:txBody>
      </p:sp>
      <p:sp>
        <p:nvSpPr>
          <p:cNvPr id="37" name="Oval 36"/>
          <p:cNvSpPr/>
          <p:nvPr/>
        </p:nvSpPr>
        <p:spPr>
          <a:xfrm>
            <a:off x="8275319" y="2240280"/>
            <a:ext cx="411480" cy="41148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75319" y="224028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i="0">
                <a:solidFill>
                  <a:srgbClr val="06B6D4"/>
                </a:solidFill>
                <a:latin typeface="Calibri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78240" y="2194560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Middleware → x-user-id</a:t>
            </a:r>
          </a:p>
        </p:txBody>
      </p:sp>
      <p:sp>
        <p:nvSpPr>
          <p:cNvPr id="40" name="Oval 39"/>
          <p:cNvSpPr/>
          <p:nvPr/>
        </p:nvSpPr>
        <p:spPr>
          <a:xfrm>
            <a:off x="8275319" y="2880360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275319" y="288036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i="0">
                <a:solidFill>
                  <a:srgbClr val="F59E0B"/>
                </a:solidFill>
                <a:latin typeface="Calibri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78240" y="2834640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Zod valide l'entrée</a:t>
            </a:r>
          </a:p>
        </p:txBody>
      </p:sp>
      <p:sp>
        <p:nvSpPr>
          <p:cNvPr id="43" name="Oval 42"/>
          <p:cNvSpPr/>
          <p:nvPr/>
        </p:nvSpPr>
        <p:spPr>
          <a:xfrm>
            <a:off x="8275319" y="3520440"/>
            <a:ext cx="411480" cy="411480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275319" y="352044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i="0">
                <a:solidFill>
                  <a:srgbClr val="EC4899"/>
                </a:solidFill>
                <a:latin typeface="Calibri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78240" y="3474720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Prisma compose le SQL</a:t>
            </a:r>
          </a:p>
        </p:txBody>
      </p:sp>
      <p:sp>
        <p:nvSpPr>
          <p:cNvPr id="46" name="Oval 45"/>
          <p:cNvSpPr/>
          <p:nvPr/>
        </p:nvSpPr>
        <p:spPr>
          <a:xfrm>
            <a:off x="8275319" y="4160520"/>
            <a:ext cx="411480" cy="41148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275319" y="416052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i="0">
                <a:solidFill>
                  <a:srgbClr val="10B981"/>
                </a:solidFill>
                <a:latin typeface="Calibri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78240" y="4114800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pg envoie SQL paramétré</a:t>
            </a:r>
          </a:p>
        </p:txBody>
      </p:sp>
      <p:sp>
        <p:nvSpPr>
          <p:cNvPr id="49" name="Oval 48"/>
          <p:cNvSpPr/>
          <p:nvPr/>
        </p:nvSpPr>
        <p:spPr>
          <a:xfrm>
            <a:off x="8275319" y="4800600"/>
            <a:ext cx="411480" cy="41148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275319" y="480060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i="0">
                <a:solidFill>
                  <a:srgbClr val="8B5CF6"/>
                </a:solidFill>
                <a:latin typeface="Calibri"/>
              </a:rP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78240" y="4754880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Réponse typée TypeScript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71717A"/>
                </a:solidFill>
                <a:latin typeface="Calibri"/>
              </a:rPr>
              <a:t>Konekt  ·  RNCP 37873 - CDA  ·  Christophe Lecart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71717A"/>
                </a:solidFill>
                <a:latin typeface="Calibri"/>
              </a:rPr>
              <a:t>35 / 56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B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457200"/>
            <a:ext cx="73152" cy="77724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C4899"/>
                </a:solidFill>
                <a:latin typeface="Calibri"/>
              </a:rPr>
              <a:t>04 · DÉVELOPPEMENT ·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Requête préparée : pourquoi c'est sûr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5349240" cy="4572000"/>
          </a:xfrm>
          <a:prstGeom prst="rect">
            <a:avLst/>
          </a:prstGeom>
          <a:solidFill>
            <a:srgbClr val="0D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5349240" cy="36576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767743"/>
            <a:ext cx="5029200" cy="21544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chemeClr val="bg1"/>
                </a:solidFill>
                <a:latin typeface="Calibri"/>
              </a:rPr>
              <a:t>❌</a:t>
            </a:r>
            <a:r>
              <a:rPr sz="1400" b="1" i="0" dirty="0">
                <a:solidFill>
                  <a:srgbClr val="FFFFFF"/>
                </a:solidFill>
                <a:latin typeface="Calibri"/>
              </a:rPr>
              <a:t>  </a:t>
            </a:r>
            <a:r>
              <a:rPr sz="1400" b="1" i="0" dirty="0" err="1">
                <a:solidFill>
                  <a:srgbClr val="FFFFFF"/>
                </a:solidFill>
                <a:latin typeface="Calibri"/>
              </a:rPr>
              <a:t>Requête</a:t>
            </a:r>
            <a:r>
              <a:rPr sz="1400" b="1" i="0" dirty="0">
                <a:solidFill>
                  <a:srgbClr val="FFFFFF"/>
                </a:solidFill>
                <a:latin typeface="Calibri"/>
              </a:rPr>
              <a:t> naïve — VULNÉRABLE</a:t>
            </a:r>
            <a:endParaRPr lang="fr-FR" sz="1400" b="1" i="0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50749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Consolas"/>
              </a:rPr>
              <a:t>// ⚠️ N'EST PAS dans notre code, illustration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50749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50749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Consolas"/>
              </a:rPr>
              <a:t>const email = req.body.email;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63240"/>
            <a:ext cx="50749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3337560"/>
            <a:ext cx="50749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EF4444"/>
                </a:solidFill>
                <a:latin typeface="Consolas"/>
              </a:rPr>
              <a:t>const result = await db.$queryRawUnsafe(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611880"/>
            <a:ext cx="50749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EF4444"/>
                </a:solidFill>
                <a:latin typeface="Consolas"/>
              </a:rPr>
              <a:t>  `SELECT * FROM users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886200"/>
            <a:ext cx="50749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EF4444"/>
                </a:solidFill>
                <a:latin typeface="Consolas"/>
              </a:rPr>
              <a:t>   WHERE email = '${email}'`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160520"/>
            <a:ext cx="50749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EF4444"/>
                </a:solidFill>
                <a:latin typeface="Consolas"/>
              </a:rPr>
              <a:t>);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434840"/>
            <a:ext cx="50749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4709160"/>
            <a:ext cx="50749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Consolas"/>
              </a:rPr>
              <a:t>// Si email = "x' OR '1'='1"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983480"/>
            <a:ext cx="50749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F59E0B"/>
                </a:solidFill>
                <a:latin typeface="Consolas"/>
              </a:rPr>
              <a:t>// → SELECT * FROM users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257800"/>
            <a:ext cx="50749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F59E0B"/>
                </a:solidFill>
                <a:latin typeface="Consolas"/>
              </a:rPr>
              <a:t>//   WHERE email = 'x' OR '1'='1'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532120"/>
            <a:ext cx="50749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EF4444"/>
                </a:solidFill>
                <a:latin typeface="Consolas"/>
              </a:rPr>
              <a:t>// → renvoie TOUS les utilisateurs 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80760" y="1691640"/>
            <a:ext cx="5349240" cy="4572000"/>
          </a:xfrm>
          <a:prstGeom prst="rect">
            <a:avLst/>
          </a:prstGeom>
          <a:solidFill>
            <a:srgbClr val="0D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080760" y="1691640"/>
            <a:ext cx="5349240" cy="365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17920" y="1767743"/>
            <a:ext cx="50292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FFFFFF"/>
                </a:solidFill>
                <a:latin typeface="Calibri"/>
              </a:rPr>
              <a:t>✓  Prisma — PROTÉGÉ par </a:t>
            </a:r>
            <a:r>
              <a:rPr sz="1400" b="1" i="0" dirty="0" err="1">
                <a:solidFill>
                  <a:srgbClr val="FFFFFF"/>
                </a:solidFill>
                <a:latin typeface="Calibri"/>
              </a:rPr>
              <a:t>défaut</a:t>
            </a:r>
            <a:endParaRPr lang="fr-FR" sz="1400" b="1" i="0" dirty="0" err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263640" y="2240280"/>
            <a:ext cx="50749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Consolas"/>
              </a:rPr>
              <a:t>// ✅ Le pattern utilisé partout dans le projet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2514600"/>
            <a:ext cx="50749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63640" y="2788920"/>
            <a:ext cx="50749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Consolas"/>
              </a:rPr>
              <a:t>const email = req.body.email;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3063240"/>
            <a:ext cx="50749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63640" y="3337560"/>
            <a:ext cx="50749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EC4899"/>
                </a:solidFill>
                <a:latin typeface="Consolas"/>
              </a:rPr>
              <a:t>const user = await db.user.findUnique({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3611880"/>
            <a:ext cx="50749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Consolas"/>
              </a:rPr>
              <a:t>  where: { email },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3886200"/>
            <a:ext cx="50749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EC4899"/>
                </a:solidFill>
                <a:latin typeface="Consolas"/>
              </a:rPr>
              <a:t>});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4160520"/>
            <a:ext cx="50749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63640" y="4434840"/>
            <a:ext cx="50749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Consolas"/>
              </a:rPr>
              <a:t>// Prisma envoie au driver pg 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4709160"/>
            <a:ext cx="50749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  <a:latin typeface="Consolas"/>
              </a:rPr>
              <a:t>//   SELECT * FROM users WHERE email = $1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4983480"/>
            <a:ext cx="50749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  <a:latin typeface="Consolas"/>
              </a:rPr>
              <a:t>//   avec params = ['x' OR ''1''=''1']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5257800"/>
            <a:ext cx="50749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Consolas"/>
              </a:rPr>
              <a:t>//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5532120"/>
            <a:ext cx="50749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  <a:latin typeface="Consolas"/>
              </a:rPr>
              <a:t>// PostgreSQL traite $1 comme STRING littérale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5806440"/>
            <a:ext cx="50749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  <a:latin typeface="Consolas"/>
              </a:rPr>
              <a:t>// → 0 ligne renvoyée 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71717A"/>
                </a:solidFill>
                <a:latin typeface="Calibri"/>
              </a:rPr>
              <a:t>Konekt  ·  RNCP 37873 - CDA  ·  Christophe Lecart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71717A"/>
                </a:solidFill>
                <a:latin typeface="Calibri"/>
              </a:rPr>
              <a:t>36 / 56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B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457200"/>
            <a:ext cx="73152" cy="77724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C4899"/>
                </a:solidFill>
                <a:latin typeface="Calibri"/>
              </a:rPr>
              <a:t>04 · DÉVELOPPEMENT ·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Anti-SQLi : défense en profondeur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7315200" cy="868680"/>
          </a:xfrm>
          <a:prstGeom prst="rect">
            <a:avLst/>
          </a:prstGeom>
          <a:solidFill>
            <a:srgbClr val="0D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09728" cy="868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0388" y="1928223"/>
            <a:ext cx="457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i="0">
                <a:solidFill>
                  <a:srgbClr val="F59E0B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557" y="1867747"/>
            <a:ext cx="22860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sng">
                <a:solidFill>
                  <a:srgbClr val="FFFFFF"/>
                </a:solidFill>
                <a:latin typeface="Calibri"/>
              </a:rPr>
              <a:t>ZOD</a:t>
            </a:r>
            <a:endParaRPr lang="fr-FR" sz="1400" b="1" i="0" u="sng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66557" y="2142067"/>
            <a:ext cx="50292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A1A1AA"/>
                </a:solidFill>
                <a:latin typeface="Calibri"/>
              </a:rPr>
              <a:t>Validation type + format avant tout</a:t>
            </a:r>
            <a:endParaRPr lang="fr-FR" sz="1200" b="0" i="0">
              <a:solidFill>
                <a:srgbClr val="A1A1A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918372" y="2013131"/>
            <a:ext cx="402336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 err="1">
                <a:solidFill>
                  <a:srgbClr val="F59E0B"/>
                </a:solidFill>
                <a:latin typeface="Consolas"/>
              </a:rPr>
              <a:t>z.string</a:t>
            </a:r>
            <a:r>
              <a:rPr sz="1400" b="0" i="0" dirty="0">
                <a:solidFill>
                  <a:srgbClr val="F59E0B"/>
                </a:solidFill>
                <a:latin typeface="Consolas"/>
              </a:rPr>
              <a:t>().email().min(6)</a:t>
            </a:r>
            <a:endParaRPr lang="fr-FR" sz="1400" b="0" i="0">
              <a:solidFill>
                <a:srgbClr val="F59E0B"/>
              </a:solidFill>
              <a:latin typeface="Consola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48640" y="2743200"/>
            <a:ext cx="7315200" cy="868680"/>
          </a:xfrm>
          <a:prstGeom prst="rect">
            <a:avLst/>
          </a:prstGeom>
          <a:solidFill>
            <a:srgbClr val="0D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2743200"/>
            <a:ext cx="109728" cy="86868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0388" y="2979783"/>
            <a:ext cx="457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i="0">
                <a:solidFill>
                  <a:srgbClr val="EC4899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6557" y="2919307"/>
            <a:ext cx="22860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sng">
                <a:solidFill>
                  <a:srgbClr val="FFFFFF"/>
                </a:solidFill>
                <a:latin typeface="Calibri"/>
              </a:rPr>
              <a:t>PRISMA</a:t>
            </a:r>
            <a:endParaRPr lang="fr-FR" sz="1400" b="1" i="0" u="sng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66557" y="3193627"/>
            <a:ext cx="50292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dirty="0">
                <a:solidFill>
                  <a:srgbClr val="A1A1AA"/>
                </a:solidFill>
                <a:latin typeface="Calibri"/>
              </a:rPr>
              <a:t>Compose </a:t>
            </a:r>
            <a:r>
              <a:rPr sz="1200" b="0" i="0" dirty="0" err="1">
                <a:solidFill>
                  <a:srgbClr val="A1A1AA"/>
                </a:solidFill>
                <a:latin typeface="Calibri"/>
              </a:rPr>
              <a:t>un SQL</a:t>
            </a:r>
            <a:r>
              <a:rPr sz="1200" b="0" i="0" dirty="0">
                <a:solidFill>
                  <a:srgbClr val="A1A1A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A1A1AA"/>
                </a:solidFill>
                <a:latin typeface="Calibri"/>
              </a:rPr>
              <a:t>paramétré</a:t>
            </a:r>
            <a:r>
              <a:rPr sz="1200" b="0" i="0" dirty="0">
                <a:solidFill>
                  <a:srgbClr val="A1A1AA"/>
                </a:solidFill>
                <a:latin typeface="Calibri"/>
              </a:rPr>
              <a:t> (jamais de </a:t>
            </a:r>
            <a:r>
              <a:rPr sz="1200" b="0" i="0" dirty="0" err="1">
                <a:solidFill>
                  <a:srgbClr val="A1A1AA"/>
                </a:solidFill>
                <a:latin typeface="Calibri"/>
              </a:rPr>
              <a:t>concat</a:t>
            </a:r>
            <a:r>
              <a:rPr sz="1200" b="0" i="0" dirty="0">
                <a:solidFill>
                  <a:srgbClr val="A1A1AA"/>
                </a:solidFill>
                <a:latin typeface="Calibri"/>
              </a:rPr>
              <a:t>)</a:t>
            </a:r>
            <a:endParaRPr lang="fr-FR" sz="1200" b="0" i="0" dirty="0">
              <a:solidFill>
                <a:srgbClr val="A1A1A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918372" y="3064691"/>
            <a:ext cx="402336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 err="1">
                <a:solidFill>
                  <a:srgbClr val="EC4899"/>
                </a:solidFill>
                <a:latin typeface="Consolas"/>
              </a:rPr>
              <a:t>db.user.findUnique</a:t>
            </a:r>
            <a:r>
              <a:rPr sz="1400" b="0" i="0" dirty="0">
                <a:solidFill>
                  <a:srgbClr val="EC4899"/>
                </a:solidFill>
                <a:latin typeface="Consolas"/>
              </a:rPr>
              <a:t>({ where: { email } })</a:t>
            </a:r>
            <a:endParaRPr lang="fr-FR" sz="1400" b="0" i="0" dirty="0">
              <a:solidFill>
                <a:srgbClr val="EC4899"/>
              </a:solidFill>
              <a:latin typeface="Consola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48640" y="3794760"/>
            <a:ext cx="7315200" cy="868680"/>
          </a:xfrm>
          <a:prstGeom prst="rect">
            <a:avLst/>
          </a:prstGeom>
          <a:solidFill>
            <a:srgbClr val="0D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48640" y="3794760"/>
            <a:ext cx="109728" cy="86868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0388" y="4031343"/>
            <a:ext cx="457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i="0">
                <a:solidFill>
                  <a:srgbClr val="06B6D4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6557" y="3970867"/>
            <a:ext cx="22860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sng">
                <a:solidFill>
                  <a:srgbClr val="FFFFFF"/>
                </a:solidFill>
                <a:latin typeface="Calibri"/>
              </a:rPr>
              <a:t>DRIVER PG</a:t>
            </a:r>
            <a:endParaRPr lang="fr-FR" sz="1400" b="1" i="0" u="sng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66557" y="4245187"/>
            <a:ext cx="50292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dirty="0" err="1">
                <a:solidFill>
                  <a:srgbClr val="A1A1AA"/>
                </a:solidFill>
                <a:latin typeface="Calibri"/>
              </a:rPr>
              <a:t>Sépare</a:t>
            </a:r>
            <a:r>
              <a:rPr sz="1200" b="0" i="0" dirty="0">
                <a:solidFill>
                  <a:srgbClr val="A1A1AA"/>
                </a:solidFill>
                <a:latin typeface="Calibri"/>
              </a:rPr>
              <a:t> query </a:t>
            </a:r>
            <a:r>
              <a:rPr sz="1200" b="0" i="0" dirty="0" err="1">
                <a:solidFill>
                  <a:srgbClr val="A1A1AA"/>
                </a:solidFill>
                <a:latin typeface="Calibri"/>
              </a:rPr>
              <a:t>texte</a:t>
            </a:r>
            <a:r>
              <a:rPr sz="1200" b="0" i="0" dirty="0">
                <a:solidFill>
                  <a:srgbClr val="A1A1AA"/>
                </a:solidFill>
                <a:latin typeface="Calibri"/>
              </a:rPr>
              <a:t> + array de params</a:t>
            </a:r>
            <a:endParaRPr lang="fr-FR" sz="1200" b="0" i="0" dirty="0">
              <a:solidFill>
                <a:srgbClr val="A1A1A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918372" y="4116251"/>
            <a:ext cx="402336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06B6D4"/>
                </a:solidFill>
                <a:latin typeface="Consolas"/>
              </a:rPr>
              <a:t>PREPARE → EXECUTE($1, $2, ...)</a:t>
            </a:r>
            <a:endParaRPr lang="fr-FR" sz="1400" b="0" i="0">
              <a:solidFill>
                <a:srgbClr val="06B6D4"/>
              </a:solidFill>
              <a:latin typeface="Consola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48640" y="4846320"/>
            <a:ext cx="7315200" cy="868680"/>
          </a:xfrm>
          <a:prstGeom prst="rect">
            <a:avLst/>
          </a:prstGeom>
          <a:solidFill>
            <a:srgbClr val="0D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48640" y="4846320"/>
            <a:ext cx="109728" cy="8686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50388" y="5082902"/>
            <a:ext cx="457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i="0">
                <a:solidFill>
                  <a:srgbClr val="10B981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6557" y="5022426"/>
            <a:ext cx="22860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sng">
                <a:solidFill>
                  <a:srgbClr val="FFFFFF"/>
                </a:solidFill>
                <a:latin typeface="Calibri"/>
              </a:rPr>
              <a:t>POSTGRES</a:t>
            </a:r>
            <a:endParaRPr lang="fr-FR" sz="1400" b="1" i="0" u="sng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66557" y="5296747"/>
            <a:ext cx="50292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dirty="0" err="1">
                <a:solidFill>
                  <a:srgbClr val="A1A1AA"/>
                </a:solidFill>
                <a:latin typeface="Calibri"/>
              </a:rPr>
              <a:t>Traite</a:t>
            </a:r>
            <a:r>
              <a:rPr sz="1200" b="0" i="0" dirty="0">
                <a:solidFill>
                  <a:srgbClr val="A1A1A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A1A1AA"/>
                </a:solidFill>
                <a:latin typeface="Calibri"/>
              </a:rPr>
              <a:t>chaque</a:t>
            </a:r>
            <a:r>
              <a:rPr sz="1200" b="0" i="0" dirty="0">
                <a:solidFill>
                  <a:srgbClr val="A1A1AA"/>
                </a:solidFill>
                <a:latin typeface="Calibri"/>
              </a:rPr>
              <a:t> param </a:t>
            </a:r>
            <a:r>
              <a:rPr sz="1200" b="0" i="0" dirty="0" err="1">
                <a:solidFill>
                  <a:srgbClr val="A1A1AA"/>
                </a:solidFill>
                <a:latin typeface="Calibri"/>
              </a:rPr>
              <a:t>comme</a:t>
            </a:r>
            <a:r>
              <a:rPr sz="1200" b="0" i="0" dirty="0">
                <a:solidFill>
                  <a:srgbClr val="A1A1A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A1A1AA"/>
                </a:solidFill>
                <a:latin typeface="Calibri"/>
              </a:rPr>
              <a:t>littéral</a:t>
            </a:r>
            <a:endParaRPr lang="fr-FR" sz="1200" b="0" i="0" dirty="0">
              <a:solidFill>
                <a:srgbClr val="A1A1A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930468" y="5173859"/>
            <a:ext cx="402336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10B981"/>
                </a:solidFill>
                <a:latin typeface="Consolas"/>
              </a:rPr>
              <a:t>WHERE email = $1   (binding)</a:t>
            </a:r>
            <a:endParaRPr lang="fr-FR" sz="1400" b="0" i="0">
              <a:solidFill>
                <a:srgbClr val="10B981"/>
              </a:solidFill>
              <a:latin typeface="Consola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8092440" y="1691640"/>
            <a:ext cx="3520440" cy="4572000"/>
          </a:xfrm>
          <a:prstGeom prst="rect">
            <a:avLst/>
          </a:prstGeom>
          <a:solidFill>
            <a:srgbClr val="272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63224" y="1891937"/>
            <a:ext cx="31546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 u="sng" dirty="0">
                <a:solidFill>
                  <a:srgbClr val="EC4899"/>
                </a:solidFill>
                <a:latin typeface="Calibri"/>
              </a:rPr>
              <a:t>Payload </a:t>
            </a:r>
            <a:r>
              <a:rPr sz="1400" b="1" i="0" u="sng" dirty="0" err="1">
                <a:solidFill>
                  <a:srgbClr val="EC4899"/>
                </a:solidFill>
                <a:latin typeface="Calibri"/>
              </a:rPr>
              <a:t>attaque</a:t>
            </a:r>
            <a:endParaRPr lang="fr-FR" sz="1400" b="1" i="0" u="sng">
              <a:solidFill>
                <a:srgbClr val="EC4899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8456748" y="2373328"/>
            <a:ext cx="411480" cy="41148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456748" y="2373328"/>
            <a:ext cx="411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i="0">
                <a:solidFill>
                  <a:srgbClr val="EF4444"/>
                </a:solidFill>
                <a:latin typeface="Calibri"/>
              </a:rPr>
              <a:t>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32240" y="2472751"/>
            <a:ext cx="265176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dirty="0">
                <a:solidFill>
                  <a:srgbClr val="FFFFFF"/>
                </a:solidFill>
                <a:latin typeface="Calibri"/>
              </a:rPr>
              <a:t>' OR 1=1-- </a:t>
            </a:r>
            <a:r>
              <a:rPr sz="1200" b="0" i="0" dirty="0" err="1">
                <a:solidFill>
                  <a:srgbClr val="FFFFFF"/>
                </a:solidFill>
                <a:latin typeface="Calibri"/>
              </a:rPr>
              <a:t>envoyé</a:t>
            </a:r>
            <a:endParaRPr lang="fr-FR" sz="1200" b="0" i="0" dirty="0" err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8456748" y="3013408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456748" y="3013408"/>
            <a:ext cx="411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i="0">
                <a:solidFill>
                  <a:srgbClr val="F59E0B"/>
                </a:solidFill>
                <a:latin typeface="Calibri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32240" y="3112831"/>
            <a:ext cx="265176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dirty="0" err="1">
                <a:solidFill>
                  <a:srgbClr val="FFFFFF"/>
                </a:solidFill>
                <a:latin typeface="Calibri"/>
              </a:rPr>
              <a:t>Zod</a:t>
            </a:r>
            <a:r>
              <a:rPr sz="1200" b="0" i="0" dirty="0">
                <a:solidFill>
                  <a:srgbClr val="FFFFFF"/>
                </a:solidFill>
                <a:latin typeface="Calibri"/>
              </a:rPr>
              <a:t> : pas un email</a:t>
            </a:r>
            <a:endParaRPr lang="fr-FR" sz="1200" b="0" i="0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8456748" y="3653488"/>
            <a:ext cx="411480" cy="411480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56748" y="3653488"/>
            <a:ext cx="411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i="0">
                <a:solidFill>
                  <a:srgbClr val="EC4899"/>
                </a:solidFill>
                <a:latin typeface="Calibri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32240" y="3752911"/>
            <a:ext cx="265176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dirty="0">
                <a:solidFill>
                  <a:srgbClr val="FFFFFF"/>
                </a:solidFill>
                <a:latin typeface="Calibri"/>
              </a:rPr>
              <a:t>Prisma : </a:t>
            </a:r>
            <a:r>
              <a:rPr sz="1200" b="0" i="0" dirty="0" err="1">
                <a:solidFill>
                  <a:srgbClr val="FFFFFF"/>
                </a:solidFill>
                <a:latin typeface="Calibri"/>
              </a:rPr>
              <a:t>paramètre</a:t>
            </a:r>
            <a:endParaRPr lang="fr-FR" sz="1200" b="0" i="0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8456748" y="4293568"/>
            <a:ext cx="411480" cy="41148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456748" y="4293568"/>
            <a:ext cx="411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i="0">
                <a:solidFill>
                  <a:srgbClr val="06B6D4"/>
                </a:solidFill>
                <a:latin typeface="Calibri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32240" y="4392991"/>
            <a:ext cx="265176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Driver : binding</a:t>
            </a:r>
            <a:endParaRPr lang="fr-FR" sz="1200" b="0" i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8456748" y="4933648"/>
            <a:ext cx="411480" cy="41148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456748" y="4933648"/>
            <a:ext cx="411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32240" y="5033071"/>
            <a:ext cx="265176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dirty="0">
                <a:solidFill>
                  <a:srgbClr val="FFFFFF"/>
                </a:solidFill>
                <a:latin typeface="Calibri"/>
              </a:rPr>
              <a:t>PG : 0 </a:t>
            </a:r>
            <a:r>
              <a:rPr sz="1200" b="0" i="0" dirty="0" err="1">
                <a:solidFill>
                  <a:srgbClr val="FFFFFF"/>
                </a:solidFill>
                <a:latin typeface="Calibri"/>
              </a:rPr>
              <a:t>résultat</a:t>
            </a:r>
            <a:endParaRPr lang="fr-FR" sz="1200" b="0" i="0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48640" y="59893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A1A1AA"/>
                </a:solidFill>
                <a:latin typeface="Calibri"/>
              </a:rPr>
              <a:t>OWASP Top 10 — A03:2021 Injection · neutralisée structurellement par Prisma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71717A"/>
                </a:solidFill>
                <a:latin typeface="Calibri"/>
              </a:rPr>
              <a:t>Konekt  ·  RNCP 37873 - CDA  ·  Christophe Lecart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71717A"/>
                </a:solidFill>
                <a:latin typeface="Calibri"/>
              </a:rPr>
              <a:t>37 / 56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A1B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QUALITÉ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Stratégie de tests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73152" cy="7772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3286881" y="1828800"/>
            <a:ext cx="1234440" cy="914400"/>
          </a:xfrm>
          <a:prstGeom prst="rect">
            <a:avLst/>
          </a:prstGeom>
          <a:solidFill>
            <a:srgbClr val="EF4444">
              <a:alpha val="40000"/>
            </a:srgbClr>
          </a:solidFill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3286881" y="182880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69661" y="2743200"/>
            <a:ext cx="2468880" cy="1280160"/>
          </a:xfrm>
          <a:prstGeom prst="rect">
            <a:avLst/>
          </a:prstGeom>
          <a:solidFill>
            <a:srgbClr val="F59E0B">
              <a:alpha val="40000"/>
            </a:srgbClr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2669661" y="274320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d'intégration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46701" y="4023360"/>
            <a:ext cx="4114800" cy="1463040"/>
          </a:xfrm>
          <a:prstGeom prst="rect">
            <a:avLst/>
          </a:prstGeom>
          <a:solidFill>
            <a:srgbClr val="10B981">
              <a:alpha val="40000"/>
            </a:srgbClr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846701" y="402336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unitaires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133771" y="1783080"/>
            <a:ext cx="4480560" cy="4480560"/>
          </a:xfrm>
          <a:prstGeom prst="roundRect">
            <a:avLst>
              <a:gd name="adj" fmla="val 1633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7316651" y="1874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u="sng" kern="0" spc="200" dirty="0" err="1">
                <a:solidFill>
                  <a:srgbClr val="EC4899"/>
                </a:solidFill>
                <a:latin typeface="Calibri"/>
                <a:ea typeface="Calibri"/>
                <a:cs typeface="Calibri"/>
              </a:rPr>
              <a:t>Pyramide</a:t>
            </a:r>
            <a:r>
              <a:rPr lang="en-US" sz="1400" b="1" u="sng" kern="0" spc="200" dirty="0">
                <a:solidFill>
                  <a:srgbClr val="EC489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b="1" u="sng" kern="0" spc="200" dirty="0" err="1">
                <a:solidFill>
                  <a:srgbClr val="EC4899"/>
                </a:solidFill>
                <a:latin typeface="Calibri"/>
                <a:ea typeface="Calibri"/>
                <a:cs typeface="Calibri"/>
              </a:rPr>
              <a:t>adoptée</a:t>
            </a:r>
            <a:endParaRPr lang="en-US" sz="1400" u="sng">
              <a:latin typeface="Calibri"/>
              <a:ea typeface="Calibri"/>
              <a:cs typeface="Calibri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316651" y="2331720"/>
            <a:ext cx="91440" cy="82296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7499531" y="2331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E2E (Playwright)</a:t>
            </a:r>
            <a:endParaRPr lang="en-US" sz="1400" u="sng">
              <a:latin typeface="Calibri"/>
              <a:ea typeface="Calibri"/>
              <a:cs typeface="Calibri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0288451" y="2377440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EF4444">
              <a:alpha val="25000"/>
            </a:srgbClr>
          </a:solidFill>
          <a:ln w="9525">
            <a:solidFill>
              <a:srgbClr val="EF44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10288451" y="23774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499531" y="26974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Parcours</a:t>
            </a:r>
            <a:r>
              <a:rPr lang="en-US" sz="1200" dirty="0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 critiques : inscription, post, chat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316651" y="3246120"/>
            <a:ext cx="91440" cy="8229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7499531" y="3246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u="sng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Intégration</a:t>
            </a:r>
            <a:r>
              <a:rPr lang="en-US" sz="1400" b="1" u="sng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API</a:t>
            </a:r>
            <a:endParaRPr lang="en-US" sz="1400" u="sng">
              <a:latin typeface="Calibri"/>
              <a:ea typeface="Calibri"/>
              <a:cs typeface="Calibri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0288451" y="3291840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F59E0B">
              <a:alpha val="25000"/>
            </a:srgbClr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10288451" y="32918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place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99531" y="36118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Jest + </a:t>
            </a:r>
            <a:r>
              <a:rPr lang="en-US" sz="1200" dirty="0" err="1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ts</a:t>
            </a:r>
            <a:r>
              <a:rPr lang="en-US" sz="1200" dirty="0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-jest sur /</a:t>
            </a:r>
            <a:r>
              <a:rPr lang="en-US" sz="1200" dirty="0" err="1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api</a:t>
            </a:r>
            <a:r>
              <a:rPr lang="en-US" sz="1200" dirty="0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/*  (auth, posts, chat)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7316651" y="4160520"/>
            <a:ext cx="91440" cy="8229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7499531" y="4160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u="sng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Unitaires</a:t>
            </a:r>
            <a:endParaRPr lang="en-US" sz="1400" u="sng">
              <a:latin typeface="Calibri"/>
              <a:ea typeface="Calibri"/>
              <a:cs typeface="Calibri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10288451" y="4206240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10B981">
              <a:alpha val="25000"/>
            </a:srgbClr>
          </a:solidFill>
          <a:ln w="9525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10288451" y="42062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place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499531" y="4526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Helpers, validators Zod, hashing, JWT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316651" y="5074920"/>
            <a:ext cx="91440" cy="82296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7499531" y="5074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Lint &amp; types</a:t>
            </a:r>
            <a:endParaRPr lang="en-US" sz="1400" u="sng">
              <a:latin typeface="Calibri"/>
              <a:ea typeface="Calibri"/>
              <a:cs typeface="Calibri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10288451" y="5120640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06B6D4">
              <a:alpha val="25000"/>
            </a:srgbClr>
          </a:solidFill>
          <a:ln w="9525">
            <a:solidFill>
              <a:srgbClr val="06B6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10288451" y="51206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bloquant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499531" y="54406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ESLint + TypeScript strict, prisma generate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" y="557784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1F2028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777240" y="562356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cible :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sur les modules critiques (auth, chat, persistence). </a:t>
            </a: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Jeux d'essai documentés dans tests-strategy.md.</a:t>
            </a:r>
            <a:endParaRPr lang="en-US" sz="1100" dirty="0"/>
          </a:p>
        </p:txBody>
      </p:sp>
      <p:pic>
        <p:nvPicPr>
          <p:cNvPr id="35" name="Image 0" descr="/sessions/sweet-funny-newton/mnt/outputs/build/assets/konekt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446520"/>
            <a:ext cx="274320" cy="274320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Konekt  ·  RNCP 37873 - CDA  ·  Christophe Lecart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/ 56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A1B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QUALITÉ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CI/CD GitHub Actions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73152" cy="7772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34340" y="2194560"/>
            <a:ext cx="1371600" cy="2194560"/>
          </a:xfrm>
          <a:prstGeom prst="roundRect">
            <a:avLst>
              <a:gd name="adj" fmla="val 5333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00100" y="2423160"/>
            <a:ext cx="640080" cy="640080"/>
          </a:xfrm>
          <a:prstGeom prst="ellipse">
            <a:avLst/>
          </a:prstGeom>
          <a:solidFill>
            <a:srgbClr val="A1A1AA">
              <a:alpha val="30000"/>
            </a:srgbClr>
          </a:solidFill>
          <a:ln w="19050">
            <a:solidFill>
              <a:srgbClr val="A1A1A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0010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↗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0060" y="3154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/ 56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0060" y="352044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· feature-*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805940" y="2743200"/>
            <a:ext cx="45720" cy="0"/>
          </a:xfrm>
          <a:prstGeom prst="line">
            <a:avLst/>
          </a:prstGeom>
          <a:noFill/>
          <a:ln w="19050">
            <a:solidFill>
              <a:srgbClr val="EC4899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1851660" y="2194560"/>
            <a:ext cx="1371600" cy="2194560"/>
          </a:xfrm>
          <a:prstGeom prst="roundRect">
            <a:avLst>
              <a:gd name="adj" fmla="val 5333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2217420" y="2423160"/>
            <a:ext cx="640080" cy="640080"/>
          </a:xfrm>
          <a:prstGeom prst="ellipse">
            <a:avLst/>
          </a:prstGeom>
          <a:solidFill>
            <a:srgbClr val="06B6D4">
              <a:alpha val="30000"/>
            </a:srgbClr>
          </a:solidFill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221742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↓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897380" y="3154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&amp; Setup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97380" y="352044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actions/checkout · setup-bun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23260" y="2743200"/>
            <a:ext cx="45720" cy="0"/>
          </a:xfrm>
          <a:prstGeom prst="line">
            <a:avLst/>
          </a:prstGeom>
          <a:noFill/>
          <a:ln w="19050">
            <a:solidFill>
              <a:srgbClr val="EC4899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3268980" y="2194560"/>
            <a:ext cx="1371600" cy="2194560"/>
          </a:xfrm>
          <a:prstGeom prst="roundRect">
            <a:avLst>
              <a:gd name="adj" fmla="val 5333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3634740" y="2423160"/>
            <a:ext cx="640080" cy="640080"/>
          </a:xfrm>
          <a:prstGeom prst="ellipse">
            <a:avLst/>
          </a:prstGeom>
          <a:solidFill>
            <a:srgbClr val="8B5CF6">
              <a:alpha val="30000"/>
            </a:srgbClr>
          </a:solidFill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363474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▤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314700" y="3154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14700" y="352044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 install --frozen-lockfile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40580" y="2743200"/>
            <a:ext cx="45720" cy="0"/>
          </a:xfrm>
          <a:prstGeom prst="line">
            <a:avLst/>
          </a:prstGeom>
          <a:noFill/>
          <a:ln w="19050">
            <a:solidFill>
              <a:srgbClr val="EC4899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4686300" y="2194560"/>
            <a:ext cx="1371600" cy="2194560"/>
          </a:xfrm>
          <a:prstGeom prst="roundRect">
            <a:avLst>
              <a:gd name="adj" fmla="val 5333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5052060" y="2423160"/>
            <a:ext cx="640080" cy="640080"/>
          </a:xfrm>
          <a:prstGeom prst="ellipse">
            <a:avLst/>
          </a:prstGeom>
          <a:solidFill>
            <a:srgbClr val="F59E0B">
              <a:alpha val="30000"/>
            </a:srgbClr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505206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⊕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732020" y="3154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generate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32020" y="352044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bunx prisma generate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057900" y="2743200"/>
            <a:ext cx="45720" cy="0"/>
          </a:xfrm>
          <a:prstGeom prst="line">
            <a:avLst/>
          </a:prstGeom>
          <a:noFill/>
          <a:ln w="19050">
            <a:solidFill>
              <a:srgbClr val="EC4899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6103620" y="2194560"/>
            <a:ext cx="1371600" cy="2194560"/>
          </a:xfrm>
          <a:prstGeom prst="roundRect">
            <a:avLst>
              <a:gd name="adj" fmla="val 5333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6469380" y="2423160"/>
            <a:ext cx="640080" cy="640080"/>
          </a:xfrm>
          <a:prstGeom prst="ellipse">
            <a:avLst/>
          </a:prstGeom>
          <a:solidFill>
            <a:srgbClr val="EC4899">
              <a:alpha val="30000"/>
            </a:srgbClr>
          </a:solidFill>
          <a:ln w="19050">
            <a:solidFill>
              <a:srgbClr val="EC48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646938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≡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149340" y="3154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49340" y="352044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 run lint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475220" y="2743200"/>
            <a:ext cx="45720" cy="0"/>
          </a:xfrm>
          <a:prstGeom prst="line">
            <a:avLst/>
          </a:prstGeom>
          <a:noFill/>
          <a:ln w="19050">
            <a:solidFill>
              <a:srgbClr val="EC4899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7520940" y="2194560"/>
            <a:ext cx="1371600" cy="2194560"/>
          </a:xfrm>
          <a:prstGeom prst="roundRect">
            <a:avLst>
              <a:gd name="adj" fmla="val 5333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7886700" y="2423160"/>
            <a:ext cx="640080" cy="640080"/>
          </a:xfrm>
          <a:prstGeom prst="ellipse">
            <a:avLst/>
          </a:prstGeom>
          <a:solidFill>
            <a:srgbClr val="EF4444">
              <a:alpha val="30000"/>
            </a:srgbClr>
          </a:solidFill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788670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✓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7566660" y="3154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566660" y="352044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 run test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8892540" y="2743200"/>
            <a:ext cx="45720" cy="0"/>
          </a:xfrm>
          <a:prstGeom prst="line">
            <a:avLst/>
          </a:prstGeom>
          <a:noFill/>
          <a:ln w="19050">
            <a:solidFill>
              <a:srgbClr val="EC4899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8938260" y="2194560"/>
            <a:ext cx="1371600" cy="2194560"/>
          </a:xfrm>
          <a:prstGeom prst="roundRect">
            <a:avLst>
              <a:gd name="adj" fmla="val 5333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Shape 40"/>
          <p:cNvSpPr/>
          <p:nvPr/>
        </p:nvSpPr>
        <p:spPr>
          <a:xfrm>
            <a:off x="9304020" y="2423160"/>
            <a:ext cx="640080" cy="640080"/>
          </a:xfrm>
          <a:prstGeom prst="ellipse">
            <a:avLst/>
          </a:prstGeom>
          <a:solidFill>
            <a:srgbClr val="F472B6">
              <a:alpha val="30000"/>
            </a:srgbClr>
          </a:solidFill>
          <a:ln w="19050">
            <a:solidFill>
              <a:srgbClr val="F472B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930402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◧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8983980" y="3154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Next.js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983980" y="352044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 run build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0309860" y="2743200"/>
            <a:ext cx="45720" cy="0"/>
          </a:xfrm>
          <a:prstGeom prst="line">
            <a:avLst/>
          </a:prstGeom>
          <a:noFill/>
          <a:ln w="19050">
            <a:solidFill>
              <a:srgbClr val="EC4899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7" name="Shape 45"/>
          <p:cNvSpPr/>
          <p:nvPr/>
        </p:nvSpPr>
        <p:spPr>
          <a:xfrm>
            <a:off x="10355580" y="2194560"/>
            <a:ext cx="1371600" cy="2194560"/>
          </a:xfrm>
          <a:prstGeom prst="roundRect">
            <a:avLst>
              <a:gd name="adj" fmla="val 5333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Shape 46"/>
          <p:cNvSpPr/>
          <p:nvPr/>
        </p:nvSpPr>
        <p:spPr>
          <a:xfrm>
            <a:off x="10721340" y="2423160"/>
            <a:ext cx="640080" cy="640080"/>
          </a:xfrm>
          <a:prstGeom prst="ellipse">
            <a:avLst/>
          </a:prstGeom>
          <a:solidFill>
            <a:srgbClr val="10B981">
              <a:alpha val="30000"/>
            </a:srgbClr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7"/>
          <p:cNvSpPr/>
          <p:nvPr/>
        </p:nvSpPr>
        <p:spPr>
          <a:xfrm>
            <a:off x="1072134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▲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10401300" y="3154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Vercel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10401300" y="352044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ou prod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48640" y="475488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0D0E14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51"/>
          <p:cNvSpPr/>
          <p:nvPr/>
        </p:nvSpPr>
        <p:spPr>
          <a:xfrm>
            <a:off x="731520" y="4846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.github/workflows/ci.yml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731520" y="5120640"/>
            <a:ext cx="10698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CI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31520" y="5312664"/>
            <a:ext cx="10698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on: [push, pull_request]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731520" y="5504688"/>
            <a:ext cx="10698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jobs: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731520" y="5696712"/>
            <a:ext cx="10698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build: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31520" y="5888736"/>
            <a:ext cx="10698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runs-on: ubuntu-latest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731520" y="6080760"/>
            <a:ext cx="10698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steps: [checkout, setup-bun, install, prisma:generate, lint, test, build]</a:t>
            </a:r>
            <a:endParaRPr lang="en-US" sz="1000" dirty="0"/>
          </a:p>
        </p:txBody>
      </p:sp>
      <p:pic>
        <p:nvPicPr>
          <p:cNvPr id="60" name="Image 0" descr="/sessions/sweet-funny-newton/mnt/outputs/build/assets/konekt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446520"/>
            <a:ext cx="274320" cy="274320"/>
          </a:xfrm>
          <a:prstGeom prst="rect">
            <a:avLst/>
          </a:prstGeom>
        </p:spPr>
      </p:pic>
      <p:sp>
        <p:nvSpPr>
          <p:cNvPr id="61" name="Text 58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Konekt  ·  RNCP 37873 - CDA  ·  Christophe Lecart</a:t>
            </a:r>
            <a:endParaRPr lang="en-US" sz="900" dirty="0"/>
          </a:p>
        </p:txBody>
      </p:sp>
      <p:sp>
        <p:nvSpPr>
          <p:cNvPr id="62" name="Text 59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/ 56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B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457200"/>
            <a:ext cx="73152" cy="77724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C4899"/>
                </a:solidFill>
                <a:latin typeface="Calibri"/>
              </a:rPr>
              <a:t>05 · DÉPLOIEMENT · CI/CD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Du commit à la production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1508760" cy="1188720"/>
          </a:xfrm>
          <a:prstGeom prst="rect">
            <a:avLst/>
          </a:prstGeom>
          <a:solidFill>
            <a:srgbClr val="0D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1508760" cy="7315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15087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800" b="1" i="0">
                <a:solidFill>
                  <a:srgbClr val="8B5CF6"/>
                </a:solidFill>
                <a:latin typeface="Calibri"/>
              </a:rPr>
              <a:t>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15087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git push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71800"/>
            <a:ext cx="15087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A1A1AA"/>
                </a:solidFill>
                <a:latin typeface="Consolas"/>
              </a:rPr>
              <a:t>main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75688" y="2514600"/>
            <a:ext cx="182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 i="0">
                <a:solidFill>
                  <a:srgbClr val="A1A1AA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94560" y="2011680"/>
            <a:ext cx="1508760" cy="1188720"/>
          </a:xfrm>
          <a:prstGeom prst="rect">
            <a:avLst/>
          </a:prstGeom>
          <a:solidFill>
            <a:srgbClr val="0D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194560" y="2011680"/>
            <a:ext cx="1508760" cy="73152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194560" y="2194560"/>
            <a:ext cx="15087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800" b="1" i="0">
                <a:solidFill>
                  <a:srgbClr val="06B6D4"/>
                </a:solidFill>
                <a:latin typeface="Calibri"/>
              </a:rPr>
              <a:t>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2743200"/>
            <a:ext cx="15087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GitHub 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2971800"/>
            <a:ext cx="15087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A1A1AA"/>
                </a:solidFill>
                <a:latin typeface="Consolas"/>
              </a:rPr>
              <a:t>ci.yml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21607" y="2514600"/>
            <a:ext cx="182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 i="0">
                <a:solidFill>
                  <a:srgbClr val="A1A1AA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0" y="2011680"/>
            <a:ext cx="1508760" cy="1188720"/>
          </a:xfrm>
          <a:prstGeom prst="rect">
            <a:avLst/>
          </a:prstGeom>
          <a:solidFill>
            <a:srgbClr val="0D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840480" y="2011680"/>
            <a:ext cx="1508760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840480" y="2194560"/>
            <a:ext cx="15087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8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2743200"/>
            <a:ext cx="15087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Lint + 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2971800"/>
            <a:ext cx="15087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A1A1AA"/>
                </a:solidFill>
                <a:latin typeface="Consolas"/>
              </a:rPr>
              <a:t>Jest passe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67528" y="2514600"/>
            <a:ext cx="182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 i="0">
                <a:solidFill>
                  <a:srgbClr val="A1A1AA"/>
                </a:solidFill>
                <a:latin typeface="Calibr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0" y="2011680"/>
            <a:ext cx="1508760" cy="1188720"/>
          </a:xfrm>
          <a:prstGeom prst="rect">
            <a:avLst/>
          </a:prstGeom>
          <a:solidFill>
            <a:srgbClr val="0D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486400" y="2011680"/>
            <a:ext cx="150876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0" y="2194560"/>
            <a:ext cx="15087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800" b="1" i="0">
                <a:solidFill>
                  <a:srgbClr val="F59E0B"/>
                </a:solidFill>
                <a:latin typeface="Calibri"/>
              </a:rPr>
              <a:t>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2743200"/>
            <a:ext cx="15087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Build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2971800"/>
            <a:ext cx="15087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A1A1AA"/>
                </a:solidFill>
                <a:latin typeface="Consolas"/>
              </a:rPr>
              <a:t>next build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3448" y="2514600"/>
            <a:ext cx="182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 i="0">
                <a:solidFill>
                  <a:srgbClr val="A1A1AA"/>
                </a:solidFill>
                <a:latin typeface="Calibri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32320" y="2011680"/>
            <a:ext cx="1508760" cy="1188720"/>
          </a:xfrm>
          <a:prstGeom prst="rect">
            <a:avLst/>
          </a:prstGeom>
          <a:solidFill>
            <a:srgbClr val="0D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132320" y="2011680"/>
            <a:ext cx="1508760" cy="73152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132320" y="2194560"/>
            <a:ext cx="15087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800" b="1" i="0">
                <a:solidFill>
                  <a:srgbClr val="F472B6"/>
                </a:solidFill>
                <a:latin typeface="Calibri"/>
              </a:rPr>
              <a:t>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2743200"/>
            <a:ext cx="15087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Vercel deploy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0" y="2971800"/>
            <a:ext cx="15087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A1A1AA"/>
                </a:solidFill>
                <a:latin typeface="Consolas"/>
              </a:rPr>
              <a:t>Edge runtime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59367" y="2514600"/>
            <a:ext cx="182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 i="0">
                <a:solidFill>
                  <a:srgbClr val="A1A1AA"/>
                </a:solidFill>
                <a:latin typeface="Calibri"/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778240" y="2011680"/>
            <a:ext cx="1508760" cy="1188720"/>
          </a:xfrm>
          <a:prstGeom prst="rect">
            <a:avLst/>
          </a:prstGeom>
          <a:solidFill>
            <a:srgbClr val="0D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778240" y="2011680"/>
            <a:ext cx="1508760" cy="73152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778240" y="2194560"/>
            <a:ext cx="15087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800" b="1" i="0">
                <a:solidFill>
                  <a:srgbClr val="EC4899"/>
                </a:solidFill>
                <a:latin typeface="Calibri"/>
              </a:rPr>
              <a:t>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78240" y="2743200"/>
            <a:ext cx="15087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Production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78240" y="2971800"/>
            <a:ext cx="15087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A1A1AA"/>
                </a:solidFill>
                <a:latin typeface="Consolas"/>
              </a:rPr>
              <a:t>URL live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3749039"/>
            <a:ext cx="6858000" cy="2468880"/>
          </a:xfrm>
          <a:prstGeom prst="rect">
            <a:avLst/>
          </a:prstGeom>
          <a:solidFill>
            <a:srgbClr val="0D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777240" y="3931920"/>
            <a:ext cx="137160" cy="137160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960120" y="3931920"/>
            <a:ext cx="137160" cy="137160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1143000" y="3931920"/>
            <a:ext cx="137160" cy="137160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371600" y="3840479"/>
            <a:ext cx="5943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Consolas"/>
              </a:rPr>
              <a:t>.github/workflows/ci.yml — déclencheurs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4297679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F472B6"/>
                </a:solidFill>
                <a:latin typeface="Consolas"/>
              </a:rPr>
              <a:t>name: CI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4498847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77240" y="4700016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EC4899"/>
                </a:solidFill>
                <a:latin typeface="Consolas"/>
              </a:rPr>
              <a:t>on: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4901183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06B6D4"/>
                </a:solidFill>
                <a:latin typeface="Consolas"/>
              </a:rPr>
              <a:t>  push: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" y="5102351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Consolas"/>
              </a:rPr>
              <a:t>    branches: [main]              # auto-deploy sur main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7240" y="5303519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06B6D4"/>
                </a:solidFill>
                <a:latin typeface="Consolas"/>
              </a:rPr>
              <a:t>  pull_request:                   # check sur PR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" y="5504688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Consolas"/>
              </a:rPr>
              <a:t>    branches: [main, develop]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7240" y="5705855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06B6D4"/>
                </a:solidFill>
                <a:latin typeface="Consolas"/>
              </a:rPr>
              <a:t>  workflow_dispatch:              # bouton manuel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92440" y="3749039"/>
            <a:ext cx="3520440" cy="2468880"/>
          </a:xfrm>
          <a:prstGeom prst="rect">
            <a:avLst/>
          </a:prstGeom>
          <a:solidFill>
            <a:srgbClr val="272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275319" y="3840479"/>
            <a:ext cx="3154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EC4899"/>
                </a:solidFill>
                <a:latin typeface="Calibri"/>
              </a:rPr>
              <a:t>Chiffres clés</a:t>
            </a:r>
          </a:p>
        </p:txBody>
      </p:sp>
      <p:sp>
        <p:nvSpPr>
          <p:cNvPr id="55" name="Oval 54"/>
          <p:cNvSpPr/>
          <p:nvPr/>
        </p:nvSpPr>
        <p:spPr>
          <a:xfrm>
            <a:off x="8275319" y="4297679"/>
            <a:ext cx="411480" cy="41148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275319" y="4297679"/>
            <a:ext cx="411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i="0">
                <a:solidFill>
                  <a:srgbClr val="10B981"/>
                </a:solidFill>
                <a:latin typeface="Calibri"/>
              </a:rPr>
              <a:t>⚡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78240" y="4251959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~2 min commit → preview</a:t>
            </a:r>
          </a:p>
        </p:txBody>
      </p:sp>
      <p:sp>
        <p:nvSpPr>
          <p:cNvPr id="58" name="Oval 57"/>
          <p:cNvSpPr/>
          <p:nvPr/>
        </p:nvSpPr>
        <p:spPr>
          <a:xfrm>
            <a:off x="8275319" y="4937759"/>
            <a:ext cx="411480" cy="41148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275319" y="4937759"/>
            <a:ext cx="411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i="0">
                <a:solidFill>
                  <a:srgbClr val="06B6D4"/>
                </a:solidFill>
                <a:latin typeface="Calibri"/>
              </a:rPr>
              <a:t>●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778240" y="4892040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Lint + Test bloquants</a:t>
            </a:r>
          </a:p>
        </p:txBody>
      </p:sp>
      <p:sp>
        <p:nvSpPr>
          <p:cNvPr id="61" name="Oval 60"/>
          <p:cNvSpPr/>
          <p:nvPr/>
        </p:nvSpPr>
        <p:spPr>
          <a:xfrm>
            <a:off x="8275319" y="5577840"/>
            <a:ext cx="411480" cy="411480"/>
          </a:xfrm>
          <a:prstGeom prst="ellipse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275319" y="557784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i="0">
                <a:solidFill>
                  <a:srgbClr val="F472B6"/>
                </a:solidFill>
                <a:latin typeface="Calibri"/>
              </a:rPr>
              <a:t>▲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778240" y="5532120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Vercel preview par PR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71717A"/>
                </a:solidFill>
                <a:latin typeface="Calibri"/>
              </a:rPr>
              <a:t>Konekt  ·  RNCP 37873 - CDA  ·  Christophe Lecart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71717A"/>
                </a:solidFill>
                <a:latin typeface="Calibri"/>
              </a:rPr>
              <a:t>40 / 56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B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457200"/>
            <a:ext cx="73152" cy="77724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C4899"/>
                </a:solidFill>
                <a:latin typeface="Calibri"/>
              </a:rPr>
              <a:t>05 · DÉPLOIEMENT · CI/CD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Workflow GitHub Actions — détail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7315200" cy="4572000"/>
          </a:xfrm>
          <a:prstGeom prst="rect">
            <a:avLst/>
          </a:prstGeom>
          <a:solidFill>
            <a:srgbClr val="0D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77240" y="1874520"/>
            <a:ext cx="137160" cy="137160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60120" y="1874520"/>
            <a:ext cx="137160" cy="137160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43000" y="1874520"/>
            <a:ext cx="137160" cy="137160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71600" y="1783080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Consolas"/>
              </a:rPr>
              <a:t>.github/workflows/ci.yml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94560"/>
            <a:ext cx="6858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F472B6"/>
                </a:solidFill>
                <a:latin typeface="Consolas"/>
              </a:rPr>
              <a:t>name: CI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77440"/>
            <a:ext cx="6858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EC4899"/>
                </a:solidFill>
                <a:latin typeface="Consolas"/>
              </a:rPr>
              <a:t>on: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560320"/>
            <a:ext cx="6858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Consolas"/>
              </a:rPr>
              <a:t>  push:        { branches: [main] 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743200"/>
            <a:ext cx="6858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06B6D4"/>
                </a:solidFill>
                <a:latin typeface="Consolas"/>
              </a:rPr>
              <a:t>  pull_request: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926080"/>
            <a:ext cx="6858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EC4899"/>
                </a:solidFill>
                <a:latin typeface="Consolas"/>
              </a:rPr>
              <a:t>jobs: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108960"/>
            <a:ext cx="6858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06B6D4"/>
                </a:solidFill>
                <a:latin typeface="Consolas"/>
              </a:rPr>
              <a:t>  build: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291840"/>
            <a:ext cx="6858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Consolas"/>
              </a:rPr>
              <a:t>    runs-on: ubuntu-latest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474720"/>
            <a:ext cx="6858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Consolas"/>
              </a:rPr>
              <a:t>    timeout-minutes: 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657600"/>
            <a:ext cx="6858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06B6D4"/>
                </a:solidFill>
                <a:latin typeface="Consolas"/>
              </a:rPr>
              <a:t>    steps: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840480"/>
            <a:ext cx="6858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F472B6"/>
                </a:solidFill>
                <a:latin typeface="Consolas"/>
              </a:rPr>
              <a:t>      - uses: actions/checkout@v4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023360"/>
            <a:ext cx="6858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F472B6"/>
                </a:solidFill>
                <a:latin typeface="Consolas"/>
              </a:rPr>
              <a:t>      - uses: oven-sh/setup-bun@v1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206240"/>
            <a:ext cx="6858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Consolas"/>
              </a:rPr>
              <a:t>        with: { bun-version: '1' 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389120"/>
            <a:ext cx="6858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F59E0B"/>
                </a:solidFill>
                <a:latin typeface="Consolas"/>
              </a:rPr>
              <a:t>      - name: Install deps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572000"/>
            <a:ext cx="6858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  <a:latin typeface="Consolas"/>
              </a:rPr>
              <a:t>        run: bun install --frozen-lockfile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754880"/>
            <a:ext cx="6858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F59E0B"/>
                </a:solidFill>
                <a:latin typeface="Consolas"/>
              </a:rPr>
              <a:t>      - name: Prisma generate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4937760"/>
            <a:ext cx="6858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  <a:latin typeface="Consolas"/>
              </a:rPr>
              <a:t>        run: bunx prisma generate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120640"/>
            <a:ext cx="6858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F59E0B"/>
                </a:solidFill>
                <a:latin typeface="Consolas"/>
              </a:rPr>
              <a:t>      - name: Lint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303520"/>
            <a:ext cx="6858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  <a:latin typeface="Consolas"/>
              </a:rPr>
              <a:t>        run: bun run lint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5486400"/>
            <a:ext cx="6858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F59E0B"/>
                </a:solidFill>
                <a:latin typeface="Consolas"/>
              </a:rPr>
              <a:t>      - name: Tests d'intégration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5669280"/>
            <a:ext cx="6858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  <a:latin typeface="Consolas"/>
              </a:rPr>
              <a:t>        run: bun run test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5852160"/>
            <a:ext cx="6858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F59E0B"/>
                </a:solidFill>
                <a:latin typeface="Consolas"/>
              </a:rPr>
              <a:t>      - name: Build Next.js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6035040"/>
            <a:ext cx="6858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  <a:latin typeface="Consolas"/>
              </a:rPr>
              <a:t>        run: bun run build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92440" y="1691640"/>
            <a:ext cx="3520440" cy="4572000"/>
          </a:xfrm>
          <a:prstGeom prst="rect">
            <a:avLst/>
          </a:prstGeom>
          <a:solidFill>
            <a:srgbClr val="272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275319" y="1843556"/>
            <a:ext cx="31546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 u="sng" dirty="0" err="1">
                <a:solidFill>
                  <a:srgbClr val="EC4899"/>
                </a:solidFill>
                <a:latin typeface="Calibri"/>
              </a:rPr>
              <a:t>Que</a:t>
            </a:r>
            <a:r>
              <a:rPr sz="1400" b="1" i="0" u="sng" dirty="0">
                <a:solidFill>
                  <a:srgbClr val="EC4899"/>
                </a:solidFill>
                <a:latin typeface="Calibri"/>
              </a:rPr>
              <a:t> fait </a:t>
            </a:r>
            <a:r>
              <a:rPr sz="1400" b="1" i="0" u="sng" dirty="0" err="1">
                <a:solidFill>
                  <a:srgbClr val="EC4899"/>
                </a:solidFill>
                <a:latin typeface="Calibri"/>
              </a:rPr>
              <a:t>chaque</a:t>
            </a:r>
            <a:r>
              <a:rPr sz="1400" b="1" i="0" u="sng" dirty="0">
                <a:solidFill>
                  <a:srgbClr val="EC4899"/>
                </a:solidFill>
                <a:latin typeface="Calibri"/>
              </a:rPr>
              <a:t> étape ?</a:t>
            </a:r>
            <a:endParaRPr lang="fr-FR" sz="1400" b="1" i="0" u="sng">
              <a:solidFill>
                <a:srgbClr val="EC4899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8384176" y="2300756"/>
            <a:ext cx="411480" cy="41148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923383" y="2400179"/>
            <a:ext cx="265176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dirty="0" err="1">
                <a:solidFill>
                  <a:srgbClr val="FFFFFF"/>
                </a:solidFill>
                <a:latin typeface="Calibri"/>
              </a:rPr>
              <a:t>checkout</a:t>
            </a:r>
            <a:r>
              <a:rPr sz="1200" b="0" i="0" dirty="0">
                <a:solidFill>
                  <a:srgbClr val="FFFFFF"/>
                </a:solidFill>
                <a:latin typeface="Calibri"/>
              </a:rPr>
              <a:t> : clone le repo</a:t>
            </a:r>
            <a:endParaRPr lang="fr-FR" sz="1200" b="0" i="0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6" name="Oval 45"/>
          <p:cNvSpPr/>
          <p:nvPr/>
        </p:nvSpPr>
        <p:spPr>
          <a:xfrm>
            <a:off x="8384176" y="2940836"/>
            <a:ext cx="411480" cy="41148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384176" y="2940836"/>
            <a:ext cx="411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i="0">
                <a:solidFill>
                  <a:srgbClr val="06B6D4"/>
                </a:solidFill>
                <a:latin typeface="Calibri"/>
              </a:rPr>
              <a:t>●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23383" y="3040259"/>
            <a:ext cx="265176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setup-bun : runtime CI</a:t>
            </a:r>
            <a:endParaRPr lang="fr-FR" sz="1200" b="0" i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9" name="Oval 48"/>
          <p:cNvSpPr/>
          <p:nvPr/>
        </p:nvSpPr>
        <p:spPr>
          <a:xfrm>
            <a:off x="8384176" y="3580916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84176" y="3580916"/>
            <a:ext cx="411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i="0">
                <a:solidFill>
                  <a:srgbClr val="F59E0B"/>
                </a:solidFill>
                <a:latin typeface="Calibri"/>
              </a:rPr>
              <a:t>▣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23383" y="3680339"/>
            <a:ext cx="265176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dirty="0">
                <a:solidFill>
                  <a:srgbClr val="FFFFFF"/>
                </a:solidFill>
                <a:latin typeface="Calibri"/>
              </a:rPr>
              <a:t>bun </a:t>
            </a:r>
            <a:r>
              <a:rPr sz="1200" b="0" i="0" dirty="0" err="1">
                <a:solidFill>
                  <a:srgbClr val="FFFFFF"/>
                </a:solidFill>
                <a:latin typeface="Calibri"/>
              </a:rPr>
              <a:t>install :</a:t>
            </a:r>
            <a:r>
              <a:rPr sz="1200" b="0" i="0" dirty="0">
                <a:solidFill>
                  <a:srgbClr val="FFFFFF"/>
                </a:solidFill>
                <a:latin typeface="Calibri"/>
              </a:rPr>
              <a:t> deps </a:t>
            </a:r>
            <a:r>
              <a:rPr sz="1200" b="0" i="0" dirty="0" err="1">
                <a:solidFill>
                  <a:srgbClr val="FFFFFF"/>
                </a:solidFill>
                <a:latin typeface="Calibri"/>
              </a:rPr>
              <a:t>lockées</a:t>
            </a:r>
            <a:endParaRPr lang="fr-FR" sz="1200" b="0" i="0" dirty="0" err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2" name="Oval 51"/>
          <p:cNvSpPr/>
          <p:nvPr/>
        </p:nvSpPr>
        <p:spPr>
          <a:xfrm>
            <a:off x="8384176" y="4220996"/>
            <a:ext cx="411480" cy="411480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384176" y="4220996"/>
            <a:ext cx="411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i="0">
                <a:solidFill>
                  <a:srgbClr val="EC4899"/>
                </a:solidFill>
                <a:latin typeface="Calibri"/>
              </a:rPr>
              <a:t>▤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923383" y="4320419"/>
            <a:ext cx="265176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dirty="0" err="1">
                <a:solidFill>
                  <a:srgbClr val="FFFFFF"/>
                </a:solidFill>
                <a:latin typeface="Calibri"/>
              </a:rPr>
              <a:t>prisma</a:t>
            </a:r>
            <a:r>
              <a:rPr sz="12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Calibri"/>
              </a:rPr>
              <a:t>generate :</a:t>
            </a:r>
            <a:r>
              <a:rPr sz="1200" b="0" i="0" dirty="0">
                <a:solidFill>
                  <a:srgbClr val="FFFFFF"/>
                </a:solidFill>
                <a:latin typeface="Calibri"/>
              </a:rPr>
              <a:t> types</a:t>
            </a:r>
            <a:endParaRPr lang="fr-FR" sz="1200" b="0" i="0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5" name="Oval 54"/>
          <p:cNvSpPr/>
          <p:nvPr/>
        </p:nvSpPr>
        <p:spPr>
          <a:xfrm>
            <a:off x="8384176" y="4861076"/>
            <a:ext cx="411480" cy="41148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384176" y="4861076"/>
            <a:ext cx="411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923383" y="4960499"/>
            <a:ext cx="265176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dirty="0">
                <a:solidFill>
                  <a:srgbClr val="FFFFFF"/>
                </a:solidFill>
                <a:latin typeface="Calibri"/>
              </a:rPr>
              <a:t>lint + test : </a:t>
            </a:r>
            <a:r>
              <a:rPr sz="1200" b="0" i="0" dirty="0" err="1">
                <a:solidFill>
                  <a:srgbClr val="FFFFFF"/>
                </a:solidFill>
                <a:latin typeface="Calibri"/>
              </a:rPr>
              <a:t>qualité</a:t>
            </a:r>
            <a:endParaRPr lang="fr-FR" sz="1200" b="0" i="0" dirty="0" err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8384176" y="5501156"/>
            <a:ext cx="411480" cy="411480"/>
          </a:xfrm>
          <a:prstGeom prst="ellipse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384176" y="5501156"/>
            <a:ext cx="411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i="0">
                <a:solidFill>
                  <a:srgbClr val="F472B6"/>
                </a:solidFill>
                <a:latin typeface="Calibri"/>
              </a:rPr>
              <a:t>▲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923383" y="5600579"/>
            <a:ext cx="265176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dirty="0" err="1">
                <a:solidFill>
                  <a:srgbClr val="FFFFFF"/>
                </a:solidFill>
                <a:latin typeface="Calibri"/>
              </a:rPr>
              <a:t>build</a:t>
            </a:r>
            <a:r>
              <a:rPr sz="1200" b="0" i="0" dirty="0">
                <a:solidFill>
                  <a:srgbClr val="FFFFFF"/>
                </a:solidFill>
                <a:latin typeface="Calibri"/>
              </a:rPr>
              <a:t> : artefact .</a:t>
            </a:r>
            <a:r>
              <a:rPr sz="1200" b="0" i="0" dirty="0" err="1">
                <a:solidFill>
                  <a:srgbClr val="FFFFFF"/>
                </a:solidFill>
                <a:latin typeface="Calibri"/>
              </a:rPr>
              <a:t>next</a:t>
            </a:r>
            <a:endParaRPr lang="fr-FR" sz="1200" b="0" i="0" dirty="0" err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71717A"/>
                </a:solidFill>
                <a:latin typeface="Calibri"/>
              </a:rPr>
              <a:t>Konekt  ·  RNCP 37873 - CDA  ·  Christophe Lecart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71717A"/>
                </a:solidFill>
                <a:latin typeface="Calibri"/>
              </a:rPr>
              <a:t>41 / 56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B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457200"/>
            <a:ext cx="73152" cy="77724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C4899"/>
                </a:solidFill>
                <a:latin typeface="Calibri"/>
              </a:rPr>
              <a:t>05 · DÉPLOIEMENT · CI/CD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Triggers : 3 façons de déclencher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3657600" cy="4572000"/>
          </a:xfrm>
          <a:prstGeom prst="rect">
            <a:avLst/>
          </a:prstGeom>
          <a:solidFill>
            <a:srgbClr val="0D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3657600" cy="9144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7315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 i="0">
                <a:solidFill>
                  <a:srgbClr val="06B6D4"/>
                </a:solidFill>
                <a:latin typeface="Calibri"/>
              </a:rPr>
              <a:t>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54760" y="1965960"/>
            <a:ext cx="25146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fr-FR" sz="1600" b="1">
                <a:solidFill>
                  <a:srgbClr val="FFFFFF"/>
                </a:solidFill>
                <a:latin typeface="Consolas"/>
              </a:rPr>
              <a:t>push</a:t>
            </a:r>
            <a:r>
              <a:rPr sz="1600" b="1" i="0">
                <a:solidFill>
                  <a:srgbClr val="FFFFFF"/>
                </a:solidFill>
                <a:latin typeface="Consolas"/>
              </a:rPr>
              <a:t> sur main</a:t>
            </a:r>
            <a:endParaRPr lang="fr-FR" sz="1600" b="1" i="0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254760" y="2247053"/>
            <a:ext cx="25146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dirty="0">
                <a:solidFill>
                  <a:srgbClr val="A1A1AA"/>
                </a:solidFill>
                <a:latin typeface="Calibri"/>
              </a:rPr>
              <a:t>Merge </a:t>
            </a:r>
            <a:r>
              <a:rPr sz="1200" b="0" i="0" dirty="0" err="1">
                <a:solidFill>
                  <a:srgbClr val="A1A1AA"/>
                </a:solidFill>
                <a:latin typeface="Calibri"/>
              </a:rPr>
              <a:t>d'une</a:t>
            </a:r>
            <a:r>
              <a:rPr sz="1200" b="0" i="0" dirty="0">
                <a:solidFill>
                  <a:srgbClr val="A1A1AA"/>
                </a:solidFill>
                <a:latin typeface="Calibri"/>
              </a:rPr>
              <a:t> PR sur main</a:t>
            </a:r>
            <a:endParaRPr lang="fr-FR" sz="1200" b="0" i="0">
              <a:solidFill>
                <a:srgbClr val="A1A1A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31520" y="2788920"/>
            <a:ext cx="3291840" cy="457200"/>
          </a:xfrm>
          <a:prstGeom prst="rect">
            <a:avLst/>
          </a:prstGeom>
          <a:solidFill>
            <a:srgbClr val="272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59" y="2937595"/>
            <a:ext cx="310896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dirty="0">
                <a:solidFill>
                  <a:srgbClr val="FFFFFF"/>
                </a:solidFill>
                <a:latin typeface="Calibri"/>
              </a:rPr>
              <a:t>CI </a:t>
            </a:r>
            <a:r>
              <a:rPr sz="1200" b="0" i="0" dirty="0" err="1">
                <a:solidFill>
                  <a:srgbClr val="FFFFFF"/>
                </a:solidFill>
                <a:latin typeface="Calibri"/>
              </a:rPr>
              <a:t>complet</a:t>
            </a:r>
            <a:r>
              <a:rPr sz="1200" b="0" i="0" dirty="0">
                <a:solidFill>
                  <a:srgbClr val="FFFFFF"/>
                </a:solidFill>
                <a:latin typeface="Calibri"/>
              </a:rPr>
              <a:t> + auto-deploy production</a:t>
            </a:r>
            <a:endParaRPr lang="fr-FR" sz="1200" b="0" i="0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77240" y="3520440"/>
            <a:ext cx="3200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EC4899"/>
                </a:solidFill>
                <a:latin typeface="Consolas"/>
              </a:rPr>
              <a:t>on:</a:t>
            </a:r>
            <a:endParaRPr lang="fr-FR" sz="1200" b="0" i="0">
              <a:solidFill>
                <a:srgbClr val="EC4899"/>
              </a:solidFill>
              <a:latin typeface="Consola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3776472"/>
            <a:ext cx="3200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6B6D4"/>
                </a:solidFill>
                <a:latin typeface="Consolas"/>
              </a:rPr>
              <a:t>  push:</a:t>
            </a:r>
            <a:endParaRPr lang="fr-FR" sz="1200" b="0" i="0">
              <a:solidFill>
                <a:srgbClr val="06B6D4"/>
              </a:solidFill>
              <a:latin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4032504"/>
            <a:ext cx="3200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A1A1AA"/>
                </a:solidFill>
                <a:latin typeface="Consolas"/>
              </a:rPr>
              <a:t>    branches:</a:t>
            </a:r>
            <a:endParaRPr lang="fr-FR" sz="1200" b="0" i="0">
              <a:solidFill>
                <a:srgbClr val="A1A1AA"/>
              </a:solidFill>
              <a:latin typeface="Consola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4288536"/>
            <a:ext cx="3200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0B981"/>
                </a:solidFill>
                <a:latin typeface="Consolas"/>
              </a:rPr>
              <a:t>      - main</a:t>
            </a:r>
            <a:endParaRPr lang="fr-FR" sz="1200" b="0" i="0">
              <a:solidFill>
                <a:srgbClr val="10B981"/>
              </a:solidFill>
              <a:latin typeface="Consola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31520" y="498348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200" b="1" i="0">
                <a:solidFill>
                  <a:srgbClr val="06B6D4"/>
                </a:solidFill>
                <a:latin typeface="Calibri"/>
              </a:rPr>
              <a:t>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349240"/>
            <a:ext cx="329184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1" dirty="0" err="1">
                <a:solidFill>
                  <a:srgbClr val="A1A1AA"/>
                </a:solidFill>
                <a:latin typeface="Calibri"/>
              </a:rPr>
              <a:t>Déploiement</a:t>
            </a:r>
            <a:r>
              <a:rPr sz="1200" b="0" i="1" dirty="0">
                <a:solidFill>
                  <a:srgbClr val="A1A1AA"/>
                </a:solidFill>
                <a:latin typeface="Calibri"/>
              </a:rPr>
              <a:t> auto</a:t>
            </a:r>
            <a:endParaRPr lang="fr-FR" sz="1200" b="0" i="1" dirty="0">
              <a:solidFill>
                <a:srgbClr val="A1A1A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31520" y="5623560"/>
            <a:ext cx="329184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1" dirty="0" err="1">
                <a:solidFill>
                  <a:srgbClr val="A1A1AA"/>
                </a:solidFill>
                <a:latin typeface="Calibri"/>
              </a:rPr>
              <a:t>en</a:t>
            </a:r>
            <a:r>
              <a:rPr sz="1200" b="0" i="1" dirty="0">
                <a:solidFill>
                  <a:srgbClr val="A1A1AA"/>
                </a:solidFill>
                <a:latin typeface="Calibri"/>
              </a:rPr>
              <a:t> production</a:t>
            </a:r>
            <a:endParaRPr lang="fr-FR" sz="1200" b="0" i="1" dirty="0">
              <a:solidFill>
                <a:srgbClr val="A1A1A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343400" y="1691640"/>
            <a:ext cx="3657600" cy="4572000"/>
          </a:xfrm>
          <a:prstGeom prst="rect">
            <a:avLst/>
          </a:prstGeom>
          <a:solidFill>
            <a:srgbClr val="0D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343400" y="1691640"/>
            <a:ext cx="3657600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26280" y="1965960"/>
            <a:ext cx="7315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 i="0">
                <a:solidFill>
                  <a:srgbClr val="F59E0B"/>
                </a:solidFill>
                <a:latin typeface="Calibri"/>
              </a:rPr>
              <a:t>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49520" y="1965960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nsolas"/>
              </a:rPr>
              <a:t>pull_request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49520" y="2247053"/>
            <a:ext cx="25146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dirty="0" err="1">
                <a:solidFill>
                  <a:srgbClr val="A1A1AA"/>
                </a:solidFill>
                <a:latin typeface="Calibri"/>
              </a:rPr>
              <a:t>Ouverture</a:t>
            </a:r>
            <a:r>
              <a:rPr sz="1200" b="0" i="0" dirty="0">
                <a:solidFill>
                  <a:srgbClr val="A1A1AA"/>
                </a:solidFill>
                <a:latin typeface="Calibri"/>
              </a:rPr>
              <a:t> / update </a:t>
            </a:r>
            <a:r>
              <a:rPr sz="1200" b="0" i="0" dirty="0" err="1">
                <a:solidFill>
                  <a:srgbClr val="A1A1AA"/>
                </a:solidFill>
                <a:latin typeface="Calibri"/>
              </a:rPr>
              <a:t>d'une</a:t>
            </a:r>
            <a:r>
              <a:rPr sz="1200" b="0" i="0" dirty="0">
                <a:solidFill>
                  <a:srgbClr val="A1A1AA"/>
                </a:solidFill>
                <a:latin typeface="Calibri"/>
              </a:rPr>
              <a:t> PR</a:t>
            </a:r>
            <a:endParaRPr lang="fr-FR" sz="1200" b="0" i="0">
              <a:solidFill>
                <a:srgbClr val="A1A1A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526280" y="2788920"/>
            <a:ext cx="3291840" cy="457200"/>
          </a:xfrm>
          <a:prstGeom prst="rect">
            <a:avLst/>
          </a:prstGeom>
          <a:solidFill>
            <a:srgbClr val="272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17720" y="2937595"/>
            <a:ext cx="310896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dirty="0">
                <a:solidFill>
                  <a:srgbClr val="FFFFFF"/>
                </a:solidFill>
                <a:latin typeface="Calibri"/>
              </a:rPr>
              <a:t>CI + Preview </a:t>
            </a:r>
            <a:r>
              <a:rPr sz="1200" b="0" i="0" dirty="0" err="1">
                <a:solidFill>
                  <a:srgbClr val="FFFFFF"/>
                </a:solidFill>
                <a:latin typeface="Calibri"/>
              </a:rPr>
              <a:t>Vercel</a:t>
            </a:r>
            <a:r>
              <a:rPr sz="1200" b="0" i="0" dirty="0">
                <a:solidFill>
                  <a:srgbClr val="FFFFFF"/>
                </a:solidFill>
                <a:latin typeface="Calibri"/>
              </a:rPr>
              <a:t> + Neon branch </a:t>
            </a:r>
            <a:r>
              <a:rPr sz="1200" b="0" i="0" dirty="0" err="1">
                <a:solidFill>
                  <a:srgbClr val="FFFFFF"/>
                </a:solidFill>
                <a:latin typeface="Calibri"/>
              </a:rPr>
              <a:t>isolée</a:t>
            </a:r>
            <a:endParaRPr lang="fr-FR" sz="1200" b="0" i="0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572000" y="3520440"/>
            <a:ext cx="3200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EC4899"/>
                </a:solidFill>
                <a:latin typeface="Consolas"/>
              </a:rPr>
              <a:t>on:</a:t>
            </a:r>
            <a:endParaRPr lang="fr-FR" sz="1200" b="0" i="0">
              <a:solidFill>
                <a:srgbClr val="EC4899"/>
              </a:solidFill>
              <a:latin typeface="Consola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572000" y="3776472"/>
            <a:ext cx="3200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dirty="0">
                <a:solidFill>
                  <a:srgbClr val="06B6D4"/>
                </a:solidFill>
                <a:latin typeface="Consolas"/>
              </a:rPr>
              <a:t>  </a:t>
            </a:r>
            <a:r>
              <a:rPr sz="1200" b="0" i="0" dirty="0" err="1">
                <a:solidFill>
                  <a:srgbClr val="06B6D4"/>
                </a:solidFill>
                <a:latin typeface="Consolas"/>
              </a:rPr>
              <a:t>pull_request</a:t>
            </a:r>
            <a:r>
              <a:rPr sz="1200" b="0" i="0" dirty="0">
                <a:solidFill>
                  <a:srgbClr val="06B6D4"/>
                </a:solidFill>
                <a:latin typeface="Consolas"/>
              </a:rPr>
              <a:t>:</a:t>
            </a:r>
            <a:endParaRPr lang="fr-FR" sz="1200" b="0" i="0" dirty="0">
              <a:solidFill>
                <a:srgbClr val="06B6D4"/>
              </a:solidFill>
              <a:latin typeface="Consola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572000" y="4032504"/>
            <a:ext cx="3200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dirty="0">
                <a:solidFill>
                  <a:srgbClr val="A1A1AA"/>
                </a:solidFill>
                <a:latin typeface="Consolas"/>
              </a:rPr>
              <a:t>    branches: [main, </a:t>
            </a:r>
            <a:r>
              <a:rPr sz="1200" b="0" i="0" dirty="0" err="1">
                <a:solidFill>
                  <a:srgbClr val="A1A1AA"/>
                </a:solidFill>
                <a:latin typeface="Consolas"/>
              </a:rPr>
              <a:t>develop</a:t>
            </a:r>
            <a:r>
              <a:rPr sz="1200" b="0" i="0" dirty="0">
                <a:solidFill>
                  <a:srgbClr val="A1A1AA"/>
                </a:solidFill>
                <a:latin typeface="Consolas"/>
              </a:rPr>
              <a:t>]</a:t>
            </a:r>
            <a:endParaRPr lang="fr-FR" sz="1200" b="0" i="0" dirty="0">
              <a:solidFill>
                <a:srgbClr val="A1A1AA"/>
              </a:solidFill>
              <a:latin typeface="Consola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572000" y="4288536"/>
            <a:ext cx="3200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dirty="0">
                <a:solidFill>
                  <a:srgbClr val="A1A1AA"/>
                </a:solidFill>
                <a:latin typeface="Consolas"/>
              </a:rPr>
              <a:t>    types: [</a:t>
            </a:r>
            <a:r>
              <a:rPr sz="1200" b="0" i="0" dirty="0" err="1">
                <a:solidFill>
                  <a:srgbClr val="A1A1AA"/>
                </a:solidFill>
                <a:latin typeface="Consolas"/>
              </a:rPr>
              <a:t>opened</a:t>
            </a:r>
            <a:r>
              <a:rPr sz="1200" b="0" i="0" dirty="0">
                <a:solidFill>
                  <a:srgbClr val="A1A1AA"/>
                </a:solidFill>
                <a:latin typeface="Consolas"/>
              </a:rPr>
              <a:t>, </a:t>
            </a:r>
            <a:r>
              <a:rPr sz="1200" b="0" i="0" dirty="0" err="1">
                <a:solidFill>
                  <a:srgbClr val="A1A1AA"/>
                </a:solidFill>
                <a:latin typeface="Consolas"/>
              </a:rPr>
              <a:t>synchronize</a:t>
            </a:r>
            <a:r>
              <a:rPr sz="1200" b="0" i="0" dirty="0">
                <a:solidFill>
                  <a:srgbClr val="A1A1AA"/>
                </a:solidFill>
                <a:latin typeface="Consolas"/>
              </a:rPr>
              <a:t>]</a:t>
            </a:r>
            <a:endParaRPr lang="fr-FR" sz="1200" b="0" i="0" dirty="0">
              <a:solidFill>
                <a:srgbClr val="A1A1AA"/>
              </a:solidFill>
              <a:latin typeface="Consola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526280" y="498348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200" b="1" i="0">
                <a:solidFill>
                  <a:srgbClr val="F59E0B"/>
                </a:solidFill>
                <a:latin typeface="Calibri"/>
              </a:rPr>
              <a:t>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80" y="5349240"/>
            <a:ext cx="329184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1" dirty="0">
                <a:solidFill>
                  <a:srgbClr val="A1A1AA"/>
                </a:solidFill>
                <a:latin typeface="Calibri"/>
              </a:rPr>
              <a:t>Status check </a:t>
            </a:r>
            <a:r>
              <a:rPr sz="1200" b="0" i="1" dirty="0" err="1">
                <a:solidFill>
                  <a:srgbClr val="A1A1AA"/>
                </a:solidFill>
                <a:latin typeface="Calibri"/>
              </a:rPr>
              <a:t>obligatoire</a:t>
            </a:r>
            <a:endParaRPr lang="fr-FR" sz="1200" b="0" i="1" dirty="0">
              <a:solidFill>
                <a:srgbClr val="A1A1A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526280" y="5623560"/>
            <a:ext cx="329184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1">
                <a:solidFill>
                  <a:srgbClr val="A1A1AA"/>
                </a:solidFill>
                <a:latin typeface="Calibri"/>
              </a:rPr>
              <a:t>avant merge</a:t>
            </a:r>
            <a:endParaRPr lang="fr-FR" sz="1200" b="0" i="1">
              <a:solidFill>
                <a:srgbClr val="A1A1A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8138160" y="1691640"/>
            <a:ext cx="3657600" cy="4572000"/>
          </a:xfrm>
          <a:prstGeom prst="rect">
            <a:avLst/>
          </a:prstGeom>
          <a:solidFill>
            <a:srgbClr val="0D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138160" y="1691640"/>
            <a:ext cx="3657600" cy="91440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321040" y="1953865"/>
            <a:ext cx="73152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F472B6"/>
                </a:solidFill>
                <a:latin typeface="Calibri"/>
              </a:rPr>
              <a:t>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44280" y="1965960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nsolas"/>
              </a:rPr>
              <a:t>workflow_dispatch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44280" y="2247053"/>
            <a:ext cx="25146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dirty="0">
                <a:solidFill>
                  <a:srgbClr val="A1A1AA"/>
                </a:solidFill>
                <a:latin typeface="Calibri"/>
              </a:rPr>
              <a:t>Bouton </a:t>
            </a:r>
            <a:r>
              <a:rPr sz="1200" b="0" i="0" dirty="0" err="1">
                <a:solidFill>
                  <a:srgbClr val="A1A1AA"/>
                </a:solidFill>
                <a:latin typeface="Calibri"/>
              </a:rPr>
              <a:t>manuel</a:t>
            </a:r>
            <a:r>
              <a:rPr sz="1200" b="0" i="0" dirty="0">
                <a:solidFill>
                  <a:srgbClr val="A1A1AA"/>
                </a:solidFill>
                <a:latin typeface="Calibri"/>
              </a:rPr>
              <a:t> dans GitHub UI</a:t>
            </a:r>
            <a:endParaRPr lang="fr-FR" sz="1200" b="0" i="0" dirty="0">
              <a:solidFill>
                <a:srgbClr val="A1A1A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8321040" y="2788920"/>
            <a:ext cx="3291840" cy="457200"/>
          </a:xfrm>
          <a:prstGeom prst="rect">
            <a:avLst/>
          </a:prstGeom>
          <a:solidFill>
            <a:srgbClr val="272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12480" y="2937595"/>
            <a:ext cx="310896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dirty="0">
                <a:solidFill>
                  <a:srgbClr val="FFFFFF"/>
                </a:solidFill>
                <a:latin typeface="Calibri"/>
              </a:rPr>
              <a:t>Rejeu d'un </a:t>
            </a:r>
            <a:r>
              <a:rPr sz="1200" b="0" i="0" dirty="0" err="1">
                <a:solidFill>
                  <a:srgbClr val="FFFFFF"/>
                </a:solidFill>
                <a:latin typeface="Calibri"/>
              </a:rPr>
              <a:t>déploiement</a:t>
            </a:r>
            <a:r>
              <a:rPr sz="1200" b="0" i="0" dirty="0">
                <a:solidFill>
                  <a:srgbClr val="FFFFFF"/>
                </a:solidFill>
                <a:latin typeface="Calibri"/>
              </a:rPr>
              <a:t>, debug</a:t>
            </a:r>
            <a:endParaRPr lang="fr-FR" sz="1200" b="0" i="0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366760" y="3520440"/>
            <a:ext cx="3200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EC4899"/>
                </a:solidFill>
                <a:latin typeface="Consolas"/>
              </a:rPr>
              <a:t>on:</a:t>
            </a:r>
            <a:endParaRPr lang="fr-FR" sz="1200" b="0" i="0">
              <a:solidFill>
                <a:srgbClr val="EC4899"/>
              </a:solidFill>
              <a:latin typeface="Consolas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366760" y="3776472"/>
            <a:ext cx="3200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dirty="0">
                <a:solidFill>
                  <a:srgbClr val="06B6D4"/>
                </a:solidFill>
                <a:latin typeface="Consolas"/>
              </a:rPr>
              <a:t>  </a:t>
            </a:r>
            <a:r>
              <a:rPr sz="1200" b="0" i="0" dirty="0" err="1">
                <a:solidFill>
                  <a:srgbClr val="06B6D4"/>
                </a:solidFill>
                <a:latin typeface="Consolas"/>
              </a:rPr>
              <a:t>workflow_dispatch</a:t>
            </a:r>
            <a:r>
              <a:rPr sz="1200" b="0" i="0" dirty="0">
                <a:solidFill>
                  <a:srgbClr val="06B6D4"/>
                </a:solidFill>
                <a:latin typeface="Consolas"/>
              </a:rPr>
              <a:t>:</a:t>
            </a:r>
            <a:endParaRPr lang="fr-FR" sz="1200" b="0" i="0" dirty="0">
              <a:solidFill>
                <a:srgbClr val="06B6D4"/>
              </a:solidFill>
              <a:latin typeface="Consola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366760" y="4032504"/>
            <a:ext cx="3200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A1A1AA"/>
                </a:solidFill>
                <a:latin typeface="Consolas"/>
              </a:rPr>
              <a:t>    inputs:</a:t>
            </a:r>
            <a:endParaRPr lang="fr-FR" sz="1200" b="0" i="0">
              <a:solidFill>
                <a:srgbClr val="A1A1AA"/>
              </a:solidFill>
              <a:latin typeface="Consolas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366760" y="4288536"/>
            <a:ext cx="3200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dirty="0">
                <a:solidFill>
                  <a:srgbClr val="A1A1AA"/>
                </a:solidFill>
                <a:latin typeface="Consolas"/>
              </a:rPr>
              <a:t>      </a:t>
            </a:r>
            <a:r>
              <a:rPr sz="1200" b="0" i="0" dirty="0" err="1">
                <a:solidFill>
                  <a:srgbClr val="A1A1AA"/>
                </a:solidFill>
                <a:latin typeface="Consolas"/>
              </a:rPr>
              <a:t>env</a:t>
            </a:r>
            <a:r>
              <a:rPr sz="1200" b="0" i="0" dirty="0">
                <a:solidFill>
                  <a:srgbClr val="A1A1AA"/>
                </a:solidFill>
                <a:latin typeface="Consolas"/>
              </a:rPr>
              <a:t>: { type: </a:t>
            </a:r>
            <a:r>
              <a:rPr sz="1200" b="0" i="0" dirty="0" err="1">
                <a:solidFill>
                  <a:srgbClr val="A1A1AA"/>
                </a:solidFill>
                <a:latin typeface="Consolas"/>
              </a:rPr>
              <a:t>choice</a:t>
            </a:r>
            <a:r>
              <a:rPr sz="1200" b="0" i="0" dirty="0">
                <a:solidFill>
                  <a:srgbClr val="A1A1AA"/>
                </a:solidFill>
                <a:latin typeface="Consolas"/>
              </a:rPr>
              <a:t> }</a:t>
            </a:r>
            <a:endParaRPr lang="fr-FR" sz="1200" b="0" i="0" dirty="0">
              <a:solidFill>
                <a:srgbClr val="A1A1AA"/>
              </a:solidFill>
              <a:latin typeface="Consolas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321040" y="498348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200" b="1" i="0">
                <a:solidFill>
                  <a:srgbClr val="F472B6"/>
                </a:solidFill>
                <a:latin typeface="Calibri"/>
              </a:rPr>
              <a:t>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5349240"/>
            <a:ext cx="329184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1" dirty="0" err="1">
                <a:solidFill>
                  <a:srgbClr val="A1A1AA"/>
                </a:solidFill>
                <a:latin typeface="Calibri"/>
              </a:rPr>
              <a:t>Lancement</a:t>
            </a:r>
            <a:r>
              <a:rPr sz="1200" b="0" i="1" dirty="0">
                <a:solidFill>
                  <a:srgbClr val="A1A1AA"/>
                </a:solidFill>
                <a:latin typeface="Calibri"/>
              </a:rPr>
              <a:t> </a:t>
            </a:r>
            <a:r>
              <a:rPr sz="1200" b="0" i="1" dirty="0" err="1">
                <a:solidFill>
                  <a:srgbClr val="A1A1AA"/>
                </a:solidFill>
                <a:latin typeface="Calibri"/>
              </a:rPr>
              <a:t>manuel</a:t>
            </a:r>
            <a:endParaRPr lang="fr-FR" sz="1200" b="0" i="1">
              <a:solidFill>
                <a:srgbClr val="A1A1A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321040" y="5623560"/>
            <a:ext cx="329184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1" dirty="0">
                <a:solidFill>
                  <a:srgbClr val="A1A1AA"/>
                </a:solidFill>
                <a:latin typeface="Calibri"/>
              </a:rPr>
              <a:t>pour rebuild </a:t>
            </a:r>
            <a:r>
              <a:rPr sz="1200" b="0" i="1" dirty="0" err="1">
                <a:solidFill>
                  <a:srgbClr val="A1A1AA"/>
                </a:solidFill>
                <a:latin typeface="Calibri"/>
              </a:rPr>
              <a:t>d'urgence</a:t>
            </a:r>
            <a:endParaRPr lang="fr-FR" sz="1200" b="0" i="1" dirty="0">
              <a:solidFill>
                <a:srgbClr val="A1A1A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71717A"/>
                </a:solidFill>
                <a:latin typeface="Calibri"/>
              </a:rPr>
              <a:t>Konekt  ·  RNCP 37873 - CDA  ·  Christophe Lecart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71717A"/>
                </a:solidFill>
                <a:latin typeface="Calibri"/>
              </a:rPr>
              <a:t>42 / 56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A1B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DÉPLOIEMENT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— image applicative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73152" cy="7772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7315200" cy="4572000"/>
          </a:xfrm>
          <a:prstGeom prst="roundRect">
            <a:avLst>
              <a:gd name="adj" fmla="val 2000"/>
            </a:avLst>
          </a:prstGeom>
          <a:solidFill>
            <a:srgbClr val="0D0E14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777240" y="1874520"/>
            <a:ext cx="137160" cy="137160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960120" y="1874520"/>
            <a:ext cx="137160" cy="137160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43000" y="1874520"/>
            <a:ext cx="137160" cy="137160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371600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Dockerfile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240280"/>
            <a:ext cx="6949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Stage 1 — deps (cache layer)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414016"/>
            <a:ext cx="6949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oven/bun:1 AS deps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2587752"/>
            <a:ext cx="6949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2761488"/>
            <a:ext cx="6949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package.json bun.lock ./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2935224"/>
            <a:ext cx="6949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bun install --frozen-lockfile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3108960"/>
            <a:ext cx="6949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" y="3282696"/>
            <a:ext cx="6949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Stage 2 — builder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" y="3456432"/>
            <a:ext cx="6949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oven/bun:1 AS builder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3630168"/>
            <a:ext cx="6949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7240" y="3803904"/>
            <a:ext cx="6949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--from=deps /app/node_modules ./node_modules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3977640"/>
            <a:ext cx="6949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. 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" y="4151376"/>
            <a:ext cx="6949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bunx prisma generate &amp;&amp; bun run build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" y="4325112"/>
            <a:ext cx="6949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77240" y="4498848"/>
            <a:ext cx="6949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Stage 3 — runner (image légère)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" y="4672584"/>
            <a:ext cx="6949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oven/bun:1-slim AS runner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77240" y="4846320"/>
            <a:ext cx="6949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7240" y="5020056"/>
            <a:ext cx="6949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 NODE_ENV=production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77240" y="5193792"/>
            <a:ext cx="6949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--from=builder /app/.next ./.next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77240" y="5367528"/>
            <a:ext cx="6949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--from=builder /app/node_modules ./node_modules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77240" y="5541264"/>
            <a:ext cx="6949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--from=builder /app/package.json ./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77240" y="5715000"/>
            <a:ext cx="6949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EXPOSE 3000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77240" y="5888736"/>
            <a:ext cx="6949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["bun", "run", "start"]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092440" y="1691640"/>
            <a:ext cx="3520440" cy="4572000"/>
          </a:xfrm>
          <a:prstGeom prst="roundRect">
            <a:avLst>
              <a:gd name="adj" fmla="val 2078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8275320" y="1783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techniques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275320" y="2240280"/>
            <a:ext cx="411480" cy="411480"/>
          </a:xfrm>
          <a:prstGeom prst="ellipse">
            <a:avLst/>
          </a:prstGeom>
          <a:solidFill>
            <a:srgbClr val="10B981">
              <a:alpha val="3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8275320" y="2240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778240" y="21945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: cache deps séparé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275320" y="2880360"/>
            <a:ext cx="411480" cy="411480"/>
          </a:xfrm>
          <a:prstGeom prst="ellipse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8275320" y="2880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778240" y="28346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 runtime (build &amp; run)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275320" y="3520440"/>
            <a:ext cx="411480" cy="411480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8275320" y="3520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⊕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778240" y="34747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generate avant build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275320" y="4160520"/>
            <a:ext cx="411480" cy="411480"/>
          </a:xfrm>
          <a:prstGeom prst="ellipse">
            <a:avLst/>
          </a:prstGeom>
          <a:solidFill>
            <a:srgbClr val="8B5CF6">
              <a:alpha val="30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8275320" y="4160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◯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8778240" y="41148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slim finale (~150 Mo)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275320" y="4800600"/>
            <a:ext cx="411480" cy="411480"/>
          </a:xfrm>
          <a:prstGeom prst="ellipse">
            <a:avLst/>
          </a:prstGeom>
          <a:solidFill>
            <a:srgbClr val="EF4444">
              <a:alpha val="30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/>
          <p:nvPr/>
        </p:nvSpPr>
        <p:spPr>
          <a:xfrm>
            <a:off x="8275320" y="4800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8778240" y="47548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secret dans l'image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8275320" y="5440680"/>
            <a:ext cx="411480" cy="411480"/>
          </a:xfrm>
          <a:prstGeom prst="ellipse">
            <a:avLst/>
          </a:prstGeom>
          <a:solidFill>
            <a:srgbClr val="EC4899">
              <a:alpha val="30000"/>
            </a:srgbClr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8"/>
          <p:cNvSpPr/>
          <p:nvPr/>
        </p:nvSpPr>
        <p:spPr>
          <a:xfrm>
            <a:off x="8275320" y="5440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8778240" y="53949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3000 explicite</a:t>
            </a:r>
            <a:endParaRPr lang="en-US" sz="1100" dirty="0"/>
          </a:p>
        </p:txBody>
      </p:sp>
      <p:pic>
        <p:nvPicPr>
          <p:cNvPr id="52" name="Image 0" descr="/sessions/sweet-funny-newton/mnt/outputs/build/assets/konekt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446520"/>
            <a:ext cx="274320" cy="274320"/>
          </a:xfrm>
          <a:prstGeom prst="rect">
            <a:avLst/>
          </a:prstGeom>
        </p:spPr>
      </p:pic>
      <p:sp>
        <p:nvSpPr>
          <p:cNvPr id="53" name="Text 50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Konekt  ·  RNCP 37873 - CDA  ·  Christophe Lecart</a:t>
            </a:r>
            <a:endParaRPr lang="en-US" sz="900" dirty="0"/>
          </a:p>
        </p:txBody>
      </p:sp>
      <p:sp>
        <p:nvSpPr>
          <p:cNvPr id="54" name="Text 51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/ 56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A1B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DÉPLOIEMENT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docker-compose.yml — env local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73152" cy="7772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7315200" cy="4572000"/>
          </a:xfrm>
          <a:prstGeom prst="roundRect">
            <a:avLst>
              <a:gd name="adj" fmla="val 2000"/>
            </a:avLst>
          </a:prstGeom>
          <a:solidFill>
            <a:srgbClr val="0D0E14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777240" y="1874520"/>
            <a:ext cx="137160" cy="137160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960120" y="1874520"/>
            <a:ext cx="137160" cy="137160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43000" y="1874520"/>
            <a:ext cx="137160" cy="137160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371600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docker-compose.yml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240280"/>
            <a:ext cx="6949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414016"/>
            <a:ext cx="6949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2587752"/>
            <a:ext cx="6949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build: 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2761488"/>
            <a:ext cx="6949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ports: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2935224"/>
            <a:ext cx="6949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"3000:3000"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3108960"/>
            <a:ext cx="6949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environment: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" y="3282696"/>
            <a:ext cx="6949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DATABASE_URL: postgresql://postgres:postgres@db:5432/social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" y="3456432"/>
            <a:ext cx="6949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REDIS_URL: Upstash Redis REST (UPSTASH_REDIS_REST_URL)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3630168"/>
            <a:ext cx="6949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JWT_SECRET: ${JWT_SECRET}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7240" y="3803904"/>
            <a:ext cx="6949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depends_on: [db, redis]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3977640"/>
            <a:ext cx="6949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" y="4151376"/>
            <a:ext cx="6949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db: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" y="4325112"/>
            <a:ext cx="6949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postgres:16-alpine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77240" y="4498848"/>
            <a:ext cx="6949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ports: ["5432:5432"]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" y="4672584"/>
            <a:ext cx="6949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environment: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77240" y="4846320"/>
            <a:ext cx="6949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POSTGRES_DB: social-network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7240" y="5020056"/>
            <a:ext cx="6949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POSTGRES_USER: postgres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77240" y="5193792"/>
            <a:ext cx="6949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POSTGRES_PASSWORD: postgres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77240" y="5367528"/>
            <a:ext cx="6949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77240" y="5541264"/>
            <a:ext cx="6949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redis: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77240" y="5715000"/>
            <a:ext cx="6949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redis:7-alpine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77240" y="5888736"/>
            <a:ext cx="6949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ports: ["6379:6379"]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092440" y="1691640"/>
            <a:ext cx="3520440" cy="4572000"/>
          </a:xfrm>
          <a:prstGeom prst="roundRect">
            <a:avLst>
              <a:gd name="adj" fmla="val 2078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8275320" y="1783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compose ?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275320" y="2240280"/>
            <a:ext cx="411480" cy="411480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8275320" y="2240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⚓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778240" y="21945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Reproduit prod en local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275320" y="2880360"/>
            <a:ext cx="411480" cy="411480"/>
          </a:xfrm>
          <a:prstGeom prst="ellipse">
            <a:avLst/>
          </a:prstGeom>
          <a:solidFill>
            <a:srgbClr val="8B5CF6">
              <a:alpha val="30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8275320" y="2880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778240" y="28346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+ Redis + App orchestrés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275320" y="3520440"/>
            <a:ext cx="411480" cy="411480"/>
          </a:xfrm>
          <a:prstGeom prst="ellipse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8275320" y="3520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778240" y="34747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depends_on respecté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275320" y="4160520"/>
            <a:ext cx="411480" cy="411480"/>
          </a:xfrm>
          <a:prstGeom prst="ellipse">
            <a:avLst/>
          </a:prstGeom>
          <a:solidFill>
            <a:srgbClr val="EC4899">
              <a:alpha val="30000"/>
            </a:srgbClr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8275320" y="4160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8778240" y="41148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d'env via .env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275320" y="4800600"/>
            <a:ext cx="411480" cy="411480"/>
          </a:xfrm>
          <a:prstGeom prst="ellipse">
            <a:avLst/>
          </a:prstGeom>
          <a:solidFill>
            <a:srgbClr val="10B981">
              <a:alpha val="3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/>
          <p:nvPr/>
        </p:nvSpPr>
        <p:spPr>
          <a:xfrm>
            <a:off x="8275320" y="4800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▷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8778240" y="47548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up = ready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8275320" y="5440680"/>
            <a:ext cx="411480" cy="411480"/>
          </a:xfrm>
          <a:prstGeom prst="ellipse">
            <a:avLst/>
          </a:prstGeom>
          <a:solidFill>
            <a:srgbClr val="EF4444">
              <a:alpha val="30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8"/>
          <p:cNvSpPr/>
          <p:nvPr/>
        </p:nvSpPr>
        <p:spPr>
          <a:xfrm>
            <a:off x="8275320" y="5440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⊕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8778240" y="53949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dev (hot reload)</a:t>
            </a:r>
            <a:endParaRPr lang="en-US" sz="1100" dirty="0"/>
          </a:p>
        </p:txBody>
      </p:sp>
      <p:pic>
        <p:nvPicPr>
          <p:cNvPr id="52" name="Image 0" descr="/sessions/sweet-funny-newton/mnt/outputs/build/assets/konekt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446520"/>
            <a:ext cx="274320" cy="274320"/>
          </a:xfrm>
          <a:prstGeom prst="rect">
            <a:avLst/>
          </a:prstGeom>
        </p:spPr>
      </p:pic>
      <p:sp>
        <p:nvSpPr>
          <p:cNvPr id="53" name="Text 50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Konekt  ·  RNCP 37873 - CDA  ·  Christophe Lecart</a:t>
            </a:r>
            <a:endParaRPr lang="en-US" sz="900" dirty="0"/>
          </a:p>
        </p:txBody>
      </p:sp>
      <p:sp>
        <p:nvSpPr>
          <p:cNvPr id="54" name="Text 51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/ 56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A1B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DÉPLOIEMENT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· Vercel + Neon + Upstash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73152" cy="7772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80060" y="1691640"/>
            <a:ext cx="3703320" cy="4206240"/>
          </a:xfrm>
          <a:prstGeom prst="roundRect">
            <a:avLst>
              <a:gd name="adj" fmla="val 1975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480060" y="1691640"/>
            <a:ext cx="3703320" cy="45720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80060" y="169164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 LOCAL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08660" y="2331720"/>
            <a:ext cx="548640" cy="548640"/>
          </a:xfrm>
          <a:prstGeom prst="ellipse">
            <a:avLst/>
          </a:prstGeom>
          <a:solidFill>
            <a:srgbClr val="EC4899">
              <a:alpha val="30000"/>
            </a:srgbClr>
          </a:solidFill>
          <a:ln w="19050">
            <a:solidFill>
              <a:srgbClr val="EC48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0866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85026" y="23317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docker-</a:t>
            </a:r>
            <a:r>
              <a:rPr lang="en-US" sz="14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compose.yml</a:t>
            </a:r>
            <a:endParaRPr lang="en-US" sz="1400" err="1">
              <a:latin typeface="Calibri"/>
              <a:ea typeface="Calibri"/>
              <a:cs typeface="Calibri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372931" y="256709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Postgres + Redis + App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08660" y="3474720"/>
            <a:ext cx="548640" cy="548640"/>
          </a:xfrm>
          <a:prstGeom prst="ellipse">
            <a:avLst/>
          </a:prstGeom>
          <a:solidFill>
            <a:srgbClr val="EC4899">
              <a:alpha val="30000"/>
            </a:srgbClr>
          </a:solidFill>
          <a:ln w="19050">
            <a:solidFill>
              <a:srgbClr val="EC48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08660" y="3474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85026" y="34747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Bun + hot reload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372931" y="371009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bun dev </a:t>
            </a:r>
            <a:r>
              <a:rPr lang="en-US" sz="1200" dirty="0" err="1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profil</a:t>
            </a:r>
            <a:r>
              <a:rPr lang="en-US" sz="1200" dirty="0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 dev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08660" y="4617720"/>
            <a:ext cx="548640" cy="548640"/>
          </a:xfrm>
          <a:prstGeom prst="ellipse">
            <a:avLst/>
          </a:prstGeom>
          <a:solidFill>
            <a:srgbClr val="EC4899">
              <a:alpha val="30000"/>
            </a:srgbClr>
          </a:solidFill>
          <a:ln w="19050">
            <a:solidFill>
              <a:srgbClr val="EC48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08660" y="4617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↻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85026" y="46177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Migrations auto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372931" y="485309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prisma</a:t>
            </a:r>
            <a:r>
              <a:rPr lang="en-US" sz="1200" dirty="0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 migrate dev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155948" y="3794760"/>
            <a:ext cx="91440" cy="0"/>
          </a:xfrm>
          <a:prstGeom prst="line">
            <a:avLst/>
          </a:prstGeom>
          <a:noFill/>
          <a:ln w="25400">
            <a:solidFill>
              <a:srgbClr val="EC4899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4229100" y="1691640"/>
            <a:ext cx="3703320" cy="4206240"/>
          </a:xfrm>
          <a:prstGeom prst="roundRect">
            <a:avLst>
              <a:gd name="adj" fmla="val 1975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4229100" y="1691640"/>
            <a:ext cx="3703320" cy="4572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4229100" y="169164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/ 56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57700" y="2331720"/>
            <a:ext cx="548640" cy="548640"/>
          </a:xfrm>
          <a:prstGeom prst="ellipse">
            <a:avLst/>
          </a:prstGeom>
          <a:solidFill>
            <a:srgbClr val="06B6D4">
              <a:alpha val="30000"/>
            </a:srgbClr>
          </a:solidFill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445770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◉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134066" y="23317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GitHub Actions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121971" y="256709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Lint · Test · Build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457700" y="3474720"/>
            <a:ext cx="548640" cy="548640"/>
          </a:xfrm>
          <a:prstGeom prst="ellipse">
            <a:avLst/>
          </a:prstGeom>
          <a:solidFill>
            <a:srgbClr val="06B6D4">
              <a:alpha val="30000"/>
            </a:srgbClr>
          </a:solidFill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4457700" y="3474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❀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134066" y="34747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Preview </a:t>
            </a:r>
            <a:r>
              <a:rPr lang="en-US" sz="14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Vercel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121971" y="371009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URL unique par PR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457700" y="4617720"/>
            <a:ext cx="548640" cy="548640"/>
          </a:xfrm>
          <a:prstGeom prst="ellipse">
            <a:avLst/>
          </a:prstGeom>
          <a:solidFill>
            <a:srgbClr val="06B6D4">
              <a:alpha val="30000"/>
            </a:srgbClr>
          </a:solidFill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4457700" y="4617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⊕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134066" y="46177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Neon Branching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5121971" y="485309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BDD </a:t>
            </a:r>
            <a:r>
              <a:rPr lang="en-US" sz="1200" dirty="0" err="1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isolée</a:t>
            </a:r>
            <a:r>
              <a:rPr lang="en-US" sz="1200" dirty="0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 par PR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7904988" y="3794760"/>
            <a:ext cx="91440" cy="0"/>
          </a:xfrm>
          <a:prstGeom prst="line">
            <a:avLst/>
          </a:prstGeom>
          <a:noFill/>
          <a:ln w="25400">
            <a:solidFill>
              <a:srgbClr val="EC4899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7978140" y="1691640"/>
            <a:ext cx="3703320" cy="4206240"/>
          </a:xfrm>
          <a:prstGeom prst="roundRect">
            <a:avLst>
              <a:gd name="adj" fmla="val 1975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>
            <a:off x="7978140" y="1691640"/>
            <a:ext cx="3703320" cy="4572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7978140" y="169164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206740" y="2331720"/>
            <a:ext cx="548640" cy="548640"/>
          </a:xfrm>
          <a:prstGeom prst="ellipse">
            <a:avLst/>
          </a:prstGeom>
          <a:solidFill>
            <a:srgbClr val="10B981">
              <a:alpha val="30000"/>
            </a:srgbClr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820674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▲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8883106" y="23317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Vercel</a:t>
            </a:r>
            <a:endParaRPr lang="en-US" sz="1400" err="1">
              <a:latin typeface="Calibri"/>
              <a:ea typeface="Calibri"/>
              <a:cs typeface="Calibri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8871011" y="256709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Next.js + edge functions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8206740" y="3474720"/>
            <a:ext cx="548640" cy="548640"/>
          </a:xfrm>
          <a:prstGeom prst="ellipse">
            <a:avLst/>
          </a:prstGeom>
          <a:solidFill>
            <a:srgbClr val="10B981">
              <a:alpha val="30000"/>
            </a:srgbClr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8206740" y="3474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▤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8883106" y="34747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Neon PostgreSQL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8871011" y="371009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Branches main + prod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8206740" y="4617720"/>
            <a:ext cx="548640" cy="548640"/>
          </a:xfrm>
          <a:prstGeom prst="ellipse">
            <a:avLst/>
          </a:prstGeom>
          <a:solidFill>
            <a:srgbClr val="10B981">
              <a:alpha val="30000"/>
            </a:srgbClr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7"/>
          <p:cNvSpPr/>
          <p:nvPr/>
        </p:nvSpPr>
        <p:spPr>
          <a:xfrm>
            <a:off x="8206740" y="4617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8883106" y="46177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Upstash</a:t>
            </a:r>
            <a:r>
              <a:rPr lang="en-US" sz="14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Redis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8871011" y="485309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1A1AA"/>
                </a:solidFill>
                <a:latin typeface="Calibri"/>
                <a:ea typeface="Calibri"/>
                <a:cs typeface="Calibri"/>
              </a:rPr>
              <a:t>REST · pay-as-you-go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548640" y="6035040"/>
            <a:ext cx="11064240" cy="274320"/>
          </a:xfrm>
          <a:prstGeom prst="roundRect">
            <a:avLst>
              <a:gd name="adj" fmla="val 26667"/>
            </a:avLst>
          </a:prstGeom>
          <a:solidFill>
            <a:srgbClr val="1F2028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51"/>
          <p:cNvSpPr/>
          <p:nvPr/>
        </p:nvSpPr>
        <p:spPr>
          <a:xfrm>
            <a:off x="777240" y="603504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Vercel one-click · Healthcheck applicatif · Secrets via env vars (jamais committés) · SSL automatique.</a:t>
            </a:r>
            <a:endParaRPr lang="en-US" sz="1000" dirty="0"/>
          </a:p>
        </p:txBody>
      </p:sp>
      <p:pic>
        <p:nvPicPr>
          <p:cNvPr id="54" name="Image 0" descr="/sessions/sweet-funny-newton/mnt/outputs/build/assets/konekt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446520"/>
            <a:ext cx="274320" cy="274320"/>
          </a:xfrm>
          <a:prstGeom prst="rect">
            <a:avLst/>
          </a:prstGeom>
        </p:spPr>
      </p:pic>
      <p:sp>
        <p:nvSpPr>
          <p:cNvPr id="55" name="Text 52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Konekt  ·  RNCP 37873 - CDA  ·  Christophe Lecart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/ 56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A1B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DÉVELOPPEMENT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Veille technique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73152" cy="7772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532120" cy="4572000"/>
          </a:xfrm>
          <a:prstGeom prst="roundRect">
            <a:avLst>
              <a:gd name="adj" fmla="val 1600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suivies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2402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▤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2240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Blog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80160" y="2514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Annonces Next.js, App Router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88036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≡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2880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Docs (canary)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31546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Components, Actions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35204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◉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80160" y="3520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Cheat Sheets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80160" y="37947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applicative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" y="416052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□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80160" y="4160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/ WHATWG specs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80160" y="44348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HTTP, cookies, fetch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7240" y="48006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✦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8016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 dev community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80160" y="50749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Theo, Lee Robinson, Dan Abramov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" y="54406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▷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80160" y="5440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— Theo, Fireship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80160" y="57150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Synthèses &amp; démos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63640" y="1691640"/>
            <a:ext cx="5532120" cy="4572000"/>
          </a:xfrm>
          <a:prstGeom prst="roundRect">
            <a:avLst>
              <a:gd name="adj" fmla="val 1600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6446520" y="1783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46520" y="2240280"/>
            <a:ext cx="502920" cy="502920"/>
          </a:xfrm>
          <a:prstGeom prst="ellipse">
            <a:avLst/>
          </a:prstGeom>
          <a:solidFill>
            <a:srgbClr val="EC4899">
              <a:alpha val="25000"/>
            </a:srgbClr>
          </a:solidFill>
          <a:ln w="19050">
            <a:solidFill>
              <a:srgbClr val="EC48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644652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040880" y="2240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040880" y="2514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 : signal-to-noise élevé, sources primaires d'abord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46520" y="3017520"/>
            <a:ext cx="502920" cy="502920"/>
          </a:xfrm>
          <a:prstGeom prst="ellipse">
            <a:avLst/>
          </a:prstGeom>
          <a:solidFill>
            <a:srgbClr val="EC4899">
              <a:alpha val="25000"/>
            </a:srgbClr>
          </a:solidFill>
          <a:ln w="19050">
            <a:solidFill>
              <a:srgbClr val="EC48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644652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040880" y="3017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040880" y="3291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 / matin, Pocket pour le offline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446520" y="3794760"/>
            <a:ext cx="502920" cy="502920"/>
          </a:xfrm>
          <a:prstGeom prst="ellipse">
            <a:avLst/>
          </a:prstGeom>
          <a:solidFill>
            <a:srgbClr val="EC4899">
              <a:alpha val="25000"/>
            </a:srgbClr>
          </a:solidFill>
          <a:ln w="19050">
            <a:solidFill>
              <a:srgbClr val="EC48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644652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040880" y="3794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040880" y="4069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Petite preuve de concept si la techno entre dans le projet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446520" y="4572000"/>
            <a:ext cx="502920" cy="502920"/>
          </a:xfrm>
          <a:prstGeom prst="ellipse">
            <a:avLst/>
          </a:prstGeom>
          <a:solidFill>
            <a:srgbClr val="EC4899">
              <a:alpha val="25000"/>
            </a:srgbClr>
          </a:solidFill>
          <a:ln w="19050">
            <a:solidFill>
              <a:srgbClr val="EC48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6446520" y="4572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040880" y="4572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Documenter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040880" y="4846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dans Obsidian, lien vers la source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446520" y="5349240"/>
            <a:ext cx="502920" cy="502920"/>
          </a:xfrm>
          <a:prstGeom prst="ellipse">
            <a:avLst/>
          </a:prstGeom>
          <a:solidFill>
            <a:srgbClr val="EC4899">
              <a:alpha val="25000"/>
            </a:srgbClr>
          </a:solidFill>
          <a:ln w="19050">
            <a:solidFill>
              <a:srgbClr val="EC48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6446520" y="5349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7040880" y="5349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Partager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040880" y="5623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équipe sur les choix structurants</a:t>
            </a:r>
            <a:endParaRPr lang="en-US" sz="1000" dirty="0"/>
          </a:p>
        </p:txBody>
      </p:sp>
      <p:pic>
        <p:nvPicPr>
          <p:cNvPr id="47" name="Image 0" descr="/sessions/sweet-funny-newton/mnt/outputs/build/assets/konekt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446520"/>
            <a:ext cx="274320" cy="274320"/>
          </a:xfrm>
          <a:prstGeom prst="rect">
            <a:avLst/>
          </a:prstGeom>
        </p:spPr>
      </p:pic>
      <p:sp>
        <p:nvSpPr>
          <p:cNvPr id="48" name="Text 45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Konekt  ·  RNCP 37873 - CDA  ·  Christophe Lecart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/ 56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A1B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BILAN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Métriques du projet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73152" cy="7772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697480" cy="1645920"/>
          </a:xfrm>
          <a:prstGeom prst="roundRect">
            <a:avLst>
              <a:gd name="adj" fmla="val 4444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691640"/>
            <a:ext cx="2697480" cy="1645920"/>
          </a:xfrm>
          <a:prstGeom prst="roundRect">
            <a:avLst>
              <a:gd name="adj" fmla="val 4444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3383280" y="178308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60+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3383280" y="269748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691640"/>
            <a:ext cx="2697480" cy="1645920"/>
          </a:xfrm>
          <a:prstGeom prst="roundRect">
            <a:avLst>
              <a:gd name="adj" fmla="val 4444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217920" y="178308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12+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6217920" y="269748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052560" y="1691640"/>
            <a:ext cx="2697480" cy="1645920"/>
          </a:xfrm>
          <a:prstGeom prst="roundRect">
            <a:avLst>
              <a:gd name="adj" fmla="val 4444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9052560" y="178308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9052560" y="269748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3611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Répartition des features livrées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977640"/>
            <a:ext cx="5532120" cy="2331720"/>
          </a:xfrm>
          <a:prstGeom prst="roundRect">
            <a:avLst>
              <a:gd name="adj" fmla="val 3137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19" name="Chart 0"/>
          <p:cNvGraphicFramePr/>
          <p:nvPr/>
        </p:nvGraphicFramePr>
        <p:xfrm>
          <a:off x="640080" y="4069080"/>
          <a:ext cx="534924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0" name="Shape 17"/>
          <p:cNvSpPr/>
          <p:nvPr/>
        </p:nvSpPr>
        <p:spPr>
          <a:xfrm>
            <a:off x="6263640" y="3977640"/>
            <a:ext cx="5532120" cy="2331720"/>
          </a:xfrm>
          <a:prstGeom prst="roundRect">
            <a:avLst>
              <a:gd name="adj" fmla="val 3137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8"/>
          <p:cNvSpPr/>
          <p:nvPr/>
        </p:nvSpPr>
        <p:spPr>
          <a:xfrm>
            <a:off x="6400800" y="406908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de travail par phase (jours)</a:t>
            </a:r>
            <a:endParaRPr lang="en-US" sz="1100" dirty="0"/>
          </a:p>
        </p:txBody>
      </p:sp>
      <p:graphicFrame>
        <p:nvGraphicFramePr>
          <p:cNvPr id="22" name="Chart 1"/>
          <p:cNvGraphicFramePr/>
          <p:nvPr/>
        </p:nvGraphicFramePr>
        <p:xfrm>
          <a:off x="6400800" y="4343400"/>
          <a:ext cx="5212080" cy="1874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23" name="Image 0" descr="/sessions/sweet-funny-newton/mnt/outputs/build/assets/konekt-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6446520"/>
            <a:ext cx="274320" cy="2743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Konekt  ·  RNCP 37873 - CDA  ·  Christophe Lecart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/ 56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A1B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BILAN · BC01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Développer une application sécurisée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73152" cy="7772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657600" cy="1554480"/>
          </a:xfrm>
          <a:prstGeom prst="roundRect">
            <a:avLst>
              <a:gd name="adj" fmla="val 7059"/>
            </a:avLst>
          </a:prstGeom>
          <a:solidFill>
            <a:srgbClr val="EC4899">
              <a:alpha val="35000"/>
            </a:srgbClr>
          </a:solidFill>
          <a:ln w="25400">
            <a:solidFill>
              <a:srgbClr val="EC48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BC01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de compétences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RNCP 37873  ·  CDA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89120" y="1691640"/>
            <a:ext cx="7223760" cy="1554480"/>
          </a:xfrm>
          <a:prstGeom prst="roundRect">
            <a:avLst>
              <a:gd name="adj" fmla="val 4706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572000" y="17830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quoi le bloc consiste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0" y="210312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Concevoir, développer et tester une application en intégrant les principes de sécurité dès la phase de conception.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33832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 couvertes par Konekt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703320"/>
            <a:ext cx="5532120" cy="1051560"/>
          </a:xfrm>
          <a:prstGeom prst="roundRect">
            <a:avLst>
              <a:gd name="adj" fmla="val 6957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548640" y="3703320"/>
            <a:ext cx="91440" cy="105156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777240" y="384048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Maquetter une application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4160520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Wireframes + mockups 6 pages principales, design system Konekt dédié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3703320"/>
            <a:ext cx="5532120" cy="1051560"/>
          </a:xfrm>
          <a:prstGeom prst="roundRect">
            <a:avLst>
              <a:gd name="adj" fmla="val 6957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6217920" y="3703320"/>
            <a:ext cx="91440" cy="105156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446520" y="384048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Développer une interface utilisateur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46520" y="4160520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App Router, React Server Components, Tailwind + shadcn/ui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4846320"/>
            <a:ext cx="5532120" cy="1051560"/>
          </a:xfrm>
          <a:prstGeom prst="roundRect">
            <a:avLst>
              <a:gd name="adj" fmla="val 6957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548640" y="4846320"/>
            <a:ext cx="91440" cy="105156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777240" y="498348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Développer des composants réutilisables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7240" y="5303520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Button, Avatar, Card, Dialog, Input — bibliothèque cohérente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17920" y="4846320"/>
            <a:ext cx="5532120" cy="1051560"/>
          </a:xfrm>
          <a:prstGeom prst="roundRect">
            <a:avLst>
              <a:gd name="adj" fmla="val 6957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6217920" y="4846320"/>
            <a:ext cx="91440" cy="105156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6446520" y="498348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Intégrer la sécurité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46520" y="5303520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signé (jose), bcrypt cost 12, cookies HttpOnly, validation Zod, OWASP Top 10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5989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Preuves du dossier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0" y="5989320"/>
            <a:ext cx="2194560" cy="274320"/>
          </a:xfrm>
          <a:prstGeom prst="roundRect">
            <a:avLst>
              <a:gd name="adj" fmla="val 50000"/>
            </a:avLst>
          </a:prstGeom>
          <a:solidFill>
            <a:srgbClr val="EC4899">
              <a:alpha val="25000"/>
            </a:srgbClr>
          </a:solidFill>
          <a:ln w="9525">
            <a:solidFill>
              <a:srgbClr val="EC48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2743200" y="5989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applicative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29200" y="5989320"/>
            <a:ext cx="2194560" cy="274320"/>
          </a:xfrm>
          <a:prstGeom prst="roundRect">
            <a:avLst>
              <a:gd name="adj" fmla="val 50000"/>
            </a:avLst>
          </a:prstGeom>
          <a:solidFill>
            <a:srgbClr val="EC4899">
              <a:alpha val="25000"/>
            </a:srgbClr>
          </a:solidFill>
          <a:ln w="9525">
            <a:solidFill>
              <a:srgbClr val="EC48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5029200" y="5989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Zod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315200" y="5989320"/>
            <a:ext cx="2194560" cy="274320"/>
          </a:xfrm>
          <a:prstGeom prst="roundRect">
            <a:avLst>
              <a:gd name="adj" fmla="val 50000"/>
            </a:avLst>
          </a:prstGeom>
          <a:solidFill>
            <a:srgbClr val="EC4899">
              <a:alpha val="25000"/>
            </a:srgbClr>
          </a:solidFill>
          <a:ln w="9525">
            <a:solidFill>
              <a:srgbClr val="EC48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7315200" y="5989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JWT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9601200" y="5989320"/>
            <a:ext cx="2194560" cy="274320"/>
          </a:xfrm>
          <a:prstGeom prst="roundRect">
            <a:avLst>
              <a:gd name="adj" fmla="val 50000"/>
            </a:avLst>
          </a:prstGeom>
          <a:solidFill>
            <a:srgbClr val="EC4899">
              <a:alpha val="25000"/>
            </a:srgbClr>
          </a:solidFill>
          <a:ln w="9525">
            <a:solidFill>
              <a:srgbClr val="EC48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9601200" y="5989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RGPD</a:t>
            </a:r>
            <a:endParaRPr lang="en-US" sz="1000" dirty="0"/>
          </a:p>
        </p:txBody>
      </p:sp>
      <p:pic>
        <p:nvPicPr>
          <p:cNvPr id="38" name="Image 0" descr="/sessions/sweet-funny-newton/mnt/outputs/build/assets/konekt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446520"/>
            <a:ext cx="274320" cy="274320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Konekt  ·  RNCP 37873 - CDA  ·  Christophe Lecart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/ 56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A1B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BILAN · BC02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Concevoir et développer la persistance des données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73152" cy="7772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657600" cy="1554480"/>
          </a:xfrm>
          <a:prstGeom prst="roundRect">
            <a:avLst>
              <a:gd name="adj" fmla="val 7059"/>
            </a:avLst>
          </a:prstGeom>
          <a:solidFill>
            <a:srgbClr val="06B6D4">
              <a:alpha val="35000"/>
            </a:srgbClr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BC02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de compétences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RNCP 37873  ·  CDA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89120" y="1691640"/>
            <a:ext cx="7223760" cy="1554480"/>
          </a:xfrm>
          <a:prstGeom prst="roundRect">
            <a:avLst>
              <a:gd name="adj" fmla="val 4706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572000" y="17830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quoi le bloc consiste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0" y="210312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Modéliser une base de données relationnelle, écrire les requêtes optimisées et garantir l'intégrité.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33832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 couvertes par Konekt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703320"/>
            <a:ext cx="5532120" cy="1051560"/>
          </a:xfrm>
          <a:prstGeom prst="roundRect">
            <a:avLst>
              <a:gd name="adj" fmla="val 6957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548640" y="3703320"/>
            <a:ext cx="91440" cy="105156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777240" y="384048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Analyser le besoin et concevoir un MCD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4160520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user stories → 18 entités identifiées, cardinalités explicites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3703320"/>
            <a:ext cx="5532120" cy="1051560"/>
          </a:xfrm>
          <a:prstGeom prst="roundRect">
            <a:avLst>
              <a:gd name="adj" fmla="val 6957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6217920" y="3703320"/>
            <a:ext cx="91440" cy="105156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446520" y="384048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Mettre en place une base relationnelle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46520" y="4160520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Neon, migrations versionnées prisma/migrations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4846320"/>
            <a:ext cx="5532120" cy="1051560"/>
          </a:xfrm>
          <a:prstGeom prst="roundRect">
            <a:avLst>
              <a:gd name="adj" fmla="val 6957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548640" y="4846320"/>
            <a:ext cx="91440" cy="105156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777240" y="498348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Développer des composants d'accès aux données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7240" y="5303520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ORM type-safe, helpers src/lib/server/&lt;domaine&gt;/&lt;entité&gt;.ts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17920" y="4846320"/>
            <a:ext cx="5532120" cy="1051560"/>
          </a:xfrm>
          <a:prstGeom prst="roundRect">
            <a:avLst>
              <a:gd name="adj" fmla="val 6957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6217920" y="4846320"/>
            <a:ext cx="91440" cy="105156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6446520" y="498348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Garantir l'intégrité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46520" y="5303520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PK, FK, UNIQUE composées (réactions), ENUM métier, cascades maîtrisées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5989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Preuves du dossier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0" y="5989320"/>
            <a:ext cx="2194560" cy="274320"/>
          </a:xfrm>
          <a:prstGeom prst="roundRect">
            <a:avLst>
              <a:gd name="adj" fmla="val 50000"/>
            </a:avLst>
          </a:prstGeom>
          <a:solidFill>
            <a:srgbClr val="06B6D4">
              <a:alpha val="25000"/>
            </a:srgbClr>
          </a:solidFill>
          <a:ln w="9525">
            <a:solidFill>
              <a:srgbClr val="06B6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2743200" y="5989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 / MLD / MPD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29200" y="5989320"/>
            <a:ext cx="2194560" cy="274320"/>
          </a:xfrm>
          <a:prstGeom prst="roundRect">
            <a:avLst>
              <a:gd name="adj" fmla="val 50000"/>
            </a:avLst>
          </a:prstGeom>
          <a:solidFill>
            <a:srgbClr val="06B6D4">
              <a:alpha val="25000"/>
            </a:srgbClr>
          </a:solidFill>
          <a:ln w="9525">
            <a:solidFill>
              <a:srgbClr val="06B6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5029200" y="5989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modèles Prisma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315200" y="5989320"/>
            <a:ext cx="2194560" cy="274320"/>
          </a:xfrm>
          <a:prstGeom prst="roundRect">
            <a:avLst>
              <a:gd name="adj" fmla="val 50000"/>
            </a:avLst>
          </a:prstGeom>
          <a:solidFill>
            <a:srgbClr val="06B6D4">
              <a:alpha val="25000"/>
            </a:srgbClr>
          </a:solidFill>
          <a:ln w="9525">
            <a:solidFill>
              <a:srgbClr val="06B6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7315200" y="5989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 relations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9601200" y="5989320"/>
            <a:ext cx="2194560" cy="274320"/>
          </a:xfrm>
          <a:prstGeom prst="roundRect">
            <a:avLst>
              <a:gd name="adj" fmla="val 50000"/>
            </a:avLst>
          </a:prstGeom>
          <a:solidFill>
            <a:srgbClr val="06B6D4">
              <a:alpha val="25000"/>
            </a:srgbClr>
          </a:solidFill>
          <a:ln w="9525">
            <a:solidFill>
              <a:srgbClr val="06B6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9601200" y="5989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enums</a:t>
            </a:r>
            <a:endParaRPr lang="en-US" sz="1000" dirty="0"/>
          </a:p>
        </p:txBody>
      </p:sp>
      <p:pic>
        <p:nvPicPr>
          <p:cNvPr id="38" name="Image 0" descr="/sessions/sweet-funny-newton/mnt/outputs/build/assets/konekt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446520"/>
            <a:ext cx="274320" cy="274320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Konekt  ·  RNCP 37873 - CDA  ·  Christophe Lecart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/ 56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A1B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BILAN · BC03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Concevoir et développer une application multicouche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73152" cy="7772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657600" cy="1554480"/>
          </a:xfrm>
          <a:prstGeom prst="roundRect">
            <a:avLst>
              <a:gd name="adj" fmla="val 7059"/>
            </a:avLst>
          </a:prstGeom>
          <a:solidFill>
            <a:srgbClr val="8B5CF6">
              <a:alpha val="35000"/>
            </a:srgbClr>
          </a:solidFill>
          <a:ln w="25400">
            <a:solidFill>
              <a:srgbClr val="8B5C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BC03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de compétences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RNCP 37873  ·  CDA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89120" y="1691640"/>
            <a:ext cx="7223760" cy="1554480"/>
          </a:xfrm>
          <a:prstGeom prst="roundRect">
            <a:avLst>
              <a:gd name="adj" fmla="val 4706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572000" y="17830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quoi le bloc consiste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0" y="210312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Construire une application répartie front + back avec une logique métier propre, des API et du temps réel.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33832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 couvertes par Konekt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703320"/>
            <a:ext cx="5532120" cy="1051560"/>
          </a:xfrm>
          <a:prstGeom prst="roundRect">
            <a:avLst>
              <a:gd name="adj" fmla="val 6957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548640" y="3703320"/>
            <a:ext cx="91440" cy="105156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777240" y="384048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multicouche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4160520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→ Métier → Persistance → Infrastructure, frontières claires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3703320"/>
            <a:ext cx="5532120" cy="1051560"/>
          </a:xfrm>
          <a:prstGeom prst="roundRect">
            <a:avLst>
              <a:gd name="adj" fmla="val 6957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6217920" y="3703320"/>
            <a:ext cx="91440" cy="105156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446520" y="384048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Développer la partie front-end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46520" y="4160520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Router, Server Components, hooks personnalisés (use-real-time-chat…)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4846320"/>
            <a:ext cx="5532120" cy="1051560"/>
          </a:xfrm>
          <a:prstGeom prst="roundRect">
            <a:avLst>
              <a:gd name="adj" fmla="val 6957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548640" y="4846320"/>
            <a:ext cx="91440" cy="105156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777240" y="498348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Développer la partie back-end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7240" y="5303520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Handlers REST + SSE, Server Actions, validation Zod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17920" y="4846320"/>
            <a:ext cx="5532120" cy="1051560"/>
          </a:xfrm>
          <a:prstGeom prst="roundRect">
            <a:avLst>
              <a:gd name="adj" fmla="val 6957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6217920" y="4846320"/>
            <a:ext cx="91440" cy="105156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6446520" y="498348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réel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46520" y="5303520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Server-Sent Events + Upstash Redis (compatible serverless Vercel)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5989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Preuves du dossier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0" y="5989320"/>
            <a:ext cx="2194560" cy="274320"/>
          </a:xfrm>
          <a:prstGeom prst="roundRect">
            <a:avLst>
              <a:gd name="adj" fmla="val 50000"/>
            </a:avLst>
          </a:prstGeom>
          <a:solidFill>
            <a:srgbClr val="8B5CF6">
              <a:alpha val="25000"/>
            </a:srgbClr>
          </a:solidFill>
          <a:ln w="9525">
            <a:solidFill>
              <a:srgbClr val="8B5C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2743200" y="5989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endpoints API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29200" y="5989320"/>
            <a:ext cx="2194560" cy="274320"/>
          </a:xfrm>
          <a:prstGeom prst="roundRect">
            <a:avLst>
              <a:gd name="adj" fmla="val 50000"/>
            </a:avLst>
          </a:prstGeom>
          <a:solidFill>
            <a:srgbClr val="8B5CF6">
              <a:alpha val="25000"/>
            </a:srgbClr>
          </a:solidFill>
          <a:ln w="9525">
            <a:solidFill>
              <a:srgbClr val="8B5C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5029200" y="5989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4 couches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315200" y="5989320"/>
            <a:ext cx="2194560" cy="274320"/>
          </a:xfrm>
          <a:prstGeom prst="roundRect">
            <a:avLst>
              <a:gd name="adj" fmla="val 50000"/>
            </a:avLst>
          </a:prstGeom>
          <a:solidFill>
            <a:srgbClr val="8B5CF6">
              <a:alpha val="25000"/>
            </a:srgbClr>
          </a:solidFill>
          <a:ln w="9525">
            <a:solidFill>
              <a:srgbClr val="8B5C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7315200" y="5989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SSE temps réel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9601200" y="5989320"/>
            <a:ext cx="2194560" cy="274320"/>
          </a:xfrm>
          <a:prstGeom prst="roundRect">
            <a:avLst>
              <a:gd name="adj" fmla="val 50000"/>
            </a:avLst>
          </a:prstGeom>
          <a:solidFill>
            <a:srgbClr val="8B5CF6">
              <a:alpha val="25000"/>
            </a:srgbClr>
          </a:solidFill>
          <a:ln w="9525">
            <a:solidFill>
              <a:srgbClr val="8B5C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9601200" y="5989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Actions</a:t>
            </a:r>
            <a:endParaRPr lang="en-US" sz="1000" dirty="0"/>
          </a:p>
        </p:txBody>
      </p:sp>
      <p:pic>
        <p:nvPicPr>
          <p:cNvPr id="38" name="Image 0" descr="/sessions/sweet-funny-newton/mnt/outputs/build/assets/konekt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446520"/>
            <a:ext cx="274320" cy="274320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Konekt  ·  RNCP 37873 - CDA  ·  Christophe Lecart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/ 56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A1B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BILAN · BC03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Préparer le déploiement d'une application sécurisée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73152" cy="7772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657600" cy="1554480"/>
          </a:xfrm>
          <a:prstGeom prst="roundRect">
            <a:avLst>
              <a:gd name="adj" fmla="val 7059"/>
            </a:avLst>
          </a:prstGeom>
          <a:solidFill>
            <a:srgbClr val="10B981">
              <a:alpha val="35000"/>
            </a:srgbClr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BC03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de compétences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RNCP 37873  ·  CDA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89120" y="1691640"/>
            <a:ext cx="7223760" cy="1554480"/>
          </a:xfrm>
          <a:prstGeom prst="roundRect">
            <a:avLst>
              <a:gd name="adj" fmla="val 4706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572000" y="17830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quoi le bloc consiste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0" y="210312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Mettre en place une chaîne CI/CD complète, conteneuriser et déployer en environnement de production sécurisé.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33832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 couvertes par Konekt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703320"/>
            <a:ext cx="5532120" cy="1051560"/>
          </a:xfrm>
          <a:prstGeom prst="roundRect">
            <a:avLst>
              <a:gd name="adj" fmla="val 6957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548640" y="3703320"/>
            <a:ext cx="91440" cy="10515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777240" y="384048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Préparer et documenter le déploiement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4160520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multi-stage, docker-compose, variables d'env documentées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3703320"/>
            <a:ext cx="5532120" cy="1051560"/>
          </a:xfrm>
          <a:prstGeom prst="roundRect">
            <a:avLst>
              <a:gd name="adj" fmla="val 6957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6217920" y="3703320"/>
            <a:ext cx="91440" cy="10515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446520" y="384048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Contribuer à la mise en production DevOps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46520" y="4160520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: lint + test + build + deploy, secrets cloisonnés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4846320"/>
            <a:ext cx="5532120" cy="1051560"/>
          </a:xfrm>
          <a:prstGeom prst="roundRect">
            <a:avLst>
              <a:gd name="adj" fmla="val 6957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548640" y="4846320"/>
            <a:ext cx="91440" cy="10515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777240" y="498348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Industrialiser la livraison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7240" y="5303520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(preview par PR + prod), Neon branching pour BDD isolée par PR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17920" y="4846320"/>
            <a:ext cx="5532120" cy="1051560"/>
          </a:xfrm>
          <a:prstGeom prst="roundRect">
            <a:avLst>
              <a:gd name="adj" fmla="val 6957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6217920" y="4846320"/>
            <a:ext cx="91440" cy="10515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6446520" y="498348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Garantir l'exploitabilité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46520" y="5303520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Healthcheck, rollback Vercel one-click, logs structurés, monitoring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5989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Preuves du dossier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0" y="5989320"/>
            <a:ext cx="2194560" cy="274320"/>
          </a:xfrm>
          <a:prstGeom prst="roundRect">
            <a:avLst>
              <a:gd name="adj" fmla="val 50000"/>
            </a:avLst>
          </a:prstGeom>
          <a:solidFill>
            <a:srgbClr val="10B981">
              <a:alpha val="25000"/>
            </a:srgbClr>
          </a:solidFill>
          <a:ln w="9525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2743200" y="5989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multi-stage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29200" y="5989320"/>
            <a:ext cx="2194560" cy="274320"/>
          </a:xfrm>
          <a:prstGeom prst="roundRect">
            <a:avLst>
              <a:gd name="adj" fmla="val 50000"/>
            </a:avLst>
          </a:prstGeom>
          <a:solidFill>
            <a:srgbClr val="10B981">
              <a:alpha val="25000"/>
            </a:srgbClr>
          </a:solidFill>
          <a:ln w="9525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5029200" y="5989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GitHub Actions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315200" y="5989320"/>
            <a:ext cx="2194560" cy="274320"/>
          </a:xfrm>
          <a:prstGeom prst="roundRect">
            <a:avLst>
              <a:gd name="adj" fmla="val 50000"/>
            </a:avLst>
          </a:prstGeom>
          <a:solidFill>
            <a:srgbClr val="10B981">
              <a:alpha val="25000"/>
            </a:srgbClr>
          </a:solidFill>
          <a:ln w="9525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7315200" y="5989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+ Neon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9601200" y="5989320"/>
            <a:ext cx="2194560" cy="274320"/>
          </a:xfrm>
          <a:prstGeom prst="roundRect">
            <a:avLst>
              <a:gd name="adj" fmla="val 50000"/>
            </a:avLst>
          </a:prstGeom>
          <a:solidFill>
            <a:srgbClr val="10B981">
              <a:alpha val="25000"/>
            </a:srgbClr>
          </a:solidFill>
          <a:ln w="9525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9601200" y="5989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+ monitoring</a:t>
            </a:r>
            <a:endParaRPr lang="en-US" sz="1000" dirty="0"/>
          </a:p>
        </p:txBody>
      </p:sp>
      <p:pic>
        <p:nvPicPr>
          <p:cNvPr id="38" name="Image 0" descr="/sessions/sweet-funny-newton/mnt/outputs/build/assets/konekt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446520"/>
            <a:ext cx="274320" cy="274320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Konekt  ·  RNCP 37873 - CDA  ·  Christophe Lecart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/ 56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A1B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BILAN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Difficultés rencontrées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73152" cy="7772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532120" cy="2194560"/>
          </a:xfrm>
          <a:prstGeom prst="roundRect">
            <a:avLst>
              <a:gd name="adj" fmla="val 3333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777240" y="1920240"/>
            <a:ext cx="868680" cy="868680"/>
          </a:xfrm>
          <a:prstGeom prst="ellipse">
            <a:avLst/>
          </a:prstGeom>
          <a:solidFill>
            <a:srgbClr val="EC4899">
              <a:alpha val="30000"/>
            </a:srgbClr>
          </a:solidFill>
          <a:ln w="19050">
            <a:solidFill>
              <a:srgbClr val="EC48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77240" y="19202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↻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783080" y="19659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réel sans WebSocket persistant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880360"/>
            <a:ext cx="5166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serverless + Upstash Redis REST = pas de pub/sub TCP. J'ai construit un mécanisme SSE + polling Redis qui reste compatible serverless tout en garantissant l'ordre d'arrivée et la persistance Prisma avant push.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91640"/>
            <a:ext cx="5532120" cy="2194560"/>
          </a:xfrm>
          <a:prstGeom prst="roundRect">
            <a:avLst>
              <a:gd name="adj" fmla="val 3333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6446520" y="1920240"/>
            <a:ext cx="868680" cy="868680"/>
          </a:xfrm>
          <a:prstGeom prst="ellipse">
            <a:avLst/>
          </a:prstGeom>
          <a:solidFill>
            <a:srgbClr val="06B6D4">
              <a:alpha val="30000"/>
            </a:srgbClr>
          </a:solidFill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446520" y="19202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⊕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452360" y="19659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 Prisma de bout en bout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46520" y="2880360"/>
            <a:ext cx="5166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modèles avec des contraintes d'unicité, des cascades à choisir avec soin et des enums métier. J'ai itéré sur le MCD plusieurs fois avant d'arriver à un schéma équilibré.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4023360"/>
            <a:ext cx="5532120" cy="2194560"/>
          </a:xfrm>
          <a:prstGeom prst="roundRect">
            <a:avLst>
              <a:gd name="adj" fmla="val 3333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777240" y="4251960"/>
            <a:ext cx="868680" cy="868680"/>
          </a:xfrm>
          <a:prstGeom prst="ellipse">
            <a:avLst/>
          </a:prstGeom>
          <a:solidFill>
            <a:srgbClr val="8B5CF6">
              <a:alpha val="30000"/>
            </a:srgbClr>
          </a:solidFill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77240" y="42519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◉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783080" y="42976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custom sans NextAuth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5212080"/>
            <a:ext cx="5166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assumé pour comprendre le fonctionnement du JWT. Il a fallu gérer le middleware, le state OAuth, l'injection de headers et l'éventuelle révocation — toujours en roadmap.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0" y="4023360"/>
            <a:ext cx="5532120" cy="2194560"/>
          </a:xfrm>
          <a:prstGeom prst="roundRect">
            <a:avLst>
              <a:gd name="adj" fmla="val 3333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6446520" y="4251960"/>
            <a:ext cx="868680" cy="868680"/>
          </a:xfrm>
          <a:prstGeom prst="ellipse">
            <a:avLst/>
          </a:prstGeom>
          <a:solidFill>
            <a:srgbClr val="F59E0B">
              <a:alpha val="30000"/>
            </a:srgbClr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6446520" y="42519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▤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7452360" y="42976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jury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46520" y="5212080"/>
            <a:ext cx="5166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Structurer le dossier de certification pour qu'il reste lisible par un jury non technique tout en étant suffisamment précis pour la partie technique. Beaucoup d'allers-retours sur la table des matières.</a:t>
            </a:r>
            <a:endParaRPr lang="en-US" sz="1000" dirty="0"/>
          </a:p>
        </p:txBody>
      </p:sp>
      <p:pic>
        <p:nvPicPr>
          <p:cNvPr id="25" name="Image 0" descr="/sessions/sweet-funny-newton/mnt/outputs/build/assets/konekt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446520"/>
            <a:ext cx="274320" cy="27432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Konekt  ·  RNCP 37873 - CDA  ·  Christophe Lecart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/ 56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A1B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BILAN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j'ai appris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73152" cy="7772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532120" cy="4572000"/>
          </a:xfrm>
          <a:prstGeom prst="roundRect">
            <a:avLst>
              <a:gd name="adj" fmla="val 1600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 techniques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77240" y="2350008"/>
            <a:ext cx="146304" cy="146304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005840" y="22402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strict, génériques, schémas Zod partagés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" y="2807208"/>
            <a:ext cx="146304" cy="146304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005840" y="26974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 — App Router, Server Components, Actions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3264408"/>
            <a:ext cx="146304" cy="146304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1005840" y="31546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— modélisation, migrations, requêtes complexes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" y="3721608"/>
            <a:ext cx="146304" cy="146304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1005840" y="36118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— relations riches, contraintes, indexation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7240" y="4178808"/>
            <a:ext cx="146304" cy="146304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1005840" y="40690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— cache + buffer SSE serverless-compatible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7240" y="4636008"/>
            <a:ext cx="146304" cy="146304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1005840" y="45262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applicative — OWASP, RGPD, JWT, bcrypt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7240" y="5093208"/>
            <a:ext cx="146304" cy="146304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1005840" y="49834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— multi-stage, compose, healthcheck, secrets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77240" y="5550408"/>
            <a:ext cx="146304" cy="146304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1005840" y="54406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GitHub Actions — pipeline lint+test+build+deploy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63640" y="1691640"/>
            <a:ext cx="5532120" cy="4572000"/>
          </a:xfrm>
          <a:prstGeom prst="roundRect">
            <a:avLst>
              <a:gd name="adj" fmla="val 1600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6446520" y="1783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 transverses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92240" y="2350008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6720840" y="22402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Découpe d'un gros projet en sprints + user stories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92240" y="2807208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6720840" y="26974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technique adressée à des développeurs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92240" y="3264408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6720840" y="31546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critique du code des coéquipiers (code review)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92240" y="3721608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6720840" y="36118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Veille technique organisée et soutenable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92240" y="4178808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6720840" y="40690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 et priorisation pragmatique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92240" y="4636008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6720840" y="45262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 de choix d'architecture face à un jury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492240" y="5093208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6720840" y="49834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métier ↔ technique (atout de reconversion)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92240" y="5550408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6720840" y="54406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Endurance sur un projet long de plusieurs mois</a:t>
            </a:r>
            <a:endParaRPr lang="en-US" sz="1100" dirty="0"/>
          </a:p>
        </p:txBody>
      </p:sp>
      <p:pic>
        <p:nvPicPr>
          <p:cNvPr id="41" name="Image 0" descr="/sessions/sweet-funny-newton/mnt/outputs/build/assets/konekt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446520"/>
            <a:ext cx="274320" cy="274320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Konekt  ·  RNCP 37873 - CDA  ·  Christophe Lecart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/ 56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A1B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BILAN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Axes d'amélioration &amp; roadmap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73152" cy="7772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80060" y="1691640"/>
            <a:ext cx="3703320" cy="4572000"/>
          </a:xfrm>
          <a:prstGeom prst="roundRect">
            <a:avLst>
              <a:gd name="adj" fmla="val 1975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480060" y="1691640"/>
            <a:ext cx="3703320" cy="45720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80060" y="169164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 TERME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08660" y="2468880"/>
            <a:ext cx="146304" cy="146304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82980" y="23774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Sanitization markdown (DOMPurify) — XSS résiduelle ChatMessage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08660" y="3429000"/>
            <a:ext cx="146304" cy="146304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982980" y="33375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 /login, /register, /chat/send via @upstash/ratelimit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08660" y="4389120"/>
            <a:ext cx="146304" cy="146304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982980" y="42976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Headers HTTP de sécurité (CSP, X-Frame, Referrer)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08660" y="5349240"/>
            <a:ext cx="146304" cy="146304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982980" y="52578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 + alertes prod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29100" y="1691640"/>
            <a:ext cx="3703320" cy="4572000"/>
          </a:xfrm>
          <a:prstGeom prst="roundRect">
            <a:avLst>
              <a:gd name="adj" fmla="val 1975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4229100" y="1691640"/>
            <a:ext cx="3703320" cy="4572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229100" y="169164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 TERME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457700" y="2468880"/>
            <a:ext cx="146304" cy="14630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4732020" y="23774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E2E Playwright sur les parcours critiques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457700" y="3429000"/>
            <a:ext cx="146304" cy="14630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4732020" y="33375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Droit RGPD : suppression compte + export JSON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457700" y="4389120"/>
            <a:ext cx="146304" cy="14630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4732020" y="42976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push natives (Web Push)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457700" y="5349240"/>
            <a:ext cx="146304" cy="14630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4732020" y="52578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Modération &amp; signalement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978140" y="1691640"/>
            <a:ext cx="3703320" cy="4572000"/>
          </a:xfrm>
          <a:prstGeom prst="roundRect">
            <a:avLst>
              <a:gd name="adj" fmla="val 1975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7978140" y="1691640"/>
            <a:ext cx="3703320" cy="45720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7978140" y="169164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TERME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206740" y="2468880"/>
            <a:ext cx="146304" cy="146304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8481060" y="23774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Décomposer en services (chat → ws dédié)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206740" y="3429000"/>
            <a:ext cx="146304" cy="146304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8481060" y="33375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 contenu personnalisées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206740" y="4389120"/>
            <a:ext cx="146304" cy="146304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8481060" y="42976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mobile dédiée (React Native ?)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206740" y="5349240"/>
            <a:ext cx="146304" cy="146304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8481060" y="52578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Métriques produit + analytics</a:t>
            </a:r>
            <a:endParaRPr lang="en-US" sz="1100" dirty="0"/>
          </a:p>
        </p:txBody>
      </p:sp>
      <p:pic>
        <p:nvPicPr>
          <p:cNvPr id="38" name="Image 0" descr="/sessions/sweet-funny-newton/mnt/outputs/build/assets/konekt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446520"/>
            <a:ext cx="274320" cy="274320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Konekt  ·  RNCP 37873 - CDA  ·  Christophe Lecart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/ 56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A1B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BILAN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73152" cy="7772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91440" cy="164592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Konekt m'a permis de mettre en pratique l'ensemble du cycle de développement d'une application moderne — de la modélisation à la mise en production — tout en faisant des choix techniques justifiés et documentés.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Au-delà de la certification, ce projet matérialise ma transition concrète vers le métier de Concepteur Développeur d'Applications.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657600"/>
            <a:ext cx="2697480" cy="1828800"/>
          </a:xfrm>
          <a:prstGeom prst="roundRect">
            <a:avLst>
              <a:gd name="adj" fmla="val 4000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600200" y="3886200"/>
            <a:ext cx="594360" cy="594360"/>
          </a:xfrm>
          <a:prstGeom prst="ellipse">
            <a:avLst/>
          </a:prstGeom>
          <a:solidFill>
            <a:srgbClr val="EC4899">
              <a:alpha val="30000"/>
            </a:srgbClr>
          </a:solidFill>
          <a:ln w="19050">
            <a:solidFill>
              <a:srgbClr val="EC48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600200" y="3886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0080" y="45720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complet maîtrisé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493776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conception à la production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83280" y="3657600"/>
            <a:ext cx="2697480" cy="1828800"/>
          </a:xfrm>
          <a:prstGeom prst="roundRect">
            <a:avLst>
              <a:gd name="adj" fmla="val 4000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4434840" y="3886200"/>
            <a:ext cx="594360" cy="594360"/>
          </a:xfrm>
          <a:prstGeom prst="ellipse">
            <a:avLst/>
          </a:prstGeom>
          <a:solidFill>
            <a:srgbClr val="06B6D4">
              <a:alpha val="30000"/>
            </a:srgbClr>
          </a:solidFill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434840" y="3886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474720" y="45720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&amp; RGPD pris au sérieux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74720" y="493776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+ roadmap durcissement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0" y="3657600"/>
            <a:ext cx="2697480" cy="1828800"/>
          </a:xfrm>
          <a:prstGeom prst="roundRect">
            <a:avLst>
              <a:gd name="adj" fmla="val 4000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7269480" y="3886200"/>
            <a:ext cx="594360" cy="594360"/>
          </a:xfrm>
          <a:prstGeom prst="ellipse">
            <a:avLst/>
          </a:prstGeom>
          <a:solidFill>
            <a:srgbClr val="8B5CF6">
              <a:alpha val="30000"/>
            </a:srgbClr>
          </a:solidFill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7269480" y="3886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309360" y="45720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techniques justifiés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09360" y="493776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 assumés et documentés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052560" y="3657600"/>
            <a:ext cx="2697480" cy="1828800"/>
          </a:xfrm>
          <a:prstGeom prst="roundRect">
            <a:avLst>
              <a:gd name="adj" fmla="val 4000"/>
            </a:avLst>
          </a:prstGeom>
          <a:solidFill>
            <a:srgbClr val="272730"/>
          </a:solidFill>
          <a:ln w="9525">
            <a:solidFill>
              <a:srgbClr val="3F3F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10104120" y="3886200"/>
            <a:ext cx="594360" cy="594360"/>
          </a:xfrm>
          <a:prstGeom prst="ellipse">
            <a:avLst/>
          </a:prstGeom>
          <a:solidFill>
            <a:srgbClr val="10B981">
              <a:alpha val="30000"/>
            </a:srgbClr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10104120" y="3886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144000" y="45720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Recul critique acquis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144000" y="493776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identifiées, plan d'évolution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 pour une alternance · 12 mois · Normandie / télétravail · CDA RNCP 37873</a:t>
            </a:r>
            <a:endParaRPr lang="en-US" sz="1200" dirty="0"/>
          </a:p>
        </p:txBody>
      </p:sp>
      <p:pic>
        <p:nvPicPr>
          <p:cNvPr id="29" name="Image 0" descr="/sessions/sweet-funny-newton/mnt/outputs/build/assets/konekt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446520"/>
            <a:ext cx="274320" cy="27432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Konekt  ·  RNCP 37873 - CDA  ·  Christophe Lecart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06424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/ 56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A1B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3200400"/>
            <a:ext cx="7315200" cy="7315200"/>
          </a:xfrm>
          <a:prstGeom prst="ellipse">
            <a:avLst/>
          </a:prstGeom>
          <a:solidFill>
            <a:srgbClr val="EC4899">
              <a:alpha val="1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7589520" y="-2743200"/>
            <a:ext cx="7315200" cy="731520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" name="Image 0" descr="/sessions/sweet-funny-newton/mnt/outputs/build/assets/konekt-logo-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1371600"/>
            <a:ext cx="4114800" cy="1417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1089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pour votre attention</a:t>
            </a:r>
            <a:endParaRPr lang="en-US" sz="5600" dirty="0"/>
          </a:p>
        </p:txBody>
      </p:sp>
      <p:sp>
        <p:nvSpPr>
          <p:cNvPr id="6" name="Text 3"/>
          <p:cNvSpPr/>
          <p:nvPr/>
        </p:nvSpPr>
        <p:spPr>
          <a:xfrm>
            <a:off x="457200" y="40233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aux questions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914400" y="5212080"/>
            <a:ext cx="2468880" cy="640080"/>
          </a:xfrm>
          <a:prstGeom prst="roundRect">
            <a:avLst>
              <a:gd name="adj" fmla="val 14286"/>
            </a:avLst>
          </a:prstGeom>
          <a:solidFill>
            <a:srgbClr val="272730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1051560" y="521208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417320" y="52120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djlike@hotmail.fr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520440" y="5212080"/>
            <a:ext cx="2468880" cy="640080"/>
          </a:xfrm>
          <a:prstGeom prst="roundRect">
            <a:avLst>
              <a:gd name="adj" fmla="val 14286"/>
            </a:avLst>
          </a:prstGeom>
          <a:solidFill>
            <a:srgbClr val="272730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3657600" y="521208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◌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023360" y="52120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clecart.fr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126480" y="5212080"/>
            <a:ext cx="2468880" cy="640080"/>
          </a:xfrm>
          <a:prstGeom prst="roundRect">
            <a:avLst>
              <a:gd name="adj" fmla="val 14286"/>
            </a:avLst>
          </a:prstGeom>
          <a:solidFill>
            <a:srgbClr val="272730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6263640" y="521208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☎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629400" y="52120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06 70 02 80 47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732520" y="5212080"/>
            <a:ext cx="2468880" cy="640080"/>
          </a:xfrm>
          <a:prstGeom prst="roundRect">
            <a:avLst>
              <a:gd name="adj" fmla="val 14286"/>
            </a:avLst>
          </a:prstGeom>
          <a:solidFill>
            <a:srgbClr val="272730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8869680" y="521208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⟨/⟩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9235440" y="52120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github.com/arocchet/social-network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57200" y="61722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RNCP 37873 — Concepteur Développeur d'Applications · Zone01 Rouen Normandie ·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Grand écran</PresentationFormat>
  <Paragraphs>0</Paragraphs>
  <Slides>56</Slides>
  <Notes>47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56</vt:i4>
      </vt:variant>
    </vt:vector>
  </HeadingPairs>
  <TitlesOfParts>
    <vt:vector size="57" baseType="lpstr"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Konekt - Support Visuel RNCP 37873</dc:title>
  <dc:subject>PptxGenJS Presentation</dc:subject>
  <dc:creator>Christophe Lecart</dc:creator>
  <cp:lastModifiedBy>Christophe Lecart</cp:lastModifiedBy>
  <cp:revision>192</cp:revision>
  <dcterms:created xsi:type="dcterms:W3CDTF">2026-05-19T10:21:42Z</dcterms:created>
  <dcterms:modified xsi:type="dcterms:W3CDTF">2026-05-20T19:36:50Z</dcterms:modified>
</cp:coreProperties>
</file>